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454"/>
    <a:srgbClr val="F6B8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566" y="43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61347" y="2414270"/>
            <a:ext cx="8662245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BB2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FFEC5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35759" y="574040"/>
            <a:ext cx="8920480" cy="543560"/>
          </a:xfrm>
          <a:prstGeom prst="rect">
            <a:avLst/>
          </a:prstGeom>
        </p:spPr>
        <p:txBody>
          <a:bodyPr lIns="0" tIns="0" rIns="0" bIns="0"/>
          <a:lstStyle>
            <a:lvl1pPr>
              <a:defRPr sz="3400" b="0" i="0">
                <a:solidFill>
                  <a:srgbClr val="FFBB2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6226" y="1595120"/>
            <a:ext cx="10259060" cy="40011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0" i="0">
                <a:solidFill>
                  <a:srgbClr val="FFEC5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35759" y="574040"/>
            <a:ext cx="8920480" cy="543560"/>
          </a:xfrm>
          <a:prstGeom prst="rect">
            <a:avLst/>
          </a:prstGeom>
        </p:spPr>
        <p:txBody>
          <a:bodyPr lIns="0" tIns="0" rIns="0" bIns="0"/>
          <a:lstStyle>
            <a:lvl1pPr>
              <a:defRPr sz="3400" b="0" i="0">
                <a:solidFill>
                  <a:srgbClr val="FFBB2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35759" y="574040"/>
            <a:ext cx="8920480" cy="543560"/>
          </a:xfrm>
          <a:prstGeom prst="rect">
            <a:avLst/>
          </a:prstGeom>
        </p:spPr>
        <p:txBody>
          <a:bodyPr lIns="0" tIns="0" rIns="0" bIns="0"/>
          <a:lstStyle>
            <a:lvl1pPr>
              <a:defRPr sz="3400" b="0" i="0">
                <a:solidFill>
                  <a:srgbClr val="FFBB2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2">
            <a:extLst>
              <a:ext uri="{FF2B5EF4-FFF2-40B4-BE49-F238E27FC236}">
                <a16:creationId xmlns:a16="http://schemas.microsoft.com/office/drawing/2014/main" id="{FB9BD034-C27C-4DB8-83C0-115792853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759" y="574040"/>
            <a:ext cx="8920480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BB28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DC4389CD-6A32-B56E-2748-3D7EA6617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6226" y="1595120"/>
            <a:ext cx="1025906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FFEC5F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solidFill>
            <a:srgbClr val="F6B825"/>
          </a:solidFill>
          <a:latin typeface="+mj-lt"/>
          <a:ea typeface="+mj-ea"/>
          <a:cs typeface="+mj-cs"/>
        </a:defRPr>
      </a:lvl1pPr>
    </p:titleStyle>
    <p:bodyStyle>
      <a:lvl1pPr marL="0">
        <a:defRPr>
          <a:solidFill>
            <a:srgbClr val="002454"/>
          </a:solidFill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5.png"/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12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5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5.png"/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12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5.png"/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12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43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65.png"/><Relationship Id="rId4" Type="http://schemas.openxmlformats.org/officeDocument/2006/relationships/image" Target="../media/image67.png"/><Relationship Id="rId9" Type="http://schemas.openxmlformats.org/officeDocument/2006/relationships/image" Target="../media/image6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985348" y="2414270"/>
            <a:ext cx="8662245" cy="536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5400" marR="5080" indent="-2552700">
              <a:spcBef>
                <a:spcPts val="100"/>
              </a:spcBef>
            </a:pPr>
            <a:r>
              <a:rPr dirty="0"/>
              <a:t>Introdução</a:t>
            </a:r>
            <a:r>
              <a:rPr spc="-70" dirty="0"/>
              <a:t> </a:t>
            </a:r>
            <a:r>
              <a:rPr dirty="0"/>
              <a:t>à</a:t>
            </a:r>
            <a:r>
              <a:rPr spc="-65" dirty="0"/>
              <a:t> </a:t>
            </a:r>
            <a:r>
              <a:rPr dirty="0"/>
              <a:t>Computação</a:t>
            </a:r>
            <a:r>
              <a:rPr spc="-70" dirty="0"/>
              <a:t> </a:t>
            </a:r>
            <a:r>
              <a:rPr spc="-10" dirty="0"/>
              <a:t>Gráfica Curvas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4575">
              <a:spcBef>
                <a:spcPts val="100"/>
              </a:spcBef>
            </a:pPr>
            <a:r>
              <a:rPr dirty="0"/>
              <a:t>Modelagem</a:t>
            </a:r>
            <a:r>
              <a:rPr spc="-125" dirty="0"/>
              <a:t> </a:t>
            </a:r>
            <a:r>
              <a:rPr spc="-10" dirty="0"/>
              <a:t>Geométrica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70" y="1577340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70" y="272922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1570" y="1595120"/>
            <a:ext cx="7656195" cy="443992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33655" algn="just">
              <a:lnSpc>
                <a:spcPct val="89900"/>
              </a:lnSpc>
              <a:spcBef>
                <a:spcPts val="415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Disciplina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visa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obter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representações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algébricas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curvas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superfícies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r>
              <a:rPr sz="26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determinado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aspecto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e/ou</a:t>
            </a:r>
            <a:r>
              <a:rPr sz="26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propriedades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 marR="33020">
              <a:lnSpc>
                <a:spcPct val="90000"/>
              </a:lnSpc>
              <a:spcBef>
                <a:spcPts val="65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Até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agora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temos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considerado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quase</a:t>
            </a:r>
            <a:r>
              <a:rPr sz="26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que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exclusivamente</a:t>
            </a:r>
            <a:r>
              <a:rPr sz="26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objetos</a:t>
            </a:r>
            <a:r>
              <a:rPr sz="2600" spc="-10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geométricos</a:t>
            </a:r>
            <a:r>
              <a:rPr sz="2600" spc="-10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compostos</a:t>
            </a:r>
            <a:r>
              <a:rPr sz="2600" spc="-10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de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segmentos</a:t>
            </a:r>
            <a:r>
              <a:rPr sz="26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reta</a:t>
            </a:r>
            <a:r>
              <a:rPr sz="26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ou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polígonos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(curvas/superfícies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lineares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parte)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750" marR="5080" indent="-285750">
              <a:lnSpc>
                <a:spcPts val="2600"/>
              </a:lnSpc>
              <a:spcBef>
                <a:spcPts val="620"/>
              </a:spcBef>
              <a:buFont typeface="Wingdings"/>
              <a:buChar char=""/>
              <a:tabLst>
                <a:tab pos="41275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Na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maioria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dos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casos,</a:t>
            </a:r>
            <a:r>
              <a:rPr sz="24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aproximações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curvas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e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superfícies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algébricas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750" marR="36195" indent="-285750">
              <a:lnSpc>
                <a:spcPct val="90100"/>
              </a:lnSpc>
              <a:spcBef>
                <a:spcPts val="545"/>
              </a:spcBef>
              <a:buFont typeface="Wingdings"/>
              <a:buChar char=""/>
              <a:tabLst>
                <a:tab pos="41275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Mesmo</a:t>
            </a:r>
            <a:r>
              <a:rPr sz="2400" spc="-10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quando</a:t>
            </a:r>
            <a:r>
              <a:rPr sz="2400" spc="-10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só</a:t>
            </a:r>
            <a:r>
              <a:rPr sz="2400" spc="-10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podemos</a:t>
            </a:r>
            <a:r>
              <a:rPr sz="2400" spc="-9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desenhar</a:t>
            </a:r>
            <a:r>
              <a:rPr sz="2400" spc="-10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segmentos</a:t>
            </a:r>
            <a:r>
              <a:rPr sz="2400" spc="-10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de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reta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polígonos,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conhecer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objeto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estamos aproximando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4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fundamental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Curvas</a:t>
            </a:r>
            <a:r>
              <a:rPr spc="-40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Superfícies</a:t>
            </a:r>
            <a:r>
              <a:rPr spc="-40" dirty="0"/>
              <a:t> </a:t>
            </a:r>
            <a:r>
              <a:rPr spc="-10" dirty="0"/>
              <a:t>Paramétricas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70" y="1577340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70" y="424560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8670" y="5209540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2660226" y="1595121"/>
            <a:ext cx="10259060" cy="423064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8100" marR="453390">
              <a:lnSpc>
                <a:spcPts val="2810"/>
              </a:lnSpc>
              <a:spcBef>
                <a:spcPts val="450"/>
              </a:spcBef>
            </a:pPr>
            <a:r>
              <a:rPr spc="-10" dirty="0">
                <a:solidFill>
                  <a:srgbClr val="002454"/>
                </a:solidFill>
              </a:rPr>
              <a:t>Normalmente,</a:t>
            </a:r>
            <a:r>
              <a:rPr spc="-65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o resultado</a:t>
            </a:r>
            <a:r>
              <a:rPr spc="-65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da</a:t>
            </a:r>
            <a:r>
              <a:rPr spc="-65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modelagem</a:t>
            </a:r>
            <a:r>
              <a:rPr spc="-65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é</a:t>
            </a:r>
            <a:r>
              <a:rPr spc="-65" dirty="0">
                <a:solidFill>
                  <a:srgbClr val="002454"/>
                </a:solidFill>
              </a:rPr>
              <a:t> </a:t>
            </a:r>
            <a:r>
              <a:rPr spc="-20" dirty="0">
                <a:solidFill>
                  <a:srgbClr val="002454"/>
                </a:solidFill>
              </a:rPr>
              <a:t>dado </a:t>
            </a:r>
            <a:r>
              <a:rPr dirty="0">
                <a:solidFill>
                  <a:srgbClr val="002454"/>
                </a:solidFill>
              </a:rPr>
              <a:t>em</a:t>
            </a:r>
            <a:r>
              <a:rPr spc="-70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forma</a:t>
            </a:r>
            <a:r>
              <a:rPr spc="-65" dirty="0">
                <a:solidFill>
                  <a:srgbClr val="002454"/>
                </a:solidFill>
              </a:rPr>
              <a:t> </a:t>
            </a:r>
            <a:r>
              <a:rPr spc="-10" dirty="0">
                <a:solidFill>
                  <a:srgbClr val="002454"/>
                </a:solidFill>
              </a:rPr>
              <a:t>paramétrica</a:t>
            </a:r>
          </a:p>
          <a:p>
            <a:pPr marL="438150" marR="876300" indent="-285750">
              <a:lnSpc>
                <a:spcPts val="2590"/>
              </a:lnSpc>
              <a:spcBef>
                <a:spcPts val="585"/>
              </a:spcBef>
              <a:buFont typeface="Wingdings"/>
              <a:buChar char=""/>
              <a:tabLst>
                <a:tab pos="438150" algn="l"/>
              </a:tabLst>
            </a:pPr>
            <a:r>
              <a:rPr sz="2400" dirty="0">
                <a:solidFill>
                  <a:srgbClr val="002454"/>
                </a:solidFill>
              </a:rPr>
              <a:t>Permite</a:t>
            </a:r>
            <a:r>
              <a:rPr sz="2400" spc="-35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que</a:t>
            </a:r>
            <a:r>
              <a:rPr sz="2400" spc="-40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a</a:t>
            </a:r>
            <a:r>
              <a:rPr sz="2400" spc="-45" dirty="0">
                <a:solidFill>
                  <a:srgbClr val="002454"/>
                </a:solidFill>
              </a:rPr>
              <a:t> </a:t>
            </a:r>
            <a:r>
              <a:rPr sz="2400" spc="-10" dirty="0">
                <a:solidFill>
                  <a:srgbClr val="002454"/>
                </a:solidFill>
              </a:rPr>
              <a:t>curva/superfície</a:t>
            </a:r>
            <a:r>
              <a:rPr sz="2400" spc="-45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seja</a:t>
            </a:r>
            <a:r>
              <a:rPr sz="2400" spc="-45" dirty="0">
                <a:solidFill>
                  <a:srgbClr val="002454"/>
                </a:solidFill>
              </a:rPr>
              <a:t> </a:t>
            </a:r>
            <a:r>
              <a:rPr sz="2400" spc="-10" dirty="0">
                <a:solidFill>
                  <a:srgbClr val="002454"/>
                </a:solidFill>
              </a:rPr>
              <a:t>desenhada (aproximada)</a:t>
            </a:r>
            <a:r>
              <a:rPr sz="2400" spc="-75" dirty="0">
                <a:solidFill>
                  <a:srgbClr val="002454"/>
                </a:solidFill>
              </a:rPr>
              <a:t> </a:t>
            </a:r>
            <a:r>
              <a:rPr sz="2400" spc="-10" dirty="0">
                <a:solidFill>
                  <a:srgbClr val="002454"/>
                </a:solidFill>
              </a:rPr>
              <a:t>facilmente</a:t>
            </a:r>
            <a:endParaRPr sz="2400" dirty="0">
              <a:solidFill>
                <a:srgbClr val="002454"/>
              </a:solidFill>
            </a:endParaRPr>
          </a:p>
          <a:p>
            <a:pPr marL="438150" marR="30480" indent="-285750">
              <a:lnSpc>
                <a:spcPts val="2590"/>
              </a:lnSpc>
              <a:spcBef>
                <a:spcPts val="600"/>
              </a:spcBef>
              <a:buFont typeface="Wingdings"/>
              <a:buChar char=""/>
              <a:tabLst>
                <a:tab pos="438150" algn="l"/>
              </a:tabLst>
            </a:pPr>
            <a:r>
              <a:rPr sz="2400" dirty="0">
                <a:solidFill>
                  <a:srgbClr val="002454"/>
                </a:solidFill>
              </a:rPr>
              <a:t>Permite</a:t>
            </a:r>
            <a:r>
              <a:rPr sz="2400" spc="-75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indicar</a:t>
            </a:r>
            <a:r>
              <a:rPr sz="2400" spc="-85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que</a:t>
            </a:r>
            <a:r>
              <a:rPr sz="2400" spc="-85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trechos</a:t>
            </a:r>
            <a:r>
              <a:rPr sz="2400" spc="-80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da</a:t>
            </a:r>
            <a:r>
              <a:rPr sz="2400" spc="-80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curva/superfície</a:t>
            </a:r>
            <a:r>
              <a:rPr sz="2400" spc="-80" dirty="0">
                <a:solidFill>
                  <a:srgbClr val="002454"/>
                </a:solidFill>
              </a:rPr>
              <a:t> </a:t>
            </a:r>
            <a:r>
              <a:rPr sz="2400" spc="-10" dirty="0">
                <a:solidFill>
                  <a:srgbClr val="002454"/>
                </a:solidFill>
              </a:rPr>
              <a:t>serão usados</a:t>
            </a:r>
            <a:endParaRPr sz="2400" dirty="0">
              <a:solidFill>
                <a:srgbClr val="002454"/>
              </a:solidFill>
            </a:endParaRPr>
          </a:p>
          <a:p>
            <a:pPr marL="437515" indent="-285115">
              <a:spcBef>
                <a:spcPts val="275"/>
              </a:spcBef>
              <a:buFont typeface="Wingdings"/>
              <a:buChar char=""/>
              <a:tabLst>
                <a:tab pos="437515" algn="l"/>
              </a:tabLst>
            </a:pPr>
            <a:r>
              <a:rPr sz="2400" spc="-10" dirty="0">
                <a:solidFill>
                  <a:srgbClr val="002454"/>
                </a:solidFill>
              </a:rPr>
              <a:t>Manipulação</a:t>
            </a:r>
            <a:r>
              <a:rPr sz="2400" spc="-95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algébrica</a:t>
            </a:r>
            <a:r>
              <a:rPr sz="2400" spc="-95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mais</a:t>
            </a:r>
            <a:r>
              <a:rPr sz="2400" spc="-90" dirty="0">
                <a:solidFill>
                  <a:srgbClr val="002454"/>
                </a:solidFill>
              </a:rPr>
              <a:t> </a:t>
            </a:r>
            <a:r>
              <a:rPr sz="2400" spc="-10" dirty="0">
                <a:solidFill>
                  <a:srgbClr val="002454"/>
                </a:solidFill>
              </a:rPr>
              <a:t>simples</a:t>
            </a:r>
            <a:endParaRPr sz="2400" dirty="0">
              <a:solidFill>
                <a:srgbClr val="002454"/>
              </a:solidFill>
            </a:endParaRPr>
          </a:p>
          <a:p>
            <a:pPr marL="38100">
              <a:spcBef>
                <a:spcPts val="340"/>
              </a:spcBef>
            </a:pPr>
            <a:r>
              <a:rPr dirty="0">
                <a:solidFill>
                  <a:srgbClr val="002454"/>
                </a:solidFill>
              </a:rPr>
              <a:t>Curva</a:t>
            </a:r>
            <a:r>
              <a:rPr spc="-30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em</a:t>
            </a:r>
            <a:r>
              <a:rPr spc="-45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3D</a:t>
            </a:r>
            <a:r>
              <a:rPr spc="-25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é</a:t>
            </a:r>
            <a:r>
              <a:rPr spc="-50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dada</a:t>
            </a:r>
            <a:r>
              <a:rPr spc="-50" dirty="0">
                <a:solidFill>
                  <a:srgbClr val="002454"/>
                </a:solidFill>
              </a:rPr>
              <a:t> </a:t>
            </a:r>
            <a:r>
              <a:rPr spc="-25" dirty="0">
                <a:solidFill>
                  <a:srgbClr val="002454"/>
                </a:solidFill>
              </a:rPr>
              <a:t>por</a:t>
            </a:r>
          </a:p>
          <a:p>
            <a:pPr marL="437515" indent="-285115">
              <a:spcBef>
                <a:spcPts val="380"/>
              </a:spcBef>
              <a:buFont typeface="Wingdings"/>
              <a:buChar char=""/>
              <a:tabLst>
                <a:tab pos="437515" algn="l"/>
              </a:tabLst>
            </a:pP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C</a:t>
            </a:r>
            <a:r>
              <a:rPr sz="2800" dirty="0">
                <a:solidFill>
                  <a:srgbClr val="002454"/>
                </a:solidFill>
              </a:rPr>
              <a:t>(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t</a:t>
            </a:r>
            <a:r>
              <a:rPr sz="2800" dirty="0">
                <a:solidFill>
                  <a:srgbClr val="002454"/>
                </a:solidFill>
              </a:rPr>
              <a:t>)</a:t>
            </a:r>
            <a:r>
              <a:rPr sz="2800" spc="-40" dirty="0">
                <a:solidFill>
                  <a:srgbClr val="002454"/>
                </a:solidFill>
              </a:rPr>
              <a:t> </a:t>
            </a:r>
            <a:r>
              <a:rPr sz="2800" dirty="0">
                <a:solidFill>
                  <a:srgbClr val="002454"/>
                </a:solidFill>
              </a:rPr>
              <a:t>=</a:t>
            </a:r>
            <a:r>
              <a:rPr sz="2800" spc="-45" dirty="0">
                <a:solidFill>
                  <a:srgbClr val="002454"/>
                </a:solidFill>
              </a:rPr>
              <a:t> </a:t>
            </a:r>
            <a:r>
              <a:rPr sz="2800" dirty="0">
                <a:solidFill>
                  <a:srgbClr val="002454"/>
                </a:solidFill>
              </a:rPr>
              <a:t>[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C</a:t>
            </a:r>
            <a:r>
              <a:rPr sz="2400" i="1" baseline="-22569" dirty="0">
                <a:solidFill>
                  <a:srgbClr val="002454"/>
                </a:solidFill>
                <a:latin typeface="Arial"/>
                <a:cs typeface="Arial"/>
              </a:rPr>
              <a:t>x</a:t>
            </a:r>
            <a:r>
              <a:rPr sz="2800" dirty="0">
                <a:solidFill>
                  <a:srgbClr val="002454"/>
                </a:solidFill>
              </a:rPr>
              <a:t>(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t</a:t>
            </a:r>
            <a:r>
              <a:rPr sz="2800" dirty="0">
                <a:solidFill>
                  <a:srgbClr val="002454"/>
                </a:solidFill>
              </a:rPr>
              <a:t>)</a:t>
            </a:r>
            <a:r>
              <a:rPr sz="2800" spc="-25" dirty="0">
                <a:solidFill>
                  <a:srgbClr val="002454"/>
                </a:solidFill>
              </a:rPr>
              <a:t> 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C</a:t>
            </a:r>
            <a:r>
              <a:rPr sz="2400" i="1" baseline="-22569" dirty="0">
                <a:solidFill>
                  <a:srgbClr val="002454"/>
                </a:solidFill>
                <a:latin typeface="Arial"/>
                <a:cs typeface="Arial"/>
              </a:rPr>
              <a:t>y</a:t>
            </a:r>
            <a:r>
              <a:rPr sz="2800" dirty="0">
                <a:solidFill>
                  <a:srgbClr val="002454"/>
                </a:solidFill>
              </a:rPr>
              <a:t>(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t</a:t>
            </a:r>
            <a:r>
              <a:rPr sz="2800" dirty="0">
                <a:solidFill>
                  <a:srgbClr val="002454"/>
                </a:solidFill>
              </a:rPr>
              <a:t>)</a:t>
            </a:r>
            <a:r>
              <a:rPr sz="2800" spc="-30" dirty="0">
                <a:solidFill>
                  <a:srgbClr val="002454"/>
                </a:solidFill>
              </a:rPr>
              <a:t> </a:t>
            </a:r>
            <a:r>
              <a:rPr sz="2800" i="1" spc="-10" dirty="0">
                <a:solidFill>
                  <a:srgbClr val="002454"/>
                </a:solidFill>
                <a:latin typeface="Arial"/>
                <a:cs typeface="Arial"/>
              </a:rPr>
              <a:t>C</a:t>
            </a:r>
            <a:r>
              <a:rPr sz="2400" i="1" spc="-15" baseline="-22569" dirty="0">
                <a:solidFill>
                  <a:srgbClr val="002454"/>
                </a:solidFill>
                <a:latin typeface="Arial"/>
                <a:cs typeface="Arial"/>
              </a:rPr>
              <a:t>z</a:t>
            </a:r>
            <a:r>
              <a:rPr sz="2800" spc="-10" dirty="0">
                <a:solidFill>
                  <a:srgbClr val="002454"/>
                </a:solidFill>
              </a:rPr>
              <a:t>(</a:t>
            </a:r>
            <a:r>
              <a:rPr sz="2800" i="1" spc="-10" dirty="0">
                <a:solidFill>
                  <a:srgbClr val="002454"/>
                </a:solidFill>
                <a:latin typeface="Arial"/>
                <a:cs typeface="Arial"/>
              </a:rPr>
              <a:t>t</a:t>
            </a:r>
            <a:r>
              <a:rPr sz="2800" spc="-10" dirty="0">
                <a:solidFill>
                  <a:srgbClr val="002454"/>
                </a:solidFill>
              </a:rPr>
              <a:t>)]</a:t>
            </a:r>
            <a:r>
              <a:rPr sz="2400" spc="-15" baseline="31250" dirty="0">
                <a:solidFill>
                  <a:srgbClr val="002454"/>
                </a:solidFill>
              </a:rPr>
              <a:t>T</a:t>
            </a:r>
            <a:endParaRPr sz="2400" baseline="3125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38100">
              <a:spcBef>
                <a:spcPts val="730"/>
              </a:spcBef>
            </a:pPr>
            <a:r>
              <a:rPr dirty="0">
                <a:solidFill>
                  <a:srgbClr val="002454"/>
                </a:solidFill>
              </a:rPr>
              <a:t>Superfície</a:t>
            </a:r>
            <a:r>
              <a:rPr spc="-60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em</a:t>
            </a:r>
            <a:r>
              <a:rPr spc="-30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3D</a:t>
            </a:r>
            <a:r>
              <a:rPr spc="-55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é</a:t>
            </a:r>
            <a:r>
              <a:rPr spc="-40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dada</a:t>
            </a:r>
            <a:r>
              <a:rPr spc="-55" dirty="0">
                <a:solidFill>
                  <a:srgbClr val="002454"/>
                </a:solidFill>
              </a:rPr>
              <a:t> </a:t>
            </a:r>
            <a:r>
              <a:rPr spc="-25" dirty="0">
                <a:solidFill>
                  <a:srgbClr val="002454"/>
                </a:solidFill>
              </a:rPr>
              <a:t>por</a:t>
            </a:r>
          </a:p>
          <a:p>
            <a:pPr marL="437515" indent="-285115">
              <a:spcBef>
                <a:spcPts val="380"/>
              </a:spcBef>
              <a:buFont typeface="Wingdings"/>
              <a:buChar char=""/>
              <a:tabLst>
                <a:tab pos="437515" algn="l"/>
                <a:tab pos="3340735" algn="l"/>
                <a:tab pos="4690745" algn="l"/>
              </a:tabLst>
            </a:pP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S</a:t>
            </a:r>
            <a:r>
              <a:rPr sz="2800" dirty="0">
                <a:solidFill>
                  <a:srgbClr val="002454"/>
                </a:solidFill>
              </a:rPr>
              <a:t>(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u,</a:t>
            </a:r>
            <a:r>
              <a:rPr sz="2800" i="1" spc="-3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v</a:t>
            </a:r>
            <a:r>
              <a:rPr sz="2800" dirty="0">
                <a:solidFill>
                  <a:srgbClr val="002454"/>
                </a:solidFill>
              </a:rPr>
              <a:t>)</a:t>
            </a:r>
            <a:r>
              <a:rPr sz="2800" spc="-25" dirty="0">
                <a:solidFill>
                  <a:srgbClr val="002454"/>
                </a:solidFill>
              </a:rPr>
              <a:t> </a:t>
            </a:r>
            <a:r>
              <a:rPr sz="2800" dirty="0">
                <a:solidFill>
                  <a:srgbClr val="002454"/>
                </a:solidFill>
              </a:rPr>
              <a:t>=</a:t>
            </a:r>
            <a:r>
              <a:rPr sz="2800" spc="-35" dirty="0">
                <a:solidFill>
                  <a:srgbClr val="002454"/>
                </a:solidFill>
              </a:rPr>
              <a:t> </a:t>
            </a:r>
            <a:r>
              <a:rPr sz="2800" dirty="0">
                <a:solidFill>
                  <a:srgbClr val="002454"/>
                </a:solidFill>
              </a:rPr>
              <a:t>[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S</a:t>
            </a:r>
            <a:r>
              <a:rPr sz="2400" i="1" baseline="-22569" dirty="0">
                <a:solidFill>
                  <a:srgbClr val="002454"/>
                </a:solidFill>
                <a:latin typeface="Arial"/>
                <a:cs typeface="Arial"/>
              </a:rPr>
              <a:t>x</a:t>
            </a:r>
            <a:r>
              <a:rPr sz="2800" dirty="0">
                <a:solidFill>
                  <a:srgbClr val="002454"/>
                </a:solidFill>
              </a:rPr>
              <a:t>(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u,</a:t>
            </a:r>
            <a:r>
              <a:rPr sz="2800" i="1" spc="-1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800" i="1" spc="-25" dirty="0">
                <a:solidFill>
                  <a:srgbClr val="002454"/>
                </a:solidFill>
                <a:latin typeface="Arial"/>
                <a:cs typeface="Arial"/>
              </a:rPr>
              <a:t>v</a:t>
            </a:r>
            <a:r>
              <a:rPr sz="2800" spc="-25" dirty="0">
                <a:solidFill>
                  <a:srgbClr val="002454"/>
                </a:solidFill>
              </a:rPr>
              <a:t>)</a:t>
            </a:r>
            <a:r>
              <a:rPr sz="2800" dirty="0">
                <a:solidFill>
                  <a:srgbClr val="002454"/>
                </a:solidFill>
              </a:rPr>
              <a:t>	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S</a:t>
            </a:r>
            <a:r>
              <a:rPr sz="2400" i="1" baseline="-22569" dirty="0">
                <a:solidFill>
                  <a:srgbClr val="002454"/>
                </a:solidFill>
                <a:latin typeface="Arial"/>
                <a:cs typeface="Arial"/>
              </a:rPr>
              <a:t>y</a:t>
            </a:r>
            <a:r>
              <a:rPr sz="2800" dirty="0">
                <a:solidFill>
                  <a:srgbClr val="002454"/>
                </a:solidFill>
              </a:rPr>
              <a:t>(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u,</a:t>
            </a:r>
            <a:r>
              <a:rPr sz="2800" i="1" spc="-4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800" i="1" spc="-25" dirty="0">
                <a:solidFill>
                  <a:srgbClr val="002454"/>
                </a:solidFill>
                <a:latin typeface="Arial"/>
                <a:cs typeface="Arial"/>
              </a:rPr>
              <a:t>v</a:t>
            </a:r>
            <a:r>
              <a:rPr sz="2800" spc="-25" dirty="0">
                <a:solidFill>
                  <a:srgbClr val="002454"/>
                </a:solidFill>
              </a:rPr>
              <a:t>)</a:t>
            </a:r>
            <a:r>
              <a:rPr sz="2800" dirty="0">
                <a:solidFill>
                  <a:srgbClr val="002454"/>
                </a:solidFill>
              </a:rPr>
              <a:t>	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S</a:t>
            </a:r>
            <a:r>
              <a:rPr sz="2400" i="1" baseline="-22569" dirty="0">
                <a:solidFill>
                  <a:srgbClr val="002454"/>
                </a:solidFill>
                <a:latin typeface="Arial"/>
                <a:cs typeface="Arial"/>
              </a:rPr>
              <a:t>z</a:t>
            </a:r>
            <a:r>
              <a:rPr sz="2800" dirty="0">
                <a:solidFill>
                  <a:srgbClr val="002454"/>
                </a:solidFill>
              </a:rPr>
              <a:t>(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u,</a:t>
            </a:r>
            <a:r>
              <a:rPr sz="2800" i="1" spc="-9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800" i="1" spc="-20" dirty="0">
                <a:solidFill>
                  <a:srgbClr val="002454"/>
                </a:solidFill>
                <a:latin typeface="Arial"/>
                <a:cs typeface="Arial"/>
              </a:rPr>
              <a:t>v</a:t>
            </a:r>
            <a:r>
              <a:rPr sz="2800" spc="-20" dirty="0">
                <a:solidFill>
                  <a:srgbClr val="002454"/>
                </a:solidFill>
              </a:rPr>
              <a:t>)]</a:t>
            </a:r>
            <a:r>
              <a:rPr sz="2400" spc="-30" baseline="31250" dirty="0">
                <a:solidFill>
                  <a:srgbClr val="002454"/>
                </a:solidFill>
              </a:rPr>
              <a:t>T</a:t>
            </a:r>
            <a:endParaRPr sz="2400" baseline="31250" dirty="0">
              <a:solidFill>
                <a:srgbClr val="002454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0">
              <a:spcBef>
                <a:spcPts val="100"/>
              </a:spcBef>
            </a:pPr>
            <a:r>
              <a:rPr spc="-10" dirty="0"/>
              <a:t>Continuidade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6270" y="1357629"/>
            <a:ext cx="1193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6270" y="2000250"/>
            <a:ext cx="1193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6270" y="5302250"/>
            <a:ext cx="1193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0401" y="1085816"/>
            <a:ext cx="6741158" cy="5088573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5400" marR="1108710">
              <a:lnSpc>
                <a:spcPts val="2270"/>
              </a:lnSpc>
              <a:spcBef>
                <a:spcPts val="380"/>
              </a:spcBef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Normalmente</a:t>
            </a:r>
            <a:r>
              <a:rPr sz="21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queremos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curvas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50" dirty="0">
                <a:solidFill>
                  <a:srgbClr val="002454"/>
                </a:solidFill>
                <a:latin typeface="Arial MT"/>
                <a:cs typeface="Arial MT"/>
              </a:rPr>
              <a:t>e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superfícies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“suaves”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25400" marR="502920">
              <a:lnSpc>
                <a:spcPts val="2270"/>
              </a:lnSpc>
              <a:spcBef>
                <a:spcPts val="520"/>
              </a:spcBef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Critério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“suavidade”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associado</a:t>
            </a:r>
            <a:r>
              <a:rPr sz="21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com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critério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1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continuidade</a:t>
            </a:r>
            <a:r>
              <a:rPr sz="21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algébrica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4815" marR="148590" indent="-285750">
              <a:lnSpc>
                <a:spcPts val="2160"/>
              </a:lnSpc>
              <a:spcBef>
                <a:spcPts val="500"/>
              </a:spcBef>
              <a:buFont typeface="Wingdings"/>
              <a:buChar char=""/>
              <a:tabLst>
                <a:tab pos="42481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Continuidade</a:t>
            </a:r>
            <a:r>
              <a:rPr sz="2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002454"/>
                </a:solidFill>
                <a:latin typeface="Arial"/>
                <a:cs typeface="Arial"/>
              </a:rPr>
              <a:t>C</a:t>
            </a:r>
            <a:r>
              <a:rPr sz="1725" baseline="28985" dirty="0">
                <a:solidFill>
                  <a:srgbClr val="002454"/>
                </a:solidFill>
                <a:latin typeface="Arial MT"/>
                <a:cs typeface="Arial MT"/>
              </a:rPr>
              <a:t>0</a:t>
            </a:r>
            <a:r>
              <a:rPr sz="1725" spc="-37" baseline="289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→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funções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paramétricas</a:t>
            </a:r>
            <a:r>
              <a:rPr sz="2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2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contínuas,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isto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é,</a:t>
            </a:r>
            <a:r>
              <a:rPr sz="2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sem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“pulos”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4815" marR="389255" indent="-285750">
              <a:lnSpc>
                <a:spcPts val="2160"/>
              </a:lnSpc>
              <a:spcBef>
                <a:spcPts val="490"/>
              </a:spcBef>
              <a:buFont typeface="Wingdings"/>
              <a:buChar char=""/>
              <a:tabLst>
                <a:tab pos="42481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Continuidade</a:t>
            </a:r>
            <a:r>
              <a:rPr sz="2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002454"/>
                </a:solidFill>
                <a:latin typeface="Arial"/>
                <a:cs typeface="Arial"/>
              </a:rPr>
              <a:t>C</a:t>
            </a:r>
            <a:r>
              <a:rPr sz="1725" baseline="28985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1725" spc="-37" baseline="289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→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funções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paramétricas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têm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primeiras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derivadas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contínuas,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isto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é,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tangentes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variam suavemente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4815" marR="17780" indent="-285750">
              <a:lnSpc>
                <a:spcPts val="2160"/>
              </a:lnSpc>
              <a:spcBef>
                <a:spcPts val="500"/>
              </a:spcBef>
              <a:buFont typeface="Wingdings"/>
              <a:buChar char=""/>
              <a:tabLst>
                <a:tab pos="42481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Continuidade</a:t>
            </a:r>
            <a:r>
              <a:rPr sz="20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002454"/>
                </a:solidFill>
                <a:latin typeface="Arial"/>
                <a:cs typeface="Arial"/>
              </a:rPr>
              <a:t>C</a:t>
            </a:r>
            <a:r>
              <a:rPr sz="1725" i="1" baseline="28985" dirty="0">
                <a:solidFill>
                  <a:srgbClr val="002454"/>
                </a:solidFill>
                <a:latin typeface="Arial"/>
                <a:cs typeface="Arial"/>
              </a:rPr>
              <a:t>k</a:t>
            </a:r>
            <a:r>
              <a:rPr sz="1725" i="1" spc="-30" baseline="2898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→</a:t>
            </a:r>
            <a:r>
              <a:rPr sz="20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funções</a:t>
            </a:r>
            <a:r>
              <a:rPr sz="2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paramétricas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têm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002454"/>
                </a:solidFill>
                <a:latin typeface="Arial"/>
                <a:cs typeface="Arial"/>
              </a:rPr>
              <a:t>k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’ésimas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derivadas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contínuas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25400">
              <a:lnSpc>
                <a:spcPts val="2390"/>
              </a:lnSpc>
              <a:spcBef>
                <a:spcPts val="250"/>
              </a:spcBef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Alternativamente,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G</a:t>
            </a:r>
            <a:r>
              <a:rPr i="1" baseline="30092" dirty="0">
                <a:solidFill>
                  <a:srgbClr val="002454"/>
                </a:solidFill>
                <a:latin typeface="Arial"/>
                <a:cs typeface="Arial"/>
              </a:rPr>
              <a:t>k</a:t>
            </a:r>
            <a:r>
              <a:rPr i="1" spc="-22" baseline="30092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100" i="1" dirty="0">
                <a:solidFill>
                  <a:srgbClr val="002454"/>
                </a:solidFill>
                <a:latin typeface="Arial"/>
                <a:cs typeface="Arial"/>
              </a:rPr>
              <a:t>:</a:t>
            </a:r>
            <a:r>
              <a:rPr sz="2100" i="1" spc="-3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continuidade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25400">
              <a:lnSpc>
                <a:spcPts val="2390"/>
              </a:lnSpc>
            </a:pPr>
            <a:r>
              <a:rPr sz="2100" i="1" spc="-10" dirty="0">
                <a:solidFill>
                  <a:srgbClr val="002454"/>
                </a:solidFill>
                <a:latin typeface="Arial"/>
                <a:cs typeface="Arial"/>
              </a:rPr>
              <a:t>geométrica</a:t>
            </a:r>
            <a:endParaRPr sz="21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424815" indent="-285750">
              <a:spcBef>
                <a:spcPts val="259"/>
              </a:spcBef>
              <a:buFont typeface="Wingdings"/>
              <a:buChar char=""/>
              <a:tabLst>
                <a:tab pos="42481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Independente</a:t>
            </a:r>
            <a:r>
              <a:rPr sz="20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0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parametrização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4815" marR="897890" indent="-285750">
              <a:lnSpc>
                <a:spcPts val="2160"/>
              </a:lnSpc>
              <a:spcBef>
                <a:spcPts val="530"/>
              </a:spcBef>
              <a:buFont typeface="Wingdings"/>
              <a:buChar char=""/>
              <a:tabLst>
                <a:tab pos="42481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Assumir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parametrizada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por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comprimento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arco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990840" y="4692650"/>
            <a:ext cx="2379980" cy="1109980"/>
            <a:chOff x="6466840" y="4692650"/>
            <a:chExt cx="2379980" cy="1109980"/>
          </a:xfrm>
        </p:grpSpPr>
        <p:sp>
          <p:nvSpPr>
            <p:cNvPr id="8" name="object 8"/>
            <p:cNvSpPr/>
            <p:nvPr/>
          </p:nvSpPr>
          <p:spPr>
            <a:xfrm>
              <a:off x="6466840" y="4692649"/>
              <a:ext cx="1342390" cy="1109980"/>
            </a:xfrm>
            <a:custGeom>
              <a:avLst/>
              <a:gdLst/>
              <a:ahLst/>
              <a:cxnLst/>
              <a:rect l="l" t="t" r="r" b="b"/>
              <a:pathLst>
                <a:path w="1342390" h="1109979">
                  <a:moveTo>
                    <a:pt x="1342390" y="11430"/>
                  </a:moveTo>
                  <a:lnTo>
                    <a:pt x="1311910" y="3810"/>
                  </a:lnTo>
                  <a:lnTo>
                    <a:pt x="1310640" y="3810"/>
                  </a:lnTo>
                  <a:lnTo>
                    <a:pt x="1281430" y="1270"/>
                  </a:lnTo>
                  <a:lnTo>
                    <a:pt x="1278890" y="0"/>
                  </a:lnTo>
                  <a:lnTo>
                    <a:pt x="1253490" y="1270"/>
                  </a:lnTo>
                  <a:lnTo>
                    <a:pt x="1250950" y="1270"/>
                  </a:lnTo>
                  <a:lnTo>
                    <a:pt x="1226820" y="5080"/>
                  </a:lnTo>
                  <a:lnTo>
                    <a:pt x="1224280" y="5080"/>
                  </a:lnTo>
                  <a:lnTo>
                    <a:pt x="1202690" y="13970"/>
                  </a:lnTo>
                  <a:lnTo>
                    <a:pt x="1201420" y="13970"/>
                  </a:lnTo>
                  <a:lnTo>
                    <a:pt x="1198880" y="15240"/>
                  </a:lnTo>
                  <a:lnTo>
                    <a:pt x="1179830" y="27940"/>
                  </a:lnTo>
                  <a:lnTo>
                    <a:pt x="1179830" y="29210"/>
                  </a:lnTo>
                  <a:lnTo>
                    <a:pt x="1177290" y="30480"/>
                  </a:lnTo>
                  <a:lnTo>
                    <a:pt x="1160780" y="48260"/>
                  </a:lnTo>
                  <a:lnTo>
                    <a:pt x="1159510" y="49530"/>
                  </a:lnTo>
                  <a:lnTo>
                    <a:pt x="1143000" y="71120"/>
                  </a:lnTo>
                  <a:lnTo>
                    <a:pt x="1143000" y="72390"/>
                  </a:lnTo>
                  <a:lnTo>
                    <a:pt x="1129030" y="97790"/>
                  </a:lnTo>
                  <a:lnTo>
                    <a:pt x="1127760" y="99060"/>
                  </a:lnTo>
                  <a:lnTo>
                    <a:pt x="1115060" y="128270"/>
                  </a:lnTo>
                  <a:lnTo>
                    <a:pt x="1115060" y="129540"/>
                  </a:lnTo>
                  <a:lnTo>
                    <a:pt x="1094740" y="196850"/>
                  </a:lnTo>
                  <a:lnTo>
                    <a:pt x="1094740" y="198120"/>
                  </a:lnTo>
                  <a:lnTo>
                    <a:pt x="1078230" y="275590"/>
                  </a:lnTo>
                  <a:lnTo>
                    <a:pt x="1078230" y="276860"/>
                  </a:lnTo>
                  <a:lnTo>
                    <a:pt x="1065530" y="361950"/>
                  </a:lnTo>
                  <a:lnTo>
                    <a:pt x="1047750" y="546100"/>
                  </a:lnTo>
                  <a:lnTo>
                    <a:pt x="1032611" y="729005"/>
                  </a:lnTo>
                  <a:lnTo>
                    <a:pt x="1009815" y="892848"/>
                  </a:lnTo>
                  <a:lnTo>
                    <a:pt x="1009650" y="892810"/>
                  </a:lnTo>
                  <a:lnTo>
                    <a:pt x="993140" y="961390"/>
                  </a:lnTo>
                  <a:lnTo>
                    <a:pt x="993914" y="961542"/>
                  </a:lnTo>
                  <a:lnTo>
                    <a:pt x="984618" y="988250"/>
                  </a:lnTo>
                  <a:lnTo>
                    <a:pt x="984250" y="988060"/>
                  </a:lnTo>
                  <a:lnTo>
                    <a:pt x="973251" y="1013726"/>
                  </a:lnTo>
                  <a:lnTo>
                    <a:pt x="972820" y="1013460"/>
                  </a:lnTo>
                  <a:lnTo>
                    <a:pt x="960120" y="1036320"/>
                  </a:lnTo>
                  <a:lnTo>
                    <a:pt x="960310" y="1036421"/>
                  </a:lnTo>
                  <a:lnTo>
                    <a:pt x="947712" y="1052461"/>
                  </a:lnTo>
                  <a:lnTo>
                    <a:pt x="936053" y="1063142"/>
                  </a:lnTo>
                  <a:lnTo>
                    <a:pt x="935990" y="1062990"/>
                  </a:lnTo>
                  <a:lnTo>
                    <a:pt x="919048" y="1072032"/>
                  </a:lnTo>
                  <a:lnTo>
                    <a:pt x="900430" y="1078230"/>
                  </a:lnTo>
                  <a:lnTo>
                    <a:pt x="900531" y="1078522"/>
                  </a:lnTo>
                  <a:lnTo>
                    <a:pt x="881380" y="1080770"/>
                  </a:lnTo>
                  <a:lnTo>
                    <a:pt x="881405" y="1080922"/>
                  </a:lnTo>
                  <a:lnTo>
                    <a:pt x="862952" y="1082014"/>
                  </a:lnTo>
                  <a:lnTo>
                    <a:pt x="843267" y="1080846"/>
                  </a:lnTo>
                  <a:lnTo>
                    <a:pt x="821651" y="1078369"/>
                  </a:lnTo>
                  <a:lnTo>
                    <a:pt x="821690" y="1078230"/>
                  </a:lnTo>
                  <a:lnTo>
                    <a:pt x="797560" y="1073150"/>
                  </a:lnTo>
                  <a:lnTo>
                    <a:pt x="797420" y="1073912"/>
                  </a:lnTo>
                  <a:lnTo>
                    <a:pt x="750570" y="1056640"/>
                  </a:lnTo>
                  <a:lnTo>
                    <a:pt x="750354" y="1057224"/>
                  </a:lnTo>
                  <a:lnTo>
                    <a:pt x="699770" y="1033780"/>
                  </a:lnTo>
                  <a:lnTo>
                    <a:pt x="699554" y="1034237"/>
                  </a:lnTo>
                  <a:lnTo>
                    <a:pt x="647306" y="1005065"/>
                  </a:lnTo>
                  <a:lnTo>
                    <a:pt x="647700" y="1004570"/>
                  </a:lnTo>
                  <a:lnTo>
                    <a:pt x="532130" y="925830"/>
                  </a:lnTo>
                  <a:lnTo>
                    <a:pt x="532028" y="926007"/>
                  </a:lnTo>
                  <a:lnTo>
                    <a:pt x="410210" y="828040"/>
                  </a:lnTo>
                  <a:lnTo>
                    <a:pt x="283883" y="716876"/>
                  </a:lnTo>
                  <a:lnTo>
                    <a:pt x="284480" y="716280"/>
                  </a:lnTo>
                  <a:lnTo>
                    <a:pt x="19050" y="464820"/>
                  </a:lnTo>
                  <a:lnTo>
                    <a:pt x="10160" y="476250"/>
                  </a:lnTo>
                  <a:lnTo>
                    <a:pt x="0" y="486410"/>
                  </a:lnTo>
                  <a:lnTo>
                    <a:pt x="264160" y="736600"/>
                  </a:lnTo>
                  <a:lnTo>
                    <a:pt x="265430" y="736600"/>
                  </a:lnTo>
                  <a:lnTo>
                    <a:pt x="392430" y="850900"/>
                  </a:lnTo>
                  <a:lnTo>
                    <a:pt x="515620" y="948690"/>
                  </a:lnTo>
                  <a:lnTo>
                    <a:pt x="515620" y="949960"/>
                  </a:lnTo>
                  <a:lnTo>
                    <a:pt x="631190" y="1028700"/>
                  </a:lnTo>
                  <a:lnTo>
                    <a:pt x="632460" y="1028700"/>
                  </a:lnTo>
                  <a:lnTo>
                    <a:pt x="687070" y="1059180"/>
                  </a:lnTo>
                  <a:lnTo>
                    <a:pt x="688340" y="1060450"/>
                  </a:lnTo>
                  <a:lnTo>
                    <a:pt x="739140" y="1083310"/>
                  </a:lnTo>
                  <a:lnTo>
                    <a:pt x="741680" y="1084580"/>
                  </a:lnTo>
                  <a:lnTo>
                    <a:pt x="789940" y="1101090"/>
                  </a:lnTo>
                  <a:lnTo>
                    <a:pt x="791210" y="1101090"/>
                  </a:lnTo>
                  <a:lnTo>
                    <a:pt x="815340" y="1106170"/>
                  </a:lnTo>
                  <a:lnTo>
                    <a:pt x="816610" y="1106170"/>
                  </a:lnTo>
                  <a:lnTo>
                    <a:pt x="839470" y="1109980"/>
                  </a:lnTo>
                  <a:lnTo>
                    <a:pt x="840740" y="1109980"/>
                  </a:lnTo>
                  <a:lnTo>
                    <a:pt x="862330" y="1109980"/>
                  </a:lnTo>
                  <a:lnTo>
                    <a:pt x="863600" y="1109980"/>
                  </a:lnTo>
                  <a:lnTo>
                    <a:pt x="885190" y="1109980"/>
                  </a:lnTo>
                  <a:lnTo>
                    <a:pt x="886460" y="1108710"/>
                  </a:lnTo>
                  <a:lnTo>
                    <a:pt x="906780" y="1104900"/>
                  </a:lnTo>
                  <a:lnTo>
                    <a:pt x="909320" y="1104900"/>
                  </a:lnTo>
                  <a:lnTo>
                    <a:pt x="928370" y="1099820"/>
                  </a:lnTo>
                  <a:lnTo>
                    <a:pt x="930910" y="1098550"/>
                  </a:lnTo>
                  <a:lnTo>
                    <a:pt x="948690" y="1088390"/>
                  </a:lnTo>
                  <a:lnTo>
                    <a:pt x="949960" y="1088390"/>
                  </a:lnTo>
                  <a:lnTo>
                    <a:pt x="951230" y="1087120"/>
                  </a:lnTo>
                  <a:lnTo>
                    <a:pt x="967740" y="1071880"/>
                  </a:lnTo>
                  <a:lnTo>
                    <a:pt x="970280" y="1070610"/>
                  </a:lnTo>
                  <a:lnTo>
                    <a:pt x="984250" y="1051560"/>
                  </a:lnTo>
                  <a:lnTo>
                    <a:pt x="985520" y="1050290"/>
                  </a:lnTo>
                  <a:lnTo>
                    <a:pt x="998220" y="1027430"/>
                  </a:lnTo>
                  <a:lnTo>
                    <a:pt x="998220" y="1026160"/>
                  </a:lnTo>
                  <a:lnTo>
                    <a:pt x="1010920" y="999490"/>
                  </a:lnTo>
                  <a:lnTo>
                    <a:pt x="1010920" y="998220"/>
                  </a:lnTo>
                  <a:lnTo>
                    <a:pt x="1021080" y="969010"/>
                  </a:lnTo>
                  <a:lnTo>
                    <a:pt x="1021080" y="967740"/>
                  </a:lnTo>
                  <a:lnTo>
                    <a:pt x="1037590" y="899160"/>
                  </a:lnTo>
                  <a:lnTo>
                    <a:pt x="1037590" y="897890"/>
                  </a:lnTo>
                  <a:lnTo>
                    <a:pt x="1060450" y="732790"/>
                  </a:lnTo>
                  <a:lnTo>
                    <a:pt x="1076960" y="548640"/>
                  </a:lnTo>
                  <a:lnTo>
                    <a:pt x="1094740" y="365760"/>
                  </a:lnTo>
                  <a:lnTo>
                    <a:pt x="1105992" y="281914"/>
                  </a:lnTo>
                  <a:lnTo>
                    <a:pt x="1106170" y="281940"/>
                  </a:lnTo>
                  <a:lnTo>
                    <a:pt x="1121168" y="205676"/>
                  </a:lnTo>
                  <a:lnTo>
                    <a:pt x="1121410" y="205740"/>
                  </a:lnTo>
                  <a:lnTo>
                    <a:pt x="1141387" y="139573"/>
                  </a:lnTo>
                  <a:lnTo>
                    <a:pt x="1141730" y="139700"/>
                  </a:lnTo>
                  <a:lnTo>
                    <a:pt x="1154430" y="110490"/>
                  </a:lnTo>
                  <a:lnTo>
                    <a:pt x="1153947" y="110324"/>
                  </a:lnTo>
                  <a:lnTo>
                    <a:pt x="1167130" y="86360"/>
                  </a:lnTo>
                  <a:lnTo>
                    <a:pt x="1166901" y="86258"/>
                  </a:lnTo>
                  <a:lnTo>
                    <a:pt x="1180706" y="68199"/>
                  </a:lnTo>
                  <a:lnTo>
                    <a:pt x="1181100" y="68580"/>
                  </a:lnTo>
                  <a:lnTo>
                    <a:pt x="1196568" y="51917"/>
                  </a:lnTo>
                  <a:lnTo>
                    <a:pt x="1214501" y="39966"/>
                  </a:lnTo>
                  <a:lnTo>
                    <a:pt x="1231798" y="32842"/>
                  </a:lnTo>
                  <a:lnTo>
                    <a:pt x="1254760" y="29210"/>
                  </a:lnTo>
                  <a:lnTo>
                    <a:pt x="1277620" y="29210"/>
                  </a:lnTo>
                  <a:lnTo>
                    <a:pt x="1305572" y="31648"/>
                  </a:lnTo>
                  <a:lnTo>
                    <a:pt x="1336040" y="39370"/>
                  </a:lnTo>
                  <a:lnTo>
                    <a:pt x="1339850" y="25400"/>
                  </a:lnTo>
                  <a:lnTo>
                    <a:pt x="1342390" y="114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72400" y="4696459"/>
              <a:ext cx="849630" cy="547370"/>
            </a:xfrm>
            <a:custGeom>
              <a:avLst/>
              <a:gdLst/>
              <a:ahLst/>
              <a:cxnLst/>
              <a:rect l="l" t="t" r="r" b="b"/>
              <a:pathLst>
                <a:path w="849629" h="547370">
                  <a:moveTo>
                    <a:pt x="849630" y="524510"/>
                  </a:moveTo>
                  <a:lnTo>
                    <a:pt x="523240" y="279400"/>
                  </a:lnTo>
                  <a:lnTo>
                    <a:pt x="521970" y="279400"/>
                  </a:lnTo>
                  <a:lnTo>
                    <a:pt x="349250" y="162560"/>
                  </a:lnTo>
                  <a:lnTo>
                    <a:pt x="347980" y="161290"/>
                  </a:lnTo>
                  <a:lnTo>
                    <a:pt x="184150" y="67310"/>
                  </a:lnTo>
                  <a:lnTo>
                    <a:pt x="182880" y="66040"/>
                  </a:lnTo>
                  <a:lnTo>
                    <a:pt x="107950" y="31750"/>
                  </a:lnTo>
                  <a:lnTo>
                    <a:pt x="106680" y="31750"/>
                  </a:lnTo>
                  <a:lnTo>
                    <a:pt x="38100" y="7620"/>
                  </a:lnTo>
                  <a:lnTo>
                    <a:pt x="36830" y="7620"/>
                  </a:lnTo>
                  <a:lnTo>
                    <a:pt x="6350" y="0"/>
                  </a:lnTo>
                  <a:lnTo>
                    <a:pt x="2540" y="13970"/>
                  </a:lnTo>
                  <a:lnTo>
                    <a:pt x="0" y="27940"/>
                  </a:lnTo>
                  <a:lnTo>
                    <a:pt x="29311" y="35280"/>
                  </a:lnTo>
                  <a:lnTo>
                    <a:pt x="29210" y="35560"/>
                  </a:lnTo>
                  <a:lnTo>
                    <a:pt x="97790" y="58420"/>
                  </a:lnTo>
                  <a:lnTo>
                    <a:pt x="97993" y="57861"/>
                  </a:lnTo>
                  <a:lnTo>
                    <a:pt x="171450" y="92710"/>
                  </a:lnTo>
                  <a:lnTo>
                    <a:pt x="171602" y="92278"/>
                  </a:lnTo>
                  <a:lnTo>
                    <a:pt x="334010" y="186690"/>
                  </a:lnTo>
                  <a:lnTo>
                    <a:pt x="334162" y="186385"/>
                  </a:lnTo>
                  <a:lnTo>
                    <a:pt x="505891" y="301701"/>
                  </a:lnTo>
                  <a:lnTo>
                    <a:pt x="505460" y="302260"/>
                  </a:lnTo>
                  <a:lnTo>
                    <a:pt x="833120" y="547370"/>
                  </a:lnTo>
                  <a:lnTo>
                    <a:pt x="842010" y="535940"/>
                  </a:lnTo>
                  <a:lnTo>
                    <a:pt x="849630" y="5245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05520" y="5220969"/>
              <a:ext cx="241300" cy="18796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7842250" y="1699260"/>
            <a:ext cx="2143760" cy="1136650"/>
            <a:chOff x="6318250" y="1699260"/>
            <a:chExt cx="2143760" cy="1136650"/>
          </a:xfrm>
        </p:grpSpPr>
        <p:sp>
          <p:nvSpPr>
            <p:cNvPr id="12" name="object 12"/>
            <p:cNvSpPr/>
            <p:nvPr/>
          </p:nvSpPr>
          <p:spPr>
            <a:xfrm>
              <a:off x="6318250" y="2222499"/>
              <a:ext cx="1315720" cy="613410"/>
            </a:xfrm>
            <a:custGeom>
              <a:avLst/>
              <a:gdLst/>
              <a:ahLst/>
              <a:cxnLst/>
              <a:rect l="l" t="t" r="r" b="b"/>
              <a:pathLst>
                <a:path w="1315720" h="613410">
                  <a:moveTo>
                    <a:pt x="1315720" y="137160"/>
                  </a:moveTo>
                  <a:lnTo>
                    <a:pt x="1313180" y="132080"/>
                  </a:lnTo>
                  <a:lnTo>
                    <a:pt x="1288605" y="89103"/>
                  </a:lnTo>
                  <a:lnTo>
                    <a:pt x="1289050" y="88900"/>
                  </a:lnTo>
                  <a:lnTo>
                    <a:pt x="1268666" y="45745"/>
                  </a:lnTo>
                  <a:lnTo>
                    <a:pt x="1253490" y="0"/>
                  </a:lnTo>
                  <a:lnTo>
                    <a:pt x="1239520" y="3810"/>
                  </a:lnTo>
                  <a:lnTo>
                    <a:pt x="1225550" y="8890"/>
                  </a:lnTo>
                  <a:lnTo>
                    <a:pt x="1240790" y="54610"/>
                  </a:lnTo>
                  <a:lnTo>
                    <a:pt x="1242060" y="55880"/>
                  </a:lnTo>
                  <a:lnTo>
                    <a:pt x="1262380" y="100330"/>
                  </a:lnTo>
                  <a:lnTo>
                    <a:pt x="1263650" y="101600"/>
                  </a:lnTo>
                  <a:lnTo>
                    <a:pt x="1275346" y="122085"/>
                  </a:lnTo>
                  <a:lnTo>
                    <a:pt x="1229360" y="118110"/>
                  </a:lnTo>
                  <a:lnTo>
                    <a:pt x="1228090" y="118110"/>
                  </a:lnTo>
                  <a:lnTo>
                    <a:pt x="1196340" y="119380"/>
                  </a:lnTo>
                  <a:lnTo>
                    <a:pt x="1195070" y="119380"/>
                  </a:lnTo>
                  <a:lnTo>
                    <a:pt x="1165860" y="123190"/>
                  </a:lnTo>
                  <a:lnTo>
                    <a:pt x="1164590" y="124460"/>
                  </a:lnTo>
                  <a:lnTo>
                    <a:pt x="1139190" y="130810"/>
                  </a:lnTo>
                  <a:lnTo>
                    <a:pt x="1136650" y="130810"/>
                  </a:lnTo>
                  <a:lnTo>
                    <a:pt x="1113790" y="139700"/>
                  </a:lnTo>
                  <a:lnTo>
                    <a:pt x="1112520" y="140970"/>
                  </a:lnTo>
                  <a:lnTo>
                    <a:pt x="1092200" y="151130"/>
                  </a:lnTo>
                  <a:lnTo>
                    <a:pt x="1089660" y="152400"/>
                  </a:lnTo>
                  <a:lnTo>
                    <a:pt x="1071880" y="166370"/>
                  </a:lnTo>
                  <a:lnTo>
                    <a:pt x="1070610" y="167640"/>
                  </a:lnTo>
                  <a:lnTo>
                    <a:pt x="1054100" y="181610"/>
                  </a:lnTo>
                  <a:lnTo>
                    <a:pt x="1052830" y="182880"/>
                  </a:lnTo>
                  <a:lnTo>
                    <a:pt x="1038860" y="199390"/>
                  </a:lnTo>
                  <a:lnTo>
                    <a:pt x="1037590" y="200660"/>
                  </a:lnTo>
                  <a:lnTo>
                    <a:pt x="1024890" y="218440"/>
                  </a:lnTo>
                  <a:lnTo>
                    <a:pt x="1024890" y="219710"/>
                  </a:lnTo>
                  <a:lnTo>
                    <a:pt x="1013460" y="240030"/>
                  </a:lnTo>
                  <a:lnTo>
                    <a:pt x="1012190" y="240030"/>
                  </a:lnTo>
                  <a:lnTo>
                    <a:pt x="994410" y="281940"/>
                  </a:lnTo>
                  <a:lnTo>
                    <a:pt x="994410" y="283210"/>
                  </a:lnTo>
                  <a:lnTo>
                    <a:pt x="980440" y="327660"/>
                  </a:lnTo>
                  <a:lnTo>
                    <a:pt x="979170" y="328930"/>
                  </a:lnTo>
                  <a:lnTo>
                    <a:pt x="957859" y="417918"/>
                  </a:lnTo>
                  <a:lnTo>
                    <a:pt x="957580" y="417830"/>
                  </a:lnTo>
                  <a:lnTo>
                    <a:pt x="946454" y="461098"/>
                  </a:lnTo>
                  <a:lnTo>
                    <a:pt x="946150" y="461010"/>
                  </a:lnTo>
                  <a:lnTo>
                    <a:pt x="933805" y="499262"/>
                  </a:lnTo>
                  <a:lnTo>
                    <a:pt x="933450" y="499110"/>
                  </a:lnTo>
                  <a:lnTo>
                    <a:pt x="926274" y="515848"/>
                  </a:lnTo>
                  <a:lnTo>
                    <a:pt x="925830" y="515620"/>
                  </a:lnTo>
                  <a:lnTo>
                    <a:pt x="916940" y="532130"/>
                  </a:lnTo>
                  <a:lnTo>
                    <a:pt x="917257" y="532295"/>
                  </a:lnTo>
                  <a:lnTo>
                    <a:pt x="908050" y="546100"/>
                  </a:lnTo>
                  <a:lnTo>
                    <a:pt x="898791" y="556539"/>
                  </a:lnTo>
                  <a:lnTo>
                    <a:pt x="885190" y="566420"/>
                  </a:lnTo>
                  <a:lnTo>
                    <a:pt x="885304" y="566572"/>
                  </a:lnTo>
                  <a:lnTo>
                    <a:pt x="873963" y="573189"/>
                  </a:lnTo>
                  <a:lnTo>
                    <a:pt x="858520" y="579120"/>
                  </a:lnTo>
                  <a:lnTo>
                    <a:pt x="858596" y="579361"/>
                  </a:lnTo>
                  <a:lnTo>
                    <a:pt x="840740" y="582930"/>
                  </a:lnTo>
                  <a:lnTo>
                    <a:pt x="840778" y="583082"/>
                  </a:lnTo>
                  <a:lnTo>
                    <a:pt x="801992" y="585444"/>
                  </a:lnTo>
                  <a:lnTo>
                    <a:pt x="759460" y="582930"/>
                  </a:lnTo>
                  <a:lnTo>
                    <a:pt x="759358" y="584022"/>
                  </a:lnTo>
                  <a:lnTo>
                    <a:pt x="716241" y="578027"/>
                  </a:lnTo>
                  <a:lnTo>
                    <a:pt x="716280" y="577850"/>
                  </a:lnTo>
                  <a:lnTo>
                    <a:pt x="669226" y="569188"/>
                  </a:lnTo>
                  <a:lnTo>
                    <a:pt x="669290" y="568960"/>
                  </a:lnTo>
                  <a:lnTo>
                    <a:pt x="571373" y="541350"/>
                  </a:lnTo>
                  <a:lnTo>
                    <a:pt x="571500" y="541020"/>
                  </a:lnTo>
                  <a:lnTo>
                    <a:pt x="466090" y="502920"/>
                  </a:lnTo>
                  <a:lnTo>
                    <a:pt x="356870" y="454660"/>
                  </a:lnTo>
                  <a:lnTo>
                    <a:pt x="243840" y="400050"/>
                  </a:lnTo>
                  <a:lnTo>
                    <a:pt x="12700" y="279400"/>
                  </a:lnTo>
                  <a:lnTo>
                    <a:pt x="0" y="304800"/>
                  </a:lnTo>
                  <a:lnTo>
                    <a:pt x="231140" y="425450"/>
                  </a:lnTo>
                  <a:lnTo>
                    <a:pt x="344170" y="480060"/>
                  </a:lnTo>
                  <a:lnTo>
                    <a:pt x="345440" y="481330"/>
                  </a:lnTo>
                  <a:lnTo>
                    <a:pt x="454660" y="528320"/>
                  </a:lnTo>
                  <a:lnTo>
                    <a:pt x="455930" y="529590"/>
                  </a:lnTo>
                  <a:lnTo>
                    <a:pt x="561340" y="567690"/>
                  </a:lnTo>
                  <a:lnTo>
                    <a:pt x="562610" y="568960"/>
                  </a:lnTo>
                  <a:lnTo>
                    <a:pt x="661670" y="596900"/>
                  </a:lnTo>
                  <a:lnTo>
                    <a:pt x="662940" y="596900"/>
                  </a:lnTo>
                  <a:lnTo>
                    <a:pt x="709930" y="605790"/>
                  </a:lnTo>
                  <a:lnTo>
                    <a:pt x="711200" y="605790"/>
                  </a:lnTo>
                  <a:lnTo>
                    <a:pt x="756920" y="612140"/>
                  </a:lnTo>
                  <a:lnTo>
                    <a:pt x="758190" y="612140"/>
                  </a:lnTo>
                  <a:lnTo>
                    <a:pt x="801370" y="613410"/>
                  </a:lnTo>
                  <a:lnTo>
                    <a:pt x="802640" y="613410"/>
                  </a:lnTo>
                  <a:lnTo>
                    <a:pt x="844550" y="610870"/>
                  </a:lnTo>
                  <a:lnTo>
                    <a:pt x="847090" y="610870"/>
                  </a:lnTo>
                  <a:lnTo>
                    <a:pt x="866140" y="607060"/>
                  </a:lnTo>
                  <a:lnTo>
                    <a:pt x="868680" y="605790"/>
                  </a:lnTo>
                  <a:lnTo>
                    <a:pt x="885190" y="599440"/>
                  </a:lnTo>
                  <a:lnTo>
                    <a:pt x="887730" y="599440"/>
                  </a:lnTo>
                  <a:lnTo>
                    <a:pt x="901700" y="590550"/>
                  </a:lnTo>
                  <a:lnTo>
                    <a:pt x="904240" y="589280"/>
                  </a:lnTo>
                  <a:lnTo>
                    <a:pt x="916940" y="577850"/>
                  </a:lnTo>
                  <a:lnTo>
                    <a:pt x="918210" y="576580"/>
                  </a:lnTo>
                  <a:lnTo>
                    <a:pt x="930910" y="562610"/>
                  </a:lnTo>
                  <a:lnTo>
                    <a:pt x="930910" y="561340"/>
                  </a:lnTo>
                  <a:lnTo>
                    <a:pt x="941070" y="547370"/>
                  </a:lnTo>
                  <a:lnTo>
                    <a:pt x="942340" y="546100"/>
                  </a:lnTo>
                  <a:lnTo>
                    <a:pt x="951230" y="529590"/>
                  </a:lnTo>
                  <a:lnTo>
                    <a:pt x="951230" y="528320"/>
                  </a:lnTo>
                  <a:lnTo>
                    <a:pt x="960120" y="510540"/>
                  </a:lnTo>
                  <a:lnTo>
                    <a:pt x="960120" y="509270"/>
                  </a:lnTo>
                  <a:lnTo>
                    <a:pt x="972820" y="469900"/>
                  </a:lnTo>
                  <a:lnTo>
                    <a:pt x="974090" y="468630"/>
                  </a:lnTo>
                  <a:lnTo>
                    <a:pt x="984250" y="425450"/>
                  </a:lnTo>
                  <a:lnTo>
                    <a:pt x="1006805" y="336448"/>
                  </a:lnTo>
                  <a:lnTo>
                    <a:pt x="1007110" y="336550"/>
                  </a:lnTo>
                  <a:lnTo>
                    <a:pt x="1020724" y="293230"/>
                  </a:lnTo>
                  <a:lnTo>
                    <a:pt x="1021080" y="293370"/>
                  </a:lnTo>
                  <a:lnTo>
                    <a:pt x="1038415" y="253746"/>
                  </a:lnTo>
                  <a:lnTo>
                    <a:pt x="1038860" y="254000"/>
                  </a:lnTo>
                  <a:lnTo>
                    <a:pt x="1048524" y="234657"/>
                  </a:lnTo>
                  <a:lnTo>
                    <a:pt x="1049020" y="234950"/>
                  </a:lnTo>
                  <a:lnTo>
                    <a:pt x="1059903" y="218020"/>
                  </a:lnTo>
                  <a:lnTo>
                    <a:pt x="1060450" y="218440"/>
                  </a:lnTo>
                  <a:lnTo>
                    <a:pt x="1074039" y="202387"/>
                  </a:lnTo>
                  <a:lnTo>
                    <a:pt x="1088339" y="189179"/>
                  </a:lnTo>
                  <a:lnTo>
                    <a:pt x="1104798" y="176339"/>
                  </a:lnTo>
                  <a:lnTo>
                    <a:pt x="1104900" y="176530"/>
                  </a:lnTo>
                  <a:lnTo>
                    <a:pt x="1125220" y="166370"/>
                  </a:lnTo>
                  <a:lnTo>
                    <a:pt x="1125004" y="165963"/>
                  </a:lnTo>
                  <a:lnTo>
                    <a:pt x="1145413" y="158026"/>
                  </a:lnTo>
                  <a:lnTo>
                    <a:pt x="1145540" y="158750"/>
                  </a:lnTo>
                  <a:lnTo>
                    <a:pt x="1170940" y="151130"/>
                  </a:lnTo>
                  <a:lnTo>
                    <a:pt x="1170901" y="150977"/>
                  </a:lnTo>
                  <a:lnTo>
                    <a:pt x="1198880" y="147320"/>
                  </a:lnTo>
                  <a:lnTo>
                    <a:pt x="1227531" y="146126"/>
                  </a:lnTo>
                  <a:lnTo>
                    <a:pt x="1300480" y="153670"/>
                  </a:lnTo>
                  <a:lnTo>
                    <a:pt x="1301686" y="139738"/>
                  </a:lnTo>
                  <a:lnTo>
                    <a:pt x="1300480" y="153670"/>
                  </a:lnTo>
                  <a:lnTo>
                    <a:pt x="1304290" y="153670"/>
                  </a:lnTo>
                  <a:lnTo>
                    <a:pt x="1306830" y="152400"/>
                  </a:lnTo>
                  <a:lnTo>
                    <a:pt x="1308100" y="151130"/>
                  </a:lnTo>
                  <a:lnTo>
                    <a:pt x="1310640" y="149860"/>
                  </a:lnTo>
                  <a:lnTo>
                    <a:pt x="1311910" y="148590"/>
                  </a:lnTo>
                  <a:lnTo>
                    <a:pt x="1314450" y="143510"/>
                  </a:lnTo>
                  <a:lnTo>
                    <a:pt x="1315720" y="142240"/>
                  </a:lnTo>
                  <a:lnTo>
                    <a:pt x="1315720" y="137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24750" y="1699259"/>
              <a:ext cx="937260" cy="577850"/>
            </a:xfrm>
            <a:custGeom>
              <a:avLst/>
              <a:gdLst/>
              <a:ahLst/>
              <a:cxnLst/>
              <a:rect l="l" t="t" r="r" b="b"/>
              <a:pathLst>
                <a:path w="937259" h="577850">
                  <a:moveTo>
                    <a:pt x="937260" y="115570"/>
                  </a:moveTo>
                  <a:lnTo>
                    <a:pt x="706120" y="55880"/>
                  </a:lnTo>
                  <a:lnTo>
                    <a:pt x="595630" y="31750"/>
                  </a:lnTo>
                  <a:lnTo>
                    <a:pt x="594360" y="31750"/>
                  </a:lnTo>
                  <a:lnTo>
                    <a:pt x="490220" y="12700"/>
                  </a:lnTo>
                  <a:lnTo>
                    <a:pt x="488950" y="12700"/>
                  </a:lnTo>
                  <a:lnTo>
                    <a:pt x="393700" y="2540"/>
                  </a:lnTo>
                  <a:lnTo>
                    <a:pt x="392430" y="1270"/>
                  </a:lnTo>
                  <a:lnTo>
                    <a:pt x="347980" y="0"/>
                  </a:lnTo>
                  <a:lnTo>
                    <a:pt x="346710" y="0"/>
                  </a:lnTo>
                  <a:lnTo>
                    <a:pt x="304800" y="1270"/>
                  </a:lnTo>
                  <a:lnTo>
                    <a:pt x="303530" y="1270"/>
                  </a:lnTo>
                  <a:lnTo>
                    <a:pt x="265430" y="5080"/>
                  </a:lnTo>
                  <a:lnTo>
                    <a:pt x="264160" y="5080"/>
                  </a:lnTo>
                  <a:lnTo>
                    <a:pt x="228600" y="12700"/>
                  </a:lnTo>
                  <a:lnTo>
                    <a:pt x="226060" y="13970"/>
                  </a:lnTo>
                  <a:lnTo>
                    <a:pt x="194310" y="25400"/>
                  </a:lnTo>
                  <a:lnTo>
                    <a:pt x="193040" y="25400"/>
                  </a:lnTo>
                  <a:lnTo>
                    <a:pt x="179070" y="31750"/>
                  </a:lnTo>
                  <a:lnTo>
                    <a:pt x="177800" y="33020"/>
                  </a:lnTo>
                  <a:lnTo>
                    <a:pt x="163830" y="40640"/>
                  </a:lnTo>
                  <a:lnTo>
                    <a:pt x="162560" y="41910"/>
                  </a:lnTo>
                  <a:lnTo>
                    <a:pt x="137160" y="60960"/>
                  </a:lnTo>
                  <a:lnTo>
                    <a:pt x="135890" y="60960"/>
                  </a:lnTo>
                  <a:lnTo>
                    <a:pt x="111760" y="85090"/>
                  </a:lnTo>
                  <a:lnTo>
                    <a:pt x="110490" y="86360"/>
                  </a:lnTo>
                  <a:lnTo>
                    <a:pt x="87630" y="113030"/>
                  </a:lnTo>
                  <a:lnTo>
                    <a:pt x="87630" y="114300"/>
                  </a:lnTo>
                  <a:lnTo>
                    <a:pt x="66040" y="144780"/>
                  </a:lnTo>
                  <a:lnTo>
                    <a:pt x="66040" y="146050"/>
                  </a:lnTo>
                  <a:lnTo>
                    <a:pt x="48260" y="180340"/>
                  </a:lnTo>
                  <a:lnTo>
                    <a:pt x="46990" y="181610"/>
                  </a:lnTo>
                  <a:lnTo>
                    <a:pt x="31750" y="217170"/>
                  </a:lnTo>
                  <a:lnTo>
                    <a:pt x="31750" y="218440"/>
                  </a:lnTo>
                  <a:lnTo>
                    <a:pt x="19050" y="257810"/>
                  </a:lnTo>
                  <a:lnTo>
                    <a:pt x="17780" y="259080"/>
                  </a:lnTo>
                  <a:lnTo>
                    <a:pt x="8890" y="299720"/>
                  </a:lnTo>
                  <a:lnTo>
                    <a:pt x="8890" y="300990"/>
                  </a:lnTo>
                  <a:lnTo>
                    <a:pt x="2540" y="344170"/>
                  </a:lnTo>
                  <a:lnTo>
                    <a:pt x="2540" y="345440"/>
                  </a:lnTo>
                  <a:lnTo>
                    <a:pt x="0" y="389890"/>
                  </a:lnTo>
                  <a:lnTo>
                    <a:pt x="0" y="391160"/>
                  </a:lnTo>
                  <a:lnTo>
                    <a:pt x="2540" y="435610"/>
                  </a:lnTo>
                  <a:lnTo>
                    <a:pt x="2540" y="436880"/>
                  </a:lnTo>
                  <a:lnTo>
                    <a:pt x="7620" y="482600"/>
                  </a:lnTo>
                  <a:lnTo>
                    <a:pt x="7620" y="483870"/>
                  </a:lnTo>
                  <a:lnTo>
                    <a:pt x="19050" y="529590"/>
                  </a:lnTo>
                  <a:lnTo>
                    <a:pt x="19050" y="532130"/>
                  </a:lnTo>
                  <a:lnTo>
                    <a:pt x="34290" y="577850"/>
                  </a:lnTo>
                  <a:lnTo>
                    <a:pt x="48260" y="572770"/>
                  </a:lnTo>
                  <a:lnTo>
                    <a:pt x="62230" y="568960"/>
                  </a:lnTo>
                  <a:lnTo>
                    <a:pt x="46990" y="523240"/>
                  </a:lnTo>
                  <a:lnTo>
                    <a:pt x="36207" y="480123"/>
                  </a:lnTo>
                  <a:lnTo>
                    <a:pt x="36830" y="480060"/>
                  </a:lnTo>
                  <a:lnTo>
                    <a:pt x="30480" y="434340"/>
                  </a:lnTo>
                  <a:lnTo>
                    <a:pt x="29222" y="390525"/>
                  </a:lnTo>
                  <a:lnTo>
                    <a:pt x="30441" y="347980"/>
                  </a:lnTo>
                  <a:lnTo>
                    <a:pt x="36830" y="306070"/>
                  </a:lnTo>
                  <a:lnTo>
                    <a:pt x="45453" y="266636"/>
                  </a:lnTo>
                  <a:lnTo>
                    <a:pt x="45720" y="266700"/>
                  </a:lnTo>
                  <a:lnTo>
                    <a:pt x="58051" y="228473"/>
                  </a:lnTo>
                  <a:lnTo>
                    <a:pt x="58420" y="228600"/>
                  </a:lnTo>
                  <a:lnTo>
                    <a:pt x="73215" y="192824"/>
                  </a:lnTo>
                  <a:lnTo>
                    <a:pt x="73660" y="193040"/>
                  </a:lnTo>
                  <a:lnTo>
                    <a:pt x="91440" y="160020"/>
                  </a:lnTo>
                  <a:lnTo>
                    <a:pt x="90525" y="159486"/>
                  </a:lnTo>
                  <a:lnTo>
                    <a:pt x="110490" y="129540"/>
                  </a:lnTo>
                  <a:lnTo>
                    <a:pt x="110363" y="129463"/>
                  </a:lnTo>
                  <a:lnTo>
                    <a:pt x="131762" y="104508"/>
                  </a:lnTo>
                  <a:lnTo>
                    <a:pt x="154940" y="82550"/>
                  </a:lnTo>
                  <a:lnTo>
                    <a:pt x="154406" y="82029"/>
                  </a:lnTo>
                  <a:lnTo>
                    <a:pt x="179070" y="64770"/>
                  </a:lnTo>
                  <a:lnTo>
                    <a:pt x="178727" y="64262"/>
                  </a:lnTo>
                  <a:lnTo>
                    <a:pt x="190284" y="57962"/>
                  </a:lnTo>
                  <a:lnTo>
                    <a:pt x="190500" y="58420"/>
                  </a:lnTo>
                  <a:lnTo>
                    <a:pt x="203200" y="52070"/>
                  </a:lnTo>
                  <a:lnTo>
                    <a:pt x="236220" y="40640"/>
                  </a:lnTo>
                  <a:lnTo>
                    <a:pt x="236054" y="40220"/>
                  </a:lnTo>
                  <a:lnTo>
                    <a:pt x="269240" y="34290"/>
                  </a:lnTo>
                  <a:lnTo>
                    <a:pt x="269201" y="34137"/>
                  </a:lnTo>
                  <a:lnTo>
                    <a:pt x="307340" y="29210"/>
                  </a:lnTo>
                  <a:lnTo>
                    <a:pt x="346710" y="29210"/>
                  </a:lnTo>
                  <a:lnTo>
                    <a:pt x="389890" y="30454"/>
                  </a:lnTo>
                  <a:lnTo>
                    <a:pt x="485152" y="40513"/>
                  </a:lnTo>
                  <a:lnTo>
                    <a:pt x="485140" y="40640"/>
                  </a:lnTo>
                  <a:lnTo>
                    <a:pt x="589280" y="58420"/>
                  </a:lnTo>
                  <a:lnTo>
                    <a:pt x="698563" y="83553"/>
                  </a:lnTo>
                  <a:lnTo>
                    <a:pt x="698500" y="83820"/>
                  </a:lnTo>
                  <a:lnTo>
                    <a:pt x="929640" y="142240"/>
                  </a:lnTo>
                  <a:lnTo>
                    <a:pt x="933450" y="128270"/>
                  </a:lnTo>
                  <a:lnTo>
                    <a:pt x="937260" y="1155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66330" y="2208530"/>
              <a:ext cx="306070" cy="306070"/>
            </a:xfrm>
            <a:custGeom>
              <a:avLst/>
              <a:gdLst/>
              <a:ahLst/>
              <a:cxnLst/>
              <a:rect l="l" t="t" r="r" b="b"/>
              <a:pathLst>
                <a:path w="306070" h="306069">
                  <a:moveTo>
                    <a:pt x="153670" y="306070"/>
                  </a:moveTo>
                  <a:lnTo>
                    <a:pt x="105013" y="298267"/>
                  </a:lnTo>
                  <a:lnTo>
                    <a:pt x="62819" y="276565"/>
                  </a:lnTo>
                  <a:lnTo>
                    <a:pt x="29585" y="243525"/>
                  </a:lnTo>
                  <a:lnTo>
                    <a:pt x="7813" y="201706"/>
                  </a:lnTo>
                  <a:lnTo>
                    <a:pt x="0" y="153670"/>
                  </a:lnTo>
                  <a:lnTo>
                    <a:pt x="7813" y="105013"/>
                  </a:lnTo>
                  <a:lnTo>
                    <a:pt x="29585" y="62819"/>
                  </a:lnTo>
                  <a:lnTo>
                    <a:pt x="62819" y="29585"/>
                  </a:lnTo>
                  <a:lnTo>
                    <a:pt x="105013" y="7813"/>
                  </a:lnTo>
                  <a:lnTo>
                    <a:pt x="153670" y="0"/>
                  </a:lnTo>
                  <a:lnTo>
                    <a:pt x="201706" y="7813"/>
                  </a:lnTo>
                  <a:lnTo>
                    <a:pt x="243525" y="29585"/>
                  </a:lnTo>
                  <a:lnTo>
                    <a:pt x="276565" y="62819"/>
                  </a:lnTo>
                  <a:lnTo>
                    <a:pt x="298267" y="105013"/>
                  </a:lnTo>
                  <a:lnTo>
                    <a:pt x="306070" y="153670"/>
                  </a:lnTo>
                  <a:lnTo>
                    <a:pt x="298267" y="201706"/>
                  </a:lnTo>
                  <a:lnTo>
                    <a:pt x="276565" y="243525"/>
                  </a:lnTo>
                  <a:lnTo>
                    <a:pt x="243525" y="276565"/>
                  </a:lnTo>
                  <a:lnTo>
                    <a:pt x="201706" y="298267"/>
                  </a:lnTo>
                  <a:lnTo>
                    <a:pt x="153670" y="30607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001000" y="3311934"/>
            <a:ext cx="1917064" cy="883919"/>
            <a:chOff x="6477000" y="3311933"/>
            <a:chExt cx="1917064" cy="883919"/>
          </a:xfrm>
        </p:grpSpPr>
        <p:sp>
          <p:nvSpPr>
            <p:cNvPr id="16" name="object 16"/>
            <p:cNvSpPr/>
            <p:nvPr/>
          </p:nvSpPr>
          <p:spPr>
            <a:xfrm>
              <a:off x="6477000" y="3326129"/>
              <a:ext cx="1902460" cy="712470"/>
            </a:xfrm>
            <a:custGeom>
              <a:avLst/>
              <a:gdLst/>
              <a:ahLst/>
              <a:cxnLst/>
              <a:rect l="l" t="t" r="r" b="b"/>
              <a:pathLst>
                <a:path w="1902459" h="712470">
                  <a:moveTo>
                    <a:pt x="0" y="712470"/>
                  </a:moveTo>
                  <a:lnTo>
                    <a:pt x="1143000" y="712470"/>
                  </a:lnTo>
                </a:path>
                <a:path w="1902459" h="712470">
                  <a:moveTo>
                    <a:pt x="1143000" y="712470"/>
                  </a:moveTo>
                  <a:lnTo>
                    <a:pt x="1182370" y="711200"/>
                  </a:lnTo>
                  <a:lnTo>
                    <a:pt x="1221740" y="708660"/>
                  </a:lnTo>
                  <a:lnTo>
                    <a:pt x="1261109" y="703580"/>
                  </a:lnTo>
                  <a:lnTo>
                    <a:pt x="1299209" y="695960"/>
                  </a:lnTo>
                  <a:lnTo>
                    <a:pt x="1338579" y="687070"/>
                  </a:lnTo>
                  <a:lnTo>
                    <a:pt x="1375409" y="675640"/>
                  </a:lnTo>
                  <a:lnTo>
                    <a:pt x="1413509" y="662940"/>
                  </a:lnTo>
                  <a:lnTo>
                    <a:pt x="1450340" y="647700"/>
                  </a:lnTo>
                  <a:lnTo>
                    <a:pt x="1485900" y="631190"/>
                  </a:lnTo>
                  <a:lnTo>
                    <a:pt x="1520190" y="612140"/>
                  </a:lnTo>
                  <a:lnTo>
                    <a:pt x="1554479" y="591820"/>
                  </a:lnTo>
                  <a:lnTo>
                    <a:pt x="1587500" y="568960"/>
                  </a:lnTo>
                  <a:lnTo>
                    <a:pt x="1619250" y="544830"/>
                  </a:lnTo>
                  <a:lnTo>
                    <a:pt x="1648459" y="519430"/>
                  </a:lnTo>
                  <a:lnTo>
                    <a:pt x="1677670" y="492760"/>
                  </a:lnTo>
                  <a:lnTo>
                    <a:pt x="1705609" y="464820"/>
                  </a:lnTo>
                  <a:lnTo>
                    <a:pt x="1731009" y="434340"/>
                  </a:lnTo>
                  <a:lnTo>
                    <a:pt x="1755140" y="402590"/>
                  </a:lnTo>
                  <a:lnTo>
                    <a:pt x="1778000" y="370840"/>
                  </a:lnTo>
                  <a:lnTo>
                    <a:pt x="1799590" y="336550"/>
                  </a:lnTo>
                  <a:lnTo>
                    <a:pt x="1818640" y="302260"/>
                  </a:lnTo>
                  <a:lnTo>
                    <a:pt x="1835150" y="266700"/>
                  </a:lnTo>
                  <a:lnTo>
                    <a:pt x="1851659" y="229870"/>
                  </a:lnTo>
                  <a:lnTo>
                    <a:pt x="1864359" y="193040"/>
                  </a:lnTo>
                  <a:lnTo>
                    <a:pt x="1877059" y="154940"/>
                  </a:lnTo>
                  <a:lnTo>
                    <a:pt x="1885950" y="116840"/>
                  </a:lnTo>
                  <a:lnTo>
                    <a:pt x="1893570" y="77470"/>
                  </a:lnTo>
                  <a:lnTo>
                    <a:pt x="1899920" y="39370"/>
                  </a:lnTo>
                  <a:lnTo>
                    <a:pt x="1902459" y="0"/>
                  </a:lnTo>
                </a:path>
              </a:pathLst>
            </a:custGeom>
            <a:ln w="283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42530" y="3884929"/>
              <a:ext cx="306070" cy="306070"/>
            </a:xfrm>
            <a:custGeom>
              <a:avLst/>
              <a:gdLst/>
              <a:ahLst/>
              <a:cxnLst/>
              <a:rect l="l" t="t" r="r" b="b"/>
              <a:pathLst>
                <a:path w="306070" h="306070">
                  <a:moveTo>
                    <a:pt x="153670" y="306070"/>
                  </a:moveTo>
                  <a:lnTo>
                    <a:pt x="105013" y="298267"/>
                  </a:lnTo>
                  <a:lnTo>
                    <a:pt x="62819" y="276565"/>
                  </a:lnTo>
                  <a:lnTo>
                    <a:pt x="29585" y="243525"/>
                  </a:lnTo>
                  <a:lnTo>
                    <a:pt x="7813" y="201706"/>
                  </a:lnTo>
                  <a:lnTo>
                    <a:pt x="0" y="153670"/>
                  </a:lnTo>
                  <a:lnTo>
                    <a:pt x="7813" y="105013"/>
                  </a:lnTo>
                  <a:lnTo>
                    <a:pt x="29585" y="62819"/>
                  </a:lnTo>
                  <a:lnTo>
                    <a:pt x="62819" y="29585"/>
                  </a:lnTo>
                  <a:lnTo>
                    <a:pt x="105013" y="7813"/>
                  </a:lnTo>
                  <a:lnTo>
                    <a:pt x="153670" y="0"/>
                  </a:lnTo>
                  <a:lnTo>
                    <a:pt x="201706" y="7813"/>
                  </a:lnTo>
                  <a:lnTo>
                    <a:pt x="243525" y="29585"/>
                  </a:lnTo>
                  <a:lnTo>
                    <a:pt x="276565" y="62819"/>
                  </a:lnTo>
                  <a:lnTo>
                    <a:pt x="298267" y="105013"/>
                  </a:lnTo>
                  <a:lnTo>
                    <a:pt x="306070" y="153670"/>
                  </a:lnTo>
                  <a:lnTo>
                    <a:pt x="298267" y="201706"/>
                  </a:lnTo>
                  <a:lnTo>
                    <a:pt x="276565" y="243525"/>
                  </a:lnTo>
                  <a:lnTo>
                    <a:pt x="243525" y="276565"/>
                  </a:lnTo>
                  <a:lnTo>
                    <a:pt x="201706" y="298267"/>
                  </a:lnTo>
                  <a:lnTo>
                    <a:pt x="153670" y="30607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582151" y="2033270"/>
            <a:ext cx="367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600" i="1" spc="112" baseline="-16203" dirty="0">
                <a:latin typeface="Cambria"/>
                <a:cs typeface="Cambria"/>
              </a:rPr>
              <a:t>C</a:t>
            </a:r>
            <a:r>
              <a:rPr sz="1400" spc="75" dirty="0">
                <a:latin typeface="Cambria"/>
                <a:cs typeface="Cambria"/>
              </a:rPr>
              <a:t>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813291" y="3829050"/>
            <a:ext cx="367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600" i="1" spc="112" baseline="-16203" dirty="0">
                <a:latin typeface="Cambria"/>
                <a:cs typeface="Cambria"/>
              </a:rPr>
              <a:t>C</a:t>
            </a:r>
            <a:r>
              <a:rPr sz="1400" spc="75" dirty="0">
                <a:latin typeface="Cambria"/>
                <a:cs typeface="Cambria"/>
              </a:rPr>
              <a:t>1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27491" y="5580379"/>
            <a:ext cx="367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600" i="1" spc="112" baseline="-16203" dirty="0">
                <a:latin typeface="Cambria"/>
                <a:cs typeface="Cambria"/>
              </a:rPr>
              <a:t>C</a:t>
            </a:r>
            <a:r>
              <a:rPr sz="1400" spc="75" dirty="0">
                <a:latin typeface="Cambria"/>
                <a:cs typeface="Cambria"/>
              </a:rPr>
              <a:t>2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85719" y="4989829"/>
            <a:ext cx="2218690" cy="958850"/>
            <a:chOff x="1061719" y="4989829"/>
            <a:chExt cx="2218690" cy="9588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1719" y="4989829"/>
              <a:ext cx="85090" cy="18160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37920" y="5167629"/>
              <a:ext cx="1484630" cy="775970"/>
            </a:xfrm>
            <a:custGeom>
              <a:avLst/>
              <a:gdLst/>
              <a:ahLst/>
              <a:cxnLst/>
              <a:rect l="l" t="t" r="r" b="b"/>
              <a:pathLst>
                <a:path w="1484630" h="775970">
                  <a:moveTo>
                    <a:pt x="1484630" y="759460"/>
                  </a:moveTo>
                  <a:lnTo>
                    <a:pt x="1424940" y="742950"/>
                  </a:lnTo>
                  <a:lnTo>
                    <a:pt x="1369060" y="723900"/>
                  </a:lnTo>
                  <a:lnTo>
                    <a:pt x="1316990" y="708660"/>
                  </a:lnTo>
                  <a:lnTo>
                    <a:pt x="1315720" y="707390"/>
                  </a:lnTo>
                  <a:lnTo>
                    <a:pt x="1291590" y="702310"/>
                  </a:lnTo>
                  <a:lnTo>
                    <a:pt x="1268730" y="699770"/>
                  </a:lnTo>
                  <a:lnTo>
                    <a:pt x="1228090" y="697230"/>
                  </a:lnTo>
                  <a:lnTo>
                    <a:pt x="1192530" y="693420"/>
                  </a:lnTo>
                  <a:lnTo>
                    <a:pt x="1132840" y="684530"/>
                  </a:lnTo>
                  <a:lnTo>
                    <a:pt x="1078230" y="675640"/>
                  </a:lnTo>
                  <a:lnTo>
                    <a:pt x="1051560" y="674370"/>
                  </a:lnTo>
                  <a:lnTo>
                    <a:pt x="1022350" y="673100"/>
                  </a:lnTo>
                  <a:lnTo>
                    <a:pt x="994410" y="674370"/>
                  </a:lnTo>
                  <a:lnTo>
                    <a:pt x="993140" y="674370"/>
                  </a:lnTo>
                  <a:lnTo>
                    <a:pt x="967740" y="676910"/>
                  </a:lnTo>
                  <a:lnTo>
                    <a:pt x="918210" y="684530"/>
                  </a:lnTo>
                  <a:lnTo>
                    <a:pt x="861060" y="693420"/>
                  </a:lnTo>
                  <a:lnTo>
                    <a:pt x="861085" y="693572"/>
                  </a:lnTo>
                  <a:lnTo>
                    <a:pt x="829310" y="697230"/>
                  </a:lnTo>
                  <a:lnTo>
                    <a:pt x="789940" y="699770"/>
                  </a:lnTo>
                  <a:lnTo>
                    <a:pt x="768350" y="702310"/>
                  </a:lnTo>
                  <a:lnTo>
                    <a:pt x="745490" y="707390"/>
                  </a:lnTo>
                  <a:lnTo>
                    <a:pt x="744220" y="707390"/>
                  </a:lnTo>
                  <a:lnTo>
                    <a:pt x="694690" y="722630"/>
                  </a:lnTo>
                  <a:lnTo>
                    <a:pt x="640080" y="741680"/>
                  </a:lnTo>
                  <a:lnTo>
                    <a:pt x="582930" y="756920"/>
                  </a:lnTo>
                  <a:lnTo>
                    <a:pt x="553720" y="763270"/>
                  </a:lnTo>
                  <a:lnTo>
                    <a:pt x="524510" y="765810"/>
                  </a:lnTo>
                  <a:lnTo>
                    <a:pt x="496557" y="767080"/>
                  </a:lnTo>
                  <a:lnTo>
                    <a:pt x="468566" y="763435"/>
                  </a:lnTo>
                  <a:lnTo>
                    <a:pt x="468630" y="763270"/>
                  </a:lnTo>
                  <a:lnTo>
                    <a:pt x="439420" y="755650"/>
                  </a:lnTo>
                  <a:lnTo>
                    <a:pt x="383540" y="725170"/>
                  </a:lnTo>
                  <a:lnTo>
                    <a:pt x="330200" y="669290"/>
                  </a:lnTo>
                  <a:lnTo>
                    <a:pt x="301307" y="627862"/>
                  </a:lnTo>
                  <a:lnTo>
                    <a:pt x="302260" y="627380"/>
                  </a:lnTo>
                  <a:lnTo>
                    <a:pt x="241300" y="523240"/>
                  </a:lnTo>
                  <a:lnTo>
                    <a:pt x="179070" y="397510"/>
                  </a:lnTo>
                  <a:lnTo>
                    <a:pt x="118110" y="261620"/>
                  </a:lnTo>
                  <a:lnTo>
                    <a:pt x="8890" y="0"/>
                  </a:lnTo>
                  <a:lnTo>
                    <a:pt x="5080" y="2540"/>
                  </a:lnTo>
                  <a:lnTo>
                    <a:pt x="0" y="3810"/>
                  </a:lnTo>
                  <a:lnTo>
                    <a:pt x="109220" y="265430"/>
                  </a:lnTo>
                  <a:lnTo>
                    <a:pt x="110490" y="265430"/>
                  </a:lnTo>
                  <a:lnTo>
                    <a:pt x="171450" y="401320"/>
                  </a:lnTo>
                  <a:lnTo>
                    <a:pt x="232410" y="527050"/>
                  </a:lnTo>
                  <a:lnTo>
                    <a:pt x="293370" y="632460"/>
                  </a:lnTo>
                  <a:lnTo>
                    <a:pt x="322580" y="674370"/>
                  </a:lnTo>
                  <a:lnTo>
                    <a:pt x="322580" y="675640"/>
                  </a:lnTo>
                  <a:lnTo>
                    <a:pt x="350520" y="707390"/>
                  </a:lnTo>
                  <a:lnTo>
                    <a:pt x="350520" y="708660"/>
                  </a:lnTo>
                  <a:lnTo>
                    <a:pt x="378460" y="732790"/>
                  </a:lnTo>
                  <a:lnTo>
                    <a:pt x="406400" y="750570"/>
                  </a:lnTo>
                  <a:lnTo>
                    <a:pt x="407670" y="751840"/>
                  </a:lnTo>
                  <a:lnTo>
                    <a:pt x="435610" y="764540"/>
                  </a:lnTo>
                  <a:lnTo>
                    <a:pt x="436880" y="764540"/>
                  </a:lnTo>
                  <a:lnTo>
                    <a:pt x="466090" y="772160"/>
                  </a:lnTo>
                  <a:lnTo>
                    <a:pt x="495300" y="775970"/>
                  </a:lnTo>
                  <a:lnTo>
                    <a:pt x="496557" y="775970"/>
                  </a:lnTo>
                  <a:lnTo>
                    <a:pt x="525780" y="775970"/>
                  </a:lnTo>
                  <a:lnTo>
                    <a:pt x="554990" y="772160"/>
                  </a:lnTo>
                  <a:lnTo>
                    <a:pt x="556260" y="772160"/>
                  </a:lnTo>
                  <a:lnTo>
                    <a:pt x="585470" y="767080"/>
                  </a:lnTo>
                  <a:lnTo>
                    <a:pt x="642620" y="750570"/>
                  </a:lnTo>
                  <a:lnTo>
                    <a:pt x="697230" y="731520"/>
                  </a:lnTo>
                  <a:lnTo>
                    <a:pt x="746760" y="716280"/>
                  </a:lnTo>
                  <a:lnTo>
                    <a:pt x="769620" y="711200"/>
                  </a:lnTo>
                  <a:lnTo>
                    <a:pt x="769620" y="712470"/>
                  </a:lnTo>
                  <a:lnTo>
                    <a:pt x="791210" y="709930"/>
                  </a:lnTo>
                  <a:lnTo>
                    <a:pt x="829310" y="707390"/>
                  </a:lnTo>
                  <a:lnTo>
                    <a:pt x="862330" y="703580"/>
                  </a:lnTo>
                  <a:lnTo>
                    <a:pt x="863600" y="703580"/>
                  </a:lnTo>
                  <a:lnTo>
                    <a:pt x="919480" y="693420"/>
                  </a:lnTo>
                  <a:lnTo>
                    <a:pt x="969010" y="685800"/>
                  </a:lnTo>
                  <a:lnTo>
                    <a:pt x="994410" y="683260"/>
                  </a:lnTo>
                  <a:lnTo>
                    <a:pt x="1022350" y="681990"/>
                  </a:lnTo>
                  <a:lnTo>
                    <a:pt x="1050290" y="683260"/>
                  </a:lnTo>
                  <a:lnTo>
                    <a:pt x="1076960" y="685800"/>
                  </a:lnTo>
                  <a:lnTo>
                    <a:pt x="1130300" y="693420"/>
                  </a:lnTo>
                  <a:lnTo>
                    <a:pt x="1191260" y="702310"/>
                  </a:lnTo>
                  <a:lnTo>
                    <a:pt x="1226820" y="706120"/>
                  </a:lnTo>
                  <a:lnTo>
                    <a:pt x="1267460" y="709930"/>
                  </a:lnTo>
                  <a:lnTo>
                    <a:pt x="1290320" y="712470"/>
                  </a:lnTo>
                  <a:lnTo>
                    <a:pt x="1313294" y="717308"/>
                  </a:lnTo>
                  <a:lnTo>
                    <a:pt x="1313180" y="717550"/>
                  </a:lnTo>
                  <a:lnTo>
                    <a:pt x="1365250" y="732790"/>
                  </a:lnTo>
                  <a:lnTo>
                    <a:pt x="1422400" y="751840"/>
                  </a:lnTo>
                  <a:lnTo>
                    <a:pt x="1482090" y="768350"/>
                  </a:lnTo>
                  <a:lnTo>
                    <a:pt x="1483360" y="764540"/>
                  </a:lnTo>
                  <a:lnTo>
                    <a:pt x="1484630" y="7594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60320" y="5064759"/>
              <a:ext cx="720090" cy="883919"/>
            </a:xfrm>
            <a:custGeom>
              <a:avLst/>
              <a:gdLst/>
              <a:ahLst/>
              <a:cxnLst/>
              <a:rect l="l" t="t" r="r" b="b"/>
              <a:pathLst>
                <a:path w="720089" h="883920">
                  <a:moveTo>
                    <a:pt x="720090" y="3810"/>
                  </a:moveTo>
                  <a:lnTo>
                    <a:pt x="716280" y="2540"/>
                  </a:lnTo>
                  <a:lnTo>
                    <a:pt x="711200" y="0"/>
                  </a:lnTo>
                  <a:lnTo>
                    <a:pt x="629920" y="181610"/>
                  </a:lnTo>
                  <a:lnTo>
                    <a:pt x="523240" y="424180"/>
                  </a:lnTo>
                  <a:lnTo>
                    <a:pt x="466090" y="547370"/>
                  </a:lnTo>
                  <a:lnTo>
                    <a:pt x="406400" y="659130"/>
                  </a:lnTo>
                  <a:lnTo>
                    <a:pt x="407365" y="659625"/>
                  </a:lnTo>
                  <a:lnTo>
                    <a:pt x="349250" y="753110"/>
                  </a:lnTo>
                  <a:lnTo>
                    <a:pt x="321310" y="789940"/>
                  </a:lnTo>
                  <a:lnTo>
                    <a:pt x="294386" y="818095"/>
                  </a:lnTo>
                  <a:lnTo>
                    <a:pt x="267144" y="840371"/>
                  </a:lnTo>
                  <a:lnTo>
                    <a:pt x="266700" y="839470"/>
                  </a:lnTo>
                  <a:lnTo>
                    <a:pt x="238760" y="855980"/>
                  </a:lnTo>
                  <a:lnTo>
                    <a:pt x="238988" y="856348"/>
                  </a:lnTo>
                  <a:lnTo>
                    <a:pt x="210820" y="866140"/>
                  </a:lnTo>
                  <a:lnTo>
                    <a:pt x="181610" y="872490"/>
                  </a:lnTo>
                  <a:lnTo>
                    <a:pt x="151765" y="874979"/>
                  </a:lnTo>
                  <a:lnTo>
                    <a:pt x="121920" y="872490"/>
                  </a:lnTo>
                  <a:lnTo>
                    <a:pt x="92659" y="868845"/>
                  </a:lnTo>
                  <a:lnTo>
                    <a:pt x="92710" y="868680"/>
                  </a:lnTo>
                  <a:lnTo>
                    <a:pt x="62230" y="862330"/>
                  </a:lnTo>
                  <a:lnTo>
                    <a:pt x="2540" y="845820"/>
                  </a:lnTo>
                  <a:lnTo>
                    <a:pt x="1270" y="849630"/>
                  </a:lnTo>
                  <a:lnTo>
                    <a:pt x="0" y="854710"/>
                  </a:lnTo>
                  <a:lnTo>
                    <a:pt x="59690" y="871220"/>
                  </a:lnTo>
                  <a:lnTo>
                    <a:pt x="59690" y="872490"/>
                  </a:lnTo>
                  <a:lnTo>
                    <a:pt x="90170" y="877570"/>
                  </a:lnTo>
                  <a:lnTo>
                    <a:pt x="120650" y="882650"/>
                  </a:lnTo>
                  <a:lnTo>
                    <a:pt x="121920" y="882650"/>
                  </a:lnTo>
                  <a:lnTo>
                    <a:pt x="151130" y="883920"/>
                  </a:lnTo>
                  <a:lnTo>
                    <a:pt x="152400" y="883920"/>
                  </a:lnTo>
                  <a:lnTo>
                    <a:pt x="181610" y="881380"/>
                  </a:lnTo>
                  <a:lnTo>
                    <a:pt x="182880" y="881380"/>
                  </a:lnTo>
                  <a:lnTo>
                    <a:pt x="213360" y="875030"/>
                  </a:lnTo>
                  <a:lnTo>
                    <a:pt x="242570" y="864870"/>
                  </a:lnTo>
                  <a:lnTo>
                    <a:pt x="243840" y="863600"/>
                  </a:lnTo>
                  <a:lnTo>
                    <a:pt x="271780" y="848360"/>
                  </a:lnTo>
                  <a:lnTo>
                    <a:pt x="271780" y="847090"/>
                  </a:lnTo>
                  <a:lnTo>
                    <a:pt x="299720" y="825500"/>
                  </a:lnTo>
                  <a:lnTo>
                    <a:pt x="327660" y="796290"/>
                  </a:lnTo>
                  <a:lnTo>
                    <a:pt x="356870" y="758190"/>
                  </a:lnTo>
                  <a:lnTo>
                    <a:pt x="415290" y="664210"/>
                  </a:lnTo>
                  <a:lnTo>
                    <a:pt x="473710" y="551180"/>
                  </a:lnTo>
                  <a:lnTo>
                    <a:pt x="532130" y="427990"/>
                  </a:lnTo>
                  <a:lnTo>
                    <a:pt x="638810" y="185420"/>
                  </a:lnTo>
                  <a:lnTo>
                    <a:pt x="720090" y="3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7006590" y="5026659"/>
            <a:ext cx="859790" cy="797560"/>
          </a:xfrm>
          <a:custGeom>
            <a:avLst/>
            <a:gdLst/>
            <a:ahLst/>
            <a:cxnLst/>
            <a:rect l="l" t="t" r="r" b="b"/>
            <a:pathLst>
              <a:path w="859789" h="797560">
                <a:moveTo>
                  <a:pt x="859790" y="788670"/>
                </a:moveTo>
                <a:lnTo>
                  <a:pt x="767080" y="775970"/>
                </a:lnTo>
                <a:lnTo>
                  <a:pt x="675640" y="756920"/>
                </a:lnTo>
                <a:lnTo>
                  <a:pt x="589280" y="730250"/>
                </a:lnTo>
                <a:lnTo>
                  <a:pt x="547370" y="713740"/>
                </a:lnTo>
                <a:lnTo>
                  <a:pt x="508000" y="694690"/>
                </a:lnTo>
                <a:lnTo>
                  <a:pt x="469900" y="674370"/>
                </a:lnTo>
                <a:lnTo>
                  <a:pt x="433070" y="650240"/>
                </a:lnTo>
                <a:lnTo>
                  <a:pt x="432523" y="651052"/>
                </a:lnTo>
                <a:lnTo>
                  <a:pt x="398780" y="622300"/>
                </a:lnTo>
                <a:lnTo>
                  <a:pt x="398145" y="622935"/>
                </a:lnTo>
                <a:lnTo>
                  <a:pt x="364490" y="589280"/>
                </a:lnTo>
                <a:lnTo>
                  <a:pt x="330669" y="551713"/>
                </a:lnTo>
                <a:lnTo>
                  <a:pt x="331470" y="551180"/>
                </a:lnTo>
                <a:lnTo>
                  <a:pt x="298450" y="509270"/>
                </a:lnTo>
                <a:lnTo>
                  <a:pt x="234950" y="415290"/>
                </a:lnTo>
                <a:lnTo>
                  <a:pt x="177800" y="316230"/>
                </a:lnTo>
                <a:lnTo>
                  <a:pt x="78740" y="128270"/>
                </a:lnTo>
                <a:lnTo>
                  <a:pt x="39370" y="53340"/>
                </a:lnTo>
                <a:lnTo>
                  <a:pt x="7620" y="0"/>
                </a:lnTo>
                <a:lnTo>
                  <a:pt x="0" y="5080"/>
                </a:lnTo>
                <a:lnTo>
                  <a:pt x="30480" y="58420"/>
                </a:lnTo>
                <a:lnTo>
                  <a:pt x="69850" y="133350"/>
                </a:lnTo>
                <a:lnTo>
                  <a:pt x="168910" y="321310"/>
                </a:lnTo>
                <a:lnTo>
                  <a:pt x="227330" y="420370"/>
                </a:lnTo>
                <a:lnTo>
                  <a:pt x="290830" y="514350"/>
                </a:lnTo>
                <a:lnTo>
                  <a:pt x="323850" y="557530"/>
                </a:lnTo>
                <a:lnTo>
                  <a:pt x="358140" y="595630"/>
                </a:lnTo>
                <a:lnTo>
                  <a:pt x="392430" y="629920"/>
                </a:lnTo>
                <a:lnTo>
                  <a:pt x="427990" y="657860"/>
                </a:lnTo>
                <a:lnTo>
                  <a:pt x="464820" y="681990"/>
                </a:lnTo>
                <a:lnTo>
                  <a:pt x="502920" y="703580"/>
                </a:lnTo>
                <a:lnTo>
                  <a:pt x="543560" y="722630"/>
                </a:lnTo>
                <a:lnTo>
                  <a:pt x="585470" y="739140"/>
                </a:lnTo>
                <a:lnTo>
                  <a:pt x="673100" y="765810"/>
                </a:lnTo>
                <a:lnTo>
                  <a:pt x="674370" y="765810"/>
                </a:lnTo>
                <a:lnTo>
                  <a:pt x="764540" y="784860"/>
                </a:lnTo>
                <a:lnTo>
                  <a:pt x="765810" y="784860"/>
                </a:lnTo>
                <a:lnTo>
                  <a:pt x="859790" y="797560"/>
                </a:lnTo>
                <a:lnTo>
                  <a:pt x="859790" y="792480"/>
                </a:lnTo>
                <a:lnTo>
                  <a:pt x="859790" y="7886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7843928" y="5024528"/>
            <a:ext cx="1457325" cy="923925"/>
            <a:chOff x="6319927" y="5024527"/>
            <a:chExt cx="1457325" cy="923925"/>
          </a:xfrm>
        </p:grpSpPr>
        <p:sp>
          <p:nvSpPr>
            <p:cNvPr id="8" name="object 8"/>
            <p:cNvSpPr/>
            <p:nvPr/>
          </p:nvSpPr>
          <p:spPr>
            <a:xfrm>
              <a:off x="6342380" y="5102860"/>
              <a:ext cx="1357630" cy="732790"/>
            </a:xfrm>
            <a:custGeom>
              <a:avLst/>
              <a:gdLst/>
              <a:ahLst/>
              <a:cxnLst/>
              <a:rect l="l" t="t" r="r" b="b"/>
              <a:pathLst>
                <a:path w="1357629" h="732789">
                  <a:moveTo>
                    <a:pt x="1357630" y="3810"/>
                  </a:moveTo>
                  <a:lnTo>
                    <a:pt x="1353820" y="2540"/>
                  </a:lnTo>
                  <a:lnTo>
                    <a:pt x="1350010" y="0"/>
                  </a:lnTo>
                  <a:lnTo>
                    <a:pt x="1336040" y="24130"/>
                  </a:lnTo>
                  <a:lnTo>
                    <a:pt x="1323340" y="53340"/>
                  </a:lnTo>
                  <a:lnTo>
                    <a:pt x="1292860" y="120662"/>
                  </a:lnTo>
                  <a:lnTo>
                    <a:pt x="1223429" y="279692"/>
                  </a:lnTo>
                  <a:lnTo>
                    <a:pt x="1223010" y="279400"/>
                  </a:lnTo>
                  <a:lnTo>
                    <a:pt x="1181100" y="361950"/>
                  </a:lnTo>
                  <a:lnTo>
                    <a:pt x="1158240" y="401320"/>
                  </a:lnTo>
                  <a:lnTo>
                    <a:pt x="1132840" y="439420"/>
                  </a:lnTo>
                  <a:lnTo>
                    <a:pt x="1106170" y="474980"/>
                  </a:lnTo>
                  <a:lnTo>
                    <a:pt x="1078801" y="507314"/>
                  </a:lnTo>
                  <a:lnTo>
                    <a:pt x="1078230" y="506730"/>
                  </a:lnTo>
                  <a:lnTo>
                    <a:pt x="1047750" y="535940"/>
                  </a:lnTo>
                  <a:lnTo>
                    <a:pt x="1016000" y="560070"/>
                  </a:lnTo>
                  <a:lnTo>
                    <a:pt x="981710" y="581660"/>
                  </a:lnTo>
                  <a:lnTo>
                    <a:pt x="943610" y="601980"/>
                  </a:lnTo>
                  <a:lnTo>
                    <a:pt x="902970" y="619760"/>
                  </a:lnTo>
                  <a:lnTo>
                    <a:pt x="859790" y="636270"/>
                  </a:lnTo>
                  <a:lnTo>
                    <a:pt x="859993" y="636600"/>
                  </a:lnTo>
                  <a:lnTo>
                    <a:pt x="768350" y="664210"/>
                  </a:lnTo>
                  <a:lnTo>
                    <a:pt x="768413" y="664476"/>
                  </a:lnTo>
                  <a:lnTo>
                    <a:pt x="671830" y="685800"/>
                  </a:lnTo>
                  <a:lnTo>
                    <a:pt x="572770" y="702310"/>
                  </a:lnTo>
                  <a:lnTo>
                    <a:pt x="472440" y="713740"/>
                  </a:lnTo>
                  <a:lnTo>
                    <a:pt x="373380" y="720090"/>
                  </a:lnTo>
                  <a:lnTo>
                    <a:pt x="280670" y="722630"/>
                  </a:lnTo>
                  <a:lnTo>
                    <a:pt x="94932" y="718845"/>
                  </a:lnTo>
                  <a:lnTo>
                    <a:pt x="93980" y="718820"/>
                  </a:lnTo>
                  <a:lnTo>
                    <a:pt x="47612" y="718820"/>
                  </a:lnTo>
                  <a:lnTo>
                    <a:pt x="47612" y="712470"/>
                  </a:lnTo>
                  <a:lnTo>
                    <a:pt x="0" y="712470"/>
                  </a:lnTo>
                  <a:lnTo>
                    <a:pt x="0" y="718820"/>
                  </a:lnTo>
                  <a:lnTo>
                    <a:pt x="0" y="721360"/>
                  </a:lnTo>
                  <a:lnTo>
                    <a:pt x="15659" y="721360"/>
                  </a:lnTo>
                  <a:lnTo>
                    <a:pt x="15659" y="723900"/>
                  </a:lnTo>
                  <a:lnTo>
                    <a:pt x="62649" y="723900"/>
                  </a:lnTo>
                  <a:lnTo>
                    <a:pt x="62649" y="728980"/>
                  </a:lnTo>
                  <a:lnTo>
                    <a:pt x="93980" y="728980"/>
                  </a:lnTo>
                  <a:lnTo>
                    <a:pt x="280670" y="732790"/>
                  </a:lnTo>
                  <a:lnTo>
                    <a:pt x="374650" y="730250"/>
                  </a:lnTo>
                  <a:lnTo>
                    <a:pt x="472440" y="722630"/>
                  </a:lnTo>
                  <a:lnTo>
                    <a:pt x="473710" y="722630"/>
                  </a:lnTo>
                  <a:lnTo>
                    <a:pt x="574040" y="712470"/>
                  </a:lnTo>
                  <a:lnTo>
                    <a:pt x="673100" y="694690"/>
                  </a:lnTo>
                  <a:lnTo>
                    <a:pt x="674370" y="694690"/>
                  </a:lnTo>
                  <a:lnTo>
                    <a:pt x="770890" y="673100"/>
                  </a:lnTo>
                  <a:lnTo>
                    <a:pt x="772160" y="673100"/>
                  </a:lnTo>
                  <a:lnTo>
                    <a:pt x="863600" y="645160"/>
                  </a:lnTo>
                  <a:lnTo>
                    <a:pt x="906780" y="628650"/>
                  </a:lnTo>
                  <a:lnTo>
                    <a:pt x="947420" y="609600"/>
                  </a:lnTo>
                  <a:lnTo>
                    <a:pt x="985520" y="590550"/>
                  </a:lnTo>
                  <a:lnTo>
                    <a:pt x="985520" y="589280"/>
                  </a:lnTo>
                  <a:lnTo>
                    <a:pt x="1021080" y="567690"/>
                  </a:lnTo>
                  <a:lnTo>
                    <a:pt x="1022350" y="567690"/>
                  </a:lnTo>
                  <a:lnTo>
                    <a:pt x="1054100" y="543560"/>
                  </a:lnTo>
                  <a:lnTo>
                    <a:pt x="1054100" y="542290"/>
                  </a:lnTo>
                  <a:lnTo>
                    <a:pt x="1084580" y="514350"/>
                  </a:lnTo>
                  <a:lnTo>
                    <a:pt x="1085850" y="513080"/>
                  </a:lnTo>
                  <a:lnTo>
                    <a:pt x="1113790" y="481330"/>
                  </a:lnTo>
                  <a:lnTo>
                    <a:pt x="1113790" y="480060"/>
                  </a:lnTo>
                  <a:lnTo>
                    <a:pt x="1140460" y="444500"/>
                  </a:lnTo>
                  <a:lnTo>
                    <a:pt x="1165860" y="406400"/>
                  </a:lnTo>
                  <a:lnTo>
                    <a:pt x="1188720" y="367030"/>
                  </a:lnTo>
                  <a:lnTo>
                    <a:pt x="1189990" y="367030"/>
                  </a:lnTo>
                  <a:lnTo>
                    <a:pt x="1231900" y="284480"/>
                  </a:lnTo>
                  <a:lnTo>
                    <a:pt x="1231900" y="283210"/>
                  </a:lnTo>
                  <a:lnTo>
                    <a:pt x="1301750" y="124460"/>
                  </a:lnTo>
                  <a:lnTo>
                    <a:pt x="1330960" y="57150"/>
                  </a:lnTo>
                  <a:lnTo>
                    <a:pt x="1344460" y="28905"/>
                  </a:lnTo>
                  <a:lnTo>
                    <a:pt x="1344930" y="29210"/>
                  </a:lnTo>
                  <a:lnTo>
                    <a:pt x="1357630" y="3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19927" y="5862727"/>
              <a:ext cx="85544" cy="85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77127" y="5862727"/>
              <a:ext cx="85544" cy="85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4327" y="5862727"/>
              <a:ext cx="85544" cy="855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696200" y="50292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574" y="3095"/>
                  </a:lnTo>
                  <a:lnTo>
                    <a:pt x="11429" y="11429"/>
                  </a:lnTo>
                  <a:lnTo>
                    <a:pt x="3095" y="23574"/>
                  </a:lnTo>
                  <a:lnTo>
                    <a:pt x="0" y="38100"/>
                  </a:lnTo>
                  <a:lnTo>
                    <a:pt x="3095" y="52625"/>
                  </a:lnTo>
                  <a:lnTo>
                    <a:pt x="11430" y="64769"/>
                  </a:lnTo>
                  <a:lnTo>
                    <a:pt x="23574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70" y="64770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574"/>
                  </a:lnTo>
                  <a:lnTo>
                    <a:pt x="64769" y="11430"/>
                  </a:lnTo>
                  <a:lnTo>
                    <a:pt x="52625" y="309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96200" y="50292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574" y="73104"/>
                  </a:lnTo>
                  <a:lnTo>
                    <a:pt x="11430" y="64769"/>
                  </a:lnTo>
                  <a:lnTo>
                    <a:pt x="3095" y="52625"/>
                  </a:lnTo>
                  <a:lnTo>
                    <a:pt x="0" y="38100"/>
                  </a:lnTo>
                  <a:lnTo>
                    <a:pt x="3095" y="23574"/>
                  </a:lnTo>
                  <a:lnTo>
                    <a:pt x="11429" y="11429"/>
                  </a:lnTo>
                  <a:lnTo>
                    <a:pt x="23574" y="3095"/>
                  </a:lnTo>
                  <a:lnTo>
                    <a:pt x="38100" y="0"/>
                  </a:lnTo>
                  <a:lnTo>
                    <a:pt x="52625" y="3095"/>
                  </a:lnTo>
                  <a:lnTo>
                    <a:pt x="64769" y="11430"/>
                  </a:lnTo>
                  <a:lnTo>
                    <a:pt x="73104" y="23574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70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100">
              <a:spcBef>
                <a:spcPts val="100"/>
              </a:spcBef>
            </a:pPr>
            <a:r>
              <a:rPr dirty="0"/>
              <a:t>Interpolação</a:t>
            </a:r>
            <a:r>
              <a:rPr spc="-60" dirty="0"/>
              <a:t> </a:t>
            </a:r>
            <a:r>
              <a:rPr dirty="0"/>
              <a:t>x</a:t>
            </a:r>
            <a:r>
              <a:rPr spc="-50" dirty="0"/>
              <a:t> </a:t>
            </a:r>
            <a:r>
              <a:rPr spc="-10" dirty="0"/>
              <a:t>Aproximação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58670" y="1348740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58670" y="214375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58670" y="293877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58670" y="3733800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01569" y="1366520"/>
            <a:ext cx="7570470" cy="316357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45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natural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querermos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modelar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suave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que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passa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um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conjunto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dados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 marR="426720">
              <a:lnSpc>
                <a:spcPts val="2810"/>
              </a:lnSpc>
              <a:spcBef>
                <a:spcPts val="64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desejada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polinomial,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chamamos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tal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26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interpolação</a:t>
            </a:r>
            <a:r>
              <a:rPr sz="2600" i="1" spc="-7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polinomial</a:t>
            </a:r>
            <a:r>
              <a:rPr sz="2600" i="1" spc="-7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i="1" spc="-10" dirty="0">
                <a:solidFill>
                  <a:srgbClr val="002454"/>
                </a:solidFill>
                <a:latin typeface="Arial"/>
                <a:cs typeface="Arial"/>
              </a:rPr>
              <a:t>lagrangeana</a:t>
            </a:r>
            <a:endParaRPr sz="26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12700" marR="247650">
              <a:lnSpc>
                <a:spcPts val="2810"/>
              </a:lnSpc>
              <a:spcBef>
                <a:spcPts val="64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Entretanto,</a:t>
            </a:r>
            <a:r>
              <a:rPr sz="26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resultado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nem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sempre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esperado (oscilações)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 marR="611505">
              <a:lnSpc>
                <a:spcPts val="2810"/>
              </a:lnSpc>
              <a:spcBef>
                <a:spcPts val="64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mais</a:t>
            </a:r>
            <a:r>
              <a:rPr sz="26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comum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querermos</a:t>
            </a:r>
            <a:r>
              <a:rPr sz="26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curvas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“passem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perto”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dos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dados,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isto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é,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i="1" spc="-10" dirty="0">
                <a:solidFill>
                  <a:srgbClr val="002454"/>
                </a:solidFill>
                <a:latin typeface="Arial"/>
                <a:cs typeface="Arial"/>
              </a:rPr>
              <a:t>aproximações</a:t>
            </a:r>
            <a:endParaRPr sz="2600" dirty="0">
              <a:solidFill>
                <a:srgbClr val="002454"/>
              </a:solidFill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86127" y="4986427"/>
            <a:ext cx="85544" cy="85544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2967128" y="5824628"/>
            <a:ext cx="85725" cy="85725"/>
            <a:chOff x="1443127" y="5824627"/>
            <a:chExt cx="85725" cy="85725"/>
          </a:xfrm>
        </p:grpSpPr>
        <p:sp>
          <p:nvSpPr>
            <p:cNvPr id="22" name="object 22"/>
            <p:cNvSpPr/>
            <p:nvPr/>
          </p:nvSpPr>
          <p:spPr>
            <a:xfrm>
              <a:off x="1447800" y="58293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038" y="2917"/>
                  </a:lnTo>
                  <a:lnTo>
                    <a:pt x="10953" y="10953"/>
                  </a:lnTo>
                  <a:lnTo>
                    <a:pt x="2917" y="23038"/>
                  </a:lnTo>
                  <a:lnTo>
                    <a:pt x="0" y="38100"/>
                  </a:lnTo>
                  <a:lnTo>
                    <a:pt x="2917" y="52625"/>
                  </a:lnTo>
                  <a:lnTo>
                    <a:pt x="10953" y="64769"/>
                  </a:lnTo>
                  <a:lnTo>
                    <a:pt x="23038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69" y="64769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038"/>
                  </a:lnTo>
                  <a:lnTo>
                    <a:pt x="64769" y="10953"/>
                  </a:lnTo>
                  <a:lnTo>
                    <a:pt x="52625" y="291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47800" y="58293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104"/>
                  </a:lnTo>
                  <a:lnTo>
                    <a:pt x="10953" y="64769"/>
                  </a:lnTo>
                  <a:lnTo>
                    <a:pt x="2917" y="52625"/>
                  </a:lnTo>
                  <a:lnTo>
                    <a:pt x="0" y="38100"/>
                  </a:lnTo>
                  <a:lnTo>
                    <a:pt x="2917" y="23038"/>
                  </a:lnTo>
                  <a:lnTo>
                    <a:pt x="10953" y="10953"/>
                  </a:lnTo>
                  <a:lnTo>
                    <a:pt x="23038" y="2917"/>
                  </a:lnTo>
                  <a:lnTo>
                    <a:pt x="38100" y="0"/>
                  </a:lnTo>
                  <a:lnTo>
                    <a:pt x="52625" y="2917"/>
                  </a:lnTo>
                  <a:lnTo>
                    <a:pt x="64769" y="10953"/>
                  </a:lnTo>
                  <a:lnTo>
                    <a:pt x="73104" y="23038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69" y="64769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3424328" y="5824628"/>
            <a:ext cx="85725" cy="85725"/>
            <a:chOff x="1900327" y="5824627"/>
            <a:chExt cx="85725" cy="85725"/>
          </a:xfrm>
        </p:grpSpPr>
        <p:sp>
          <p:nvSpPr>
            <p:cNvPr id="25" name="object 25"/>
            <p:cNvSpPr/>
            <p:nvPr/>
          </p:nvSpPr>
          <p:spPr>
            <a:xfrm>
              <a:off x="1904999" y="58293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038" y="2917"/>
                  </a:lnTo>
                  <a:lnTo>
                    <a:pt x="10953" y="10953"/>
                  </a:lnTo>
                  <a:lnTo>
                    <a:pt x="2917" y="23038"/>
                  </a:lnTo>
                  <a:lnTo>
                    <a:pt x="0" y="38100"/>
                  </a:lnTo>
                  <a:lnTo>
                    <a:pt x="2917" y="52625"/>
                  </a:lnTo>
                  <a:lnTo>
                    <a:pt x="10953" y="64769"/>
                  </a:lnTo>
                  <a:lnTo>
                    <a:pt x="23038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69" y="64769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038"/>
                  </a:lnTo>
                  <a:lnTo>
                    <a:pt x="64770" y="10953"/>
                  </a:lnTo>
                  <a:lnTo>
                    <a:pt x="52625" y="291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04999" y="58293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104"/>
                  </a:lnTo>
                  <a:lnTo>
                    <a:pt x="10953" y="64769"/>
                  </a:lnTo>
                  <a:lnTo>
                    <a:pt x="2917" y="52625"/>
                  </a:lnTo>
                  <a:lnTo>
                    <a:pt x="0" y="38100"/>
                  </a:lnTo>
                  <a:lnTo>
                    <a:pt x="2917" y="23038"/>
                  </a:lnTo>
                  <a:lnTo>
                    <a:pt x="10953" y="10953"/>
                  </a:lnTo>
                  <a:lnTo>
                    <a:pt x="23038" y="2917"/>
                  </a:lnTo>
                  <a:lnTo>
                    <a:pt x="38100" y="0"/>
                  </a:lnTo>
                  <a:lnTo>
                    <a:pt x="52625" y="2917"/>
                  </a:lnTo>
                  <a:lnTo>
                    <a:pt x="64770" y="10953"/>
                  </a:lnTo>
                  <a:lnTo>
                    <a:pt x="73104" y="23038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69" y="64769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3881528" y="5824628"/>
            <a:ext cx="85725" cy="85725"/>
            <a:chOff x="2357527" y="5824627"/>
            <a:chExt cx="85725" cy="85725"/>
          </a:xfrm>
        </p:grpSpPr>
        <p:sp>
          <p:nvSpPr>
            <p:cNvPr id="28" name="object 28"/>
            <p:cNvSpPr/>
            <p:nvPr/>
          </p:nvSpPr>
          <p:spPr>
            <a:xfrm>
              <a:off x="2362199" y="58293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038" y="2917"/>
                  </a:lnTo>
                  <a:lnTo>
                    <a:pt x="10953" y="10953"/>
                  </a:lnTo>
                  <a:lnTo>
                    <a:pt x="2917" y="23038"/>
                  </a:lnTo>
                  <a:lnTo>
                    <a:pt x="0" y="38100"/>
                  </a:lnTo>
                  <a:lnTo>
                    <a:pt x="2917" y="52625"/>
                  </a:lnTo>
                  <a:lnTo>
                    <a:pt x="10953" y="64769"/>
                  </a:lnTo>
                  <a:lnTo>
                    <a:pt x="23038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69" y="64769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038"/>
                  </a:lnTo>
                  <a:lnTo>
                    <a:pt x="64770" y="10953"/>
                  </a:lnTo>
                  <a:lnTo>
                    <a:pt x="52625" y="291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362199" y="58293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104"/>
                  </a:lnTo>
                  <a:lnTo>
                    <a:pt x="10953" y="64769"/>
                  </a:lnTo>
                  <a:lnTo>
                    <a:pt x="2917" y="52625"/>
                  </a:lnTo>
                  <a:lnTo>
                    <a:pt x="0" y="38100"/>
                  </a:lnTo>
                  <a:lnTo>
                    <a:pt x="2917" y="23038"/>
                  </a:lnTo>
                  <a:lnTo>
                    <a:pt x="10953" y="10953"/>
                  </a:lnTo>
                  <a:lnTo>
                    <a:pt x="23038" y="2917"/>
                  </a:lnTo>
                  <a:lnTo>
                    <a:pt x="38100" y="0"/>
                  </a:lnTo>
                  <a:lnTo>
                    <a:pt x="52625" y="2917"/>
                  </a:lnTo>
                  <a:lnTo>
                    <a:pt x="64770" y="10953"/>
                  </a:lnTo>
                  <a:lnTo>
                    <a:pt x="73104" y="23038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69" y="64769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4338728" y="5824628"/>
            <a:ext cx="85725" cy="85725"/>
            <a:chOff x="2814727" y="5824627"/>
            <a:chExt cx="85725" cy="85725"/>
          </a:xfrm>
        </p:grpSpPr>
        <p:sp>
          <p:nvSpPr>
            <p:cNvPr id="31" name="object 31"/>
            <p:cNvSpPr/>
            <p:nvPr/>
          </p:nvSpPr>
          <p:spPr>
            <a:xfrm>
              <a:off x="2819399" y="58293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038" y="2917"/>
                  </a:lnTo>
                  <a:lnTo>
                    <a:pt x="10953" y="10953"/>
                  </a:lnTo>
                  <a:lnTo>
                    <a:pt x="2917" y="23038"/>
                  </a:lnTo>
                  <a:lnTo>
                    <a:pt x="0" y="38100"/>
                  </a:lnTo>
                  <a:lnTo>
                    <a:pt x="2917" y="52625"/>
                  </a:lnTo>
                  <a:lnTo>
                    <a:pt x="10953" y="64769"/>
                  </a:lnTo>
                  <a:lnTo>
                    <a:pt x="23038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69" y="64769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038"/>
                  </a:lnTo>
                  <a:lnTo>
                    <a:pt x="64770" y="10953"/>
                  </a:lnTo>
                  <a:lnTo>
                    <a:pt x="52625" y="291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819399" y="58293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104"/>
                  </a:lnTo>
                  <a:lnTo>
                    <a:pt x="10953" y="64769"/>
                  </a:lnTo>
                  <a:lnTo>
                    <a:pt x="2917" y="52625"/>
                  </a:lnTo>
                  <a:lnTo>
                    <a:pt x="0" y="38100"/>
                  </a:lnTo>
                  <a:lnTo>
                    <a:pt x="2917" y="23038"/>
                  </a:lnTo>
                  <a:lnTo>
                    <a:pt x="10953" y="10953"/>
                  </a:lnTo>
                  <a:lnTo>
                    <a:pt x="23038" y="2917"/>
                  </a:lnTo>
                  <a:lnTo>
                    <a:pt x="38100" y="0"/>
                  </a:lnTo>
                  <a:lnTo>
                    <a:pt x="52625" y="2917"/>
                  </a:lnTo>
                  <a:lnTo>
                    <a:pt x="64770" y="10953"/>
                  </a:lnTo>
                  <a:lnTo>
                    <a:pt x="73104" y="23038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69" y="64769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4795928" y="4986428"/>
            <a:ext cx="85725" cy="85725"/>
            <a:chOff x="3271927" y="4986427"/>
            <a:chExt cx="85725" cy="85725"/>
          </a:xfrm>
        </p:grpSpPr>
        <p:sp>
          <p:nvSpPr>
            <p:cNvPr id="34" name="object 34"/>
            <p:cNvSpPr/>
            <p:nvPr/>
          </p:nvSpPr>
          <p:spPr>
            <a:xfrm>
              <a:off x="3276600" y="49911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038" y="3095"/>
                  </a:lnTo>
                  <a:lnTo>
                    <a:pt x="10953" y="11429"/>
                  </a:lnTo>
                  <a:lnTo>
                    <a:pt x="2917" y="23574"/>
                  </a:lnTo>
                  <a:lnTo>
                    <a:pt x="0" y="38100"/>
                  </a:lnTo>
                  <a:lnTo>
                    <a:pt x="2917" y="52625"/>
                  </a:lnTo>
                  <a:lnTo>
                    <a:pt x="10953" y="64769"/>
                  </a:lnTo>
                  <a:lnTo>
                    <a:pt x="23038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70" y="64770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574"/>
                  </a:lnTo>
                  <a:lnTo>
                    <a:pt x="64770" y="11430"/>
                  </a:lnTo>
                  <a:lnTo>
                    <a:pt x="52625" y="309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76600" y="49911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104"/>
                  </a:lnTo>
                  <a:lnTo>
                    <a:pt x="10953" y="64769"/>
                  </a:lnTo>
                  <a:lnTo>
                    <a:pt x="2917" y="52625"/>
                  </a:lnTo>
                  <a:lnTo>
                    <a:pt x="0" y="38100"/>
                  </a:lnTo>
                  <a:lnTo>
                    <a:pt x="2917" y="23574"/>
                  </a:lnTo>
                  <a:lnTo>
                    <a:pt x="10953" y="11429"/>
                  </a:lnTo>
                  <a:lnTo>
                    <a:pt x="23038" y="3095"/>
                  </a:lnTo>
                  <a:lnTo>
                    <a:pt x="38100" y="0"/>
                  </a:lnTo>
                  <a:lnTo>
                    <a:pt x="52625" y="3095"/>
                  </a:lnTo>
                  <a:lnTo>
                    <a:pt x="64770" y="11430"/>
                  </a:lnTo>
                  <a:lnTo>
                    <a:pt x="73104" y="23574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70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7005728" y="5024528"/>
            <a:ext cx="85725" cy="85725"/>
            <a:chOff x="5481727" y="5024527"/>
            <a:chExt cx="85725" cy="85725"/>
          </a:xfrm>
        </p:grpSpPr>
        <p:sp>
          <p:nvSpPr>
            <p:cNvPr id="37" name="object 37"/>
            <p:cNvSpPr/>
            <p:nvPr/>
          </p:nvSpPr>
          <p:spPr>
            <a:xfrm>
              <a:off x="5486400" y="50292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574" y="3095"/>
                  </a:lnTo>
                  <a:lnTo>
                    <a:pt x="11429" y="11429"/>
                  </a:lnTo>
                  <a:lnTo>
                    <a:pt x="3095" y="23574"/>
                  </a:lnTo>
                  <a:lnTo>
                    <a:pt x="0" y="38100"/>
                  </a:lnTo>
                  <a:lnTo>
                    <a:pt x="3095" y="52625"/>
                  </a:lnTo>
                  <a:lnTo>
                    <a:pt x="11429" y="64769"/>
                  </a:lnTo>
                  <a:lnTo>
                    <a:pt x="23574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70" y="64770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574"/>
                  </a:lnTo>
                  <a:lnTo>
                    <a:pt x="64770" y="11430"/>
                  </a:lnTo>
                  <a:lnTo>
                    <a:pt x="52625" y="309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486400" y="50292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574" y="73104"/>
                  </a:lnTo>
                  <a:lnTo>
                    <a:pt x="11429" y="64769"/>
                  </a:lnTo>
                  <a:lnTo>
                    <a:pt x="3095" y="52625"/>
                  </a:lnTo>
                  <a:lnTo>
                    <a:pt x="0" y="38100"/>
                  </a:lnTo>
                  <a:lnTo>
                    <a:pt x="3095" y="23574"/>
                  </a:lnTo>
                  <a:lnTo>
                    <a:pt x="11429" y="11429"/>
                  </a:lnTo>
                  <a:lnTo>
                    <a:pt x="23574" y="3095"/>
                  </a:lnTo>
                  <a:lnTo>
                    <a:pt x="38100" y="0"/>
                  </a:lnTo>
                  <a:lnTo>
                    <a:pt x="52625" y="3095"/>
                  </a:lnTo>
                  <a:lnTo>
                    <a:pt x="64770" y="11430"/>
                  </a:lnTo>
                  <a:lnTo>
                    <a:pt x="73104" y="23574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70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9" name="object 3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86727" y="5862727"/>
            <a:ext cx="85544" cy="855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1375">
              <a:spcBef>
                <a:spcPts val="100"/>
              </a:spcBef>
            </a:pPr>
            <a:r>
              <a:rPr dirty="0"/>
              <a:t>Algoritmo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Casteljau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70" y="1537970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70" y="261365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8670" y="4098290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2000" y="1555750"/>
            <a:ext cx="7877175" cy="4452501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380365" marR="153670">
              <a:lnSpc>
                <a:spcPct val="85400"/>
              </a:lnSpc>
              <a:spcBef>
                <a:spcPts val="555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Suponha</a:t>
            </a:r>
            <a:r>
              <a:rPr sz="26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queiramos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aproximar</a:t>
            </a:r>
            <a:r>
              <a:rPr sz="26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uma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26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polinomial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entre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dois</a:t>
            </a:r>
            <a:r>
              <a:rPr sz="26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250" baseline="-24074" dirty="0">
                <a:solidFill>
                  <a:srgbClr val="002454"/>
                </a:solidFill>
                <a:latin typeface="Arial MT"/>
                <a:cs typeface="Arial MT"/>
              </a:rPr>
              <a:t>0</a:t>
            </a:r>
            <a:r>
              <a:rPr sz="2250" spc="-44" baseline="-24074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b="1" spc="-25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250" spc="-37" baseline="-24074" dirty="0">
                <a:solidFill>
                  <a:srgbClr val="002454"/>
                </a:solidFill>
                <a:latin typeface="Arial MT"/>
                <a:cs typeface="Arial MT"/>
              </a:rPr>
              <a:t>1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dados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80365" marR="43180">
              <a:lnSpc>
                <a:spcPct val="85400"/>
              </a:lnSpc>
              <a:spcBef>
                <a:spcPts val="475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solução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natural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um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segmento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0" dirty="0">
                <a:solidFill>
                  <a:srgbClr val="002454"/>
                </a:solidFill>
                <a:latin typeface="Arial MT"/>
                <a:cs typeface="Arial MT"/>
              </a:rPr>
              <a:t>reta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passa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250" baseline="-24074" dirty="0">
                <a:solidFill>
                  <a:srgbClr val="002454"/>
                </a:solidFill>
                <a:latin typeface="Arial MT"/>
                <a:cs typeface="Arial MT"/>
              </a:rPr>
              <a:t>0</a:t>
            </a:r>
            <a:r>
              <a:rPr sz="2250" spc="-15" baseline="-24074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250" baseline="-24074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250" spc="-22" baseline="-24074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cuja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parametrização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mais comum</a:t>
            </a:r>
            <a:r>
              <a:rPr sz="2600" spc="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94665">
              <a:lnSpc>
                <a:spcPts val="2820"/>
              </a:lnSpc>
            </a:pP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400" b="1" spc="-2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4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(1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24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spc="-20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400" spc="-2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400" spc="-2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baseline="-23809" dirty="0">
                <a:solidFill>
                  <a:srgbClr val="002454"/>
                </a:solidFill>
                <a:latin typeface="Arial MT"/>
                <a:cs typeface="Arial MT"/>
              </a:rPr>
              <a:t>0</a:t>
            </a:r>
            <a:r>
              <a:rPr sz="2100" spc="-7" baseline="-23809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+ 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400" i="1" spc="-1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spc="-37" baseline="-23809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endParaRPr sz="2100" baseline="-23809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80365" marR="734695">
              <a:lnSpc>
                <a:spcPct val="76900"/>
              </a:lnSpc>
              <a:spcBef>
                <a:spcPts val="115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Podemos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pensar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600" b="1" spc="-4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como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uma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média</a:t>
            </a:r>
            <a:r>
              <a:rPr sz="26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ponderada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entre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250" baseline="-24074" dirty="0">
                <a:solidFill>
                  <a:srgbClr val="002454"/>
                </a:solidFill>
                <a:latin typeface="Arial MT"/>
                <a:cs typeface="Arial MT"/>
              </a:rPr>
              <a:t>0</a:t>
            </a:r>
            <a:r>
              <a:rPr sz="2250" spc="367" baseline="-24074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600" spc="-30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b="1" spc="-25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250" spc="-37" baseline="-24074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endParaRPr sz="2250" baseline="-24074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80365" indent="-342265">
              <a:lnSpc>
                <a:spcPts val="2985"/>
              </a:lnSpc>
              <a:spcBef>
                <a:spcPts val="440"/>
              </a:spcBef>
              <a:buChar char="•"/>
              <a:tabLst>
                <a:tab pos="380365" algn="l"/>
              </a:tabLst>
            </a:pPr>
            <a:r>
              <a:rPr sz="3900" baseline="1068" dirty="0">
                <a:solidFill>
                  <a:srgbClr val="002454"/>
                </a:solidFill>
                <a:latin typeface="Arial MT"/>
                <a:cs typeface="Arial MT"/>
              </a:rPr>
              <a:t>Observe</a:t>
            </a:r>
            <a:r>
              <a:rPr sz="3900" spc="-67" baseline="1068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900" baseline="1068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3900" spc="-22" baseline="1068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900" baseline="1068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3900" spc="-37" baseline="1068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900" baseline="1068" dirty="0">
                <a:solidFill>
                  <a:srgbClr val="002454"/>
                </a:solidFill>
                <a:latin typeface="Arial MT"/>
                <a:cs typeface="Arial MT"/>
              </a:rPr>
              <a:t>polinômios</a:t>
            </a:r>
            <a:r>
              <a:rPr sz="3900" spc="-30" baseline="1068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900" baseline="1068" dirty="0">
                <a:solidFill>
                  <a:srgbClr val="002454"/>
                </a:solidFill>
                <a:latin typeface="Arial MT"/>
                <a:cs typeface="Arial MT"/>
              </a:rPr>
              <a:t>(1</a:t>
            </a:r>
            <a:r>
              <a:rPr sz="3900" spc="-60" baseline="1068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900" baseline="1068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3900" spc="-44" baseline="1068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900" i="1" baseline="1068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3900" baseline="1068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3900" spc="120" baseline="1068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900" baseline="1068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3900" spc="-60" baseline="1068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900" i="1" spc="-75" baseline="1068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endParaRPr sz="3900" baseline="1068" dirty="0">
              <a:solidFill>
                <a:srgbClr val="002454"/>
              </a:solidFill>
              <a:latin typeface="Arial"/>
              <a:cs typeface="Arial"/>
            </a:endParaRPr>
          </a:p>
          <a:p>
            <a:pPr marL="380365">
              <a:lnSpc>
                <a:spcPts val="2985"/>
              </a:lnSpc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somam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6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qualquer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valor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i="1" spc="-50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endParaRPr sz="26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780415" marR="700405" lvl="1" indent="-285750">
              <a:lnSpc>
                <a:spcPts val="2310"/>
              </a:lnSpc>
              <a:spcBef>
                <a:spcPts val="570"/>
              </a:spcBef>
              <a:buFont typeface="Wingdings"/>
              <a:buChar char=""/>
              <a:tabLst>
                <a:tab pos="7804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chamadas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funções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mistura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blending</a:t>
            </a:r>
            <a:r>
              <a:rPr sz="2400" i="1" spc="-14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002454"/>
                </a:solidFill>
                <a:latin typeface="Arial"/>
                <a:cs typeface="Arial"/>
              </a:rPr>
              <a:t>functions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139238" y="2586038"/>
            <a:ext cx="771525" cy="2371725"/>
            <a:chOff x="7615237" y="2586037"/>
            <a:chExt cx="771525" cy="2371725"/>
          </a:xfrm>
        </p:grpSpPr>
        <p:sp>
          <p:nvSpPr>
            <p:cNvPr id="8" name="object 8"/>
            <p:cNvSpPr/>
            <p:nvPr/>
          </p:nvSpPr>
          <p:spPr>
            <a:xfrm>
              <a:off x="7620000" y="2590800"/>
              <a:ext cx="762000" cy="2362200"/>
            </a:xfrm>
            <a:custGeom>
              <a:avLst/>
              <a:gdLst/>
              <a:ahLst/>
              <a:cxnLst/>
              <a:rect l="l" t="t" r="r" b="b"/>
              <a:pathLst>
                <a:path w="762000" h="2362200">
                  <a:moveTo>
                    <a:pt x="0" y="2362200"/>
                  </a:moveTo>
                  <a:lnTo>
                    <a:pt x="762000" y="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95667" y="4262527"/>
              <a:ext cx="85544" cy="85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5717" y="2967127"/>
              <a:ext cx="85544" cy="8554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848600" y="3048000"/>
              <a:ext cx="381000" cy="1219200"/>
            </a:xfrm>
            <a:custGeom>
              <a:avLst/>
              <a:gdLst/>
              <a:ahLst/>
              <a:cxnLst/>
              <a:rect l="l" t="t" r="r" b="b"/>
              <a:pathLst>
                <a:path w="381000" h="1219200">
                  <a:moveTo>
                    <a:pt x="381000" y="0"/>
                  </a:moveTo>
                  <a:lnTo>
                    <a:pt x="0" y="1219200"/>
                  </a:lnTo>
                </a:path>
              </a:pathLst>
            </a:custGeom>
            <a:ln w="3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896350" y="3996690"/>
            <a:ext cx="3060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spc="-37" baseline="-24154" dirty="0">
                <a:latin typeface="Cambria"/>
                <a:cs typeface="Cambria"/>
              </a:rPr>
              <a:t>0</a:t>
            </a:r>
            <a:endParaRPr sz="1725" baseline="-24154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53550" y="2701290"/>
            <a:ext cx="3060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spc="-37" baseline="-24154" dirty="0">
                <a:latin typeface="Cambria"/>
                <a:cs typeface="Cambria"/>
              </a:rPr>
              <a:t>1</a:t>
            </a:r>
            <a:endParaRPr sz="1725" baseline="-24154">
              <a:latin typeface="Cambria"/>
              <a:cs typeface="Cambr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97390" y="3276601"/>
            <a:ext cx="320040" cy="915669"/>
          </a:xfrm>
          <a:custGeom>
            <a:avLst/>
            <a:gdLst/>
            <a:ahLst/>
            <a:cxnLst/>
            <a:rect l="l" t="t" r="r" b="b"/>
            <a:pathLst>
              <a:path w="320040" h="915670">
                <a:moveTo>
                  <a:pt x="320040" y="83820"/>
                </a:moveTo>
                <a:lnTo>
                  <a:pt x="308610" y="0"/>
                </a:lnTo>
                <a:lnTo>
                  <a:pt x="248920" y="59690"/>
                </a:lnTo>
                <a:lnTo>
                  <a:pt x="279742" y="70154"/>
                </a:lnTo>
                <a:lnTo>
                  <a:pt x="0" y="913130"/>
                </a:lnTo>
                <a:lnTo>
                  <a:pt x="7620" y="915670"/>
                </a:lnTo>
                <a:lnTo>
                  <a:pt x="288467" y="73113"/>
                </a:lnTo>
                <a:lnTo>
                  <a:pt x="320040" y="838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823451" y="3717290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0" dirty="0">
                <a:latin typeface="Cambria"/>
                <a:cs typeface="Cambria"/>
              </a:rPr>
              <a:t>u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1375">
              <a:spcBef>
                <a:spcPts val="100"/>
              </a:spcBef>
            </a:pPr>
            <a:r>
              <a:rPr dirty="0"/>
              <a:t>Algoritmo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Casteljau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353836"/>
            <a:ext cx="7864475" cy="49390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0365" marR="30480" indent="-342900">
              <a:lnSpc>
                <a:spcPct val="112799"/>
              </a:lnSpc>
              <a:spcBef>
                <a:spcPts val="60"/>
              </a:spcBef>
              <a:buChar char="•"/>
              <a:tabLst>
                <a:tab pos="380365" algn="l"/>
              </a:tabLst>
            </a:pP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generalizar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idéia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três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b="1" spc="-25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625" spc="-37" baseline="-22222" dirty="0">
                <a:solidFill>
                  <a:srgbClr val="002454"/>
                </a:solidFill>
                <a:latin typeface="Arial MT"/>
                <a:cs typeface="Arial MT"/>
              </a:rPr>
              <a:t>0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, </a:t>
            </a:r>
            <a:r>
              <a:rPr sz="30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625" baseline="-23809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625" spc="-30" baseline="-23809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30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625" baseline="-23809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r>
              <a:rPr sz="2625" spc="465" baseline="-23809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consideramos</a:t>
            </a:r>
            <a:r>
              <a:rPr sz="3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primeiramente</a:t>
            </a:r>
            <a:r>
              <a:rPr sz="3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os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segmentos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reta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b="1" spc="-20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625" spc="-30" baseline="-23809" dirty="0">
                <a:solidFill>
                  <a:srgbClr val="002454"/>
                </a:solidFill>
                <a:latin typeface="Arial MT"/>
                <a:cs typeface="Arial MT"/>
              </a:rPr>
              <a:t>0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-</a:t>
            </a:r>
            <a:r>
              <a:rPr sz="30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625" baseline="-23809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625" spc="487" baseline="-23809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b="1" spc="-20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625" spc="-30" baseline="-23809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3000" b="1" spc="-20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625" spc="-30" baseline="-23809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endParaRPr sz="2625" baseline="-23809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94665" marR="3665220">
              <a:lnSpc>
                <a:spcPct val="134500"/>
              </a:lnSpc>
              <a:spcBef>
                <a:spcPts val="30"/>
              </a:spcBef>
            </a:pPr>
            <a:r>
              <a:rPr sz="28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400" baseline="-24305" dirty="0">
                <a:solidFill>
                  <a:srgbClr val="002454"/>
                </a:solidFill>
                <a:latin typeface="Arial MT"/>
                <a:cs typeface="Arial MT"/>
              </a:rPr>
              <a:t>01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8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8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(1</a:t>
            </a:r>
            <a:r>
              <a:rPr sz="28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28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i="1" spc="-20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800" spc="-2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800" spc="-3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400" baseline="-24305" dirty="0">
                <a:solidFill>
                  <a:srgbClr val="002454"/>
                </a:solidFill>
                <a:latin typeface="Arial MT"/>
                <a:cs typeface="Arial MT"/>
              </a:rPr>
              <a:t>0</a:t>
            </a:r>
            <a:r>
              <a:rPr sz="2400" spc="-7" baseline="-2430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+</a:t>
            </a:r>
            <a:r>
              <a:rPr sz="28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800" i="1" spc="-2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400" spc="-37" baseline="-24305" dirty="0">
                <a:solidFill>
                  <a:srgbClr val="002454"/>
                </a:solidFill>
                <a:latin typeface="Arial MT"/>
                <a:cs typeface="Arial MT"/>
              </a:rPr>
              <a:t>1 </a:t>
            </a:r>
            <a:r>
              <a:rPr sz="28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400" baseline="-24305" dirty="0">
                <a:solidFill>
                  <a:srgbClr val="002454"/>
                </a:solidFill>
                <a:latin typeface="Arial MT"/>
                <a:cs typeface="Arial MT"/>
              </a:rPr>
              <a:t>11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8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8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(1</a:t>
            </a:r>
            <a:r>
              <a:rPr sz="28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28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i="1" spc="-20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800" spc="-2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800" spc="-3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400" baseline="-24305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400" spc="-7" baseline="-2430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+</a:t>
            </a:r>
            <a:r>
              <a:rPr sz="28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800" i="1" spc="-2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400" spc="-37" baseline="-24305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endParaRPr sz="2400" baseline="-24305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80365" marR="407034" indent="-342900">
              <a:spcBef>
                <a:spcPts val="1210"/>
              </a:spcBef>
              <a:buChar char="•"/>
              <a:tabLst>
                <a:tab pos="380365" algn="l"/>
              </a:tabLst>
            </a:pP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Podemos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agora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realizar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interpolação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entre</a:t>
            </a:r>
            <a:r>
              <a:rPr sz="3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625" baseline="-23809" dirty="0">
                <a:solidFill>
                  <a:srgbClr val="002454"/>
                </a:solidFill>
                <a:latin typeface="Arial MT"/>
                <a:cs typeface="Arial MT"/>
              </a:rPr>
              <a:t>01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30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3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b="1" spc="-10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625" spc="-15" baseline="-23809" dirty="0">
                <a:solidFill>
                  <a:srgbClr val="002454"/>
                </a:solidFill>
                <a:latin typeface="Arial MT"/>
                <a:cs typeface="Arial MT"/>
              </a:rPr>
              <a:t>12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3000" i="1" spc="-10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3000" spc="-1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94665">
              <a:spcBef>
                <a:spcPts val="1190"/>
              </a:spcBef>
            </a:pPr>
            <a:r>
              <a:rPr sz="28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400" baseline="-24305" dirty="0">
                <a:solidFill>
                  <a:srgbClr val="002454"/>
                </a:solidFill>
                <a:latin typeface="Arial MT"/>
                <a:cs typeface="Arial MT"/>
              </a:rPr>
              <a:t>02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8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8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(1</a:t>
            </a:r>
            <a:r>
              <a:rPr sz="28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i="1" spc="-20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800" spc="-2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800" spc="-3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400" baseline="-24305" dirty="0">
                <a:solidFill>
                  <a:srgbClr val="002454"/>
                </a:solidFill>
                <a:latin typeface="Arial MT"/>
                <a:cs typeface="Arial MT"/>
              </a:rPr>
              <a:t>01</a:t>
            </a:r>
            <a:r>
              <a:rPr sz="2400" spc="-15" baseline="-2430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8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+</a:t>
            </a:r>
            <a:r>
              <a:rPr sz="28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800" i="1" spc="-2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400" baseline="-24305" dirty="0">
                <a:solidFill>
                  <a:srgbClr val="002454"/>
                </a:solidFill>
                <a:latin typeface="Arial MT"/>
                <a:cs typeface="Arial MT"/>
              </a:rPr>
              <a:t>11</a:t>
            </a:r>
            <a:r>
              <a:rPr sz="2400" spc="-22" baseline="-2430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2800" i="1" spc="-25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800" spc="-25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endParaRPr sz="28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573530">
              <a:spcBef>
                <a:spcPts val="1160"/>
              </a:spcBef>
            </a:pP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8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(1</a:t>
            </a:r>
            <a:r>
              <a:rPr sz="28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28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i="1" spc="-20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800" spc="-2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800" spc="-3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baseline="29513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r>
              <a:rPr sz="2400" spc="7" baseline="29513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400" baseline="-24305" dirty="0">
                <a:solidFill>
                  <a:srgbClr val="002454"/>
                </a:solidFill>
                <a:latin typeface="Arial MT"/>
                <a:cs typeface="Arial MT"/>
              </a:rPr>
              <a:t>0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+</a:t>
            </a:r>
            <a:r>
              <a:rPr sz="28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r>
              <a:rPr sz="28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800" i="1" spc="-1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(1</a:t>
            </a:r>
            <a:r>
              <a:rPr sz="28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28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i="1" spc="-25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800" spc="-25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800" spc="-3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400" baseline="-24305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400" spc="-7" baseline="-2430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2454"/>
                </a:solidFill>
                <a:latin typeface="Arial MT"/>
                <a:cs typeface="Arial MT"/>
              </a:rPr>
              <a:t>+</a:t>
            </a:r>
            <a:r>
              <a:rPr sz="28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8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400" i="1" baseline="29513" dirty="0">
                <a:solidFill>
                  <a:srgbClr val="002454"/>
                </a:solidFill>
                <a:latin typeface="Arial"/>
                <a:cs typeface="Arial"/>
              </a:rPr>
              <a:t>2</a:t>
            </a:r>
            <a:r>
              <a:rPr sz="2400" i="1" spc="487" baseline="29513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400" spc="-37" baseline="-24305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endParaRPr sz="2400" baseline="-24305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8604" y="2528344"/>
            <a:ext cx="4600575" cy="2972435"/>
            <a:chOff x="1814603" y="2528343"/>
            <a:chExt cx="4600575" cy="2972435"/>
          </a:xfrm>
        </p:grpSpPr>
        <p:sp>
          <p:nvSpPr>
            <p:cNvPr id="3" name="object 3"/>
            <p:cNvSpPr/>
            <p:nvPr/>
          </p:nvSpPr>
          <p:spPr>
            <a:xfrm>
              <a:off x="2387600" y="3277870"/>
              <a:ext cx="2067560" cy="1408430"/>
            </a:xfrm>
            <a:custGeom>
              <a:avLst/>
              <a:gdLst/>
              <a:ahLst/>
              <a:cxnLst/>
              <a:rect l="l" t="t" r="r" b="b"/>
              <a:pathLst>
                <a:path w="2067560" h="1408429">
                  <a:moveTo>
                    <a:pt x="0" y="1408429"/>
                  </a:moveTo>
                  <a:lnTo>
                    <a:pt x="2067560" y="0"/>
                  </a:lnTo>
                </a:path>
              </a:pathLst>
            </a:custGeom>
            <a:ln w="28393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05000" y="2590800"/>
              <a:ext cx="4419600" cy="2819400"/>
            </a:xfrm>
            <a:custGeom>
              <a:avLst/>
              <a:gdLst/>
              <a:ahLst/>
              <a:cxnLst/>
              <a:rect l="l" t="t" r="r" b="b"/>
              <a:pathLst>
                <a:path w="4419600" h="2819400">
                  <a:moveTo>
                    <a:pt x="0" y="2743200"/>
                  </a:moveTo>
                  <a:lnTo>
                    <a:pt x="1981200" y="0"/>
                  </a:lnTo>
                </a:path>
                <a:path w="4419600" h="2819400">
                  <a:moveTo>
                    <a:pt x="1981200" y="0"/>
                  </a:moveTo>
                  <a:lnTo>
                    <a:pt x="4419600" y="2819400"/>
                  </a:lnTo>
                </a:path>
              </a:pathLst>
            </a:custGeom>
            <a:ln w="283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4603" y="5319803"/>
              <a:ext cx="104593" cy="10459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2793" y="2528343"/>
              <a:ext cx="104593" cy="1045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22603" y="4634003"/>
              <a:ext cx="104593" cy="10459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18103" y="3211603"/>
              <a:ext cx="104593" cy="1045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10403" y="5396003"/>
              <a:ext cx="104593" cy="104593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1375">
              <a:spcBef>
                <a:spcPts val="100"/>
              </a:spcBef>
            </a:pPr>
            <a:r>
              <a:rPr dirty="0"/>
              <a:t>Algoritmo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Casteljau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741930" y="5312409"/>
            <a:ext cx="3060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0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16220" y="2091690"/>
            <a:ext cx="304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1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59419" y="5292090"/>
            <a:ext cx="304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2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19800" y="2840990"/>
            <a:ext cx="379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7" baseline="13888" dirty="0">
                <a:latin typeface="Palatino Linotype"/>
                <a:cs typeface="Palatino Linotype"/>
              </a:rPr>
              <a:t>p</a:t>
            </a:r>
            <a:r>
              <a:rPr sz="1150" b="1" spc="-25" dirty="0">
                <a:latin typeface="Palatino Linotype"/>
                <a:cs typeface="Palatino Linotype"/>
              </a:rPr>
              <a:t>11</a:t>
            </a:r>
            <a:endParaRPr sz="1150">
              <a:latin typeface="Palatino Linotype"/>
              <a:cs typeface="Palatino Linotyp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00400" y="4517390"/>
            <a:ext cx="379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7" baseline="13888" dirty="0">
                <a:latin typeface="Palatino Linotype"/>
                <a:cs typeface="Palatino Linotype"/>
              </a:rPr>
              <a:t>p</a:t>
            </a:r>
            <a:r>
              <a:rPr sz="1150" b="1" spc="-25" dirty="0">
                <a:latin typeface="Palatino Linotype"/>
                <a:cs typeface="Palatino Linotype"/>
              </a:rPr>
              <a:t>01</a:t>
            </a:r>
            <a:endParaRPr sz="1150">
              <a:latin typeface="Palatino Linotype"/>
              <a:cs typeface="Palatino Linotype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05404" y="4253004"/>
            <a:ext cx="104593" cy="104593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543801" y="2625090"/>
            <a:ext cx="89661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dirty="0">
                <a:latin typeface="Cambria"/>
                <a:cs typeface="Cambria"/>
              </a:rPr>
              <a:t>u</a:t>
            </a:r>
            <a:r>
              <a:rPr sz="2000" i="1" spc="8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= </a:t>
            </a:r>
            <a:r>
              <a:rPr sz="2000" spc="-45" dirty="0">
                <a:latin typeface="Cambria"/>
                <a:cs typeface="Cambria"/>
              </a:rPr>
              <a:t>0.25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83100" y="4403090"/>
            <a:ext cx="3810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7" baseline="13888" dirty="0">
                <a:latin typeface="Palatino Linotype"/>
                <a:cs typeface="Palatino Linotype"/>
              </a:rPr>
              <a:t>p</a:t>
            </a:r>
            <a:r>
              <a:rPr sz="1150" b="1" spc="-25" dirty="0">
                <a:latin typeface="Palatino Linotype"/>
                <a:cs typeface="Palatino Linotype"/>
              </a:rPr>
              <a:t>02</a:t>
            </a:r>
            <a:endParaRPr sz="11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8604" y="2528344"/>
            <a:ext cx="4600575" cy="2972435"/>
            <a:chOff x="1814603" y="2528343"/>
            <a:chExt cx="4600575" cy="2972435"/>
          </a:xfrm>
        </p:grpSpPr>
        <p:sp>
          <p:nvSpPr>
            <p:cNvPr id="3" name="object 3"/>
            <p:cNvSpPr/>
            <p:nvPr/>
          </p:nvSpPr>
          <p:spPr>
            <a:xfrm>
              <a:off x="2895600" y="3962400"/>
              <a:ext cx="2209800" cy="0"/>
            </a:xfrm>
            <a:custGeom>
              <a:avLst/>
              <a:gdLst/>
              <a:ahLst/>
              <a:cxnLst/>
              <a:rect l="l" t="t" r="r" b="b"/>
              <a:pathLst>
                <a:path w="2209800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ln w="28393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05000" y="2590800"/>
              <a:ext cx="4419600" cy="2819400"/>
            </a:xfrm>
            <a:custGeom>
              <a:avLst/>
              <a:gdLst/>
              <a:ahLst/>
              <a:cxnLst/>
              <a:rect l="l" t="t" r="r" b="b"/>
              <a:pathLst>
                <a:path w="4419600" h="2819400">
                  <a:moveTo>
                    <a:pt x="0" y="2743200"/>
                  </a:moveTo>
                  <a:lnTo>
                    <a:pt x="1981200" y="0"/>
                  </a:lnTo>
                </a:path>
                <a:path w="4419600" h="2819400">
                  <a:moveTo>
                    <a:pt x="1981200" y="0"/>
                  </a:moveTo>
                  <a:lnTo>
                    <a:pt x="4419600" y="2819400"/>
                  </a:lnTo>
                </a:path>
              </a:pathLst>
            </a:custGeom>
            <a:ln w="283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4603" y="5319803"/>
              <a:ext cx="104593" cy="10459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2793" y="2528343"/>
              <a:ext cx="104593" cy="1045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30603" y="3910103"/>
              <a:ext cx="104593" cy="10459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7703" y="3910103"/>
              <a:ext cx="104593" cy="1045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10403" y="5396003"/>
              <a:ext cx="104593" cy="104593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1375">
              <a:spcBef>
                <a:spcPts val="100"/>
              </a:spcBef>
            </a:pPr>
            <a:r>
              <a:rPr dirty="0"/>
              <a:t>Algoritmo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Casteljau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741930" y="5312409"/>
            <a:ext cx="3060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0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16220" y="2091690"/>
            <a:ext cx="304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1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59419" y="5292090"/>
            <a:ext cx="304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2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81800" y="3755390"/>
            <a:ext cx="379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7" baseline="13888" dirty="0">
                <a:latin typeface="Palatino Linotype"/>
                <a:cs typeface="Palatino Linotype"/>
              </a:rPr>
              <a:t>p</a:t>
            </a:r>
            <a:r>
              <a:rPr sz="1150" b="1" spc="-25" dirty="0">
                <a:latin typeface="Palatino Linotype"/>
                <a:cs typeface="Palatino Linotype"/>
              </a:rPr>
              <a:t>11</a:t>
            </a:r>
            <a:endParaRPr sz="1150">
              <a:latin typeface="Palatino Linotype"/>
              <a:cs typeface="Palatino Linotyp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86200" y="3755390"/>
            <a:ext cx="379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7" baseline="13888" dirty="0">
                <a:latin typeface="Palatino Linotype"/>
                <a:cs typeface="Palatino Linotype"/>
              </a:rPr>
              <a:t>p</a:t>
            </a:r>
            <a:r>
              <a:rPr sz="1150" b="1" spc="-25" dirty="0">
                <a:latin typeface="Palatino Linotype"/>
                <a:cs typeface="Palatino Linotype"/>
              </a:rPr>
              <a:t>01</a:t>
            </a:r>
            <a:endParaRPr sz="1150">
              <a:latin typeface="Palatino Linotype"/>
              <a:cs typeface="Palatino Linotyp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405404" y="3910104"/>
            <a:ext cx="1082675" cy="447675"/>
            <a:chOff x="2881403" y="3910103"/>
            <a:chExt cx="1082675" cy="447675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81403" y="4253003"/>
              <a:ext cx="104593" cy="10459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59303" y="3910103"/>
              <a:ext cx="104593" cy="104593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608570" y="2625090"/>
            <a:ext cx="7683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dirty="0">
                <a:latin typeface="Cambria"/>
                <a:cs typeface="Cambria"/>
              </a:rPr>
              <a:t>u</a:t>
            </a:r>
            <a:r>
              <a:rPr sz="2000" i="1" spc="8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= </a:t>
            </a:r>
            <a:r>
              <a:rPr sz="2000" spc="-25" dirty="0">
                <a:latin typeface="Cambria"/>
                <a:cs typeface="Cambria"/>
              </a:rPr>
              <a:t>0.5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57800" y="3526790"/>
            <a:ext cx="379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7" baseline="13888" dirty="0">
                <a:latin typeface="Palatino Linotype"/>
                <a:cs typeface="Palatino Linotype"/>
              </a:rPr>
              <a:t>p</a:t>
            </a:r>
            <a:r>
              <a:rPr sz="1150" b="1" spc="-25" dirty="0">
                <a:latin typeface="Palatino Linotype"/>
                <a:cs typeface="Palatino Linotype"/>
              </a:rPr>
              <a:t>02</a:t>
            </a:r>
            <a:endParaRPr sz="11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8604" y="2528344"/>
            <a:ext cx="4600575" cy="2972435"/>
            <a:chOff x="1814603" y="2528343"/>
            <a:chExt cx="4600575" cy="2972435"/>
          </a:xfrm>
        </p:grpSpPr>
        <p:sp>
          <p:nvSpPr>
            <p:cNvPr id="3" name="object 3"/>
            <p:cNvSpPr/>
            <p:nvPr/>
          </p:nvSpPr>
          <p:spPr>
            <a:xfrm>
              <a:off x="3429000" y="3276600"/>
              <a:ext cx="2286000" cy="1447800"/>
            </a:xfrm>
            <a:custGeom>
              <a:avLst/>
              <a:gdLst/>
              <a:ahLst/>
              <a:cxnLst/>
              <a:rect l="l" t="t" r="r" b="b"/>
              <a:pathLst>
                <a:path w="2286000" h="1447800">
                  <a:moveTo>
                    <a:pt x="0" y="0"/>
                  </a:moveTo>
                  <a:lnTo>
                    <a:pt x="2286000" y="1447800"/>
                  </a:lnTo>
                </a:path>
              </a:pathLst>
            </a:custGeom>
            <a:ln w="28393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05000" y="2590800"/>
              <a:ext cx="4419600" cy="2819400"/>
            </a:xfrm>
            <a:custGeom>
              <a:avLst/>
              <a:gdLst/>
              <a:ahLst/>
              <a:cxnLst/>
              <a:rect l="l" t="t" r="r" b="b"/>
              <a:pathLst>
                <a:path w="4419600" h="2819400">
                  <a:moveTo>
                    <a:pt x="0" y="2743200"/>
                  </a:moveTo>
                  <a:lnTo>
                    <a:pt x="1981200" y="0"/>
                  </a:lnTo>
                </a:path>
                <a:path w="4419600" h="2819400">
                  <a:moveTo>
                    <a:pt x="1981200" y="0"/>
                  </a:moveTo>
                  <a:lnTo>
                    <a:pt x="4419600" y="2819400"/>
                  </a:lnTo>
                </a:path>
              </a:pathLst>
            </a:custGeom>
            <a:ln w="283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4603" y="5319803"/>
              <a:ext cx="104593" cy="10459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2793" y="2528343"/>
              <a:ext cx="104593" cy="1045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1303" y="3211603"/>
              <a:ext cx="104593" cy="10459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8103" y="4672103"/>
              <a:ext cx="104593" cy="1045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10403" y="5396003"/>
              <a:ext cx="104593" cy="104593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1375">
              <a:spcBef>
                <a:spcPts val="100"/>
              </a:spcBef>
            </a:pPr>
            <a:r>
              <a:rPr dirty="0"/>
              <a:t>Algoritmo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Casteljau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741930" y="5312409"/>
            <a:ext cx="3060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0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16220" y="2091690"/>
            <a:ext cx="304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1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59419" y="5292090"/>
            <a:ext cx="304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2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67600" y="4593590"/>
            <a:ext cx="379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7" baseline="13888" dirty="0">
                <a:latin typeface="Palatino Linotype"/>
                <a:cs typeface="Palatino Linotype"/>
              </a:rPr>
              <a:t>p</a:t>
            </a:r>
            <a:r>
              <a:rPr sz="1150" b="1" spc="-25" dirty="0">
                <a:latin typeface="Palatino Linotype"/>
                <a:cs typeface="Palatino Linotype"/>
              </a:rPr>
              <a:t>11</a:t>
            </a:r>
            <a:endParaRPr sz="1150">
              <a:latin typeface="Palatino Linotype"/>
              <a:cs typeface="Palatino Linotyp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43400" y="2917190"/>
            <a:ext cx="379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7" baseline="13888" dirty="0">
                <a:latin typeface="Palatino Linotype"/>
                <a:cs typeface="Palatino Linotype"/>
              </a:rPr>
              <a:t>p</a:t>
            </a:r>
            <a:r>
              <a:rPr sz="1150" b="1" spc="-25" dirty="0">
                <a:latin typeface="Palatino Linotype"/>
                <a:cs typeface="Palatino Linotype"/>
              </a:rPr>
              <a:t>01</a:t>
            </a:r>
            <a:endParaRPr sz="1150">
              <a:latin typeface="Palatino Linotype"/>
              <a:cs typeface="Palatino Linotyp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405404" y="3910104"/>
            <a:ext cx="2187575" cy="447675"/>
            <a:chOff x="2881403" y="3910103"/>
            <a:chExt cx="2187575" cy="447675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81403" y="4253003"/>
              <a:ext cx="104593" cy="10459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59303" y="3910103"/>
              <a:ext cx="104593" cy="10459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64203" y="4240303"/>
              <a:ext cx="104593" cy="104593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543801" y="2625090"/>
            <a:ext cx="89661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dirty="0">
                <a:latin typeface="Cambria"/>
                <a:cs typeface="Cambria"/>
              </a:rPr>
              <a:t>u</a:t>
            </a:r>
            <a:r>
              <a:rPr sz="2000" i="1" spc="8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= </a:t>
            </a:r>
            <a:r>
              <a:rPr sz="2000" spc="-45" dirty="0">
                <a:latin typeface="Cambria"/>
                <a:cs typeface="Cambria"/>
              </a:rPr>
              <a:t>0.75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24600" y="4517390"/>
            <a:ext cx="379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7" baseline="13888" dirty="0">
                <a:latin typeface="Palatino Linotype"/>
                <a:cs typeface="Palatino Linotype"/>
              </a:rPr>
              <a:t>p</a:t>
            </a:r>
            <a:r>
              <a:rPr sz="1150" b="1" spc="-25" dirty="0">
                <a:latin typeface="Palatino Linotype"/>
                <a:cs typeface="Palatino Linotype"/>
              </a:rPr>
              <a:t>02</a:t>
            </a:r>
            <a:endParaRPr sz="11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1375">
              <a:spcBef>
                <a:spcPts val="100"/>
              </a:spcBef>
            </a:pPr>
            <a:r>
              <a:rPr dirty="0"/>
              <a:t>Algoritmo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Casteljau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338604" y="2528344"/>
            <a:ext cx="4600575" cy="2972435"/>
            <a:chOff x="1814603" y="2528343"/>
            <a:chExt cx="4600575" cy="2972435"/>
          </a:xfrm>
        </p:grpSpPr>
        <p:sp>
          <p:nvSpPr>
            <p:cNvPr id="4" name="object 4"/>
            <p:cNvSpPr/>
            <p:nvPr/>
          </p:nvSpPr>
          <p:spPr>
            <a:xfrm>
              <a:off x="1905000" y="2590800"/>
              <a:ext cx="4419600" cy="2819400"/>
            </a:xfrm>
            <a:custGeom>
              <a:avLst/>
              <a:gdLst/>
              <a:ahLst/>
              <a:cxnLst/>
              <a:rect l="l" t="t" r="r" b="b"/>
              <a:pathLst>
                <a:path w="4419600" h="2819400">
                  <a:moveTo>
                    <a:pt x="0" y="2743200"/>
                  </a:moveTo>
                  <a:lnTo>
                    <a:pt x="1981200" y="0"/>
                  </a:lnTo>
                </a:path>
                <a:path w="4419600" h="2819400">
                  <a:moveTo>
                    <a:pt x="1981200" y="0"/>
                  </a:moveTo>
                  <a:lnTo>
                    <a:pt x="4419600" y="2819400"/>
                  </a:lnTo>
                </a:path>
              </a:pathLst>
            </a:custGeom>
            <a:ln w="283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4603" y="5319803"/>
              <a:ext cx="104593" cy="10459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2793" y="2528343"/>
              <a:ext cx="104593" cy="1045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10403" y="5396003"/>
              <a:ext cx="104593" cy="10459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81403" y="4253003"/>
              <a:ext cx="104593" cy="10459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741930" y="5312409"/>
            <a:ext cx="3060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0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16220" y="2091690"/>
            <a:ext cx="304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1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59419" y="5292090"/>
            <a:ext cx="304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2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77790" y="4301490"/>
            <a:ext cx="6934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10" dirty="0">
                <a:latin typeface="Palatino Linotype"/>
                <a:cs typeface="Palatino Linotype"/>
              </a:rPr>
              <a:t>p</a:t>
            </a:r>
            <a:r>
              <a:rPr sz="1725" b="1" spc="-15" baseline="-24154" dirty="0">
                <a:latin typeface="Palatino Linotype"/>
                <a:cs typeface="Palatino Linotype"/>
              </a:rPr>
              <a:t>02</a:t>
            </a:r>
            <a:r>
              <a:rPr sz="2000" b="1" spc="-10" dirty="0">
                <a:latin typeface="Palatino Linotype"/>
                <a:cs typeface="Palatino Linotype"/>
              </a:rPr>
              <a:t>(</a:t>
            </a:r>
            <a:r>
              <a:rPr sz="2000" b="1" i="1" spc="-10" dirty="0">
                <a:latin typeface="Times New Roman"/>
                <a:cs typeface="Times New Roman"/>
              </a:rPr>
              <a:t>u</a:t>
            </a:r>
            <a:r>
              <a:rPr sz="2000" b="1" spc="-10" dirty="0">
                <a:latin typeface="Palatino Linotype"/>
                <a:cs typeface="Palatino Linotype"/>
              </a:rPr>
              <a:t>)</a:t>
            </a:r>
            <a:endParaRPr sz="2000">
              <a:latin typeface="Palatino Linotype"/>
              <a:cs typeface="Palatino Linotyp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418839" y="3910104"/>
            <a:ext cx="4461510" cy="1560195"/>
            <a:chOff x="1894839" y="3910103"/>
            <a:chExt cx="4461510" cy="156019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59303" y="3910103"/>
              <a:ext cx="104593" cy="10459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64203" y="4240303"/>
              <a:ext cx="104593" cy="10459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894840" y="3952239"/>
              <a:ext cx="4461510" cy="1517650"/>
            </a:xfrm>
            <a:custGeom>
              <a:avLst/>
              <a:gdLst/>
              <a:ahLst/>
              <a:cxnLst/>
              <a:rect l="l" t="t" r="r" b="b"/>
              <a:pathLst>
                <a:path w="4461510" h="1517650">
                  <a:moveTo>
                    <a:pt x="913130" y="476250"/>
                  </a:moveTo>
                  <a:lnTo>
                    <a:pt x="894080" y="454660"/>
                  </a:lnTo>
                  <a:lnTo>
                    <a:pt x="750570" y="584200"/>
                  </a:lnTo>
                  <a:lnTo>
                    <a:pt x="760095" y="594995"/>
                  </a:lnTo>
                  <a:lnTo>
                    <a:pt x="759460" y="594360"/>
                  </a:lnTo>
                  <a:lnTo>
                    <a:pt x="750570" y="584200"/>
                  </a:lnTo>
                  <a:lnTo>
                    <a:pt x="749300" y="585470"/>
                  </a:lnTo>
                  <a:lnTo>
                    <a:pt x="452120" y="883920"/>
                  </a:lnTo>
                  <a:lnTo>
                    <a:pt x="452120" y="885190"/>
                  </a:lnTo>
                  <a:lnTo>
                    <a:pt x="0" y="1371600"/>
                  </a:lnTo>
                  <a:lnTo>
                    <a:pt x="20320" y="1391920"/>
                  </a:lnTo>
                  <a:lnTo>
                    <a:pt x="472440" y="904240"/>
                  </a:lnTo>
                  <a:lnTo>
                    <a:pt x="769023" y="605129"/>
                  </a:lnTo>
                  <a:lnTo>
                    <a:pt x="769620" y="605790"/>
                  </a:lnTo>
                  <a:lnTo>
                    <a:pt x="913130" y="476250"/>
                  </a:lnTo>
                  <a:close/>
                </a:path>
                <a:path w="4461510" h="1517650">
                  <a:moveTo>
                    <a:pt x="4461510" y="1497330"/>
                  </a:moveTo>
                  <a:lnTo>
                    <a:pt x="3845560" y="922020"/>
                  </a:lnTo>
                  <a:lnTo>
                    <a:pt x="3844290" y="922020"/>
                  </a:lnTo>
                  <a:lnTo>
                    <a:pt x="3470910" y="591820"/>
                  </a:lnTo>
                  <a:lnTo>
                    <a:pt x="3293110" y="450850"/>
                  </a:lnTo>
                  <a:lnTo>
                    <a:pt x="3291840" y="450850"/>
                  </a:lnTo>
                  <a:lnTo>
                    <a:pt x="3129280" y="339090"/>
                  </a:lnTo>
                  <a:lnTo>
                    <a:pt x="2979420" y="252730"/>
                  </a:lnTo>
                  <a:lnTo>
                    <a:pt x="2978150" y="252730"/>
                  </a:lnTo>
                  <a:lnTo>
                    <a:pt x="2833370" y="180340"/>
                  </a:lnTo>
                  <a:lnTo>
                    <a:pt x="2832100" y="180340"/>
                  </a:lnTo>
                  <a:lnTo>
                    <a:pt x="2692400" y="121920"/>
                  </a:lnTo>
                  <a:lnTo>
                    <a:pt x="2691130" y="121920"/>
                  </a:lnTo>
                  <a:lnTo>
                    <a:pt x="2552700" y="74930"/>
                  </a:lnTo>
                  <a:lnTo>
                    <a:pt x="2416810" y="40640"/>
                  </a:lnTo>
                  <a:lnTo>
                    <a:pt x="2415540" y="40640"/>
                  </a:lnTo>
                  <a:lnTo>
                    <a:pt x="2283460" y="17780"/>
                  </a:lnTo>
                  <a:lnTo>
                    <a:pt x="2282190" y="17780"/>
                  </a:lnTo>
                  <a:lnTo>
                    <a:pt x="2150110" y="3810"/>
                  </a:lnTo>
                  <a:lnTo>
                    <a:pt x="2148840" y="3810"/>
                  </a:lnTo>
                  <a:lnTo>
                    <a:pt x="2019300" y="0"/>
                  </a:lnTo>
                  <a:lnTo>
                    <a:pt x="2018030" y="0"/>
                  </a:lnTo>
                  <a:lnTo>
                    <a:pt x="1889760" y="6350"/>
                  </a:lnTo>
                  <a:lnTo>
                    <a:pt x="1888490" y="6350"/>
                  </a:lnTo>
                  <a:lnTo>
                    <a:pt x="1764030" y="24130"/>
                  </a:lnTo>
                  <a:lnTo>
                    <a:pt x="1762760" y="24130"/>
                  </a:lnTo>
                  <a:lnTo>
                    <a:pt x="1640840" y="52070"/>
                  </a:lnTo>
                  <a:lnTo>
                    <a:pt x="1638300" y="52070"/>
                  </a:lnTo>
                  <a:lnTo>
                    <a:pt x="1518920" y="91440"/>
                  </a:lnTo>
                  <a:lnTo>
                    <a:pt x="1517650" y="91440"/>
                  </a:lnTo>
                  <a:lnTo>
                    <a:pt x="1398270" y="140970"/>
                  </a:lnTo>
                  <a:lnTo>
                    <a:pt x="1397000" y="140970"/>
                  </a:lnTo>
                  <a:lnTo>
                    <a:pt x="1276350" y="200660"/>
                  </a:lnTo>
                  <a:lnTo>
                    <a:pt x="1276350" y="201930"/>
                  </a:lnTo>
                  <a:lnTo>
                    <a:pt x="1154430" y="271780"/>
                  </a:lnTo>
                  <a:lnTo>
                    <a:pt x="1153160" y="271780"/>
                  </a:lnTo>
                  <a:lnTo>
                    <a:pt x="1029970" y="351790"/>
                  </a:lnTo>
                  <a:lnTo>
                    <a:pt x="1028700" y="351790"/>
                  </a:lnTo>
                  <a:lnTo>
                    <a:pt x="963930" y="400050"/>
                  </a:lnTo>
                  <a:lnTo>
                    <a:pt x="895350" y="454660"/>
                  </a:lnTo>
                  <a:lnTo>
                    <a:pt x="894080" y="454660"/>
                  </a:lnTo>
                  <a:lnTo>
                    <a:pt x="904240" y="466090"/>
                  </a:lnTo>
                  <a:lnTo>
                    <a:pt x="913130" y="476250"/>
                  </a:lnTo>
                  <a:lnTo>
                    <a:pt x="980325" y="422744"/>
                  </a:lnTo>
                  <a:lnTo>
                    <a:pt x="980440" y="422910"/>
                  </a:lnTo>
                  <a:lnTo>
                    <a:pt x="1045210" y="375920"/>
                  </a:lnTo>
                  <a:lnTo>
                    <a:pt x="1169670" y="295910"/>
                  </a:lnTo>
                  <a:lnTo>
                    <a:pt x="1169276" y="295414"/>
                  </a:lnTo>
                  <a:lnTo>
                    <a:pt x="1290320" y="226060"/>
                  </a:lnTo>
                  <a:lnTo>
                    <a:pt x="1290027" y="225577"/>
                  </a:lnTo>
                  <a:lnTo>
                    <a:pt x="1408226" y="167106"/>
                  </a:lnTo>
                  <a:lnTo>
                    <a:pt x="1408430" y="167640"/>
                  </a:lnTo>
                  <a:lnTo>
                    <a:pt x="1527810" y="118110"/>
                  </a:lnTo>
                  <a:lnTo>
                    <a:pt x="1648460" y="80010"/>
                  </a:lnTo>
                  <a:lnTo>
                    <a:pt x="1648256" y="79489"/>
                  </a:lnTo>
                  <a:lnTo>
                    <a:pt x="1769110" y="52070"/>
                  </a:lnTo>
                  <a:lnTo>
                    <a:pt x="1769059" y="51904"/>
                  </a:lnTo>
                  <a:lnTo>
                    <a:pt x="1892300" y="34290"/>
                  </a:lnTo>
                  <a:lnTo>
                    <a:pt x="2018753" y="29235"/>
                  </a:lnTo>
                  <a:lnTo>
                    <a:pt x="2147570" y="32994"/>
                  </a:lnTo>
                  <a:lnTo>
                    <a:pt x="2278380" y="45720"/>
                  </a:lnTo>
                  <a:lnTo>
                    <a:pt x="2410510" y="68376"/>
                  </a:lnTo>
                  <a:lnTo>
                    <a:pt x="2410460" y="68580"/>
                  </a:lnTo>
                  <a:lnTo>
                    <a:pt x="2543911" y="102577"/>
                  </a:lnTo>
                  <a:lnTo>
                    <a:pt x="2543810" y="102870"/>
                  </a:lnTo>
                  <a:lnTo>
                    <a:pt x="2682240" y="148590"/>
                  </a:lnTo>
                  <a:lnTo>
                    <a:pt x="2682417" y="147942"/>
                  </a:lnTo>
                  <a:lnTo>
                    <a:pt x="2821940" y="207010"/>
                  </a:lnTo>
                  <a:lnTo>
                    <a:pt x="2822130" y="206476"/>
                  </a:lnTo>
                  <a:lnTo>
                    <a:pt x="2965450" y="278130"/>
                  </a:lnTo>
                  <a:lnTo>
                    <a:pt x="2965932" y="277152"/>
                  </a:lnTo>
                  <a:lnTo>
                    <a:pt x="3114040" y="363220"/>
                  </a:lnTo>
                  <a:lnTo>
                    <a:pt x="3275330" y="473710"/>
                  </a:lnTo>
                  <a:lnTo>
                    <a:pt x="3453130" y="614680"/>
                  </a:lnTo>
                  <a:lnTo>
                    <a:pt x="3826510" y="943610"/>
                  </a:lnTo>
                  <a:lnTo>
                    <a:pt x="4442460" y="1517650"/>
                  </a:lnTo>
                  <a:lnTo>
                    <a:pt x="4452620" y="1507490"/>
                  </a:lnTo>
                  <a:lnTo>
                    <a:pt x="4461510" y="149733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1375">
              <a:spcBef>
                <a:spcPts val="100"/>
              </a:spcBef>
            </a:pPr>
            <a:r>
              <a:rPr dirty="0"/>
              <a:t>Algoritmo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Casteljau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1201" y="1537970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1201" y="383920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800" y="1447800"/>
            <a:ext cx="8009255" cy="462407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38100" marR="250190" algn="just">
              <a:lnSpc>
                <a:spcPct val="85400"/>
              </a:lnSpc>
              <a:spcBef>
                <a:spcPts val="555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obtida</a:t>
            </a:r>
            <a:r>
              <a:rPr sz="26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pode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ser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entendida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como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“mistura”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dos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250" baseline="-24074" dirty="0">
                <a:solidFill>
                  <a:srgbClr val="002454"/>
                </a:solidFill>
                <a:latin typeface="Arial MT"/>
                <a:cs typeface="Arial MT"/>
              </a:rPr>
              <a:t>0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250" baseline="-24074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250" spc="-30" baseline="-24074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250" baseline="-24074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r>
              <a:rPr sz="2250" spc="382" baseline="-24074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intermédio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três</a:t>
            </a:r>
            <a:r>
              <a:rPr sz="2600" spc="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funções quadráticas: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37515" indent="-285115">
              <a:buFont typeface="Wingdings"/>
              <a:buChar char=""/>
              <a:tabLst>
                <a:tab pos="437515" algn="l"/>
              </a:tabLst>
            </a:pPr>
            <a:r>
              <a:rPr sz="3600" i="1" baseline="1157" dirty="0">
                <a:solidFill>
                  <a:srgbClr val="002454"/>
                </a:solidFill>
                <a:latin typeface="Arial"/>
                <a:cs typeface="Arial"/>
              </a:rPr>
              <a:t>b</a:t>
            </a:r>
            <a:r>
              <a:rPr sz="2100" baseline="-21825" dirty="0">
                <a:solidFill>
                  <a:srgbClr val="002454"/>
                </a:solidFill>
                <a:latin typeface="Arial MT"/>
                <a:cs typeface="Arial MT"/>
              </a:rPr>
              <a:t>02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3600" i="1" baseline="1157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3600" spc="-52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3600" spc="-7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(1</a:t>
            </a:r>
            <a:r>
              <a:rPr sz="3600" spc="-7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3600" spc="-30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i="1" spc="-30" baseline="1157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3600" spc="-30" baseline="1157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3600" spc="-419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75" baseline="31746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endParaRPr sz="2100" baseline="31746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37515" indent="-285115">
              <a:spcBef>
                <a:spcPts val="330"/>
              </a:spcBef>
              <a:buFont typeface="Wingdings"/>
              <a:buChar char=""/>
              <a:tabLst>
                <a:tab pos="437515" algn="l"/>
              </a:tabLst>
            </a:pPr>
            <a:r>
              <a:rPr sz="3600" i="1" baseline="1157" dirty="0">
                <a:solidFill>
                  <a:srgbClr val="002454"/>
                </a:solidFill>
                <a:latin typeface="Arial"/>
                <a:cs typeface="Arial"/>
              </a:rPr>
              <a:t>b</a:t>
            </a:r>
            <a:r>
              <a:rPr sz="2100" baseline="-21825" dirty="0">
                <a:solidFill>
                  <a:srgbClr val="002454"/>
                </a:solidFill>
                <a:latin typeface="Arial MT"/>
                <a:cs typeface="Arial MT"/>
              </a:rPr>
              <a:t>12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3600" i="1" baseline="1157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3600" spc="-52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3600" spc="-7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spc="-30" baseline="1157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r>
              <a:rPr sz="3600" spc="-434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i="1" baseline="1157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3600" i="1" spc="-22" baseline="1157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(1</a:t>
            </a:r>
            <a:r>
              <a:rPr sz="3600" spc="-15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3600" spc="-30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i="1" spc="-37" baseline="1157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3600" spc="-37" baseline="1157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endParaRPr sz="3600" baseline="1157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37515" indent="-285115">
              <a:spcBef>
                <a:spcPts val="340"/>
              </a:spcBef>
              <a:buFont typeface="Wingdings"/>
              <a:buChar char=""/>
              <a:tabLst>
                <a:tab pos="437515" algn="l"/>
              </a:tabLst>
            </a:pPr>
            <a:r>
              <a:rPr sz="3600" i="1" baseline="1157" dirty="0">
                <a:solidFill>
                  <a:srgbClr val="002454"/>
                </a:solidFill>
                <a:latin typeface="Arial"/>
                <a:cs typeface="Arial"/>
              </a:rPr>
              <a:t>b</a:t>
            </a:r>
            <a:r>
              <a:rPr sz="2100" baseline="-21825" dirty="0">
                <a:solidFill>
                  <a:srgbClr val="002454"/>
                </a:solidFill>
                <a:latin typeface="Arial MT"/>
                <a:cs typeface="Arial MT"/>
              </a:rPr>
              <a:t>22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3600" i="1" baseline="1157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3600" spc="-44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3600" spc="-15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i="1" spc="-37" baseline="1157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100" i="1" spc="-37" baseline="31746" dirty="0">
                <a:solidFill>
                  <a:srgbClr val="002454"/>
                </a:solidFill>
                <a:latin typeface="Arial"/>
                <a:cs typeface="Arial"/>
              </a:rPr>
              <a:t>2</a:t>
            </a:r>
            <a:endParaRPr sz="2100" baseline="31746" dirty="0">
              <a:solidFill>
                <a:srgbClr val="002454"/>
              </a:solidFill>
              <a:latin typeface="Arial"/>
              <a:cs typeface="Arial"/>
            </a:endParaRPr>
          </a:p>
          <a:p>
            <a:pPr marL="38100" marR="122555">
              <a:lnSpc>
                <a:spcPts val="2500"/>
              </a:lnSpc>
              <a:spcBef>
                <a:spcPts val="96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Aplicando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mais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vez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idéia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podemos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definir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uma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cúbica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4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52400">
              <a:lnSpc>
                <a:spcPts val="2840"/>
              </a:lnSpc>
            </a:pP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baseline="-23809" dirty="0">
                <a:solidFill>
                  <a:srgbClr val="002454"/>
                </a:solidFill>
                <a:latin typeface="Arial MT"/>
                <a:cs typeface="Arial MT"/>
              </a:rPr>
              <a:t>02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4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4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(1</a:t>
            </a:r>
            <a:r>
              <a:rPr sz="24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24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spc="-10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400" spc="-2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baseline="27777" dirty="0">
                <a:solidFill>
                  <a:srgbClr val="002454"/>
                </a:solidFill>
                <a:latin typeface="Arial MT"/>
                <a:cs typeface="Arial MT"/>
              </a:rPr>
              <a:t>2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baseline="-23809" dirty="0">
                <a:solidFill>
                  <a:srgbClr val="002454"/>
                </a:solidFill>
                <a:latin typeface="Arial MT"/>
                <a:cs typeface="Arial MT"/>
              </a:rPr>
              <a:t>0</a:t>
            </a:r>
            <a:r>
              <a:rPr sz="2100" spc="-7" baseline="-23809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+</a:t>
            </a:r>
            <a:r>
              <a:rPr sz="24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r>
              <a:rPr sz="24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400" i="1" spc="-1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(1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24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spc="-20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400" spc="-2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400" spc="-2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baseline="-23809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100" spc="-15" baseline="-23809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+</a:t>
            </a:r>
            <a:r>
              <a:rPr sz="24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100" i="1" baseline="27777" dirty="0">
                <a:solidFill>
                  <a:srgbClr val="002454"/>
                </a:solidFill>
                <a:latin typeface="Arial"/>
                <a:cs typeface="Arial"/>
              </a:rPr>
              <a:t>2</a:t>
            </a:r>
            <a:r>
              <a:rPr sz="2100" i="1" spc="405" baseline="27777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spc="-37" baseline="-23809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endParaRPr sz="2100" baseline="-23809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52400" marR="2391410">
              <a:lnSpc>
                <a:spcPct val="111500"/>
              </a:lnSpc>
              <a:spcBef>
                <a:spcPts val="10"/>
              </a:spcBef>
            </a:pP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baseline="-23809" dirty="0">
                <a:solidFill>
                  <a:srgbClr val="002454"/>
                </a:solidFill>
                <a:latin typeface="Arial MT"/>
                <a:cs typeface="Arial MT"/>
              </a:rPr>
              <a:t>12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4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4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(1</a:t>
            </a:r>
            <a:r>
              <a:rPr sz="24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24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spc="-10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400" spc="-2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baseline="27777" dirty="0">
                <a:solidFill>
                  <a:srgbClr val="002454"/>
                </a:solidFill>
                <a:latin typeface="Arial MT"/>
                <a:cs typeface="Arial MT"/>
              </a:rPr>
              <a:t>2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baseline="-23809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100" spc="-7" baseline="-23809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+</a:t>
            </a:r>
            <a:r>
              <a:rPr sz="24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r>
              <a:rPr sz="24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400" i="1" spc="-1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(1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24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spc="-20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400" spc="-2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400" spc="-2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baseline="-23809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r>
              <a:rPr sz="2100" spc="-15" baseline="-23809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+</a:t>
            </a:r>
            <a:r>
              <a:rPr sz="24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100" i="1" baseline="27777" dirty="0">
                <a:solidFill>
                  <a:srgbClr val="002454"/>
                </a:solidFill>
                <a:latin typeface="Arial"/>
                <a:cs typeface="Arial"/>
              </a:rPr>
              <a:t>2</a:t>
            </a:r>
            <a:r>
              <a:rPr sz="2100" i="1" spc="405" baseline="27777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spc="-37" baseline="-23809" dirty="0">
                <a:solidFill>
                  <a:srgbClr val="002454"/>
                </a:solidFill>
                <a:latin typeface="Arial MT"/>
                <a:cs typeface="Arial MT"/>
              </a:rPr>
              <a:t>3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baseline="-23809" dirty="0">
                <a:solidFill>
                  <a:srgbClr val="002454"/>
                </a:solidFill>
                <a:latin typeface="Arial MT"/>
                <a:cs typeface="Arial MT"/>
              </a:rPr>
              <a:t>03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4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4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(1</a:t>
            </a:r>
            <a:r>
              <a:rPr sz="24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24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spc="-10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400" spc="-2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baseline="-23809" dirty="0">
                <a:solidFill>
                  <a:srgbClr val="002454"/>
                </a:solidFill>
                <a:latin typeface="Arial MT"/>
                <a:cs typeface="Arial MT"/>
              </a:rPr>
              <a:t>02</a:t>
            </a:r>
            <a:r>
              <a:rPr sz="2100" spc="-22" baseline="-23809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4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+</a:t>
            </a:r>
            <a:r>
              <a:rPr sz="2400" spc="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400" i="1" spc="-2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baseline="-23809" dirty="0">
                <a:solidFill>
                  <a:srgbClr val="002454"/>
                </a:solidFill>
                <a:latin typeface="Arial MT"/>
                <a:cs typeface="Arial MT"/>
              </a:rPr>
              <a:t>12</a:t>
            </a:r>
            <a:r>
              <a:rPr sz="2100" spc="-15" baseline="-23809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2400" i="1" spc="-25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119505">
              <a:spcBef>
                <a:spcPts val="340"/>
              </a:spcBef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(1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spc="-20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400" spc="-2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400" spc="-2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baseline="27777" dirty="0">
                <a:solidFill>
                  <a:srgbClr val="002454"/>
                </a:solidFill>
                <a:latin typeface="Arial MT"/>
                <a:cs typeface="Arial MT"/>
              </a:rPr>
              <a:t>3</a:t>
            </a:r>
            <a:r>
              <a:rPr sz="2100" spc="-7" baseline="2777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baseline="-23809" dirty="0">
                <a:solidFill>
                  <a:srgbClr val="002454"/>
                </a:solidFill>
                <a:latin typeface="Arial MT"/>
                <a:cs typeface="Arial MT"/>
              </a:rPr>
              <a:t>0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+</a:t>
            </a:r>
            <a:r>
              <a:rPr sz="24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3</a:t>
            </a:r>
            <a:r>
              <a:rPr sz="24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400" i="1" spc="-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(1</a:t>
            </a:r>
            <a:r>
              <a:rPr sz="24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24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100" baseline="27777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r>
              <a:rPr sz="2100" spc="-15" baseline="2777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baseline="-23809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100" spc="-7" baseline="-23809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+</a:t>
            </a:r>
            <a:r>
              <a:rPr sz="24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3</a:t>
            </a:r>
            <a:r>
              <a:rPr sz="24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100" i="1" baseline="27777" dirty="0">
                <a:solidFill>
                  <a:srgbClr val="002454"/>
                </a:solidFill>
                <a:latin typeface="Arial"/>
                <a:cs typeface="Arial"/>
              </a:rPr>
              <a:t>2</a:t>
            </a:r>
            <a:r>
              <a:rPr sz="2100" i="1" spc="397" baseline="27777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(1</a:t>
            </a:r>
            <a:r>
              <a:rPr sz="24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24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spc="-10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400" spc="-2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baseline="-23809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r>
              <a:rPr sz="2100" spc="-15" baseline="-23809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+</a:t>
            </a:r>
            <a:r>
              <a:rPr sz="24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100" i="1" baseline="27777" dirty="0">
                <a:solidFill>
                  <a:srgbClr val="002454"/>
                </a:solidFill>
                <a:latin typeface="Arial"/>
                <a:cs typeface="Arial"/>
              </a:rPr>
              <a:t>3</a:t>
            </a:r>
            <a:r>
              <a:rPr sz="2100" i="1" spc="405" baseline="27777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b="1" spc="-35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spc="-52" baseline="-23809" dirty="0">
                <a:solidFill>
                  <a:srgbClr val="002454"/>
                </a:solidFill>
                <a:latin typeface="Arial MT"/>
                <a:cs typeface="Arial MT"/>
              </a:rPr>
              <a:t>3</a:t>
            </a:r>
            <a:endParaRPr sz="2100" baseline="-23809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1375">
              <a:spcBef>
                <a:spcPts val="100"/>
              </a:spcBef>
            </a:pPr>
            <a:r>
              <a:rPr dirty="0"/>
              <a:t>Algoritmo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Casteljau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82624" y="2528344"/>
            <a:ext cx="4600575" cy="2972435"/>
            <a:chOff x="958623" y="2528343"/>
            <a:chExt cx="4600575" cy="2972435"/>
          </a:xfrm>
        </p:grpSpPr>
        <p:sp>
          <p:nvSpPr>
            <p:cNvPr id="4" name="object 4"/>
            <p:cNvSpPr/>
            <p:nvPr/>
          </p:nvSpPr>
          <p:spPr>
            <a:xfrm>
              <a:off x="1049019" y="2590800"/>
              <a:ext cx="4419600" cy="2819400"/>
            </a:xfrm>
            <a:custGeom>
              <a:avLst/>
              <a:gdLst/>
              <a:ahLst/>
              <a:cxnLst/>
              <a:rect l="l" t="t" r="r" b="b"/>
              <a:pathLst>
                <a:path w="4419600" h="2819400">
                  <a:moveTo>
                    <a:pt x="0" y="2743200"/>
                  </a:moveTo>
                  <a:lnTo>
                    <a:pt x="1981200" y="0"/>
                  </a:lnTo>
                </a:path>
                <a:path w="4419600" h="2819400">
                  <a:moveTo>
                    <a:pt x="1981200" y="0"/>
                  </a:moveTo>
                  <a:lnTo>
                    <a:pt x="4419600" y="2819400"/>
                  </a:lnTo>
                </a:path>
              </a:pathLst>
            </a:custGeom>
            <a:ln w="283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623" y="5319803"/>
              <a:ext cx="104593" cy="10459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86813" y="2528343"/>
              <a:ext cx="104593" cy="1045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54423" y="5396003"/>
              <a:ext cx="104593" cy="10459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885950" y="5312409"/>
            <a:ext cx="3060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0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0239" y="2091690"/>
            <a:ext cx="304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1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41821" y="5749290"/>
            <a:ext cx="180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spc="-50" dirty="0">
                <a:latin typeface="Palatino Linotype"/>
                <a:cs typeface="Palatino Linotype"/>
              </a:rPr>
              <a:t>p</a:t>
            </a:r>
            <a:endParaRPr sz="2000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96759" y="5919470"/>
            <a:ext cx="99060" cy="19107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150" b="1" spc="-50" dirty="0">
                <a:latin typeface="Palatino Linotype"/>
                <a:cs typeface="Palatino Linotype"/>
              </a:rPr>
              <a:t>2</a:t>
            </a:r>
            <a:endParaRPr sz="1150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39589" y="3463290"/>
            <a:ext cx="6934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10" dirty="0">
                <a:latin typeface="Palatino Linotype"/>
                <a:cs typeface="Palatino Linotype"/>
              </a:rPr>
              <a:t>p</a:t>
            </a:r>
            <a:r>
              <a:rPr sz="1725" spc="-15" baseline="-24154" dirty="0">
                <a:latin typeface="Cambria"/>
                <a:cs typeface="Cambria"/>
              </a:rPr>
              <a:t>02</a:t>
            </a:r>
            <a:r>
              <a:rPr sz="2000" spc="-10" dirty="0">
                <a:latin typeface="Cambria"/>
                <a:cs typeface="Cambria"/>
              </a:rPr>
              <a:t>(</a:t>
            </a:r>
            <a:r>
              <a:rPr sz="2000" i="1" spc="-10" dirty="0">
                <a:latin typeface="Cambria"/>
                <a:cs typeface="Cambria"/>
              </a:rPr>
              <a:t>u</a:t>
            </a:r>
            <a:r>
              <a:rPr sz="2000" spc="-10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562860" y="3910104"/>
            <a:ext cx="4462780" cy="1560195"/>
            <a:chOff x="1038860" y="3910103"/>
            <a:chExt cx="4462780" cy="156019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03323" y="3910103"/>
              <a:ext cx="104593" cy="10459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08223" y="4240303"/>
              <a:ext cx="104593" cy="10459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038860" y="3952239"/>
              <a:ext cx="4462780" cy="1517650"/>
            </a:xfrm>
            <a:custGeom>
              <a:avLst/>
              <a:gdLst/>
              <a:ahLst/>
              <a:cxnLst/>
              <a:rect l="l" t="t" r="r" b="b"/>
              <a:pathLst>
                <a:path w="4462780" h="1517650">
                  <a:moveTo>
                    <a:pt x="4462780" y="1497330"/>
                  </a:moveTo>
                  <a:lnTo>
                    <a:pt x="3845560" y="922020"/>
                  </a:lnTo>
                  <a:lnTo>
                    <a:pt x="3844290" y="922020"/>
                  </a:lnTo>
                  <a:lnTo>
                    <a:pt x="3470910" y="591820"/>
                  </a:lnTo>
                  <a:lnTo>
                    <a:pt x="3293110" y="450850"/>
                  </a:lnTo>
                  <a:lnTo>
                    <a:pt x="3291840" y="450850"/>
                  </a:lnTo>
                  <a:lnTo>
                    <a:pt x="3130550" y="339090"/>
                  </a:lnTo>
                  <a:lnTo>
                    <a:pt x="3129280" y="339090"/>
                  </a:lnTo>
                  <a:lnTo>
                    <a:pt x="2979420" y="252730"/>
                  </a:lnTo>
                  <a:lnTo>
                    <a:pt x="2978150" y="252730"/>
                  </a:lnTo>
                  <a:lnTo>
                    <a:pt x="2834640" y="180340"/>
                  </a:lnTo>
                  <a:lnTo>
                    <a:pt x="2833370" y="180340"/>
                  </a:lnTo>
                  <a:lnTo>
                    <a:pt x="2692400" y="121920"/>
                  </a:lnTo>
                  <a:lnTo>
                    <a:pt x="2691130" y="121920"/>
                  </a:lnTo>
                  <a:lnTo>
                    <a:pt x="2552700" y="74930"/>
                  </a:lnTo>
                  <a:lnTo>
                    <a:pt x="2416810" y="40640"/>
                  </a:lnTo>
                  <a:lnTo>
                    <a:pt x="2415540" y="40640"/>
                  </a:lnTo>
                  <a:lnTo>
                    <a:pt x="2283460" y="17780"/>
                  </a:lnTo>
                  <a:lnTo>
                    <a:pt x="2280894" y="31877"/>
                  </a:lnTo>
                  <a:lnTo>
                    <a:pt x="2280920" y="31623"/>
                  </a:lnTo>
                  <a:lnTo>
                    <a:pt x="2283460" y="17780"/>
                  </a:lnTo>
                  <a:lnTo>
                    <a:pt x="2282190" y="17780"/>
                  </a:lnTo>
                  <a:lnTo>
                    <a:pt x="2150110" y="3810"/>
                  </a:lnTo>
                  <a:lnTo>
                    <a:pt x="2019300" y="0"/>
                  </a:lnTo>
                  <a:lnTo>
                    <a:pt x="2018030" y="0"/>
                  </a:lnTo>
                  <a:lnTo>
                    <a:pt x="1889760" y="6350"/>
                  </a:lnTo>
                  <a:lnTo>
                    <a:pt x="1888490" y="6350"/>
                  </a:lnTo>
                  <a:lnTo>
                    <a:pt x="1764030" y="24130"/>
                  </a:lnTo>
                  <a:lnTo>
                    <a:pt x="1762760" y="24130"/>
                  </a:lnTo>
                  <a:lnTo>
                    <a:pt x="1640840" y="52070"/>
                  </a:lnTo>
                  <a:lnTo>
                    <a:pt x="1639570" y="52070"/>
                  </a:lnTo>
                  <a:lnTo>
                    <a:pt x="1518920" y="91440"/>
                  </a:lnTo>
                  <a:lnTo>
                    <a:pt x="1517650" y="91440"/>
                  </a:lnTo>
                  <a:lnTo>
                    <a:pt x="1398270" y="140970"/>
                  </a:lnTo>
                  <a:lnTo>
                    <a:pt x="1397000" y="140970"/>
                  </a:lnTo>
                  <a:lnTo>
                    <a:pt x="1277620" y="200660"/>
                  </a:lnTo>
                  <a:lnTo>
                    <a:pt x="1276350" y="201930"/>
                  </a:lnTo>
                  <a:lnTo>
                    <a:pt x="1154430" y="271780"/>
                  </a:lnTo>
                  <a:lnTo>
                    <a:pt x="1029970" y="351790"/>
                  </a:lnTo>
                  <a:lnTo>
                    <a:pt x="963930" y="400050"/>
                  </a:lnTo>
                  <a:lnTo>
                    <a:pt x="895350" y="454660"/>
                  </a:lnTo>
                  <a:lnTo>
                    <a:pt x="894080" y="454660"/>
                  </a:lnTo>
                  <a:lnTo>
                    <a:pt x="750570" y="584200"/>
                  </a:lnTo>
                  <a:lnTo>
                    <a:pt x="760095" y="594995"/>
                  </a:lnTo>
                  <a:lnTo>
                    <a:pt x="759460" y="594360"/>
                  </a:lnTo>
                  <a:lnTo>
                    <a:pt x="750570" y="584200"/>
                  </a:lnTo>
                  <a:lnTo>
                    <a:pt x="749300" y="585470"/>
                  </a:lnTo>
                  <a:lnTo>
                    <a:pt x="452120" y="883920"/>
                  </a:lnTo>
                  <a:lnTo>
                    <a:pt x="452120" y="885190"/>
                  </a:lnTo>
                  <a:lnTo>
                    <a:pt x="462280" y="894080"/>
                  </a:lnTo>
                  <a:lnTo>
                    <a:pt x="462915" y="894715"/>
                  </a:lnTo>
                  <a:lnTo>
                    <a:pt x="452120" y="885190"/>
                  </a:lnTo>
                  <a:lnTo>
                    <a:pt x="0" y="1371600"/>
                  </a:lnTo>
                  <a:lnTo>
                    <a:pt x="10160" y="1381760"/>
                  </a:lnTo>
                  <a:lnTo>
                    <a:pt x="21590" y="1391920"/>
                  </a:lnTo>
                  <a:lnTo>
                    <a:pt x="473710" y="904240"/>
                  </a:lnTo>
                  <a:lnTo>
                    <a:pt x="473024" y="903643"/>
                  </a:lnTo>
                  <a:lnTo>
                    <a:pt x="769023" y="605129"/>
                  </a:lnTo>
                  <a:lnTo>
                    <a:pt x="769620" y="605790"/>
                  </a:lnTo>
                  <a:lnTo>
                    <a:pt x="914400" y="476250"/>
                  </a:lnTo>
                  <a:lnTo>
                    <a:pt x="913828" y="475691"/>
                  </a:lnTo>
                  <a:lnTo>
                    <a:pt x="981087" y="422135"/>
                  </a:lnTo>
                  <a:lnTo>
                    <a:pt x="981710" y="422910"/>
                  </a:lnTo>
                  <a:lnTo>
                    <a:pt x="1046480" y="375920"/>
                  </a:lnTo>
                  <a:lnTo>
                    <a:pt x="1046073" y="375361"/>
                  </a:lnTo>
                  <a:lnTo>
                    <a:pt x="1169670" y="295910"/>
                  </a:lnTo>
                  <a:lnTo>
                    <a:pt x="1169314" y="295389"/>
                  </a:lnTo>
                  <a:lnTo>
                    <a:pt x="1290320" y="226060"/>
                  </a:lnTo>
                  <a:lnTo>
                    <a:pt x="1290027" y="225577"/>
                  </a:lnTo>
                  <a:lnTo>
                    <a:pt x="1408226" y="167106"/>
                  </a:lnTo>
                  <a:lnTo>
                    <a:pt x="1408430" y="167640"/>
                  </a:lnTo>
                  <a:lnTo>
                    <a:pt x="1529080" y="118110"/>
                  </a:lnTo>
                  <a:lnTo>
                    <a:pt x="1528914" y="117767"/>
                  </a:lnTo>
                  <a:lnTo>
                    <a:pt x="1648460" y="80010"/>
                  </a:lnTo>
                  <a:lnTo>
                    <a:pt x="1648358" y="79743"/>
                  </a:lnTo>
                  <a:lnTo>
                    <a:pt x="1769110" y="52070"/>
                  </a:lnTo>
                  <a:lnTo>
                    <a:pt x="1769059" y="51904"/>
                  </a:lnTo>
                  <a:lnTo>
                    <a:pt x="1892300" y="34290"/>
                  </a:lnTo>
                  <a:lnTo>
                    <a:pt x="2018753" y="29235"/>
                  </a:lnTo>
                  <a:lnTo>
                    <a:pt x="2147570" y="32994"/>
                  </a:lnTo>
                  <a:lnTo>
                    <a:pt x="2278392" y="45605"/>
                  </a:lnTo>
                  <a:lnTo>
                    <a:pt x="2410510" y="68376"/>
                  </a:lnTo>
                  <a:lnTo>
                    <a:pt x="2410460" y="68580"/>
                  </a:lnTo>
                  <a:lnTo>
                    <a:pt x="2543911" y="102577"/>
                  </a:lnTo>
                  <a:lnTo>
                    <a:pt x="2543810" y="102870"/>
                  </a:lnTo>
                  <a:lnTo>
                    <a:pt x="2682240" y="148590"/>
                  </a:lnTo>
                  <a:lnTo>
                    <a:pt x="2682468" y="147967"/>
                  </a:lnTo>
                  <a:lnTo>
                    <a:pt x="2821940" y="207010"/>
                  </a:lnTo>
                  <a:lnTo>
                    <a:pt x="2822321" y="205943"/>
                  </a:lnTo>
                  <a:lnTo>
                    <a:pt x="2966720" y="278130"/>
                  </a:lnTo>
                  <a:lnTo>
                    <a:pt x="2966923" y="277723"/>
                  </a:lnTo>
                  <a:lnTo>
                    <a:pt x="3114383" y="362699"/>
                  </a:lnTo>
                  <a:lnTo>
                    <a:pt x="3114040" y="363220"/>
                  </a:lnTo>
                  <a:lnTo>
                    <a:pt x="3275761" y="473151"/>
                  </a:lnTo>
                  <a:lnTo>
                    <a:pt x="3275330" y="473710"/>
                  </a:lnTo>
                  <a:lnTo>
                    <a:pt x="3453130" y="614680"/>
                  </a:lnTo>
                  <a:lnTo>
                    <a:pt x="3453714" y="613930"/>
                  </a:lnTo>
                  <a:lnTo>
                    <a:pt x="3826510" y="943610"/>
                  </a:lnTo>
                  <a:lnTo>
                    <a:pt x="4442460" y="1517650"/>
                  </a:lnTo>
                  <a:lnTo>
                    <a:pt x="4462780" y="149733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625590" y="4149090"/>
            <a:ext cx="6934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10" dirty="0">
                <a:latin typeface="Palatino Linotype"/>
                <a:cs typeface="Palatino Linotype"/>
              </a:rPr>
              <a:t>p</a:t>
            </a:r>
            <a:r>
              <a:rPr sz="1725" spc="-15" baseline="-24154" dirty="0">
                <a:latin typeface="Cambria"/>
                <a:cs typeface="Cambria"/>
              </a:rPr>
              <a:t>12</a:t>
            </a:r>
            <a:r>
              <a:rPr sz="2000" spc="-10" dirty="0">
                <a:latin typeface="Cambria"/>
                <a:cs typeface="Cambria"/>
              </a:rPr>
              <a:t>(</a:t>
            </a:r>
            <a:r>
              <a:rPr sz="2000" i="1" spc="-10" dirty="0">
                <a:latin typeface="Cambria"/>
                <a:cs typeface="Cambria"/>
              </a:rPr>
              <a:t>u</a:t>
            </a:r>
            <a:r>
              <a:rPr sz="2000" spc="-10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549424" y="2528344"/>
            <a:ext cx="6002655" cy="2972435"/>
            <a:chOff x="2025423" y="2528343"/>
            <a:chExt cx="6002655" cy="2972435"/>
          </a:xfrm>
        </p:grpSpPr>
        <p:sp>
          <p:nvSpPr>
            <p:cNvPr id="19" name="object 19"/>
            <p:cNvSpPr/>
            <p:nvPr/>
          </p:nvSpPr>
          <p:spPr>
            <a:xfrm>
              <a:off x="5499100" y="2618740"/>
              <a:ext cx="2438400" cy="2820670"/>
            </a:xfrm>
            <a:custGeom>
              <a:avLst/>
              <a:gdLst/>
              <a:ahLst/>
              <a:cxnLst/>
              <a:rect l="l" t="t" r="r" b="b"/>
              <a:pathLst>
                <a:path w="2438400" h="2820670">
                  <a:moveTo>
                    <a:pt x="0" y="2820670"/>
                  </a:moveTo>
                  <a:lnTo>
                    <a:pt x="2438400" y="0"/>
                  </a:lnTo>
                </a:path>
              </a:pathLst>
            </a:custGeom>
            <a:ln w="283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56963" y="5396003"/>
              <a:ext cx="104593" cy="10459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23303" y="2528343"/>
              <a:ext cx="104593" cy="10459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52803" y="4100603"/>
              <a:ext cx="104593" cy="10459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082799" y="3733800"/>
              <a:ext cx="2184400" cy="586740"/>
            </a:xfrm>
            <a:custGeom>
              <a:avLst/>
              <a:gdLst/>
              <a:ahLst/>
              <a:cxnLst/>
              <a:rect l="l" t="t" r="r" b="b"/>
              <a:pathLst>
                <a:path w="2184400" h="586739">
                  <a:moveTo>
                    <a:pt x="0" y="586739"/>
                  </a:moveTo>
                  <a:lnTo>
                    <a:pt x="2184400" y="0"/>
                  </a:lnTo>
                </a:path>
              </a:pathLst>
            </a:custGeom>
            <a:ln w="2839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25423" y="4253003"/>
              <a:ext cx="104593" cy="10459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00933" y="3671343"/>
              <a:ext cx="110943" cy="10459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65193" y="4015513"/>
              <a:ext cx="110943" cy="10459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67883" y="3684043"/>
              <a:ext cx="112213" cy="10459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126740" y="2559049"/>
              <a:ext cx="4855210" cy="1517650"/>
            </a:xfrm>
            <a:custGeom>
              <a:avLst/>
              <a:gdLst/>
              <a:ahLst/>
              <a:cxnLst/>
              <a:rect l="l" t="t" r="r" b="b"/>
              <a:pathLst>
                <a:path w="4855209" h="1517650">
                  <a:moveTo>
                    <a:pt x="4183380" y="596900"/>
                  </a:moveTo>
                  <a:lnTo>
                    <a:pt x="4173220" y="585470"/>
                  </a:lnTo>
                  <a:lnTo>
                    <a:pt x="4164330" y="575310"/>
                  </a:lnTo>
                  <a:lnTo>
                    <a:pt x="3759301" y="903135"/>
                  </a:lnTo>
                  <a:lnTo>
                    <a:pt x="3759200" y="902970"/>
                  </a:lnTo>
                  <a:lnTo>
                    <a:pt x="3564890" y="1043940"/>
                  </a:lnTo>
                  <a:lnTo>
                    <a:pt x="3565296" y="1044486"/>
                  </a:lnTo>
                  <a:lnTo>
                    <a:pt x="3391065" y="1154785"/>
                  </a:lnTo>
                  <a:lnTo>
                    <a:pt x="3390900" y="1154430"/>
                  </a:lnTo>
                  <a:lnTo>
                    <a:pt x="3228797" y="1240548"/>
                  </a:lnTo>
                  <a:lnTo>
                    <a:pt x="3228340" y="1239520"/>
                  </a:lnTo>
                  <a:lnTo>
                    <a:pt x="3070860" y="1311910"/>
                  </a:lnTo>
                  <a:lnTo>
                    <a:pt x="3071050" y="1312316"/>
                  </a:lnTo>
                  <a:lnTo>
                    <a:pt x="2919920" y="1369783"/>
                  </a:lnTo>
                  <a:lnTo>
                    <a:pt x="2919730" y="1369060"/>
                  </a:lnTo>
                  <a:lnTo>
                    <a:pt x="2770060" y="1415592"/>
                  </a:lnTo>
                  <a:lnTo>
                    <a:pt x="2769870" y="1414780"/>
                  </a:lnTo>
                  <a:lnTo>
                    <a:pt x="2622550" y="1449070"/>
                  </a:lnTo>
                  <a:lnTo>
                    <a:pt x="2622600" y="1449273"/>
                  </a:lnTo>
                  <a:lnTo>
                    <a:pt x="2479040" y="1473200"/>
                  </a:lnTo>
                  <a:lnTo>
                    <a:pt x="2336800" y="1485900"/>
                  </a:lnTo>
                  <a:lnTo>
                    <a:pt x="2196617" y="1489697"/>
                  </a:lnTo>
                  <a:lnTo>
                    <a:pt x="2057400" y="1483360"/>
                  </a:lnTo>
                  <a:lnTo>
                    <a:pt x="1922780" y="1465580"/>
                  </a:lnTo>
                  <a:lnTo>
                    <a:pt x="1922602" y="1466557"/>
                  </a:lnTo>
                  <a:lnTo>
                    <a:pt x="1791893" y="1439164"/>
                  </a:lnTo>
                  <a:lnTo>
                    <a:pt x="1791970" y="1438910"/>
                  </a:lnTo>
                  <a:lnTo>
                    <a:pt x="1661160" y="1399540"/>
                  </a:lnTo>
                  <a:lnTo>
                    <a:pt x="1660753" y="1400657"/>
                  </a:lnTo>
                  <a:lnTo>
                    <a:pt x="1531620" y="1351280"/>
                  </a:lnTo>
                  <a:lnTo>
                    <a:pt x="1401838" y="1292072"/>
                  </a:lnTo>
                  <a:lnTo>
                    <a:pt x="1402080" y="1291590"/>
                  </a:lnTo>
                  <a:lnTo>
                    <a:pt x="1270000" y="1221740"/>
                  </a:lnTo>
                  <a:lnTo>
                    <a:pt x="1135380" y="1141730"/>
                  </a:lnTo>
                  <a:lnTo>
                    <a:pt x="1135214" y="1141996"/>
                  </a:lnTo>
                  <a:lnTo>
                    <a:pt x="990600" y="1040130"/>
                  </a:lnTo>
                  <a:lnTo>
                    <a:pt x="990498" y="1040282"/>
                  </a:lnTo>
                  <a:lnTo>
                    <a:pt x="834390" y="911860"/>
                  </a:lnTo>
                  <a:lnTo>
                    <a:pt x="511810" y="613410"/>
                  </a:lnTo>
                  <a:lnTo>
                    <a:pt x="20320" y="125730"/>
                  </a:lnTo>
                  <a:lnTo>
                    <a:pt x="0" y="146050"/>
                  </a:lnTo>
                  <a:lnTo>
                    <a:pt x="491490" y="633730"/>
                  </a:lnTo>
                  <a:lnTo>
                    <a:pt x="492760" y="633730"/>
                  </a:lnTo>
                  <a:lnTo>
                    <a:pt x="816610" y="933450"/>
                  </a:lnTo>
                  <a:lnTo>
                    <a:pt x="816610" y="934720"/>
                  </a:lnTo>
                  <a:lnTo>
                    <a:pt x="974090" y="1062990"/>
                  </a:lnTo>
                  <a:lnTo>
                    <a:pt x="975360" y="1064260"/>
                  </a:lnTo>
                  <a:lnTo>
                    <a:pt x="1118870" y="1165860"/>
                  </a:lnTo>
                  <a:lnTo>
                    <a:pt x="1120140" y="1167130"/>
                  </a:lnTo>
                  <a:lnTo>
                    <a:pt x="1256030" y="1247140"/>
                  </a:lnTo>
                  <a:lnTo>
                    <a:pt x="1388110" y="1316990"/>
                  </a:lnTo>
                  <a:lnTo>
                    <a:pt x="1389380" y="1316990"/>
                  </a:lnTo>
                  <a:lnTo>
                    <a:pt x="1520190" y="1376680"/>
                  </a:lnTo>
                  <a:lnTo>
                    <a:pt x="1521460" y="1377950"/>
                  </a:lnTo>
                  <a:lnTo>
                    <a:pt x="1651000" y="1427480"/>
                  </a:lnTo>
                  <a:lnTo>
                    <a:pt x="1652270" y="1427480"/>
                  </a:lnTo>
                  <a:lnTo>
                    <a:pt x="1783080" y="1465580"/>
                  </a:lnTo>
                  <a:lnTo>
                    <a:pt x="1784350" y="1465580"/>
                  </a:lnTo>
                  <a:lnTo>
                    <a:pt x="1917700" y="1494790"/>
                  </a:lnTo>
                  <a:lnTo>
                    <a:pt x="1918970" y="1494790"/>
                  </a:lnTo>
                  <a:lnTo>
                    <a:pt x="2054860" y="1511300"/>
                  </a:lnTo>
                  <a:lnTo>
                    <a:pt x="2056130" y="1511300"/>
                  </a:lnTo>
                  <a:lnTo>
                    <a:pt x="2194560" y="1517650"/>
                  </a:lnTo>
                  <a:lnTo>
                    <a:pt x="2195830" y="1517650"/>
                  </a:lnTo>
                  <a:lnTo>
                    <a:pt x="2338070" y="1513840"/>
                  </a:lnTo>
                  <a:lnTo>
                    <a:pt x="2339340" y="1513840"/>
                  </a:lnTo>
                  <a:lnTo>
                    <a:pt x="2482850" y="1501140"/>
                  </a:lnTo>
                  <a:lnTo>
                    <a:pt x="2484120" y="1501140"/>
                  </a:lnTo>
                  <a:lnTo>
                    <a:pt x="2627630" y="1477010"/>
                  </a:lnTo>
                  <a:lnTo>
                    <a:pt x="2628900" y="1477010"/>
                  </a:lnTo>
                  <a:lnTo>
                    <a:pt x="2776220" y="1442720"/>
                  </a:lnTo>
                  <a:lnTo>
                    <a:pt x="2777490" y="1442720"/>
                  </a:lnTo>
                  <a:lnTo>
                    <a:pt x="2927350" y="1397000"/>
                  </a:lnTo>
                  <a:lnTo>
                    <a:pt x="2928620" y="1397000"/>
                  </a:lnTo>
                  <a:lnTo>
                    <a:pt x="3082290" y="1338580"/>
                  </a:lnTo>
                  <a:lnTo>
                    <a:pt x="3239770" y="1266190"/>
                  </a:lnTo>
                  <a:lnTo>
                    <a:pt x="3241040" y="1266190"/>
                  </a:lnTo>
                  <a:lnTo>
                    <a:pt x="3403600" y="1179830"/>
                  </a:lnTo>
                  <a:lnTo>
                    <a:pt x="3404857" y="1178560"/>
                  </a:lnTo>
                  <a:lnTo>
                    <a:pt x="3581400" y="1068070"/>
                  </a:lnTo>
                  <a:lnTo>
                    <a:pt x="3581400" y="1066800"/>
                  </a:lnTo>
                  <a:lnTo>
                    <a:pt x="3775710" y="927100"/>
                  </a:lnTo>
                  <a:lnTo>
                    <a:pt x="3775710" y="925830"/>
                  </a:lnTo>
                  <a:lnTo>
                    <a:pt x="4182110" y="596900"/>
                  </a:lnTo>
                  <a:lnTo>
                    <a:pt x="4183380" y="596900"/>
                  </a:lnTo>
                  <a:close/>
                </a:path>
                <a:path w="4855209" h="1517650">
                  <a:moveTo>
                    <a:pt x="4855210" y="21590"/>
                  </a:moveTo>
                  <a:lnTo>
                    <a:pt x="4836160" y="0"/>
                  </a:lnTo>
                  <a:lnTo>
                    <a:pt x="4164330" y="575310"/>
                  </a:lnTo>
                  <a:lnTo>
                    <a:pt x="4183380" y="596900"/>
                  </a:lnTo>
                  <a:lnTo>
                    <a:pt x="4855210" y="2159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505950" y="2015490"/>
            <a:ext cx="304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3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48201" y="5596890"/>
            <a:ext cx="89661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dirty="0">
                <a:latin typeface="Cambria"/>
                <a:cs typeface="Cambria"/>
              </a:rPr>
              <a:t>u</a:t>
            </a:r>
            <a:r>
              <a:rPr sz="2000" i="1" spc="9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=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-45" dirty="0">
                <a:latin typeface="Cambria"/>
                <a:cs typeface="Cambria"/>
              </a:rPr>
              <a:t>0.25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191000" y="4288790"/>
            <a:ext cx="379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7" baseline="13888" dirty="0">
                <a:latin typeface="Palatino Linotype"/>
                <a:cs typeface="Palatino Linotype"/>
              </a:rPr>
              <a:t>p</a:t>
            </a:r>
            <a:r>
              <a:rPr sz="1150" b="1" spc="-25" dirty="0">
                <a:latin typeface="Palatino Linotype"/>
                <a:cs typeface="Palatino Linotype"/>
              </a:rPr>
              <a:t>03</a:t>
            </a:r>
            <a:endParaRPr sz="11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1375">
              <a:spcBef>
                <a:spcPts val="100"/>
              </a:spcBef>
            </a:pPr>
            <a:r>
              <a:rPr dirty="0"/>
              <a:t>Algoritmo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Casteljau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82624" y="2528344"/>
            <a:ext cx="7069455" cy="2972435"/>
            <a:chOff x="958623" y="2528343"/>
            <a:chExt cx="7069455" cy="2972435"/>
          </a:xfrm>
        </p:grpSpPr>
        <p:sp>
          <p:nvSpPr>
            <p:cNvPr id="4" name="object 4"/>
            <p:cNvSpPr/>
            <p:nvPr/>
          </p:nvSpPr>
          <p:spPr>
            <a:xfrm>
              <a:off x="1049019" y="2590800"/>
              <a:ext cx="4419600" cy="2819400"/>
            </a:xfrm>
            <a:custGeom>
              <a:avLst/>
              <a:gdLst/>
              <a:ahLst/>
              <a:cxnLst/>
              <a:rect l="l" t="t" r="r" b="b"/>
              <a:pathLst>
                <a:path w="4419600" h="2819400">
                  <a:moveTo>
                    <a:pt x="0" y="2743200"/>
                  </a:moveTo>
                  <a:lnTo>
                    <a:pt x="1981200" y="0"/>
                  </a:lnTo>
                </a:path>
                <a:path w="4419600" h="2819400">
                  <a:moveTo>
                    <a:pt x="1981200" y="0"/>
                  </a:moveTo>
                  <a:lnTo>
                    <a:pt x="4419600" y="2819400"/>
                  </a:lnTo>
                </a:path>
              </a:pathLst>
            </a:custGeom>
            <a:ln w="283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623" y="5319803"/>
              <a:ext cx="104593" cy="10459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86813" y="2528343"/>
              <a:ext cx="104593" cy="1045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54423" y="5396003"/>
              <a:ext cx="104593" cy="10459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08223" y="4240303"/>
              <a:ext cx="104593" cy="10459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38860" y="3952239"/>
              <a:ext cx="4462780" cy="1517650"/>
            </a:xfrm>
            <a:custGeom>
              <a:avLst/>
              <a:gdLst/>
              <a:ahLst/>
              <a:cxnLst/>
              <a:rect l="l" t="t" r="r" b="b"/>
              <a:pathLst>
                <a:path w="4462780" h="1517650">
                  <a:moveTo>
                    <a:pt x="4462780" y="1497330"/>
                  </a:moveTo>
                  <a:lnTo>
                    <a:pt x="3845560" y="922020"/>
                  </a:lnTo>
                  <a:lnTo>
                    <a:pt x="3844290" y="922020"/>
                  </a:lnTo>
                  <a:lnTo>
                    <a:pt x="3470910" y="591820"/>
                  </a:lnTo>
                  <a:lnTo>
                    <a:pt x="3293110" y="450850"/>
                  </a:lnTo>
                  <a:lnTo>
                    <a:pt x="3291840" y="450850"/>
                  </a:lnTo>
                  <a:lnTo>
                    <a:pt x="3130550" y="339090"/>
                  </a:lnTo>
                  <a:lnTo>
                    <a:pt x="3129280" y="339090"/>
                  </a:lnTo>
                  <a:lnTo>
                    <a:pt x="2979420" y="252730"/>
                  </a:lnTo>
                  <a:lnTo>
                    <a:pt x="2978150" y="252730"/>
                  </a:lnTo>
                  <a:lnTo>
                    <a:pt x="2834640" y="180340"/>
                  </a:lnTo>
                  <a:lnTo>
                    <a:pt x="2833370" y="180340"/>
                  </a:lnTo>
                  <a:lnTo>
                    <a:pt x="2692400" y="121920"/>
                  </a:lnTo>
                  <a:lnTo>
                    <a:pt x="2691130" y="121920"/>
                  </a:lnTo>
                  <a:lnTo>
                    <a:pt x="2552700" y="74930"/>
                  </a:lnTo>
                  <a:lnTo>
                    <a:pt x="2416810" y="40640"/>
                  </a:lnTo>
                  <a:lnTo>
                    <a:pt x="2415540" y="40640"/>
                  </a:lnTo>
                  <a:lnTo>
                    <a:pt x="2283460" y="17780"/>
                  </a:lnTo>
                  <a:lnTo>
                    <a:pt x="2280894" y="31877"/>
                  </a:lnTo>
                  <a:lnTo>
                    <a:pt x="2280920" y="31623"/>
                  </a:lnTo>
                  <a:lnTo>
                    <a:pt x="2283460" y="17780"/>
                  </a:lnTo>
                  <a:lnTo>
                    <a:pt x="2282190" y="17780"/>
                  </a:lnTo>
                  <a:lnTo>
                    <a:pt x="2150110" y="3810"/>
                  </a:lnTo>
                  <a:lnTo>
                    <a:pt x="2019300" y="0"/>
                  </a:lnTo>
                  <a:lnTo>
                    <a:pt x="2018030" y="0"/>
                  </a:lnTo>
                  <a:lnTo>
                    <a:pt x="1889760" y="6350"/>
                  </a:lnTo>
                  <a:lnTo>
                    <a:pt x="1888490" y="6350"/>
                  </a:lnTo>
                  <a:lnTo>
                    <a:pt x="1764030" y="24130"/>
                  </a:lnTo>
                  <a:lnTo>
                    <a:pt x="1762760" y="24130"/>
                  </a:lnTo>
                  <a:lnTo>
                    <a:pt x="1640840" y="52070"/>
                  </a:lnTo>
                  <a:lnTo>
                    <a:pt x="1639570" y="52070"/>
                  </a:lnTo>
                  <a:lnTo>
                    <a:pt x="1518920" y="91440"/>
                  </a:lnTo>
                  <a:lnTo>
                    <a:pt x="1517650" y="91440"/>
                  </a:lnTo>
                  <a:lnTo>
                    <a:pt x="1398270" y="140970"/>
                  </a:lnTo>
                  <a:lnTo>
                    <a:pt x="1397000" y="140970"/>
                  </a:lnTo>
                  <a:lnTo>
                    <a:pt x="1277620" y="200660"/>
                  </a:lnTo>
                  <a:lnTo>
                    <a:pt x="1276350" y="201930"/>
                  </a:lnTo>
                  <a:lnTo>
                    <a:pt x="1154430" y="271780"/>
                  </a:lnTo>
                  <a:lnTo>
                    <a:pt x="1029970" y="351790"/>
                  </a:lnTo>
                  <a:lnTo>
                    <a:pt x="963930" y="400050"/>
                  </a:lnTo>
                  <a:lnTo>
                    <a:pt x="895350" y="454660"/>
                  </a:lnTo>
                  <a:lnTo>
                    <a:pt x="894080" y="454660"/>
                  </a:lnTo>
                  <a:lnTo>
                    <a:pt x="750570" y="584200"/>
                  </a:lnTo>
                  <a:lnTo>
                    <a:pt x="760095" y="594995"/>
                  </a:lnTo>
                  <a:lnTo>
                    <a:pt x="759460" y="594360"/>
                  </a:lnTo>
                  <a:lnTo>
                    <a:pt x="750570" y="584200"/>
                  </a:lnTo>
                  <a:lnTo>
                    <a:pt x="749300" y="585470"/>
                  </a:lnTo>
                  <a:lnTo>
                    <a:pt x="452120" y="883920"/>
                  </a:lnTo>
                  <a:lnTo>
                    <a:pt x="452120" y="885190"/>
                  </a:lnTo>
                  <a:lnTo>
                    <a:pt x="462280" y="894080"/>
                  </a:lnTo>
                  <a:lnTo>
                    <a:pt x="462915" y="894715"/>
                  </a:lnTo>
                  <a:lnTo>
                    <a:pt x="452120" y="885190"/>
                  </a:lnTo>
                  <a:lnTo>
                    <a:pt x="0" y="1371600"/>
                  </a:lnTo>
                  <a:lnTo>
                    <a:pt x="10160" y="1381760"/>
                  </a:lnTo>
                  <a:lnTo>
                    <a:pt x="21590" y="1391920"/>
                  </a:lnTo>
                  <a:lnTo>
                    <a:pt x="473710" y="904240"/>
                  </a:lnTo>
                  <a:lnTo>
                    <a:pt x="473024" y="903643"/>
                  </a:lnTo>
                  <a:lnTo>
                    <a:pt x="769023" y="605129"/>
                  </a:lnTo>
                  <a:lnTo>
                    <a:pt x="769620" y="605790"/>
                  </a:lnTo>
                  <a:lnTo>
                    <a:pt x="914400" y="476250"/>
                  </a:lnTo>
                  <a:lnTo>
                    <a:pt x="913828" y="475691"/>
                  </a:lnTo>
                  <a:lnTo>
                    <a:pt x="981087" y="422135"/>
                  </a:lnTo>
                  <a:lnTo>
                    <a:pt x="981710" y="422910"/>
                  </a:lnTo>
                  <a:lnTo>
                    <a:pt x="1046480" y="375920"/>
                  </a:lnTo>
                  <a:lnTo>
                    <a:pt x="1046073" y="375361"/>
                  </a:lnTo>
                  <a:lnTo>
                    <a:pt x="1169670" y="295910"/>
                  </a:lnTo>
                  <a:lnTo>
                    <a:pt x="1169314" y="295389"/>
                  </a:lnTo>
                  <a:lnTo>
                    <a:pt x="1290320" y="226060"/>
                  </a:lnTo>
                  <a:lnTo>
                    <a:pt x="1290027" y="225577"/>
                  </a:lnTo>
                  <a:lnTo>
                    <a:pt x="1408226" y="167106"/>
                  </a:lnTo>
                  <a:lnTo>
                    <a:pt x="1408430" y="167640"/>
                  </a:lnTo>
                  <a:lnTo>
                    <a:pt x="1529080" y="118110"/>
                  </a:lnTo>
                  <a:lnTo>
                    <a:pt x="1528914" y="117767"/>
                  </a:lnTo>
                  <a:lnTo>
                    <a:pt x="1648460" y="80010"/>
                  </a:lnTo>
                  <a:lnTo>
                    <a:pt x="1648358" y="79743"/>
                  </a:lnTo>
                  <a:lnTo>
                    <a:pt x="1769110" y="52070"/>
                  </a:lnTo>
                  <a:lnTo>
                    <a:pt x="1769059" y="51904"/>
                  </a:lnTo>
                  <a:lnTo>
                    <a:pt x="1892300" y="34290"/>
                  </a:lnTo>
                  <a:lnTo>
                    <a:pt x="2018753" y="29235"/>
                  </a:lnTo>
                  <a:lnTo>
                    <a:pt x="2147570" y="32994"/>
                  </a:lnTo>
                  <a:lnTo>
                    <a:pt x="2278392" y="45605"/>
                  </a:lnTo>
                  <a:lnTo>
                    <a:pt x="2410510" y="68376"/>
                  </a:lnTo>
                  <a:lnTo>
                    <a:pt x="2410460" y="68580"/>
                  </a:lnTo>
                  <a:lnTo>
                    <a:pt x="2543911" y="102577"/>
                  </a:lnTo>
                  <a:lnTo>
                    <a:pt x="2543810" y="102870"/>
                  </a:lnTo>
                  <a:lnTo>
                    <a:pt x="2682240" y="148590"/>
                  </a:lnTo>
                  <a:lnTo>
                    <a:pt x="2682468" y="147967"/>
                  </a:lnTo>
                  <a:lnTo>
                    <a:pt x="2821940" y="207010"/>
                  </a:lnTo>
                  <a:lnTo>
                    <a:pt x="2822321" y="205943"/>
                  </a:lnTo>
                  <a:lnTo>
                    <a:pt x="2966720" y="278130"/>
                  </a:lnTo>
                  <a:lnTo>
                    <a:pt x="2966923" y="277723"/>
                  </a:lnTo>
                  <a:lnTo>
                    <a:pt x="3114383" y="362699"/>
                  </a:lnTo>
                  <a:lnTo>
                    <a:pt x="3114040" y="363220"/>
                  </a:lnTo>
                  <a:lnTo>
                    <a:pt x="3275761" y="473151"/>
                  </a:lnTo>
                  <a:lnTo>
                    <a:pt x="3275330" y="473710"/>
                  </a:lnTo>
                  <a:lnTo>
                    <a:pt x="3453130" y="614680"/>
                  </a:lnTo>
                  <a:lnTo>
                    <a:pt x="3453714" y="613930"/>
                  </a:lnTo>
                  <a:lnTo>
                    <a:pt x="3826510" y="943610"/>
                  </a:lnTo>
                  <a:lnTo>
                    <a:pt x="4442460" y="1517650"/>
                  </a:lnTo>
                  <a:lnTo>
                    <a:pt x="4462780" y="149733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99100" y="2618740"/>
              <a:ext cx="2438400" cy="2820670"/>
            </a:xfrm>
            <a:custGeom>
              <a:avLst/>
              <a:gdLst/>
              <a:ahLst/>
              <a:cxnLst/>
              <a:rect l="l" t="t" r="r" b="b"/>
              <a:pathLst>
                <a:path w="2438400" h="2820670">
                  <a:moveTo>
                    <a:pt x="0" y="2820670"/>
                  </a:moveTo>
                  <a:lnTo>
                    <a:pt x="2438400" y="0"/>
                  </a:lnTo>
                </a:path>
              </a:pathLst>
            </a:custGeom>
            <a:ln w="283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56963" y="5396003"/>
              <a:ext cx="104593" cy="10459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23303" y="2528343"/>
              <a:ext cx="104593" cy="10459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52803" y="4100603"/>
              <a:ext cx="104593" cy="10459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048000" y="3962400"/>
              <a:ext cx="2275840" cy="118110"/>
            </a:xfrm>
            <a:custGeom>
              <a:avLst/>
              <a:gdLst/>
              <a:ahLst/>
              <a:cxnLst/>
              <a:rect l="l" t="t" r="r" b="b"/>
              <a:pathLst>
                <a:path w="2275840" h="118110">
                  <a:moveTo>
                    <a:pt x="0" y="0"/>
                  </a:moveTo>
                  <a:lnTo>
                    <a:pt x="2275840" y="118110"/>
                  </a:lnTo>
                </a:path>
              </a:pathLst>
            </a:custGeom>
            <a:ln w="2839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25423" y="4253003"/>
              <a:ext cx="104593" cy="10459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00933" y="3671343"/>
              <a:ext cx="110943" cy="10459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65193" y="4015513"/>
              <a:ext cx="110943" cy="10459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67883" y="3684043"/>
              <a:ext cx="112213" cy="10459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126740" y="2559049"/>
              <a:ext cx="4855210" cy="1517650"/>
            </a:xfrm>
            <a:custGeom>
              <a:avLst/>
              <a:gdLst/>
              <a:ahLst/>
              <a:cxnLst/>
              <a:rect l="l" t="t" r="r" b="b"/>
              <a:pathLst>
                <a:path w="4855209" h="1517650">
                  <a:moveTo>
                    <a:pt x="4183380" y="596900"/>
                  </a:moveTo>
                  <a:lnTo>
                    <a:pt x="4173220" y="585470"/>
                  </a:lnTo>
                  <a:lnTo>
                    <a:pt x="4164330" y="575310"/>
                  </a:lnTo>
                  <a:lnTo>
                    <a:pt x="3759301" y="903135"/>
                  </a:lnTo>
                  <a:lnTo>
                    <a:pt x="3759200" y="902970"/>
                  </a:lnTo>
                  <a:lnTo>
                    <a:pt x="3564890" y="1043940"/>
                  </a:lnTo>
                  <a:lnTo>
                    <a:pt x="3565296" y="1044486"/>
                  </a:lnTo>
                  <a:lnTo>
                    <a:pt x="3391065" y="1154785"/>
                  </a:lnTo>
                  <a:lnTo>
                    <a:pt x="3390900" y="1154430"/>
                  </a:lnTo>
                  <a:lnTo>
                    <a:pt x="3228797" y="1240548"/>
                  </a:lnTo>
                  <a:lnTo>
                    <a:pt x="3228340" y="1239520"/>
                  </a:lnTo>
                  <a:lnTo>
                    <a:pt x="3070860" y="1311910"/>
                  </a:lnTo>
                  <a:lnTo>
                    <a:pt x="3071050" y="1312316"/>
                  </a:lnTo>
                  <a:lnTo>
                    <a:pt x="2919920" y="1369783"/>
                  </a:lnTo>
                  <a:lnTo>
                    <a:pt x="2919730" y="1369060"/>
                  </a:lnTo>
                  <a:lnTo>
                    <a:pt x="2770060" y="1415592"/>
                  </a:lnTo>
                  <a:lnTo>
                    <a:pt x="2769870" y="1414780"/>
                  </a:lnTo>
                  <a:lnTo>
                    <a:pt x="2622550" y="1449070"/>
                  </a:lnTo>
                  <a:lnTo>
                    <a:pt x="2622600" y="1449273"/>
                  </a:lnTo>
                  <a:lnTo>
                    <a:pt x="2479040" y="1473200"/>
                  </a:lnTo>
                  <a:lnTo>
                    <a:pt x="2336800" y="1485900"/>
                  </a:lnTo>
                  <a:lnTo>
                    <a:pt x="2196617" y="1489697"/>
                  </a:lnTo>
                  <a:lnTo>
                    <a:pt x="2057400" y="1483360"/>
                  </a:lnTo>
                  <a:lnTo>
                    <a:pt x="1922780" y="1465580"/>
                  </a:lnTo>
                  <a:lnTo>
                    <a:pt x="1922602" y="1466557"/>
                  </a:lnTo>
                  <a:lnTo>
                    <a:pt x="1791893" y="1439164"/>
                  </a:lnTo>
                  <a:lnTo>
                    <a:pt x="1791970" y="1438910"/>
                  </a:lnTo>
                  <a:lnTo>
                    <a:pt x="1661160" y="1399540"/>
                  </a:lnTo>
                  <a:lnTo>
                    <a:pt x="1660753" y="1400657"/>
                  </a:lnTo>
                  <a:lnTo>
                    <a:pt x="1531620" y="1351280"/>
                  </a:lnTo>
                  <a:lnTo>
                    <a:pt x="1401838" y="1292072"/>
                  </a:lnTo>
                  <a:lnTo>
                    <a:pt x="1402080" y="1291590"/>
                  </a:lnTo>
                  <a:lnTo>
                    <a:pt x="1270000" y="1221740"/>
                  </a:lnTo>
                  <a:lnTo>
                    <a:pt x="1135380" y="1141730"/>
                  </a:lnTo>
                  <a:lnTo>
                    <a:pt x="1135214" y="1141996"/>
                  </a:lnTo>
                  <a:lnTo>
                    <a:pt x="990600" y="1040130"/>
                  </a:lnTo>
                  <a:lnTo>
                    <a:pt x="990498" y="1040282"/>
                  </a:lnTo>
                  <a:lnTo>
                    <a:pt x="834390" y="911860"/>
                  </a:lnTo>
                  <a:lnTo>
                    <a:pt x="511810" y="613410"/>
                  </a:lnTo>
                  <a:lnTo>
                    <a:pt x="20320" y="125730"/>
                  </a:lnTo>
                  <a:lnTo>
                    <a:pt x="0" y="146050"/>
                  </a:lnTo>
                  <a:lnTo>
                    <a:pt x="491490" y="633730"/>
                  </a:lnTo>
                  <a:lnTo>
                    <a:pt x="492760" y="633730"/>
                  </a:lnTo>
                  <a:lnTo>
                    <a:pt x="816610" y="933450"/>
                  </a:lnTo>
                  <a:lnTo>
                    <a:pt x="816610" y="934720"/>
                  </a:lnTo>
                  <a:lnTo>
                    <a:pt x="974090" y="1062990"/>
                  </a:lnTo>
                  <a:lnTo>
                    <a:pt x="975360" y="1064260"/>
                  </a:lnTo>
                  <a:lnTo>
                    <a:pt x="1118870" y="1165860"/>
                  </a:lnTo>
                  <a:lnTo>
                    <a:pt x="1120140" y="1167130"/>
                  </a:lnTo>
                  <a:lnTo>
                    <a:pt x="1256030" y="1247140"/>
                  </a:lnTo>
                  <a:lnTo>
                    <a:pt x="1388110" y="1316990"/>
                  </a:lnTo>
                  <a:lnTo>
                    <a:pt x="1389380" y="1316990"/>
                  </a:lnTo>
                  <a:lnTo>
                    <a:pt x="1520190" y="1376680"/>
                  </a:lnTo>
                  <a:lnTo>
                    <a:pt x="1521460" y="1377950"/>
                  </a:lnTo>
                  <a:lnTo>
                    <a:pt x="1651000" y="1427480"/>
                  </a:lnTo>
                  <a:lnTo>
                    <a:pt x="1652270" y="1427480"/>
                  </a:lnTo>
                  <a:lnTo>
                    <a:pt x="1783080" y="1465580"/>
                  </a:lnTo>
                  <a:lnTo>
                    <a:pt x="1784350" y="1465580"/>
                  </a:lnTo>
                  <a:lnTo>
                    <a:pt x="1917700" y="1494790"/>
                  </a:lnTo>
                  <a:lnTo>
                    <a:pt x="1918970" y="1494790"/>
                  </a:lnTo>
                  <a:lnTo>
                    <a:pt x="2054860" y="1511300"/>
                  </a:lnTo>
                  <a:lnTo>
                    <a:pt x="2056130" y="1511300"/>
                  </a:lnTo>
                  <a:lnTo>
                    <a:pt x="2194560" y="1517650"/>
                  </a:lnTo>
                  <a:lnTo>
                    <a:pt x="2195830" y="1517650"/>
                  </a:lnTo>
                  <a:lnTo>
                    <a:pt x="2338070" y="1513840"/>
                  </a:lnTo>
                  <a:lnTo>
                    <a:pt x="2339340" y="1513840"/>
                  </a:lnTo>
                  <a:lnTo>
                    <a:pt x="2482850" y="1501140"/>
                  </a:lnTo>
                  <a:lnTo>
                    <a:pt x="2484120" y="1501140"/>
                  </a:lnTo>
                  <a:lnTo>
                    <a:pt x="2627630" y="1477010"/>
                  </a:lnTo>
                  <a:lnTo>
                    <a:pt x="2628900" y="1477010"/>
                  </a:lnTo>
                  <a:lnTo>
                    <a:pt x="2776220" y="1442720"/>
                  </a:lnTo>
                  <a:lnTo>
                    <a:pt x="2777490" y="1442720"/>
                  </a:lnTo>
                  <a:lnTo>
                    <a:pt x="2927350" y="1397000"/>
                  </a:lnTo>
                  <a:lnTo>
                    <a:pt x="2928620" y="1397000"/>
                  </a:lnTo>
                  <a:lnTo>
                    <a:pt x="3082290" y="1338580"/>
                  </a:lnTo>
                  <a:lnTo>
                    <a:pt x="3239770" y="1266190"/>
                  </a:lnTo>
                  <a:lnTo>
                    <a:pt x="3241040" y="1266190"/>
                  </a:lnTo>
                  <a:lnTo>
                    <a:pt x="3403600" y="1179830"/>
                  </a:lnTo>
                  <a:lnTo>
                    <a:pt x="3404857" y="1178560"/>
                  </a:lnTo>
                  <a:lnTo>
                    <a:pt x="3581400" y="1068070"/>
                  </a:lnTo>
                  <a:lnTo>
                    <a:pt x="3581400" y="1066800"/>
                  </a:lnTo>
                  <a:lnTo>
                    <a:pt x="3775710" y="927100"/>
                  </a:lnTo>
                  <a:lnTo>
                    <a:pt x="3775710" y="925830"/>
                  </a:lnTo>
                  <a:lnTo>
                    <a:pt x="4182110" y="596900"/>
                  </a:lnTo>
                  <a:lnTo>
                    <a:pt x="4183380" y="596900"/>
                  </a:lnTo>
                  <a:close/>
                </a:path>
                <a:path w="4855209" h="1517650">
                  <a:moveTo>
                    <a:pt x="4855210" y="21590"/>
                  </a:moveTo>
                  <a:lnTo>
                    <a:pt x="4836160" y="0"/>
                  </a:lnTo>
                  <a:lnTo>
                    <a:pt x="4164330" y="575310"/>
                  </a:lnTo>
                  <a:lnTo>
                    <a:pt x="4183380" y="596900"/>
                  </a:lnTo>
                  <a:lnTo>
                    <a:pt x="4855210" y="2159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03323" y="3910103"/>
              <a:ext cx="104593" cy="10459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00603" y="3960903"/>
              <a:ext cx="104593" cy="104593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885950" y="5312409"/>
            <a:ext cx="3060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0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60239" y="2091690"/>
            <a:ext cx="304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1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41821" y="5749290"/>
            <a:ext cx="180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spc="-50" dirty="0">
                <a:latin typeface="Palatino Linotype"/>
                <a:cs typeface="Palatino Linotype"/>
              </a:rPr>
              <a:t>p</a:t>
            </a:r>
            <a:endParaRPr sz="2000">
              <a:latin typeface="Palatino Linotype"/>
              <a:cs typeface="Palatino Linotyp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96759" y="5919470"/>
            <a:ext cx="99060" cy="19107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150" b="1" spc="-50" dirty="0">
                <a:latin typeface="Palatino Linotype"/>
                <a:cs typeface="Palatino Linotype"/>
              </a:rPr>
              <a:t>2</a:t>
            </a:r>
            <a:endParaRPr sz="1150">
              <a:latin typeface="Palatino Linotype"/>
              <a:cs typeface="Palatino Linotyp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505950" y="2015490"/>
            <a:ext cx="304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3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12970" y="5596890"/>
            <a:ext cx="7683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dirty="0">
                <a:latin typeface="Cambria"/>
                <a:cs typeface="Cambria"/>
              </a:rPr>
              <a:t>u</a:t>
            </a:r>
            <a:r>
              <a:rPr sz="2000" i="1" spc="9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=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0.5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33189" y="3432635"/>
            <a:ext cx="3398520" cy="104711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63500">
              <a:spcBef>
                <a:spcPts val="340"/>
              </a:spcBef>
              <a:tabLst>
                <a:tab pos="1285875" algn="l"/>
              </a:tabLst>
            </a:pPr>
            <a:r>
              <a:rPr sz="2000" b="1" spc="-10" dirty="0">
                <a:latin typeface="Palatino Linotype"/>
                <a:cs typeface="Palatino Linotype"/>
              </a:rPr>
              <a:t>p</a:t>
            </a:r>
            <a:r>
              <a:rPr sz="1725" spc="-15" baseline="-24154" dirty="0">
                <a:latin typeface="Cambria"/>
                <a:cs typeface="Cambria"/>
              </a:rPr>
              <a:t>02</a:t>
            </a:r>
            <a:r>
              <a:rPr sz="2000" spc="-10" dirty="0">
                <a:latin typeface="Cambria"/>
                <a:cs typeface="Cambria"/>
              </a:rPr>
              <a:t>(</a:t>
            </a:r>
            <a:r>
              <a:rPr sz="2000" i="1" spc="-10" dirty="0">
                <a:latin typeface="Cambria"/>
                <a:cs typeface="Cambria"/>
              </a:rPr>
              <a:t>u</a:t>
            </a:r>
            <a:r>
              <a:rPr sz="2000" spc="-10" dirty="0">
                <a:latin typeface="Cambria"/>
                <a:cs typeface="Cambria"/>
              </a:rPr>
              <a:t>)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3000" b="1" spc="-75" baseline="-33333" dirty="0">
                <a:latin typeface="Palatino Linotype"/>
                <a:cs typeface="Palatino Linotype"/>
              </a:rPr>
              <a:t>p</a:t>
            </a:r>
            <a:endParaRPr sz="3000" baseline="-33333">
              <a:latin typeface="Palatino Linotype"/>
              <a:cs typeface="Palatino Linotype"/>
            </a:endParaRPr>
          </a:p>
          <a:p>
            <a:pPr marR="357505" algn="ctr">
              <a:spcBef>
                <a:spcPts val="150"/>
              </a:spcBef>
            </a:pPr>
            <a:r>
              <a:rPr sz="1150" b="1" spc="-25" dirty="0">
                <a:latin typeface="Palatino Linotype"/>
                <a:cs typeface="Palatino Linotype"/>
              </a:rPr>
              <a:t>03</a:t>
            </a:r>
            <a:endParaRPr sz="1150">
              <a:latin typeface="Palatino Linotype"/>
              <a:cs typeface="Palatino Linotype"/>
            </a:endParaRPr>
          </a:p>
          <a:p>
            <a:pPr marR="43180" algn="r">
              <a:spcBef>
                <a:spcPts val="1470"/>
              </a:spcBef>
            </a:pPr>
            <a:r>
              <a:rPr sz="2000" b="1" spc="-10" dirty="0">
                <a:latin typeface="Palatino Linotype"/>
                <a:cs typeface="Palatino Linotype"/>
              </a:rPr>
              <a:t>p</a:t>
            </a:r>
            <a:r>
              <a:rPr sz="1725" spc="-15" baseline="-24154" dirty="0">
                <a:latin typeface="Cambria"/>
                <a:cs typeface="Cambria"/>
              </a:rPr>
              <a:t>12</a:t>
            </a:r>
            <a:r>
              <a:rPr sz="2000" spc="-10" dirty="0">
                <a:latin typeface="Cambria"/>
                <a:cs typeface="Cambria"/>
              </a:rPr>
              <a:t>(</a:t>
            </a:r>
            <a:r>
              <a:rPr sz="2000" i="1" spc="-10" dirty="0">
                <a:latin typeface="Cambria"/>
                <a:cs typeface="Cambria"/>
              </a:rPr>
              <a:t>u</a:t>
            </a:r>
            <a:r>
              <a:rPr sz="2000" spc="-10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1375">
              <a:spcBef>
                <a:spcPts val="100"/>
              </a:spcBef>
            </a:pPr>
            <a:r>
              <a:rPr dirty="0"/>
              <a:t>Algoritmo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Casteljau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82624" y="2528344"/>
            <a:ext cx="4600575" cy="2972435"/>
            <a:chOff x="958623" y="2528343"/>
            <a:chExt cx="4600575" cy="2972435"/>
          </a:xfrm>
        </p:grpSpPr>
        <p:sp>
          <p:nvSpPr>
            <p:cNvPr id="4" name="object 4"/>
            <p:cNvSpPr/>
            <p:nvPr/>
          </p:nvSpPr>
          <p:spPr>
            <a:xfrm>
              <a:off x="1049019" y="2590800"/>
              <a:ext cx="4419600" cy="2819400"/>
            </a:xfrm>
            <a:custGeom>
              <a:avLst/>
              <a:gdLst/>
              <a:ahLst/>
              <a:cxnLst/>
              <a:rect l="l" t="t" r="r" b="b"/>
              <a:pathLst>
                <a:path w="4419600" h="2819400">
                  <a:moveTo>
                    <a:pt x="0" y="2743200"/>
                  </a:moveTo>
                  <a:lnTo>
                    <a:pt x="1981200" y="0"/>
                  </a:lnTo>
                </a:path>
                <a:path w="4419600" h="2819400">
                  <a:moveTo>
                    <a:pt x="1981200" y="0"/>
                  </a:moveTo>
                  <a:lnTo>
                    <a:pt x="4419600" y="2819400"/>
                  </a:lnTo>
                </a:path>
              </a:pathLst>
            </a:custGeom>
            <a:ln w="283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623" y="5319803"/>
              <a:ext cx="104593" cy="10459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86813" y="2528343"/>
              <a:ext cx="104593" cy="1045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54423" y="5396003"/>
              <a:ext cx="104593" cy="10459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885950" y="5312409"/>
            <a:ext cx="3060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0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0239" y="2091690"/>
            <a:ext cx="304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1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41821" y="5749290"/>
            <a:ext cx="180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spc="-50" dirty="0">
                <a:latin typeface="Palatino Linotype"/>
                <a:cs typeface="Palatino Linotype"/>
              </a:rPr>
              <a:t>p</a:t>
            </a:r>
            <a:endParaRPr sz="2000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96759" y="5919470"/>
            <a:ext cx="99060" cy="19107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150" b="1" spc="-50" dirty="0">
                <a:latin typeface="Palatino Linotype"/>
                <a:cs typeface="Palatino Linotype"/>
              </a:rPr>
              <a:t>2</a:t>
            </a:r>
            <a:endParaRPr sz="1150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10989" y="3463290"/>
            <a:ext cx="6934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10" dirty="0">
                <a:latin typeface="Palatino Linotype"/>
                <a:cs typeface="Palatino Linotype"/>
              </a:rPr>
              <a:t>p</a:t>
            </a:r>
            <a:r>
              <a:rPr sz="1725" spc="-15" baseline="-24154" dirty="0">
                <a:latin typeface="Cambria"/>
                <a:cs typeface="Cambria"/>
              </a:rPr>
              <a:t>02</a:t>
            </a:r>
            <a:r>
              <a:rPr sz="2000" spc="-10" dirty="0">
                <a:latin typeface="Cambria"/>
                <a:cs typeface="Cambria"/>
              </a:rPr>
              <a:t>(</a:t>
            </a:r>
            <a:r>
              <a:rPr sz="2000" i="1" spc="-10" dirty="0">
                <a:latin typeface="Cambria"/>
                <a:cs typeface="Cambria"/>
              </a:rPr>
              <a:t>u</a:t>
            </a:r>
            <a:r>
              <a:rPr sz="2000" spc="-10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62860" y="3952239"/>
            <a:ext cx="4462780" cy="1517650"/>
          </a:xfrm>
          <a:custGeom>
            <a:avLst/>
            <a:gdLst/>
            <a:ahLst/>
            <a:cxnLst/>
            <a:rect l="l" t="t" r="r" b="b"/>
            <a:pathLst>
              <a:path w="4462780" h="1517650">
                <a:moveTo>
                  <a:pt x="4462780" y="1497330"/>
                </a:moveTo>
                <a:lnTo>
                  <a:pt x="3845560" y="922020"/>
                </a:lnTo>
                <a:lnTo>
                  <a:pt x="3844290" y="922020"/>
                </a:lnTo>
                <a:lnTo>
                  <a:pt x="3470910" y="591820"/>
                </a:lnTo>
                <a:lnTo>
                  <a:pt x="3293110" y="450850"/>
                </a:lnTo>
                <a:lnTo>
                  <a:pt x="3291840" y="450850"/>
                </a:lnTo>
                <a:lnTo>
                  <a:pt x="3130550" y="339090"/>
                </a:lnTo>
                <a:lnTo>
                  <a:pt x="3129280" y="339090"/>
                </a:lnTo>
                <a:lnTo>
                  <a:pt x="2979420" y="252730"/>
                </a:lnTo>
                <a:lnTo>
                  <a:pt x="2978150" y="252730"/>
                </a:lnTo>
                <a:lnTo>
                  <a:pt x="2834640" y="180340"/>
                </a:lnTo>
                <a:lnTo>
                  <a:pt x="2833370" y="180340"/>
                </a:lnTo>
                <a:lnTo>
                  <a:pt x="2692400" y="121920"/>
                </a:lnTo>
                <a:lnTo>
                  <a:pt x="2691130" y="121920"/>
                </a:lnTo>
                <a:lnTo>
                  <a:pt x="2552700" y="74930"/>
                </a:lnTo>
                <a:lnTo>
                  <a:pt x="2416810" y="40640"/>
                </a:lnTo>
                <a:lnTo>
                  <a:pt x="2415540" y="40640"/>
                </a:lnTo>
                <a:lnTo>
                  <a:pt x="2283460" y="17780"/>
                </a:lnTo>
                <a:lnTo>
                  <a:pt x="2280894" y="31877"/>
                </a:lnTo>
                <a:lnTo>
                  <a:pt x="2280920" y="31623"/>
                </a:lnTo>
                <a:lnTo>
                  <a:pt x="2283460" y="17780"/>
                </a:lnTo>
                <a:lnTo>
                  <a:pt x="2282190" y="17780"/>
                </a:lnTo>
                <a:lnTo>
                  <a:pt x="2150110" y="3810"/>
                </a:lnTo>
                <a:lnTo>
                  <a:pt x="2019300" y="0"/>
                </a:lnTo>
                <a:lnTo>
                  <a:pt x="2018030" y="0"/>
                </a:lnTo>
                <a:lnTo>
                  <a:pt x="1889760" y="6350"/>
                </a:lnTo>
                <a:lnTo>
                  <a:pt x="1888490" y="6350"/>
                </a:lnTo>
                <a:lnTo>
                  <a:pt x="1764030" y="24130"/>
                </a:lnTo>
                <a:lnTo>
                  <a:pt x="1762760" y="24130"/>
                </a:lnTo>
                <a:lnTo>
                  <a:pt x="1640840" y="52070"/>
                </a:lnTo>
                <a:lnTo>
                  <a:pt x="1639570" y="52070"/>
                </a:lnTo>
                <a:lnTo>
                  <a:pt x="1518920" y="91440"/>
                </a:lnTo>
                <a:lnTo>
                  <a:pt x="1517650" y="91440"/>
                </a:lnTo>
                <a:lnTo>
                  <a:pt x="1398270" y="140970"/>
                </a:lnTo>
                <a:lnTo>
                  <a:pt x="1397000" y="140970"/>
                </a:lnTo>
                <a:lnTo>
                  <a:pt x="1277620" y="200660"/>
                </a:lnTo>
                <a:lnTo>
                  <a:pt x="1276350" y="201930"/>
                </a:lnTo>
                <a:lnTo>
                  <a:pt x="1154430" y="271780"/>
                </a:lnTo>
                <a:lnTo>
                  <a:pt x="1029970" y="351790"/>
                </a:lnTo>
                <a:lnTo>
                  <a:pt x="963930" y="400050"/>
                </a:lnTo>
                <a:lnTo>
                  <a:pt x="895350" y="454660"/>
                </a:lnTo>
                <a:lnTo>
                  <a:pt x="894080" y="454660"/>
                </a:lnTo>
                <a:lnTo>
                  <a:pt x="750570" y="584200"/>
                </a:lnTo>
                <a:lnTo>
                  <a:pt x="760095" y="594995"/>
                </a:lnTo>
                <a:lnTo>
                  <a:pt x="759460" y="594360"/>
                </a:lnTo>
                <a:lnTo>
                  <a:pt x="750570" y="584200"/>
                </a:lnTo>
                <a:lnTo>
                  <a:pt x="749300" y="585470"/>
                </a:lnTo>
                <a:lnTo>
                  <a:pt x="452120" y="883920"/>
                </a:lnTo>
                <a:lnTo>
                  <a:pt x="452120" y="885190"/>
                </a:lnTo>
                <a:lnTo>
                  <a:pt x="462280" y="894080"/>
                </a:lnTo>
                <a:lnTo>
                  <a:pt x="462915" y="894715"/>
                </a:lnTo>
                <a:lnTo>
                  <a:pt x="452120" y="885190"/>
                </a:lnTo>
                <a:lnTo>
                  <a:pt x="0" y="1371600"/>
                </a:lnTo>
                <a:lnTo>
                  <a:pt x="10160" y="1381760"/>
                </a:lnTo>
                <a:lnTo>
                  <a:pt x="21590" y="1391920"/>
                </a:lnTo>
                <a:lnTo>
                  <a:pt x="473710" y="904240"/>
                </a:lnTo>
                <a:lnTo>
                  <a:pt x="473024" y="903643"/>
                </a:lnTo>
                <a:lnTo>
                  <a:pt x="769023" y="605129"/>
                </a:lnTo>
                <a:lnTo>
                  <a:pt x="769620" y="605790"/>
                </a:lnTo>
                <a:lnTo>
                  <a:pt x="914400" y="476250"/>
                </a:lnTo>
                <a:lnTo>
                  <a:pt x="913828" y="475691"/>
                </a:lnTo>
                <a:lnTo>
                  <a:pt x="981087" y="422135"/>
                </a:lnTo>
                <a:lnTo>
                  <a:pt x="981710" y="422910"/>
                </a:lnTo>
                <a:lnTo>
                  <a:pt x="1046480" y="375920"/>
                </a:lnTo>
                <a:lnTo>
                  <a:pt x="1046073" y="375361"/>
                </a:lnTo>
                <a:lnTo>
                  <a:pt x="1169670" y="295910"/>
                </a:lnTo>
                <a:lnTo>
                  <a:pt x="1169314" y="295389"/>
                </a:lnTo>
                <a:lnTo>
                  <a:pt x="1290320" y="226060"/>
                </a:lnTo>
                <a:lnTo>
                  <a:pt x="1290027" y="225577"/>
                </a:lnTo>
                <a:lnTo>
                  <a:pt x="1408226" y="167106"/>
                </a:lnTo>
                <a:lnTo>
                  <a:pt x="1408430" y="167640"/>
                </a:lnTo>
                <a:lnTo>
                  <a:pt x="1529080" y="118110"/>
                </a:lnTo>
                <a:lnTo>
                  <a:pt x="1528914" y="117767"/>
                </a:lnTo>
                <a:lnTo>
                  <a:pt x="1648460" y="80010"/>
                </a:lnTo>
                <a:lnTo>
                  <a:pt x="1648358" y="79743"/>
                </a:lnTo>
                <a:lnTo>
                  <a:pt x="1769110" y="52070"/>
                </a:lnTo>
                <a:lnTo>
                  <a:pt x="1769059" y="51904"/>
                </a:lnTo>
                <a:lnTo>
                  <a:pt x="1892300" y="34290"/>
                </a:lnTo>
                <a:lnTo>
                  <a:pt x="2018753" y="29235"/>
                </a:lnTo>
                <a:lnTo>
                  <a:pt x="2147570" y="32994"/>
                </a:lnTo>
                <a:lnTo>
                  <a:pt x="2278392" y="45605"/>
                </a:lnTo>
                <a:lnTo>
                  <a:pt x="2410510" y="68376"/>
                </a:lnTo>
                <a:lnTo>
                  <a:pt x="2410460" y="68580"/>
                </a:lnTo>
                <a:lnTo>
                  <a:pt x="2543911" y="102577"/>
                </a:lnTo>
                <a:lnTo>
                  <a:pt x="2543810" y="102870"/>
                </a:lnTo>
                <a:lnTo>
                  <a:pt x="2682240" y="148590"/>
                </a:lnTo>
                <a:lnTo>
                  <a:pt x="2682468" y="147967"/>
                </a:lnTo>
                <a:lnTo>
                  <a:pt x="2821940" y="207010"/>
                </a:lnTo>
                <a:lnTo>
                  <a:pt x="2822321" y="205943"/>
                </a:lnTo>
                <a:lnTo>
                  <a:pt x="2966720" y="278130"/>
                </a:lnTo>
                <a:lnTo>
                  <a:pt x="2966923" y="277723"/>
                </a:lnTo>
                <a:lnTo>
                  <a:pt x="3114383" y="362699"/>
                </a:lnTo>
                <a:lnTo>
                  <a:pt x="3114040" y="363220"/>
                </a:lnTo>
                <a:lnTo>
                  <a:pt x="3275761" y="473151"/>
                </a:lnTo>
                <a:lnTo>
                  <a:pt x="3275330" y="473710"/>
                </a:lnTo>
                <a:lnTo>
                  <a:pt x="3453130" y="614680"/>
                </a:lnTo>
                <a:lnTo>
                  <a:pt x="3453714" y="613930"/>
                </a:lnTo>
                <a:lnTo>
                  <a:pt x="3826510" y="943610"/>
                </a:lnTo>
                <a:lnTo>
                  <a:pt x="4442460" y="1517650"/>
                </a:lnTo>
                <a:lnTo>
                  <a:pt x="4462780" y="149733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625590" y="4149090"/>
            <a:ext cx="6934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10" dirty="0">
                <a:latin typeface="Palatino Linotype"/>
                <a:cs typeface="Palatino Linotype"/>
              </a:rPr>
              <a:t>p</a:t>
            </a:r>
            <a:r>
              <a:rPr sz="1725" spc="-15" baseline="-24154" dirty="0">
                <a:latin typeface="Cambria"/>
                <a:cs typeface="Cambria"/>
              </a:rPr>
              <a:t>12</a:t>
            </a:r>
            <a:r>
              <a:rPr sz="2000" spc="-10" dirty="0">
                <a:latin typeface="Cambria"/>
                <a:cs typeface="Cambria"/>
              </a:rPr>
              <a:t>(</a:t>
            </a:r>
            <a:r>
              <a:rPr sz="2000" i="1" spc="-10" dirty="0">
                <a:latin typeface="Cambria"/>
                <a:cs typeface="Cambria"/>
              </a:rPr>
              <a:t>u</a:t>
            </a:r>
            <a:r>
              <a:rPr sz="2000" spc="-10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549424" y="2528344"/>
            <a:ext cx="6002655" cy="2972435"/>
            <a:chOff x="2025423" y="2528343"/>
            <a:chExt cx="6002655" cy="2972435"/>
          </a:xfrm>
        </p:grpSpPr>
        <p:sp>
          <p:nvSpPr>
            <p:cNvPr id="16" name="object 16"/>
            <p:cNvSpPr/>
            <p:nvPr/>
          </p:nvSpPr>
          <p:spPr>
            <a:xfrm>
              <a:off x="5499100" y="2618740"/>
              <a:ext cx="2438400" cy="2820670"/>
            </a:xfrm>
            <a:custGeom>
              <a:avLst/>
              <a:gdLst/>
              <a:ahLst/>
              <a:cxnLst/>
              <a:rect l="l" t="t" r="r" b="b"/>
              <a:pathLst>
                <a:path w="2438400" h="2820670">
                  <a:moveTo>
                    <a:pt x="0" y="2820670"/>
                  </a:moveTo>
                  <a:lnTo>
                    <a:pt x="2438400" y="0"/>
                  </a:lnTo>
                </a:path>
              </a:pathLst>
            </a:custGeom>
            <a:ln w="283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56963" y="5396003"/>
              <a:ext cx="104593" cy="10459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23303" y="2528343"/>
              <a:ext cx="104593" cy="10459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52803" y="4100603"/>
              <a:ext cx="104593" cy="10459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154169" y="3733800"/>
              <a:ext cx="2322830" cy="575310"/>
            </a:xfrm>
            <a:custGeom>
              <a:avLst/>
              <a:gdLst/>
              <a:ahLst/>
              <a:cxnLst/>
              <a:rect l="l" t="t" r="r" b="b"/>
              <a:pathLst>
                <a:path w="2322829" h="575310">
                  <a:moveTo>
                    <a:pt x="0" y="575310"/>
                  </a:moveTo>
                  <a:lnTo>
                    <a:pt x="2322829" y="0"/>
                  </a:lnTo>
                </a:path>
              </a:pathLst>
            </a:custGeom>
            <a:ln w="28393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25423" y="4253003"/>
              <a:ext cx="104593" cy="10459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00933" y="3671343"/>
              <a:ext cx="110943" cy="10459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65193" y="4015513"/>
              <a:ext cx="110943" cy="10459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67883" y="3684043"/>
              <a:ext cx="112213" cy="10459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126740" y="2559049"/>
              <a:ext cx="4855210" cy="1517650"/>
            </a:xfrm>
            <a:custGeom>
              <a:avLst/>
              <a:gdLst/>
              <a:ahLst/>
              <a:cxnLst/>
              <a:rect l="l" t="t" r="r" b="b"/>
              <a:pathLst>
                <a:path w="4855209" h="1517650">
                  <a:moveTo>
                    <a:pt x="4183380" y="596900"/>
                  </a:moveTo>
                  <a:lnTo>
                    <a:pt x="4173220" y="585470"/>
                  </a:lnTo>
                  <a:lnTo>
                    <a:pt x="4164330" y="575310"/>
                  </a:lnTo>
                  <a:lnTo>
                    <a:pt x="3759301" y="903135"/>
                  </a:lnTo>
                  <a:lnTo>
                    <a:pt x="3759200" y="902970"/>
                  </a:lnTo>
                  <a:lnTo>
                    <a:pt x="3564890" y="1043940"/>
                  </a:lnTo>
                  <a:lnTo>
                    <a:pt x="3565296" y="1044486"/>
                  </a:lnTo>
                  <a:lnTo>
                    <a:pt x="3391065" y="1154785"/>
                  </a:lnTo>
                  <a:lnTo>
                    <a:pt x="3390900" y="1154430"/>
                  </a:lnTo>
                  <a:lnTo>
                    <a:pt x="3228797" y="1240548"/>
                  </a:lnTo>
                  <a:lnTo>
                    <a:pt x="3228340" y="1239520"/>
                  </a:lnTo>
                  <a:lnTo>
                    <a:pt x="3070860" y="1311910"/>
                  </a:lnTo>
                  <a:lnTo>
                    <a:pt x="3071050" y="1312316"/>
                  </a:lnTo>
                  <a:lnTo>
                    <a:pt x="2919920" y="1369783"/>
                  </a:lnTo>
                  <a:lnTo>
                    <a:pt x="2919730" y="1369060"/>
                  </a:lnTo>
                  <a:lnTo>
                    <a:pt x="2770060" y="1415592"/>
                  </a:lnTo>
                  <a:lnTo>
                    <a:pt x="2769870" y="1414780"/>
                  </a:lnTo>
                  <a:lnTo>
                    <a:pt x="2622550" y="1449070"/>
                  </a:lnTo>
                  <a:lnTo>
                    <a:pt x="2622600" y="1449273"/>
                  </a:lnTo>
                  <a:lnTo>
                    <a:pt x="2479040" y="1473200"/>
                  </a:lnTo>
                  <a:lnTo>
                    <a:pt x="2336800" y="1485900"/>
                  </a:lnTo>
                  <a:lnTo>
                    <a:pt x="2196617" y="1489697"/>
                  </a:lnTo>
                  <a:lnTo>
                    <a:pt x="2057400" y="1483360"/>
                  </a:lnTo>
                  <a:lnTo>
                    <a:pt x="1922780" y="1465580"/>
                  </a:lnTo>
                  <a:lnTo>
                    <a:pt x="1922602" y="1466557"/>
                  </a:lnTo>
                  <a:lnTo>
                    <a:pt x="1791893" y="1439164"/>
                  </a:lnTo>
                  <a:lnTo>
                    <a:pt x="1791970" y="1438910"/>
                  </a:lnTo>
                  <a:lnTo>
                    <a:pt x="1661160" y="1399540"/>
                  </a:lnTo>
                  <a:lnTo>
                    <a:pt x="1660753" y="1400657"/>
                  </a:lnTo>
                  <a:lnTo>
                    <a:pt x="1531620" y="1351280"/>
                  </a:lnTo>
                  <a:lnTo>
                    <a:pt x="1401838" y="1292072"/>
                  </a:lnTo>
                  <a:lnTo>
                    <a:pt x="1402080" y="1291590"/>
                  </a:lnTo>
                  <a:lnTo>
                    <a:pt x="1270000" y="1221740"/>
                  </a:lnTo>
                  <a:lnTo>
                    <a:pt x="1135380" y="1141730"/>
                  </a:lnTo>
                  <a:lnTo>
                    <a:pt x="1135214" y="1141996"/>
                  </a:lnTo>
                  <a:lnTo>
                    <a:pt x="990600" y="1040130"/>
                  </a:lnTo>
                  <a:lnTo>
                    <a:pt x="990498" y="1040282"/>
                  </a:lnTo>
                  <a:lnTo>
                    <a:pt x="834390" y="911860"/>
                  </a:lnTo>
                  <a:lnTo>
                    <a:pt x="511810" y="613410"/>
                  </a:lnTo>
                  <a:lnTo>
                    <a:pt x="20320" y="125730"/>
                  </a:lnTo>
                  <a:lnTo>
                    <a:pt x="0" y="146050"/>
                  </a:lnTo>
                  <a:lnTo>
                    <a:pt x="491490" y="633730"/>
                  </a:lnTo>
                  <a:lnTo>
                    <a:pt x="492760" y="633730"/>
                  </a:lnTo>
                  <a:lnTo>
                    <a:pt x="816610" y="933450"/>
                  </a:lnTo>
                  <a:lnTo>
                    <a:pt x="816610" y="934720"/>
                  </a:lnTo>
                  <a:lnTo>
                    <a:pt x="974090" y="1062990"/>
                  </a:lnTo>
                  <a:lnTo>
                    <a:pt x="975360" y="1064260"/>
                  </a:lnTo>
                  <a:lnTo>
                    <a:pt x="1118870" y="1165860"/>
                  </a:lnTo>
                  <a:lnTo>
                    <a:pt x="1120140" y="1167130"/>
                  </a:lnTo>
                  <a:lnTo>
                    <a:pt x="1256030" y="1247140"/>
                  </a:lnTo>
                  <a:lnTo>
                    <a:pt x="1388110" y="1316990"/>
                  </a:lnTo>
                  <a:lnTo>
                    <a:pt x="1389380" y="1316990"/>
                  </a:lnTo>
                  <a:lnTo>
                    <a:pt x="1520190" y="1376680"/>
                  </a:lnTo>
                  <a:lnTo>
                    <a:pt x="1521460" y="1377950"/>
                  </a:lnTo>
                  <a:lnTo>
                    <a:pt x="1651000" y="1427480"/>
                  </a:lnTo>
                  <a:lnTo>
                    <a:pt x="1652270" y="1427480"/>
                  </a:lnTo>
                  <a:lnTo>
                    <a:pt x="1783080" y="1465580"/>
                  </a:lnTo>
                  <a:lnTo>
                    <a:pt x="1784350" y="1465580"/>
                  </a:lnTo>
                  <a:lnTo>
                    <a:pt x="1917700" y="1494790"/>
                  </a:lnTo>
                  <a:lnTo>
                    <a:pt x="1918970" y="1494790"/>
                  </a:lnTo>
                  <a:lnTo>
                    <a:pt x="2054860" y="1511300"/>
                  </a:lnTo>
                  <a:lnTo>
                    <a:pt x="2056130" y="1511300"/>
                  </a:lnTo>
                  <a:lnTo>
                    <a:pt x="2194560" y="1517650"/>
                  </a:lnTo>
                  <a:lnTo>
                    <a:pt x="2195830" y="1517650"/>
                  </a:lnTo>
                  <a:lnTo>
                    <a:pt x="2338070" y="1513840"/>
                  </a:lnTo>
                  <a:lnTo>
                    <a:pt x="2339340" y="1513840"/>
                  </a:lnTo>
                  <a:lnTo>
                    <a:pt x="2482850" y="1501140"/>
                  </a:lnTo>
                  <a:lnTo>
                    <a:pt x="2484120" y="1501140"/>
                  </a:lnTo>
                  <a:lnTo>
                    <a:pt x="2627630" y="1477010"/>
                  </a:lnTo>
                  <a:lnTo>
                    <a:pt x="2628900" y="1477010"/>
                  </a:lnTo>
                  <a:lnTo>
                    <a:pt x="2776220" y="1442720"/>
                  </a:lnTo>
                  <a:lnTo>
                    <a:pt x="2777490" y="1442720"/>
                  </a:lnTo>
                  <a:lnTo>
                    <a:pt x="2927350" y="1397000"/>
                  </a:lnTo>
                  <a:lnTo>
                    <a:pt x="2928620" y="1397000"/>
                  </a:lnTo>
                  <a:lnTo>
                    <a:pt x="3082290" y="1338580"/>
                  </a:lnTo>
                  <a:lnTo>
                    <a:pt x="3239770" y="1266190"/>
                  </a:lnTo>
                  <a:lnTo>
                    <a:pt x="3241040" y="1266190"/>
                  </a:lnTo>
                  <a:lnTo>
                    <a:pt x="3403600" y="1179830"/>
                  </a:lnTo>
                  <a:lnTo>
                    <a:pt x="3404857" y="1178560"/>
                  </a:lnTo>
                  <a:lnTo>
                    <a:pt x="3581400" y="1068070"/>
                  </a:lnTo>
                  <a:lnTo>
                    <a:pt x="3581400" y="1066800"/>
                  </a:lnTo>
                  <a:lnTo>
                    <a:pt x="3775710" y="927100"/>
                  </a:lnTo>
                  <a:lnTo>
                    <a:pt x="3775710" y="925830"/>
                  </a:lnTo>
                  <a:lnTo>
                    <a:pt x="4182110" y="596900"/>
                  </a:lnTo>
                  <a:lnTo>
                    <a:pt x="4183380" y="596900"/>
                  </a:lnTo>
                  <a:close/>
                </a:path>
                <a:path w="4855209" h="1517650">
                  <a:moveTo>
                    <a:pt x="4855210" y="21590"/>
                  </a:moveTo>
                  <a:lnTo>
                    <a:pt x="4836160" y="0"/>
                  </a:lnTo>
                  <a:lnTo>
                    <a:pt x="4164330" y="575310"/>
                  </a:lnTo>
                  <a:lnTo>
                    <a:pt x="4183380" y="596900"/>
                  </a:lnTo>
                  <a:lnTo>
                    <a:pt x="4855210" y="2159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03323" y="3910103"/>
              <a:ext cx="104593" cy="10459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00603" y="3960903"/>
              <a:ext cx="104593" cy="10459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08223" y="4240303"/>
              <a:ext cx="104593" cy="10459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53203" y="3808503"/>
              <a:ext cx="104593" cy="104593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9505950" y="2015490"/>
            <a:ext cx="304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3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48201" y="5596890"/>
            <a:ext cx="89661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dirty="0">
                <a:latin typeface="Cambria"/>
                <a:cs typeface="Cambria"/>
              </a:rPr>
              <a:t>u</a:t>
            </a:r>
            <a:r>
              <a:rPr sz="2000" i="1" spc="9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=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-45" dirty="0">
                <a:latin typeface="Cambria"/>
                <a:cs typeface="Cambria"/>
              </a:rPr>
              <a:t>0.75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13929" y="3374390"/>
            <a:ext cx="379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7" baseline="13888" dirty="0">
                <a:latin typeface="Palatino Linotype"/>
                <a:cs typeface="Palatino Linotype"/>
              </a:rPr>
              <a:t>p</a:t>
            </a:r>
            <a:r>
              <a:rPr sz="1150" b="1" spc="-25" dirty="0">
                <a:latin typeface="Palatino Linotype"/>
                <a:cs typeface="Palatino Linotype"/>
              </a:rPr>
              <a:t>03</a:t>
            </a:r>
            <a:endParaRPr sz="11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1375">
              <a:spcBef>
                <a:spcPts val="100"/>
              </a:spcBef>
            </a:pPr>
            <a:r>
              <a:rPr dirty="0"/>
              <a:t>Algoritmo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Casteljau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82624" y="2528344"/>
            <a:ext cx="4600575" cy="2972435"/>
            <a:chOff x="958623" y="2528343"/>
            <a:chExt cx="4600575" cy="2972435"/>
          </a:xfrm>
        </p:grpSpPr>
        <p:sp>
          <p:nvSpPr>
            <p:cNvPr id="4" name="object 4"/>
            <p:cNvSpPr/>
            <p:nvPr/>
          </p:nvSpPr>
          <p:spPr>
            <a:xfrm>
              <a:off x="1049019" y="2590800"/>
              <a:ext cx="4419600" cy="2819400"/>
            </a:xfrm>
            <a:custGeom>
              <a:avLst/>
              <a:gdLst/>
              <a:ahLst/>
              <a:cxnLst/>
              <a:rect l="l" t="t" r="r" b="b"/>
              <a:pathLst>
                <a:path w="4419600" h="2819400">
                  <a:moveTo>
                    <a:pt x="0" y="2743200"/>
                  </a:moveTo>
                  <a:lnTo>
                    <a:pt x="1981200" y="0"/>
                  </a:lnTo>
                </a:path>
                <a:path w="4419600" h="2819400">
                  <a:moveTo>
                    <a:pt x="1981200" y="0"/>
                  </a:moveTo>
                  <a:lnTo>
                    <a:pt x="4419600" y="2819400"/>
                  </a:lnTo>
                </a:path>
              </a:pathLst>
            </a:custGeom>
            <a:ln w="283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623" y="5319803"/>
              <a:ext cx="104593" cy="10459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86813" y="2528343"/>
              <a:ext cx="104593" cy="1045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54423" y="5396003"/>
              <a:ext cx="104593" cy="10459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885950" y="5312409"/>
            <a:ext cx="3060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0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0239" y="2091690"/>
            <a:ext cx="304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1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16420" y="5749290"/>
            <a:ext cx="304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2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10989" y="3463290"/>
            <a:ext cx="6934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10" dirty="0">
                <a:latin typeface="Palatino Linotype"/>
                <a:cs typeface="Palatino Linotype"/>
              </a:rPr>
              <a:t>p</a:t>
            </a:r>
            <a:r>
              <a:rPr sz="1725" spc="-15" baseline="-24154" dirty="0">
                <a:latin typeface="Cambria"/>
                <a:cs typeface="Cambria"/>
              </a:rPr>
              <a:t>02</a:t>
            </a:r>
            <a:r>
              <a:rPr sz="2000" spc="-10" dirty="0">
                <a:latin typeface="Cambria"/>
                <a:cs typeface="Cambria"/>
              </a:rPr>
              <a:t>(</a:t>
            </a:r>
            <a:r>
              <a:rPr sz="2000" i="1" spc="-10" dirty="0">
                <a:latin typeface="Cambria"/>
                <a:cs typeface="Cambria"/>
              </a:rPr>
              <a:t>u</a:t>
            </a:r>
            <a:r>
              <a:rPr sz="2000" spc="-10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62860" y="3952239"/>
            <a:ext cx="4462780" cy="1517650"/>
          </a:xfrm>
          <a:custGeom>
            <a:avLst/>
            <a:gdLst/>
            <a:ahLst/>
            <a:cxnLst/>
            <a:rect l="l" t="t" r="r" b="b"/>
            <a:pathLst>
              <a:path w="4462780" h="1517650">
                <a:moveTo>
                  <a:pt x="4462780" y="1497330"/>
                </a:moveTo>
                <a:lnTo>
                  <a:pt x="3845560" y="922020"/>
                </a:lnTo>
                <a:lnTo>
                  <a:pt x="3844290" y="922020"/>
                </a:lnTo>
                <a:lnTo>
                  <a:pt x="3470910" y="591820"/>
                </a:lnTo>
                <a:lnTo>
                  <a:pt x="3293110" y="450850"/>
                </a:lnTo>
                <a:lnTo>
                  <a:pt x="3291840" y="450850"/>
                </a:lnTo>
                <a:lnTo>
                  <a:pt x="3130550" y="339090"/>
                </a:lnTo>
                <a:lnTo>
                  <a:pt x="3129280" y="339090"/>
                </a:lnTo>
                <a:lnTo>
                  <a:pt x="2979420" y="252730"/>
                </a:lnTo>
                <a:lnTo>
                  <a:pt x="2978150" y="252730"/>
                </a:lnTo>
                <a:lnTo>
                  <a:pt x="2834640" y="180340"/>
                </a:lnTo>
                <a:lnTo>
                  <a:pt x="2833370" y="180340"/>
                </a:lnTo>
                <a:lnTo>
                  <a:pt x="2692400" y="121920"/>
                </a:lnTo>
                <a:lnTo>
                  <a:pt x="2691130" y="121920"/>
                </a:lnTo>
                <a:lnTo>
                  <a:pt x="2552700" y="74930"/>
                </a:lnTo>
                <a:lnTo>
                  <a:pt x="2416810" y="40640"/>
                </a:lnTo>
                <a:lnTo>
                  <a:pt x="2415540" y="40640"/>
                </a:lnTo>
                <a:lnTo>
                  <a:pt x="2283460" y="17780"/>
                </a:lnTo>
                <a:lnTo>
                  <a:pt x="2280894" y="31877"/>
                </a:lnTo>
                <a:lnTo>
                  <a:pt x="2280920" y="31623"/>
                </a:lnTo>
                <a:lnTo>
                  <a:pt x="2283460" y="17780"/>
                </a:lnTo>
                <a:lnTo>
                  <a:pt x="2282190" y="17780"/>
                </a:lnTo>
                <a:lnTo>
                  <a:pt x="2150110" y="3810"/>
                </a:lnTo>
                <a:lnTo>
                  <a:pt x="2019300" y="0"/>
                </a:lnTo>
                <a:lnTo>
                  <a:pt x="2018030" y="0"/>
                </a:lnTo>
                <a:lnTo>
                  <a:pt x="1889760" y="6350"/>
                </a:lnTo>
                <a:lnTo>
                  <a:pt x="1888490" y="6350"/>
                </a:lnTo>
                <a:lnTo>
                  <a:pt x="1764030" y="24130"/>
                </a:lnTo>
                <a:lnTo>
                  <a:pt x="1762760" y="24130"/>
                </a:lnTo>
                <a:lnTo>
                  <a:pt x="1640840" y="52070"/>
                </a:lnTo>
                <a:lnTo>
                  <a:pt x="1639570" y="52070"/>
                </a:lnTo>
                <a:lnTo>
                  <a:pt x="1518920" y="91440"/>
                </a:lnTo>
                <a:lnTo>
                  <a:pt x="1517650" y="91440"/>
                </a:lnTo>
                <a:lnTo>
                  <a:pt x="1398270" y="140970"/>
                </a:lnTo>
                <a:lnTo>
                  <a:pt x="1397000" y="140970"/>
                </a:lnTo>
                <a:lnTo>
                  <a:pt x="1277620" y="200660"/>
                </a:lnTo>
                <a:lnTo>
                  <a:pt x="1276350" y="201930"/>
                </a:lnTo>
                <a:lnTo>
                  <a:pt x="1154430" y="271780"/>
                </a:lnTo>
                <a:lnTo>
                  <a:pt x="1029970" y="351790"/>
                </a:lnTo>
                <a:lnTo>
                  <a:pt x="963930" y="400050"/>
                </a:lnTo>
                <a:lnTo>
                  <a:pt x="895350" y="454660"/>
                </a:lnTo>
                <a:lnTo>
                  <a:pt x="894080" y="454660"/>
                </a:lnTo>
                <a:lnTo>
                  <a:pt x="750570" y="584200"/>
                </a:lnTo>
                <a:lnTo>
                  <a:pt x="760095" y="594995"/>
                </a:lnTo>
                <a:lnTo>
                  <a:pt x="759460" y="594360"/>
                </a:lnTo>
                <a:lnTo>
                  <a:pt x="750570" y="584200"/>
                </a:lnTo>
                <a:lnTo>
                  <a:pt x="749300" y="585470"/>
                </a:lnTo>
                <a:lnTo>
                  <a:pt x="452120" y="883920"/>
                </a:lnTo>
                <a:lnTo>
                  <a:pt x="452120" y="885190"/>
                </a:lnTo>
                <a:lnTo>
                  <a:pt x="462280" y="894080"/>
                </a:lnTo>
                <a:lnTo>
                  <a:pt x="462915" y="894715"/>
                </a:lnTo>
                <a:lnTo>
                  <a:pt x="452120" y="885190"/>
                </a:lnTo>
                <a:lnTo>
                  <a:pt x="0" y="1371600"/>
                </a:lnTo>
                <a:lnTo>
                  <a:pt x="10160" y="1381760"/>
                </a:lnTo>
                <a:lnTo>
                  <a:pt x="21590" y="1391920"/>
                </a:lnTo>
                <a:lnTo>
                  <a:pt x="473710" y="904240"/>
                </a:lnTo>
                <a:lnTo>
                  <a:pt x="473024" y="903643"/>
                </a:lnTo>
                <a:lnTo>
                  <a:pt x="769023" y="605129"/>
                </a:lnTo>
                <a:lnTo>
                  <a:pt x="769620" y="605790"/>
                </a:lnTo>
                <a:lnTo>
                  <a:pt x="914400" y="476250"/>
                </a:lnTo>
                <a:lnTo>
                  <a:pt x="913828" y="475691"/>
                </a:lnTo>
                <a:lnTo>
                  <a:pt x="981087" y="422135"/>
                </a:lnTo>
                <a:lnTo>
                  <a:pt x="981710" y="422910"/>
                </a:lnTo>
                <a:lnTo>
                  <a:pt x="1046480" y="375920"/>
                </a:lnTo>
                <a:lnTo>
                  <a:pt x="1046073" y="375361"/>
                </a:lnTo>
                <a:lnTo>
                  <a:pt x="1169670" y="295910"/>
                </a:lnTo>
                <a:lnTo>
                  <a:pt x="1169314" y="295389"/>
                </a:lnTo>
                <a:lnTo>
                  <a:pt x="1290320" y="226060"/>
                </a:lnTo>
                <a:lnTo>
                  <a:pt x="1290027" y="225577"/>
                </a:lnTo>
                <a:lnTo>
                  <a:pt x="1408226" y="167106"/>
                </a:lnTo>
                <a:lnTo>
                  <a:pt x="1408430" y="167640"/>
                </a:lnTo>
                <a:lnTo>
                  <a:pt x="1529080" y="118110"/>
                </a:lnTo>
                <a:lnTo>
                  <a:pt x="1528914" y="117767"/>
                </a:lnTo>
                <a:lnTo>
                  <a:pt x="1648460" y="80010"/>
                </a:lnTo>
                <a:lnTo>
                  <a:pt x="1648358" y="79743"/>
                </a:lnTo>
                <a:lnTo>
                  <a:pt x="1769110" y="52070"/>
                </a:lnTo>
                <a:lnTo>
                  <a:pt x="1769059" y="51904"/>
                </a:lnTo>
                <a:lnTo>
                  <a:pt x="1892300" y="34290"/>
                </a:lnTo>
                <a:lnTo>
                  <a:pt x="2018753" y="29235"/>
                </a:lnTo>
                <a:lnTo>
                  <a:pt x="2147570" y="32994"/>
                </a:lnTo>
                <a:lnTo>
                  <a:pt x="2278392" y="45605"/>
                </a:lnTo>
                <a:lnTo>
                  <a:pt x="2410510" y="68376"/>
                </a:lnTo>
                <a:lnTo>
                  <a:pt x="2410460" y="68580"/>
                </a:lnTo>
                <a:lnTo>
                  <a:pt x="2543911" y="102577"/>
                </a:lnTo>
                <a:lnTo>
                  <a:pt x="2543810" y="102870"/>
                </a:lnTo>
                <a:lnTo>
                  <a:pt x="2682240" y="148590"/>
                </a:lnTo>
                <a:lnTo>
                  <a:pt x="2682468" y="147967"/>
                </a:lnTo>
                <a:lnTo>
                  <a:pt x="2821940" y="207010"/>
                </a:lnTo>
                <a:lnTo>
                  <a:pt x="2822321" y="205943"/>
                </a:lnTo>
                <a:lnTo>
                  <a:pt x="2966720" y="278130"/>
                </a:lnTo>
                <a:lnTo>
                  <a:pt x="2966923" y="277723"/>
                </a:lnTo>
                <a:lnTo>
                  <a:pt x="3114383" y="362699"/>
                </a:lnTo>
                <a:lnTo>
                  <a:pt x="3114040" y="363220"/>
                </a:lnTo>
                <a:lnTo>
                  <a:pt x="3275761" y="473151"/>
                </a:lnTo>
                <a:lnTo>
                  <a:pt x="3275330" y="473710"/>
                </a:lnTo>
                <a:lnTo>
                  <a:pt x="3453130" y="614680"/>
                </a:lnTo>
                <a:lnTo>
                  <a:pt x="3453714" y="613930"/>
                </a:lnTo>
                <a:lnTo>
                  <a:pt x="3826510" y="943610"/>
                </a:lnTo>
                <a:lnTo>
                  <a:pt x="4442460" y="1517650"/>
                </a:lnTo>
                <a:lnTo>
                  <a:pt x="4462780" y="149733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625590" y="4149090"/>
            <a:ext cx="6934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10" dirty="0">
                <a:latin typeface="Palatino Linotype"/>
                <a:cs typeface="Palatino Linotype"/>
              </a:rPr>
              <a:t>p</a:t>
            </a:r>
            <a:r>
              <a:rPr sz="1725" spc="-15" baseline="-24154" dirty="0">
                <a:latin typeface="Cambria"/>
                <a:cs typeface="Cambria"/>
              </a:rPr>
              <a:t>12</a:t>
            </a:r>
            <a:r>
              <a:rPr sz="2000" spc="-10" dirty="0">
                <a:latin typeface="Cambria"/>
                <a:cs typeface="Cambria"/>
              </a:rPr>
              <a:t>(</a:t>
            </a:r>
            <a:r>
              <a:rPr sz="2000" i="1" spc="-10" dirty="0">
                <a:latin typeface="Cambria"/>
                <a:cs typeface="Cambria"/>
              </a:rPr>
              <a:t>u</a:t>
            </a:r>
            <a:r>
              <a:rPr sz="2000" spc="-10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49424" y="2528344"/>
            <a:ext cx="6002655" cy="2972435"/>
            <a:chOff x="2025423" y="2528343"/>
            <a:chExt cx="6002655" cy="2972435"/>
          </a:xfrm>
        </p:grpSpPr>
        <p:sp>
          <p:nvSpPr>
            <p:cNvPr id="15" name="object 15"/>
            <p:cNvSpPr/>
            <p:nvPr/>
          </p:nvSpPr>
          <p:spPr>
            <a:xfrm>
              <a:off x="5499100" y="2618740"/>
              <a:ext cx="2438400" cy="2820670"/>
            </a:xfrm>
            <a:custGeom>
              <a:avLst/>
              <a:gdLst/>
              <a:ahLst/>
              <a:cxnLst/>
              <a:rect l="l" t="t" r="r" b="b"/>
              <a:pathLst>
                <a:path w="2438400" h="2820670">
                  <a:moveTo>
                    <a:pt x="0" y="2820670"/>
                  </a:moveTo>
                  <a:lnTo>
                    <a:pt x="2438400" y="0"/>
                  </a:lnTo>
                </a:path>
              </a:pathLst>
            </a:custGeom>
            <a:ln w="283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56963" y="5396003"/>
              <a:ext cx="104593" cy="10459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23303" y="2528343"/>
              <a:ext cx="104593" cy="10459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52803" y="4100603"/>
              <a:ext cx="104593" cy="10459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25423" y="4253003"/>
              <a:ext cx="104593" cy="10459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00933" y="3671343"/>
              <a:ext cx="110943" cy="10459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65193" y="4015513"/>
              <a:ext cx="110943" cy="10459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67883" y="3684043"/>
              <a:ext cx="112213" cy="10459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126740" y="2559049"/>
              <a:ext cx="4855210" cy="1517650"/>
            </a:xfrm>
            <a:custGeom>
              <a:avLst/>
              <a:gdLst/>
              <a:ahLst/>
              <a:cxnLst/>
              <a:rect l="l" t="t" r="r" b="b"/>
              <a:pathLst>
                <a:path w="4855209" h="1517650">
                  <a:moveTo>
                    <a:pt x="4183380" y="596900"/>
                  </a:moveTo>
                  <a:lnTo>
                    <a:pt x="4173220" y="585470"/>
                  </a:lnTo>
                  <a:lnTo>
                    <a:pt x="4164330" y="575310"/>
                  </a:lnTo>
                  <a:lnTo>
                    <a:pt x="3759301" y="903135"/>
                  </a:lnTo>
                  <a:lnTo>
                    <a:pt x="3759200" y="902970"/>
                  </a:lnTo>
                  <a:lnTo>
                    <a:pt x="3564890" y="1043940"/>
                  </a:lnTo>
                  <a:lnTo>
                    <a:pt x="3565296" y="1044486"/>
                  </a:lnTo>
                  <a:lnTo>
                    <a:pt x="3391065" y="1154785"/>
                  </a:lnTo>
                  <a:lnTo>
                    <a:pt x="3390900" y="1154430"/>
                  </a:lnTo>
                  <a:lnTo>
                    <a:pt x="3228797" y="1240548"/>
                  </a:lnTo>
                  <a:lnTo>
                    <a:pt x="3228340" y="1239520"/>
                  </a:lnTo>
                  <a:lnTo>
                    <a:pt x="3070860" y="1311910"/>
                  </a:lnTo>
                  <a:lnTo>
                    <a:pt x="3071050" y="1312316"/>
                  </a:lnTo>
                  <a:lnTo>
                    <a:pt x="2919920" y="1369783"/>
                  </a:lnTo>
                  <a:lnTo>
                    <a:pt x="2919730" y="1369060"/>
                  </a:lnTo>
                  <a:lnTo>
                    <a:pt x="2770060" y="1415592"/>
                  </a:lnTo>
                  <a:lnTo>
                    <a:pt x="2769870" y="1414780"/>
                  </a:lnTo>
                  <a:lnTo>
                    <a:pt x="2622550" y="1449070"/>
                  </a:lnTo>
                  <a:lnTo>
                    <a:pt x="2622600" y="1449273"/>
                  </a:lnTo>
                  <a:lnTo>
                    <a:pt x="2479040" y="1473200"/>
                  </a:lnTo>
                  <a:lnTo>
                    <a:pt x="2336800" y="1485900"/>
                  </a:lnTo>
                  <a:lnTo>
                    <a:pt x="2196617" y="1489697"/>
                  </a:lnTo>
                  <a:lnTo>
                    <a:pt x="2057400" y="1483360"/>
                  </a:lnTo>
                  <a:lnTo>
                    <a:pt x="1922780" y="1465580"/>
                  </a:lnTo>
                  <a:lnTo>
                    <a:pt x="1922602" y="1466557"/>
                  </a:lnTo>
                  <a:lnTo>
                    <a:pt x="1791893" y="1439164"/>
                  </a:lnTo>
                  <a:lnTo>
                    <a:pt x="1791970" y="1438910"/>
                  </a:lnTo>
                  <a:lnTo>
                    <a:pt x="1661160" y="1399540"/>
                  </a:lnTo>
                  <a:lnTo>
                    <a:pt x="1660753" y="1400657"/>
                  </a:lnTo>
                  <a:lnTo>
                    <a:pt x="1531620" y="1351280"/>
                  </a:lnTo>
                  <a:lnTo>
                    <a:pt x="1401838" y="1292072"/>
                  </a:lnTo>
                  <a:lnTo>
                    <a:pt x="1402080" y="1291590"/>
                  </a:lnTo>
                  <a:lnTo>
                    <a:pt x="1270000" y="1221740"/>
                  </a:lnTo>
                  <a:lnTo>
                    <a:pt x="1135380" y="1141730"/>
                  </a:lnTo>
                  <a:lnTo>
                    <a:pt x="1135214" y="1141996"/>
                  </a:lnTo>
                  <a:lnTo>
                    <a:pt x="990600" y="1040130"/>
                  </a:lnTo>
                  <a:lnTo>
                    <a:pt x="990498" y="1040282"/>
                  </a:lnTo>
                  <a:lnTo>
                    <a:pt x="834390" y="911860"/>
                  </a:lnTo>
                  <a:lnTo>
                    <a:pt x="511810" y="613410"/>
                  </a:lnTo>
                  <a:lnTo>
                    <a:pt x="20320" y="125730"/>
                  </a:lnTo>
                  <a:lnTo>
                    <a:pt x="0" y="146050"/>
                  </a:lnTo>
                  <a:lnTo>
                    <a:pt x="491490" y="633730"/>
                  </a:lnTo>
                  <a:lnTo>
                    <a:pt x="492760" y="633730"/>
                  </a:lnTo>
                  <a:lnTo>
                    <a:pt x="816610" y="933450"/>
                  </a:lnTo>
                  <a:lnTo>
                    <a:pt x="816610" y="934720"/>
                  </a:lnTo>
                  <a:lnTo>
                    <a:pt x="974090" y="1062990"/>
                  </a:lnTo>
                  <a:lnTo>
                    <a:pt x="975360" y="1064260"/>
                  </a:lnTo>
                  <a:lnTo>
                    <a:pt x="1118870" y="1165860"/>
                  </a:lnTo>
                  <a:lnTo>
                    <a:pt x="1120140" y="1167130"/>
                  </a:lnTo>
                  <a:lnTo>
                    <a:pt x="1256030" y="1247140"/>
                  </a:lnTo>
                  <a:lnTo>
                    <a:pt x="1388110" y="1316990"/>
                  </a:lnTo>
                  <a:lnTo>
                    <a:pt x="1389380" y="1316990"/>
                  </a:lnTo>
                  <a:lnTo>
                    <a:pt x="1520190" y="1376680"/>
                  </a:lnTo>
                  <a:lnTo>
                    <a:pt x="1521460" y="1377950"/>
                  </a:lnTo>
                  <a:lnTo>
                    <a:pt x="1651000" y="1427480"/>
                  </a:lnTo>
                  <a:lnTo>
                    <a:pt x="1652270" y="1427480"/>
                  </a:lnTo>
                  <a:lnTo>
                    <a:pt x="1783080" y="1465580"/>
                  </a:lnTo>
                  <a:lnTo>
                    <a:pt x="1784350" y="1465580"/>
                  </a:lnTo>
                  <a:lnTo>
                    <a:pt x="1917700" y="1494790"/>
                  </a:lnTo>
                  <a:lnTo>
                    <a:pt x="1918970" y="1494790"/>
                  </a:lnTo>
                  <a:lnTo>
                    <a:pt x="2054860" y="1511300"/>
                  </a:lnTo>
                  <a:lnTo>
                    <a:pt x="2056130" y="1511300"/>
                  </a:lnTo>
                  <a:lnTo>
                    <a:pt x="2194560" y="1517650"/>
                  </a:lnTo>
                  <a:lnTo>
                    <a:pt x="2195830" y="1517650"/>
                  </a:lnTo>
                  <a:lnTo>
                    <a:pt x="2338070" y="1513840"/>
                  </a:lnTo>
                  <a:lnTo>
                    <a:pt x="2339340" y="1513840"/>
                  </a:lnTo>
                  <a:lnTo>
                    <a:pt x="2482850" y="1501140"/>
                  </a:lnTo>
                  <a:lnTo>
                    <a:pt x="2484120" y="1501140"/>
                  </a:lnTo>
                  <a:lnTo>
                    <a:pt x="2627630" y="1477010"/>
                  </a:lnTo>
                  <a:lnTo>
                    <a:pt x="2628900" y="1477010"/>
                  </a:lnTo>
                  <a:lnTo>
                    <a:pt x="2776220" y="1442720"/>
                  </a:lnTo>
                  <a:lnTo>
                    <a:pt x="2777490" y="1442720"/>
                  </a:lnTo>
                  <a:lnTo>
                    <a:pt x="2927350" y="1397000"/>
                  </a:lnTo>
                  <a:lnTo>
                    <a:pt x="2928620" y="1397000"/>
                  </a:lnTo>
                  <a:lnTo>
                    <a:pt x="3082290" y="1338580"/>
                  </a:lnTo>
                  <a:lnTo>
                    <a:pt x="3239770" y="1266190"/>
                  </a:lnTo>
                  <a:lnTo>
                    <a:pt x="3241040" y="1266190"/>
                  </a:lnTo>
                  <a:lnTo>
                    <a:pt x="3403600" y="1179830"/>
                  </a:lnTo>
                  <a:lnTo>
                    <a:pt x="3404857" y="1178560"/>
                  </a:lnTo>
                  <a:lnTo>
                    <a:pt x="3581400" y="1068070"/>
                  </a:lnTo>
                  <a:lnTo>
                    <a:pt x="3581400" y="1066800"/>
                  </a:lnTo>
                  <a:lnTo>
                    <a:pt x="3775710" y="927100"/>
                  </a:lnTo>
                  <a:lnTo>
                    <a:pt x="3775710" y="925830"/>
                  </a:lnTo>
                  <a:lnTo>
                    <a:pt x="4182110" y="596900"/>
                  </a:lnTo>
                  <a:lnTo>
                    <a:pt x="4183380" y="596900"/>
                  </a:lnTo>
                  <a:close/>
                </a:path>
                <a:path w="4855209" h="1517650">
                  <a:moveTo>
                    <a:pt x="4855210" y="21590"/>
                  </a:moveTo>
                  <a:lnTo>
                    <a:pt x="4836160" y="0"/>
                  </a:lnTo>
                  <a:lnTo>
                    <a:pt x="4164330" y="575310"/>
                  </a:lnTo>
                  <a:lnTo>
                    <a:pt x="4183380" y="596900"/>
                  </a:lnTo>
                  <a:lnTo>
                    <a:pt x="4855210" y="2159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03323" y="3910103"/>
              <a:ext cx="104593" cy="10459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00603" y="3960903"/>
              <a:ext cx="104593" cy="10459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08223" y="4240303"/>
              <a:ext cx="104593" cy="10459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53203" y="3808503"/>
              <a:ext cx="104593" cy="104593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9505950" y="2015490"/>
            <a:ext cx="304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b="1" spc="-37" baseline="-24154" dirty="0">
                <a:latin typeface="Palatino Linotype"/>
                <a:cs typeface="Palatino Linotype"/>
              </a:rPr>
              <a:t>3</a:t>
            </a:r>
            <a:endParaRPr sz="1725" baseline="-24154">
              <a:latin typeface="Palatino Linotype"/>
              <a:cs typeface="Palatino Linotyp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68490" y="3234690"/>
            <a:ext cx="6934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10" dirty="0">
                <a:latin typeface="Palatino Linotype"/>
                <a:cs typeface="Palatino Linotype"/>
              </a:rPr>
              <a:t>p</a:t>
            </a:r>
            <a:r>
              <a:rPr sz="1725" b="1" spc="-15" baseline="-24154" dirty="0">
                <a:latin typeface="Palatino Linotype"/>
                <a:cs typeface="Palatino Linotype"/>
              </a:rPr>
              <a:t>03</a:t>
            </a:r>
            <a:r>
              <a:rPr sz="2000" spc="-10" dirty="0">
                <a:latin typeface="Cambria"/>
                <a:cs typeface="Cambria"/>
              </a:rPr>
              <a:t>(</a:t>
            </a:r>
            <a:r>
              <a:rPr sz="2000" i="1" spc="-10" dirty="0">
                <a:latin typeface="Cambria"/>
                <a:cs typeface="Cambria"/>
              </a:rPr>
              <a:t>u</a:t>
            </a:r>
            <a:r>
              <a:rPr sz="2000" spc="-10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523490" y="2579369"/>
            <a:ext cx="6932930" cy="2783840"/>
          </a:xfrm>
          <a:custGeom>
            <a:avLst/>
            <a:gdLst/>
            <a:ahLst/>
            <a:cxnLst/>
            <a:rect l="l" t="t" r="r" b="b"/>
            <a:pathLst>
              <a:path w="6932930" h="2783840">
                <a:moveTo>
                  <a:pt x="6932930" y="22860"/>
                </a:moveTo>
                <a:lnTo>
                  <a:pt x="6925310" y="11430"/>
                </a:lnTo>
                <a:lnTo>
                  <a:pt x="6916420" y="0"/>
                </a:lnTo>
                <a:lnTo>
                  <a:pt x="5975350" y="652780"/>
                </a:lnTo>
                <a:lnTo>
                  <a:pt x="5975782" y="653338"/>
                </a:lnTo>
                <a:lnTo>
                  <a:pt x="5691403" y="842924"/>
                </a:lnTo>
                <a:lnTo>
                  <a:pt x="5690870" y="842010"/>
                </a:lnTo>
                <a:lnTo>
                  <a:pt x="5406390" y="1019810"/>
                </a:lnTo>
                <a:lnTo>
                  <a:pt x="5133340" y="1169670"/>
                </a:lnTo>
                <a:lnTo>
                  <a:pt x="5133581" y="1170165"/>
                </a:lnTo>
                <a:lnTo>
                  <a:pt x="5005070" y="1230630"/>
                </a:lnTo>
                <a:lnTo>
                  <a:pt x="5005286" y="1231074"/>
                </a:lnTo>
                <a:lnTo>
                  <a:pt x="4884420" y="1281430"/>
                </a:lnTo>
                <a:lnTo>
                  <a:pt x="4884559" y="1281811"/>
                </a:lnTo>
                <a:lnTo>
                  <a:pt x="4767580" y="1320800"/>
                </a:lnTo>
                <a:lnTo>
                  <a:pt x="4767681" y="1321117"/>
                </a:lnTo>
                <a:lnTo>
                  <a:pt x="4653508" y="1352143"/>
                </a:lnTo>
                <a:lnTo>
                  <a:pt x="4653280" y="1351280"/>
                </a:lnTo>
                <a:lnTo>
                  <a:pt x="4538980" y="1376680"/>
                </a:lnTo>
                <a:lnTo>
                  <a:pt x="4425950" y="1394460"/>
                </a:lnTo>
                <a:lnTo>
                  <a:pt x="4202430" y="1413510"/>
                </a:lnTo>
                <a:lnTo>
                  <a:pt x="3984752" y="1417307"/>
                </a:lnTo>
                <a:lnTo>
                  <a:pt x="3561080" y="1405890"/>
                </a:lnTo>
                <a:lnTo>
                  <a:pt x="3559810" y="1405890"/>
                </a:lnTo>
                <a:lnTo>
                  <a:pt x="3355340" y="1403350"/>
                </a:lnTo>
                <a:lnTo>
                  <a:pt x="3354070" y="1403350"/>
                </a:lnTo>
                <a:lnTo>
                  <a:pt x="3153410" y="1413510"/>
                </a:lnTo>
                <a:lnTo>
                  <a:pt x="2961640" y="1423670"/>
                </a:lnTo>
                <a:lnTo>
                  <a:pt x="2780030" y="1424940"/>
                </a:lnTo>
                <a:lnTo>
                  <a:pt x="2433320" y="1421130"/>
                </a:lnTo>
                <a:lnTo>
                  <a:pt x="2261870" y="1428750"/>
                </a:lnTo>
                <a:lnTo>
                  <a:pt x="2260600" y="1428750"/>
                </a:lnTo>
                <a:lnTo>
                  <a:pt x="2086610" y="1450340"/>
                </a:lnTo>
                <a:lnTo>
                  <a:pt x="2085340" y="1450340"/>
                </a:lnTo>
                <a:lnTo>
                  <a:pt x="1995170" y="1468120"/>
                </a:lnTo>
                <a:lnTo>
                  <a:pt x="1995170" y="1469390"/>
                </a:lnTo>
                <a:lnTo>
                  <a:pt x="1903730" y="1492250"/>
                </a:lnTo>
                <a:lnTo>
                  <a:pt x="1902460" y="1493520"/>
                </a:lnTo>
                <a:lnTo>
                  <a:pt x="1808480" y="1524000"/>
                </a:lnTo>
                <a:lnTo>
                  <a:pt x="1807210" y="1524000"/>
                </a:lnTo>
                <a:lnTo>
                  <a:pt x="1710690" y="1562100"/>
                </a:lnTo>
                <a:lnTo>
                  <a:pt x="1607820" y="1610360"/>
                </a:lnTo>
                <a:lnTo>
                  <a:pt x="1497330" y="1670050"/>
                </a:lnTo>
                <a:lnTo>
                  <a:pt x="1261110" y="1816100"/>
                </a:lnTo>
                <a:lnTo>
                  <a:pt x="1259840" y="1816100"/>
                </a:lnTo>
                <a:lnTo>
                  <a:pt x="1012190" y="1987550"/>
                </a:lnTo>
                <a:lnTo>
                  <a:pt x="763270" y="2171700"/>
                </a:lnTo>
                <a:lnTo>
                  <a:pt x="0" y="2760980"/>
                </a:lnTo>
                <a:lnTo>
                  <a:pt x="7620" y="2772410"/>
                </a:lnTo>
                <a:lnTo>
                  <a:pt x="16510" y="2783840"/>
                </a:lnTo>
                <a:lnTo>
                  <a:pt x="780427" y="2193772"/>
                </a:lnTo>
                <a:lnTo>
                  <a:pt x="781050" y="2194560"/>
                </a:lnTo>
                <a:lnTo>
                  <a:pt x="1028166" y="2010803"/>
                </a:lnTo>
                <a:lnTo>
                  <a:pt x="1028700" y="2011680"/>
                </a:lnTo>
                <a:lnTo>
                  <a:pt x="1276350" y="1840230"/>
                </a:lnTo>
                <a:lnTo>
                  <a:pt x="1275969" y="1839683"/>
                </a:lnTo>
                <a:lnTo>
                  <a:pt x="1510741" y="1694535"/>
                </a:lnTo>
                <a:lnTo>
                  <a:pt x="1511300" y="1695450"/>
                </a:lnTo>
                <a:lnTo>
                  <a:pt x="1620520" y="1635760"/>
                </a:lnTo>
                <a:lnTo>
                  <a:pt x="1620278" y="1635277"/>
                </a:lnTo>
                <a:lnTo>
                  <a:pt x="1720634" y="1588198"/>
                </a:lnTo>
                <a:lnTo>
                  <a:pt x="1720850" y="1588770"/>
                </a:lnTo>
                <a:lnTo>
                  <a:pt x="1818640" y="1550670"/>
                </a:lnTo>
                <a:lnTo>
                  <a:pt x="1818500" y="1550301"/>
                </a:lnTo>
                <a:lnTo>
                  <a:pt x="1911350" y="1520190"/>
                </a:lnTo>
                <a:lnTo>
                  <a:pt x="1911235" y="1519885"/>
                </a:lnTo>
                <a:lnTo>
                  <a:pt x="2001520" y="1496060"/>
                </a:lnTo>
                <a:lnTo>
                  <a:pt x="2090420" y="1478280"/>
                </a:lnTo>
                <a:lnTo>
                  <a:pt x="2090381" y="1478127"/>
                </a:lnTo>
                <a:lnTo>
                  <a:pt x="2264410" y="1456690"/>
                </a:lnTo>
                <a:lnTo>
                  <a:pt x="2434336" y="1449082"/>
                </a:lnTo>
                <a:lnTo>
                  <a:pt x="2780030" y="1452880"/>
                </a:lnTo>
                <a:lnTo>
                  <a:pt x="2962910" y="1452880"/>
                </a:lnTo>
                <a:lnTo>
                  <a:pt x="3154680" y="1441450"/>
                </a:lnTo>
                <a:lnTo>
                  <a:pt x="3355340" y="1432560"/>
                </a:lnTo>
                <a:lnTo>
                  <a:pt x="3559810" y="1433830"/>
                </a:lnTo>
                <a:lnTo>
                  <a:pt x="3983990" y="1445260"/>
                </a:lnTo>
                <a:lnTo>
                  <a:pt x="3985260" y="1445260"/>
                </a:lnTo>
                <a:lnTo>
                  <a:pt x="4203700" y="1441450"/>
                </a:lnTo>
                <a:lnTo>
                  <a:pt x="4204970" y="1441450"/>
                </a:lnTo>
                <a:lnTo>
                  <a:pt x="4428490" y="1422400"/>
                </a:lnTo>
                <a:lnTo>
                  <a:pt x="4429760" y="1422400"/>
                </a:lnTo>
                <a:lnTo>
                  <a:pt x="4544060" y="1404620"/>
                </a:lnTo>
                <a:lnTo>
                  <a:pt x="4659630" y="1380490"/>
                </a:lnTo>
                <a:lnTo>
                  <a:pt x="4659630" y="1379220"/>
                </a:lnTo>
                <a:lnTo>
                  <a:pt x="4776470" y="1347470"/>
                </a:lnTo>
                <a:lnTo>
                  <a:pt x="4894580" y="1308100"/>
                </a:lnTo>
                <a:lnTo>
                  <a:pt x="4894580" y="1306830"/>
                </a:lnTo>
                <a:lnTo>
                  <a:pt x="5016500" y="1257300"/>
                </a:lnTo>
                <a:lnTo>
                  <a:pt x="5017770" y="1256030"/>
                </a:lnTo>
                <a:lnTo>
                  <a:pt x="5146040" y="1195070"/>
                </a:lnTo>
                <a:lnTo>
                  <a:pt x="5147310" y="1195070"/>
                </a:lnTo>
                <a:lnTo>
                  <a:pt x="5420360" y="1043940"/>
                </a:lnTo>
                <a:lnTo>
                  <a:pt x="5706110" y="867410"/>
                </a:lnTo>
                <a:lnTo>
                  <a:pt x="5706110" y="866140"/>
                </a:lnTo>
                <a:lnTo>
                  <a:pt x="5991860" y="675640"/>
                </a:lnTo>
                <a:lnTo>
                  <a:pt x="6932930" y="2286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1375">
              <a:spcBef>
                <a:spcPts val="100"/>
              </a:spcBef>
            </a:pPr>
            <a:r>
              <a:rPr dirty="0"/>
              <a:t>Algoritmo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Casteljau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70" y="161670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70" y="485520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2000" y="1559590"/>
            <a:ext cx="7309484" cy="4724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spcBef>
                <a:spcPts val="10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Novamente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temos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dada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pela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soma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de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4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funções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mistura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(agora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cúbicas),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cada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uma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multiplicada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um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dos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4</a:t>
            </a:r>
            <a:r>
              <a:rPr sz="26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37515" indent="-285115">
              <a:spcBef>
                <a:spcPts val="650"/>
              </a:spcBef>
              <a:buFont typeface="Wingdings"/>
              <a:buChar char=""/>
              <a:tabLst>
                <a:tab pos="437515" algn="l"/>
              </a:tabLst>
            </a:pPr>
            <a:r>
              <a:rPr sz="3600" i="1" baseline="1157" dirty="0">
                <a:solidFill>
                  <a:srgbClr val="002454"/>
                </a:solidFill>
                <a:latin typeface="Arial"/>
                <a:cs typeface="Arial"/>
              </a:rPr>
              <a:t>b</a:t>
            </a:r>
            <a:r>
              <a:rPr sz="2100" baseline="-21825" dirty="0">
                <a:solidFill>
                  <a:srgbClr val="002454"/>
                </a:solidFill>
                <a:latin typeface="Arial MT"/>
                <a:cs typeface="Arial MT"/>
              </a:rPr>
              <a:t>03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3600" i="1" baseline="1157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3600" spc="-52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3600" spc="-7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(1</a:t>
            </a:r>
            <a:r>
              <a:rPr sz="3600" spc="-7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3600" spc="-30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i="1" spc="-30" baseline="1157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3600" spc="-30" baseline="1157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3600" spc="-419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75" baseline="31746" dirty="0">
                <a:solidFill>
                  <a:srgbClr val="002454"/>
                </a:solidFill>
                <a:latin typeface="Arial MT"/>
                <a:cs typeface="Arial MT"/>
              </a:rPr>
              <a:t>3</a:t>
            </a:r>
            <a:endParaRPr sz="2100" baseline="31746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37515" indent="-285115">
              <a:spcBef>
                <a:spcPts val="1000"/>
              </a:spcBef>
              <a:buFont typeface="Wingdings"/>
              <a:buChar char=""/>
              <a:tabLst>
                <a:tab pos="437515" algn="l"/>
              </a:tabLst>
            </a:pPr>
            <a:r>
              <a:rPr sz="3600" i="1" baseline="1157" dirty="0">
                <a:solidFill>
                  <a:srgbClr val="002454"/>
                </a:solidFill>
                <a:latin typeface="Arial"/>
                <a:cs typeface="Arial"/>
              </a:rPr>
              <a:t>b</a:t>
            </a:r>
            <a:r>
              <a:rPr sz="2100" baseline="-21825" dirty="0">
                <a:solidFill>
                  <a:srgbClr val="002454"/>
                </a:solidFill>
                <a:latin typeface="Arial MT"/>
                <a:cs typeface="Arial MT"/>
              </a:rPr>
              <a:t>13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3600" i="1" baseline="1157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3600" spc="-37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3600" spc="-15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3</a:t>
            </a:r>
            <a:r>
              <a:rPr sz="3600" spc="-30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i="1" baseline="1157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3600" i="1" spc="-22" baseline="1157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(1</a:t>
            </a:r>
            <a:r>
              <a:rPr sz="3600" spc="-37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3600" spc="-7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i="1" spc="-37" baseline="1157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3600" spc="-37" baseline="1157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100" spc="-37" baseline="31746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endParaRPr sz="2100" baseline="31746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37515" indent="-285115">
              <a:spcBef>
                <a:spcPts val="990"/>
              </a:spcBef>
              <a:buFont typeface="Wingdings"/>
              <a:buChar char=""/>
              <a:tabLst>
                <a:tab pos="437515" algn="l"/>
              </a:tabLst>
            </a:pPr>
            <a:r>
              <a:rPr sz="3600" i="1" baseline="1157" dirty="0">
                <a:solidFill>
                  <a:srgbClr val="002454"/>
                </a:solidFill>
                <a:latin typeface="Arial"/>
                <a:cs typeface="Arial"/>
              </a:rPr>
              <a:t>b</a:t>
            </a:r>
            <a:r>
              <a:rPr sz="2100" baseline="-21825" dirty="0">
                <a:solidFill>
                  <a:srgbClr val="002454"/>
                </a:solidFill>
                <a:latin typeface="Arial MT"/>
                <a:cs typeface="Arial MT"/>
              </a:rPr>
              <a:t>23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3600" i="1" baseline="1157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3600" spc="-37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3600" spc="-15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3</a:t>
            </a:r>
            <a:r>
              <a:rPr sz="3600" spc="-22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i="1" baseline="1157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100" i="1" baseline="31746" dirty="0">
                <a:solidFill>
                  <a:srgbClr val="002454"/>
                </a:solidFill>
                <a:latin typeface="Arial"/>
                <a:cs typeface="Arial"/>
              </a:rPr>
              <a:t>2</a:t>
            </a:r>
            <a:r>
              <a:rPr sz="2100" i="1" spc="382" baseline="31746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(1</a:t>
            </a:r>
            <a:r>
              <a:rPr sz="3600" spc="-30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3600" spc="-22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i="1" spc="-37" baseline="1157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3600" spc="-37" baseline="1157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endParaRPr sz="3600" baseline="1157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37515" indent="-285115">
              <a:spcBef>
                <a:spcPts val="1000"/>
              </a:spcBef>
              <a:buFont typeface="Wingdings"/>
              <a:buChar char=""/>
              <a:tabLst>
                <a:tab pos="437515" algn="l"/>
              </a:tabLst>
            </a:pPr>
            <a:r>
              <a:rPr sz="3600" i="1" baseline="1157" dirty="0">
                <a:solidFill>
                  <a:srgbClr val="002454"/>
                </a:solidFill>
                <a:latin typeface="Arial"/>
                <a:cs typeface="Arial"/>
              </a:rPr>
              <a:t>b</a:t>
            </a:r>
            <a:r>
              <a:rPr sz="2100" baseline="-21825" dirty="0">
                <a:solidFill>
                  <a:srgbClr val="002454"/>
                </a:solidFill>
                <a:latin typeface="Arial MT"/>
                <a:cs typeface="Arial MT"/>
              </a:rPr>
              <a:t>33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3600" i="1" baseline="1157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3600" spc="-44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3600" spc="-15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i="1" spc="-37" baseline="1157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100" i="1" spc="-37" baseline="31746" dirty="0">
                <a:solidFill>
                  <a:srgbClr val="002454"/>
                </a:solidFill>
                <a:latin typeface="Arial"/>
                <a:cs typeface="Arial"/>
              </a:rPr>
              <a:t>3</a:t>
            </a:r>
            <a:endParaRPr sz="2100" baseline="31746" dirty="0">
              <a:solidFill>
                <a:srgbClr val="002454"/>
              </a:solidFill>
              <a:latin typeface="Arial"/>
              <a:cs typeface="Arial"/>
            </a:endParaRPr>
          </a:p>
          <a:p>
            <a:pPr marL="38100" marR="858519">
              <a:spcBef>
                <a:spcPts val="98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geral,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26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grau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n</a:t>
            </a:r>
            <a:r>
              <a:rPr sz="2600" i="1" spc="-3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pode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ser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construída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desta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20" dirty="0">
                <a:solidFill>
                  <a:srgbClr val="002454"/>
                </a:solidFill>
                <a:latin typeface="Arial MT"/>
                <a:cs typeface="Arial MT"/>
              </a:rPr>
              <a:t>fo</a:t>
            </a:r>
            <a:r>
              <a:rPr sz="2025" i="1" spc="-179" baseline="-22633" dirty="0">
                <a:solidFill>
                  <a:srgbClr val="002454"/>
                </a:solidFill>
                <a:latin typeface="Times New Roman"/>
                <a:cs typeface="Times New Roman"/>
              </a:rPr>
              <a:t>n</a:t>
            </a:r>
            <a:r>
              <a:rPr sz="2600" spc="-120" dirty="0">
                <a:solidFill>
                  <a:srgbClr val="002454"/>
                </a:solidFill>
                <a:latin typeface="Arial MT"/>
                <a:cs typeface="Arial MT"/>
              </a:rPr>
              <a:t>rma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será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expressa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R="1604645" algn="ctr">
              <a:lnSpc>
                <a:spcPts val="3080"/>
              </a:lnSpc>
              <a:tabLst>
                <a:tab pos="1054735" algn="l"/>
              </a:tabLst>
            </a:pPr>
            <a:r>
              <a:rPr sz="2300" b="1" spc="65" dirty="0">
                <a:solidFill>
                  <a:srgbClr val="002454"/>
                </a:solidFill>
                <a:latin typeface="Times New Roman"/>
                <a:cs typeface="Times New Roman"/>
              </a:rPr>
              <a:t>p</a:t>
            </a:r>
            <a:r>
              <a:rPr sz="2025" spc="97" baseline="-24691" dirty="0">
                <a:solidFill>
                  <a:srgbClr val="002454"/>
                </a:solidFill>
                <a:latin typeface="Times New Roman"/>
                <a:cs typeface="Times New Roman"/>
              </a:rPr>
              <a:t>0</a:t>
            </a:r>
            <a:r>
              <a:rPr sz="2025" spc="-337" baseline="-24691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2025" i="1" baseline="-24691" dirty="0">
                <a:solidFill>
                  <a:srgbClr val="002454"/>
                </a:solidFill>
                <a:latin typeface="Times New Roman"/>
                <a:cs typeface="Times New Roman"/>
              </a:rPr>
              <a:t>n</a:t>
            </a:r>
            <a:r>
              <a:rPr sz="2025" i="1" spc="-7" baseline="-24691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2454"/>
                </a:solidFill>
                <a:latin typeface="Times New Roman"/>
                <a:cs typeface="Times New Roman"/>
              </a:rPr>
              <a:t>(</a:t>
            </a:r>
            <a:r>
              <a:rPr sz="2300" i="1" dirty="0">
                <a:solidFill>
                  <a:srgbClr val="002454"/>
                </a:solidFill>
                <a:latin typeface="Times New Roman"/>
                <a:cs typeface="Times New Roman"/>
              </a:rPr>
              <a:t>u</a:t>
            </a:r>
            <a:r>
              <a:rPr sz="2300" dirty="0">
                <a:solidFill>
                  <a:srgbClr val="002454"/>
                </a:solidFill>
                <a:latin typeface="Times New Roman"/>
                <a:cs typeface="Times New Roman"/>
              </a:rPr>
              <a:t>)</a:t>
            </a:r>
            <a:r>
              <a:rPr sz="2300" spc="25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2300" spc="-555" dirty="0">
                <a:solidFill>
                  <a:srgbClr val="002454"/>
                </a:solidFill>
                <a:latin typeface="Symbol"/>
                <a:cs typeface="Symbol"/>
              </a:rPr>
              <a:t></a:t>
            </a:r>
            <a:r>
              <a:rPr sz="2300" dirty="0">
                <a:solidFill>
                  <a:srgbClr val="002454"/>
                </a:solidFill>
                <a:latin typeface="Times New Roman"/>
                <a:cs typeface="Times New Roman"/>
              </a:rPr>
              <a:t>	</a:t>
            </a:r>
            <a:r>
              <a:rPr sz="5250" spc="-1537" baseline="-8730" dirty="0">
                <a:solidFill>
                  <a:srgbClr val="002454"/>
                </a:solidFill>
                <a:latin typeface="Symbol"/>
                <a:cs typeface="Symbol"/>
              </a:rPr>
              <a:t></a:t>
            </a:r>
            <a:r>
              <a:rPr sz="5250" spc="637" baseline="-8730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2300" i="1" spc="90" dirty="0">
                <a:solidFill>
                  <a:srgbClr val="002454"/>
                </a:solidFill>
                <a:latin typeface="Times New Roman"/>
                <a:cs typeface="Times New Roman"/>
              </a:rPr>
              <a:t>b</a:t>
            </a:r>
            <a:r>
              <a:rPr sz="2025" i="1" spc="135" baseline="-24691" dirty="0">
                <a:solidFill>
                  <a:srgbClr val="002454"/>
                </a:solidFill>
                <a:latin typeface="Times New Roman"/>
                <a:cs typeface="Times New Roman"/>
              </a:rPr>
              <a:t>j</a:t>
            </a:r>
            <a:r>
              <a:rPr sz="2025" i="1" spc="7" baseline="-24691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2025" i="1" baseline="-24691" dirty="0">
                <a:solidFill>
                  <a:srgbClr val="002454"/>
                </a:solidFill>
                <a:latin typeface="Times New Roman"/>
                <a:cs typeface="Times New Roman"/>
              </a:rPr>
              <a:t>n</a:t>
            </a:r>
            <a:r>
              <a:rPr sz="2025" i="1" spc="-44" baseline="-24691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2454"/>
                </a:solidFill>
                <a:latin typeface="Times New Roman"/>
                <a:cs typeface="Times New Roman"/>
              </a:rPr>
              <a:t>(</a:t>
            </a:r>
            <a:r>
              <a:rPr sz="2300" i="1" dirty="0">
                <a:solidFill>
                  <a:srgbClr val="002454"/>
                </a:solidFill>
                <a:latin typeface="Times New Roman"/>
                <a:cs typeface="Times New Roman"/>
              </a:rPr>
              <a:t>u</a:t>
            </a:r>
            <a:r>
              <a:rPr sz="2300" dirty="0">
                <a:solidFill>
                  <a:srgbClr val="002454"/>
                </a:solidFill>
                <a:latin typeface="Times New Roman"/>
                <a:cs typeface="Times New Roman"/>
              </a:rPr>
              <a:t>)</a:t>
            </a:r>
            <a:r>
              <a:rPr sz="2300" spc="-180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002454"/>
                </a:solidFill>
                <a:latin typeface="Times New Roman"/>
                <a:cs typeface="Times New Roman"/>
              </a:rPr>
              <a:t>p</a:t>
            </a:r>
            <a:r>
              <a:rPr sz="2300" b="1" spc="-165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2025" i="1" spc="-75" baseline="-24691" dirty="0">
                <a:solidFill>
                  <a:srgbClr val="002454"/>
                </a:solidFill>
                <a:latin typeface="Times New Roman"/>
                <a:cs typeface="Times New Roman"/>
              </a:rPr>
              <a:t>j</a:t>
            </a:r>
            <a:endParaRPr sz="2025" baseline="-24691" dirty="0">
              <a:solidFill>
                <a:srgbClr val="002454"/>
              </a:solidFill>
              <a:latin typeface="Times New Roman"/>
              <a:cs typeface="Times New Roman"/>
            </a:endParaRPr>
          </a:p>
          <a:p>
            <a:pPr marR="1598295" algn="ctr">
              <a:spcBef>
                <a:spcPts val="170"/>
              </a:spcBef>
            </a:pPr>
            <a:r>
              <a:rPr sz="1350" i="1" dirty="0">
                <a:solidFill>
                  <a:srgbClr val="002454"/>
                </a:solidFill>
                <a:latin typeface="Times New Roman"/>
                <a:cs typeface="Times New Roman"/>
              </a:rPr>
              <a:t>j</a:t>
            </a:r>
            <a:r>
              <a:rPr sz="1350" i="1" spc="-204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1350" spc="-295" dirty="0">
                <a:solidFill>
                  <a:srgbClr val="002454"/>
                </a:solidFill>
                <a:latin typeface="Symbol"/>
                <a:cs typeface="Symbol"/>
              </a:rPr>
              <a:t></a:t>
            </a:r>
            <a:r>
              <a:rPr sz="1350" spc="15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1350" spc="-50" dirty="0">
                <a:solidFill>
                  <a:srgbClr val="002454"/>
                </a:solidFill>
                <a:latin typeface="Times New Roman"/>
                <a:cs typeface="Times New Roman"/>
              </a:rPr>
              <a:t>0</a:t>
            </a:r>
            <a:endParaRPr sz="1350" dirty="0">
              <a:solidFill>
                <a:srgbClr val="002454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5910" y="316229"/>
            <a:ext cx="6522084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00" marR="5080" indent="-2336800">
              <a:spcBef>
                <a:spcPts val="100"/>
              </a:spcBef>
            </a:pPr>
            <a:r>
              <a:rPr dirty="0"/>
              <a:t>Curvas</a:t>
            </a:r>
            <a:r>
              <a:rPr spc="-4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Bézier</a:t>
            </a:r>
            <a:r>
              <a:rPr spc="-40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Polinômios</a:t>
            </a:r>
            <a:r>
              <a:rPr spc="-35" dirty="0"/>
              <a:t> </a:t>
            </a:r>
            <a:r>
              <a:rPr spc="-25" dirty="0"/>
              <a:t>de </a:t>
            </a:r>
            <a:r>
              <a:rPr spc="-10" dirty="0"/>
              <a:t>Bernstein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2470" y="1355090"/>
            <a:ext cx="1238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•</a:t>
            </a:r>
            <a:endParaRPr sz="220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2470" y="2329179"/>
            <a:ext cx="1238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•</a:t>
            </a:r>
            <a:endParaRPr sz="220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2470" y="3061970"/>
            <a:ext cx="1238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•</a:t>
            </a:r>
            <a:endParaRPr sz="2200">
              <a:solidFill>
                <a:srgbClr val="002454"/>
              </a:solidFill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000248" y="3808660"/>
          <a:ext cx="1983105" cy="1294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4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515">
                <a:tc>
                  <a:txBody>
                    <a:bodyPr/>
                    <a:lstStyle/>
                    <a:p>
                      <a:pPr marR="30480" algn="ctr">
                        <a:lnSpc>
                          <a:spcPts val="2210"/>
                        </a:lnSpc>
                      </a:pPr>
                      <a:r>
                        <a:rPr sz="200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grau:</a:t>
                      </a:r>
                      <a:r>
                        <a:rPr sz="2000" spc="-2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10"/>
                        </a:lnSpc>
                      </a:pPr>
                      <a:r>
                        <a:rPr sz="2000" spc="-5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200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grau:</a:t>
                      </a:r>
                      <a:r>
                        <a:rPr sz="2000" spc="-2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2000" spc="-5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2000" spc="-5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00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grau:</a:t>
                      </a:r>
                      <a:r>
                        <a:rPr sz="2000" spc="-2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000" spc="-5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15"/>
                        </a:spcBef>
                        <a:tabLst>
                          <a:tab pos="351790" algn="l"/>
                        </a:tabLst>
                      </a:pPr>
                      <a:r>
                        <a:rPr sz="2000" spc="-5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r>
                        <a:rPr sz="200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-5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R="30480" algn="ctr">
                        <a:lnSpc>
                          <a:spcPts val="2325"/>
                        </a:lnSpc>
                        <a:spcBef>
                          <a:spcPts val="20"/>
                        </a:spcBef>
                      </a:pPr>
                      <a:r>
                        <a:rPr sz="200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grau:</a:t>
                      </a:r>
                      <a:r>
                        <a:rPr sz="2000" spc="-2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25"/>
                        </a:lnSpc>
                        <a:spcBef>
                          <a:spcPts val="20"/>
                        </a:spcBef>
                      </a:pPr>
                      <a:r>
                        <a:rPr sz="2000" spc="-5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2325"/>
                        </a:lnSpc>
                        <a:spcBef>
                          <a:spcPts val="20"/>
                        </a:spcBef>
                        <a:tabLst>
                          <a:tab pos="351790" algn="l"/>
                          <a:tab pos="633730" algn="l"/>
                        </a:tabLst>
                      </a:pPr>
                      <a:r>
                        <a:rPr sz="2000" spc="-5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6</a:t>
                      </a:r>
                      <a:r>
                        <a:rPr sz="200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-5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r>
                        <a:rPr sz="200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sz="2000" spc="-50" dirty="0">
                          <a:solidFill>
                            <a:srgbClr val="FFEC5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982470" y="5109209"/>
            <a:ext cx="1238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•</a:t>
            </a:r>
            <a:endParaRPr sz="220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2669" y="1371601"/>
            <a:ext cx="7713980" cy="4472891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5400" marR="295910">
              <a:lnSpc>
                <a:spcPct val="90000"/>
              </a:lnSpc>
              <a:spcBef>
                <a:spcPts val="360"/>
              </a:spcBef>
            </a:pP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As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curvas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construídas</a:t>
            </a:r>
            <a:r>
              <a:rPr sz="22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pelo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algoritmo</a:t>
            </a:r>
            <a:r>
              <a:rPr sz="22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2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Casteljau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são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conhecidas</a:t>
            </a: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como</a:t>
            </a:r>
            <a:r>
              <a:rPr sz="22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curvas</a:t>
            </a:r>
            <a:r>
              <a:rPr sz="2200" i="1" spc="-5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de</a:t>
            </a:r>
            <a:r>
              <a:rPr sz="2200" i="1" spc="-5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Bézier</a:t>
            </a:r>
            <a:r>
              <a:rPr sz="2200" i="1" spc="-6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2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as</a:t>
            </a:r>
            <a:r>
              <a:rPr sz="22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funções</a:t>
            </a: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mistura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22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chamadas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base</a:t>
            </a:r>
            <a:r>
              <a:rPr sz="2200" i="1" spc="-5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Bézier</a:t>
            </a:r>
            <a:r>
              <a:rPr sz="2200" i="1" spc="-6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ou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polinômios</a:t>
            </a:r>
            <a:r>
              <a:rPr sz="2200" i="1" spc="-7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de</a:t>
            </a:r>
            <a:r>
              <a:rPr sz="2200" i="1" spc="-6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200" i="1" spc="-10" dirty="0">
                <a:solidFill>
                  <a:srgbClr val="002454"/>
                </a:solidFill>
                <a:latin typeface="Arial"/>
                <a:cs typeface="Arial"/>
              </a:rPr>
              <a:t>Bernstein</a:t>
            </a:r>
            <a:endParaRPr sz="22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25400" marR="317500">
              <a:lnSpc>
                <a:spcPts val="2340"/>
              </a:lnSpc>
              <a:spcBef>
                <a:spcPts val="610"/>
              </a:spcBef>
            </a:pP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Observamos</a:t>
            </a:r>
            <a:r>
              <a:rPr sz="22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polinômios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Bernstein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grau</a:t>
            </a:r>
            <a:r>
              <a:rPr sz="22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n</a:t>
            </a:r>
            <a:r>
              <a:rPr sz="2200" i="1" spc="-5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têm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como</a:t>
            </a:r>
            <a:r>
              <a:rPr sz="22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forma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geral</a:t>
            </a:r>
            <a:r>
              <a:rPr sz="22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b</a:t>
            </a:r>
            <a:r>
              <a:rPr sz="1875" i="1" baseline="-24444" dirty="0">
                <a:solidFill>
                  <a:srgbClr val="002454"/>
                </a:solidFill>
                <a:latin typeface="Arial"/>
                <a:cs typeface="Arial"/>
              </a:rPr>
              <a:t>i</a:t>
            </a:r>
            <a:r>
              <a:rPr sz="1875" i="1" spc="-30" baseline="-24444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1875" i="1" baseline="-24444" dirty="0">
                <a:solidFill>
                  <a:srgbClr val="002454"/>
                </a:solidFill>
                <a:latin typeface="Arial"/>
                <a:cs typeface="Arial"/>
              </a:rPr>
              <a:t>n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2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c</a:t>
            </a:r>
            <a:r>
              <a:rPr sz="1875" i="1" baseline="-24444" dirty="0">
                <a:solidFill>
                  <a:srgbClr val="002454"/>
                </a:solidFill>
                <a:latin typeface="Arial"/>
                <a:cs typeface="Arial"/>
              </a:rPr>
              <a:t>i</a:t>
            </a:r>
            <a:r>
              <a:rPr sz="1875" i="1" spc="359" baseline="-24444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1875" i="1" baseline="28888" dirty="0">
                <a:solidFill>
                  <a:srgbClr val="002454"/>
                </a:solidFill>
                <a:latin typeface="Arial"/>
                <a:cs typeface="Arial"/>
              </a:rPr>
              <a:t>i</a:t>
            </a:r>
            <a:r>
              <a:rPr sz="1875" i="1" spc="359" baseline="28888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(1</a:t>
            </a:r>
            <a:r>
              <a:rPr sz="22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22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i="1" spc="-10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1875" i="1" spc="-15" baseline="28888" dirty="0">
                <a:solidFill>
                  <a:srgbClr val="002454"/>
                </a:solidFill>
                <a:latin typeface="Arial"/>
                <a:cs typeface="Arial"/>
              </a:rPr>
              <a:t>n</a:t>
            </a:r>
            <a:r>
              <a:rPr sz="1875" spc="-15" baseline="28888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1875" i="1" spc="-15" baseline="28888" dirty="0">
                <a:solidFill>
                  <a:srgbClr val="002454"/>
                </a:solidFill>
                <a:latin typeface="Arial"/>
                <a:cs typeface="Arial"/>
              </a:rPr>
              <a:t>i</a:t>
            </a:r>
            <a:endParaRPr sz="1875" baseline="28888" dirty="0">
              <a:solidFill>
                <a:srgbClr val="002454"/>
              </a:solidFill>
              <a:latin typeface="Arial"/>
              <a:cs typeface="Arial"/>
            </a:endParaRPr>
          </a:p>
          <a:p>
            <a:pPr marL="25400" marR="17780">
              <a:lnSpc>
                <a:spcPct val="103800"/>
              </a:lnSpc>
              <a:spcBef>
                <a:spcPts val="480"/>
              </a:spcBef>
            </a:pP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escrevermos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as</a:t>
            </a: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constantes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c</a:t>
            </a:r>
            <a:r>
              <a:rPr sz="1875" i="1" baseline="-24444" dirty="0">
                <a:solidFill>
                  <a:srgbClr val="002454"/>
                </a:solidFill>
                <a:latin typeface="Arial"/>
                <a:cs typeface="Arial"/>
              </a:rPr>
              <a:t>i</a:t>
            </a:r>
            <a:r>
              <a:rPr sz="1875" i="1" spc="-52" baseline="-24444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2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diversos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polinômios, teremos</a:t>
            </a:r>
            <a:endParaRPr sz="22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4815" indent="-285115">
              <a:lnSpc>
                <a:spcPts val="2060"/>
              </a:lnSpc>
              <a:buFont typeface="Wingdings"/>
              <a:buChar char=""/>
              <a:tabLst>
                <a:tab pos="424815" algn="l"/>
              </a:tabLst>
            </a:pPr>
            <a:r>
              <a:rPr sz="3000" spc="-37" baseline="-16666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1150" spc="-25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endParaRPr sz="115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4815" indent="-285115">
              <a:spcBef>
                <a:spcPts val="260"/>
              </a:spcBef>
              <a:buFont typeface="Wingdings"/>
              <a:buChar char=""/>
              <a:tabLst>
                <a:tab pos="424815" algn="l"/>
              </a:tabLst>
            </a:pPr>
            <a:r>
              <a:rPr sz="3000" spc="-37" baseline="-16666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r>
              <a:rPr sz="1150" spc="-25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endParaRPr sz="115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4815" indent="-285115">
              <a:spcBef>
                <a:spcPts val="260"/>
              </a:spcBef>
              <a:buFont typeface="Wingdings"/>
              <a:buChar char=""/>
              <a:tabLst>
                <a:tab pos="424815" algn="l"/>
              </a:tabLst>
            </a:pPr>
            <a:r>
              <a:rPr sz="3000" spc="-37" baseline="-16666" dirty="0">
                <a:solidFill>
                  <a:srgbClr val="002454"/>
                </a:solidFill>
                <a:latin typeface="Arial MT"/>
                <a:cs typeface="Arial MT"/>
              </a:rPr>
              <a:t>3</a:t>
            </a:r>
            <a:r>
              <a:rPr sz="1150" spc="-25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endParaRPr sz="115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4815" indent="-285115">
              <a:spcBef>
                <a:spcPts val="250"/>
              </a:spcBef>
              <a:buFont typeface="Wingdings"/>
              <a:buChar char=""/>
              <a:tabLst>
                <a:tab pos="424815" algn="l"/>
              </a:tabLst>
            </a:pPr>
            <a:r>
              <a:rPr sz="3000" spc="-37" baseline="-16666" dirty="0">
                <a:solidFill>
                  <a:srgbClr val="002454"/>
                </a:solidFill>
                <a:latin typeface="Arial MT"/>
                <a:cs typeface="Arial MT"/>
              </a:rPr>
              <a:t>4</a:t>
            </a:r>
            <a:r>
              <a:rPr sz="1150" spc="-25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endParaRPr sz="115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25400" marR="191770">
              <a:lnSpc>
                <a:spcPts val="2370"/>
              </a:lnSpc>
              <a:spcBef>
                <a:spcPts val="1195"/>
              </a:spcBef>
            </a:pP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Vemos</a:t>
            </a:r>
            <a:r>
              <a:rPr sz="22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2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2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padrão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2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formação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corresponde</a:t>
            </a:r>
            <a:r>
              <a:rPr sz="22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ao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i="1" spc="-10" dirty="0">
                <a:solidFill>
                  <a:srgbClr val="002454"/>
                </a:solidFill>
                <a:latin typeface="Arial"/>
                <a:cs typeface="Arial"/>
              </a:rPr>
              <a:t>Triângulo 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de</a:t>
            </a:r>
            <a:r>
              <a:rPr sz="2200" i="1" spc="-6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002454"/>
                </a:solidFill>
                <a:latin typeface="Arial"/>
                <a:cs typeface="Arial"/>
              </a:rPr>
              <a:t>Pascal</a:t>
            </a:r>
            <a:r>
              <a:rPr sz="2200" i="1" spc="-6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portanto,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podemos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escrever</a:t>
            </a:r>
            <a:endParaRPr sz="22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15229" y="6168391"/>
            <a:ext cx="182880" cy="2013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50" dirty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4870" y="6195059"/>
            <a:ext cx="10033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i="1" spc="-50" dirty="0">
                <a:latin typeface="Times New Roman"/>
                <a:cs typeface="Times New Roman"/>
              </a:rPr>
              <a:t>i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88660" y="6259829"/>
            <a:ext cx="3790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04165" algn="l"/>
              </a:tabLst>
            </a:pPr>
            <a:r>
              <a:rPr sz="2100" spc="-370" dirty="0">
                <a:latin typeface="Symbol"/>
                <a:cs typeface="Symbol"/>
              </a:rPr>
              <a:t>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370" dirty="0">
                <a:latin typeface="Symbol"/>
                <a:cs typeface="Symbol"/>
              </a:rPr>
              <a:t>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88660" y="5814059"/>
            <a:ext cx="3790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320" dirty="0">
                <a:latin typeface="Symbol"/>
                <a:cs typeface="Symbol"/>
              </a:rPr>
              <a:t>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3150" i="1" baseline="3968" dirty="0">
                <a:latin typeface="Times New Roman"/>
                <a:cs typeface="Times New Roman"/>
              </a:rPr>
              <a:t>n</a:t>
            </a:r>
            <a:r>
              <a:rPr sz="3150" i="1" spc="-494" baseline="3968" dirty="0">
                <a:latin typeface="Times New Roman"/>
                <a:cs typeface="Times New Roman"/>
              </a:rPr>
              <a:t> </a:t>
            </a:r>
            <a:r>
              <a:rPr sz="2100" spc="-370" dirty="0">
                <a:latin typeface="Symbol"/>
                <a:cs typeface="Symbol"/>
              </a:rPr>
              <a:t>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5360" y="5990590"/>
            <a:ext cx="133921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150" spc="-480" baseline="1322" dirty="0">
                <a:latin typeface="Symbol"/>
                <a:cs typeface="Symbol"/>
              </a:rPr>
              <a:t></a:t>
            </a:r>
            <a:r>
              <a:rPr sz="3150" spc="209" baseline="1322" dirty="0">
                <a:latin typeface="Times New Roman"/>
                <a:cs typeface="Times New Roman"/>
              </a:rPr>
              <a:t> </a:t>
            </a:r>
            <a:r>
              <a:rPr sz="2100" i="1" spc="65" dirty="0">
                <a:latin typeface="Times New Roman"/>
                <a:cs typeface="Times New Roman"/>
              </a:rPr>
              <a:t>u</a:t>
            </a:r>
            <a:r>
              <a:rPr i="1" spc="97" baseline="43981" dirty="0">
                <a:latin typeface="Times New Roman"/>
                <a:cs typeface="Times New Roman"/>
              </a:rPr>
              <a:t>i</a:t>
            </a:r>
            <a:r>
              <a:rPr i="1" spc="-112" baseline="43981" dirty="0">
                <a:latin typeface="Times New Roman"/>
                <a:cs typeface="Times New Roman"/>
              </a:rPr>
              <a:t> </a:t>
            </a:r>
            <a:r>
              <a:rPr sz="2100" spc="-80" dirty="0">
                <a:latin typeface="Times New Roman"/>
                <a:cs typeface="Times New Roman"/>
              </a:rPr>
              <a:t>(1</a:t>
            </a:r>
            <a:r>
              <a:rPr sz="2100" spc="-80" dirty="0">
                <a:latin typeface="Symbol"/>
                <a:cs typeface="Symbol"/>
              </a:rPr>
              <a:t></a:t>
            </a:r>
            <a:r>
              <a:rPr sz="2100" spc="90" dirty="0">
                <a:latin typeface="Times New Roman"/>
                <a:cs typeface="Times New Roman"/>
              </a:rPr>
              <a:t> </a:t>
            </a:r>
            <a:r>
              <a:rPr sz="2100" i="1" dirty="0">
                <a:latin typeface="Times New Roman"/>
                <a:cs typeface="Times New Roman"/>
              </a:rPr>
              <a:t>u</a:t>
            </a:r>
            <a:r>
              <a:rPr sz="2100" dirty="0">
                <a:latin typeface="Times New Roman"/>
                <a:cs typeface="Times New Roman"/>
              </a:rPr>
              <a:t>)</a:t>
            </a:r>
            <a:r>
              <a:rPr i="1" baseline="43981" dirty="0">
                <a:latin typeface="Times New Roman"/>
                <a:cs typeface="Times New Roman"/>
              </a:rPr>
              <a:t>n</a:t>
            </a:r>
            <a:r>
              <a:rPr baseline="43981" dirty="0">
                <a:latin typeface="Symbol"/>
                <a:cs typeface="Symbol"/>
              </a:rPr>
              <a:t></a:t>
            </a:r>
            <a:r>
              <a:rPr spc="-37" baseline="43981" dirty="0">
                <a:latin typeface="Times New Roman"/>
                <a:cs typeface="Times New Roman"/>
              </a:rPr>
              <a:t> </a:t>
            </a:r>
            <a:r>
              <a:rPr i="1" spc="-75" baseline="43981" dirty="0">
                <a:latin typeface="Times New Roman"/>
                <a:cs typeface="Times New Roman"/>
              </a:rPr>
              <a:t>i</a:t>
            </a:r>
            <a:endParaRPr baseline="4398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95851" y="5990590"/>
            <a:ext cx="9798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20675" algn="l"/>
              </a:tabLst>
            </a:pPr>
            <a:r>
              <a:rPr sz="2100" i="1" spc="-50" dirty="0">
                <a:latin typeface="Times New Roman"/>
                <a:cs typeface="Times New Roman"/>
              </a:rPr>
              <a:t>b</a:t>
            </a:r>
            <a:r>
              <a:rPr sz="2100" i="1" dirty="0">
                <a:latin typeface="Times New Roman"/>
                <a:cs typeface="Times New Roman"/>
              </a:rPr>
              <a:t>	</a:t>
            </a:r>
            <a:r>
              <a:rPr sz="2100" dirty="0">
                <a:latin typeface="Times New Roman"/>
                <a:cs typeface="Times New Roman"/>
              </a:rPr>
              <a:t>(</a:t>
            </a:r>
            <a:r>
              <a:rPr sz="2100" i="1" dirty="0">
                <a:latin typeface="Times New Roman"/>
                <a:cs typeface="Times New Roman"/>
              </a:rPr>
              <a:t>u</a:t>
            </a:r>
            <a:r>
              <a:rPr sz="2100" dirty="0">
                <a:latin typeface="Times New Roman"/>
                <a:cs typeface="Times New Roman"/>
              </a:rPr>
              <a:t>)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459" dirty="0">
                <a:latin typeface="Symbol"/>
                <a:cs typeface="Symbol"/>
              </a:rPr>
              <a:t></a:t>
            </a:r>
            <a:r>
              <a:rPr sz="2100" spc="415" dirty="0">
                <a:latin typeface="Times New Roman"/>
                <a:cs typeface="Times New Roman"/>
              </a:rPr>
              <a:t> </a:t>
            </a:r>
            <a:r>
              <a:rPr sz="3150" spc="-555" baseline="1322" dirty="0">
                <a:latin typeface="Symbol"/>
                <a:cs typeface="Symbol"/>
              </a:rPr>
              <a:t></a:t>
            </a:r>
            <a:endParaRPr sz="3150" baseline="1322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9175">
              <a:spcBef>
                <a:spcPts val="100"/>
              </a:spcBef>
            </a:pPr>
            <a:r>
              <a:rPr dirty="0"/>
              <a:t>Polinômios</a:t>
            </a:r>
            <a:r>
              <a:rPr spc="-5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Bernstein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89530" y="1197610"/>
            <a:ext cx="7165340" cy="5599430"/>
            <a:chOff x="1065530" y="1197610"/>
            <a:chExt cx="7165340" cy="5599430"/>
          </a:xfrm>
        </p:grpSpPr>
        <p:sp>
          <p:nvSpPr>
            <p:cNvPr id="4" name="object 4"/>
            <p:cNvSpPr/>
            <p:nvPr/>
          </p:nvSpPr>
          <p:spPr>
            <a:xfrm>
              <a:off x="1065530" y="1197610"/>
              <a:ext cx="7165340" cy="5599430"/>
            </a:xfrm>
            <a:custGeom>
              <a:avLst/>
              <a:gdLst/>
              <a:ahLst/>
              <a:cxnLst/>
              <a:rect l="l" t="t" r="r" b="b"/>
              <a:pathLst>
                <a:path w="7165340" h="5599430">
                  <a:moveTo>
                    <a:pt x="7165340" y="0"/>
                  </a:moveTo>
                  <a:lnTo>
                    <a:pt x="0" y="0"/>
                  </a:lnTo>
                  <a:lnTo>
                    <a:pt x="0" y="5599430"/>
                  </a:lnTo>
                  <a:lnTo>
                    <a:pt x="7165340" y="5599430"/>
                  </a:lnTo>
                  <a:lnTo>
                    <a:pt x="71653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62430" y="2169160"/>
              <a:ext cx="5224780" cy="3284220"/>
            </a:xfrm>
            <a:custGeom>
              <a:avLst/>
              <a:gdLst/>
              <a:ahLst/>
              <a:cxnLst/>
              <a:rect l="l" t="t" r="r" b="b"/>
              <a:pathLst>
                <a:path w="5224780" h="3284220">
                  <a:moveTo>
                    <a:pt x="0" y="3284220"/>
                  </a:moveTo>
                  <a:lnTo>
                    <a:pt x="5224780" y="3284220"/>
                  </a:lnTo>
                </a:path>
                <a:path w="5224780" h="3284220">
                  <a:moveTo>
                    <a:pt x="0" y="2910840"/>
                  </a:moveTo>
                  <a:lnTo>
                    <a:pt x="5224780" y="2910840"/>
                  </a:lnTo>
                </a:path>
                <a:path w="5224780" h="3284220">
                  <a:moveTo>
                    <a:pt x="0" y="2552700"/>
                  </a:moveTo>
                  <a:lnTo>
                    <a:pt x="5224780" y="2552700"/>
                  </a:lnTo>
                </a:path>
                <a:path w="5224780" h="3284220">
                  <a:moveTo>
                    <a:pt x="0" y="2179320"/>
                  </a:moveTo>
                  <a:lnTo>
                    <a:pt x="5224780" y="2179320"/>
                  </a:lnTo>
                </a:path>
                <a:path w="5224780" h="3284220">
                  <a:moveTo>
                    <a:pt x="0" y="1821179"/>
                  </a:moveTo>
                  <a:lnTo>
                    <a:pt x="5224780" y="1821179"/>
                  </a:lnTo>
                </a:path>
                <a:path w="5224780" h="3284220">
                  <a:moveTo>
                    <a:pt x="0" y="1463039"/>
                  </a:moveTo>
                  <a:lnTo>
                    <a:pt x="5224780" y="1463039"/>
                  </a:lnTo>
                </a:path>
                <a:path w="5224780" h="3284220">
                  <a:moveTo>
                    <a:pt x="0" y="1089660"/>
                  </a:moveTo>
                  <a:lnTo>
                    <a:pt x="5224780" y="1089660"/>
                  </a:lnTo>
                </a:path>
                <a:path w="5224780" h="3284220">
                  <a:moveTo>
                    <a:pt x="0" y="731519"/>
                  </a:moveTo>
                  <a:lnTo>
                    <a:pt x="5224780" y="731519"/>
                  </a:lnTo>
                </a:path>
                <a:path w="5224780" h="3284220">
                  <a:moveTo>
                    <a:pt x="0" y="358139"/>
                  </a:moveTo>
                  <a:lnTo>
                    <a:pt x="5224780" y="358139"/>
                  </a:lnTo>
                </a:path>
                <a:path w="5224780" h="3284220">
                  <a:moveTo>
                    <a:pt x="0" y="0"/>
                  </a:moveTo>
                  <a:lnTo>
                    <a:pt x="52247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02740" y="2169160"/>
              <a:ext cx="5284470" cy="3703320"/>
            </a:xfrm>
            <a:custGeom>
              <a:avLst/>
              <a:gdLst/>
              <a:ahLst/>
              <a:cxnLst/>
              <a:rect l="l" t="t" r="r" b="b"/>
              <a:pathLst>
                <a:path w="5284470" h="3703320">
                  <a:moveTo>
                    <a:pt x="59690" y="0"/>
                  </a:moveTo>
                  <a:lnTo>
                    <a:pt x="59690" y="3643629"/>
                  </a:lnTo>
                </a:path>
                <a:path w="5284470" h="3703320">
                  <a:moveTo>
                    <a:pt x="0" y="3643629"/>
                  </a:moveTo>
                  <a:lnTo>
                    <a:pt x="59690" y="3643629"/>
                  </a:lnTo>
                </a:path>
                <a:path w="5284470" h="3703320">
                  <a:moveTo>
                    <a:pt x="0" y="3284220"/>
                  </a:moveTo>
                  <a:lnTo>
                    <a:pt x="59690" y="3284220"/>
                  </a:lnTo>
                </a:path>
                <a:path w="5284470" h="3703320">
                  <a:moveTo>
                    <a:pt x="0" y="2910840"/>
                  </a:moveTo>
                  <a:lnTo>
                    <a:pt x="59690" y="2910840"/>
                  </a:lnTo>
                </a:path>
                <a:path w="5284470" h="3703320">
                  <a:moveTo>
                    <a:pt x="0" y="2552700"/>
                  </a:moveTo>
                  <a:lnTo>
                    <a:pt x="59690" y="2552700"/>
                  </a:lnTo>
                </a:path>
                <a:path w="5284470" h="3703320">
                  <a:moveTo>
                    <a:pt x="0" y="2179320"/>
                  </a:moveTo>
                  <a:lnTo>
                    <a:pt x="59690" y="2179320"/>
                  </a:lnTo>
                </a:path>
                <a:path w="5284470" h="3703320">
                  <a:moveTo>
                    <a:pt x="0" y="1821179"/>
                  </a:moveTo>
                  <a:lnTo>
                    <a:pt x="59690" y="1821179"/>
                  </a:lnTo>
                </a:path>
                <a:path w="5284470" h="3703320">
                  <a:moveTo>
                    <a:pt x="0" y="1463039"/>
                  </a:moveTo>
                  <a:lnTo>
                    <a:pt x="59690" y="1463039"/>
                  </a:lnTo>
                </a:path>
                <a:path w="5284470" h="3703320">
                  <a:moveTo>
                    <a:pt x="0" y="1089660"/>
                  </a:moveTo>
                  <a:lnTo>
                    <a:pt x="59690" y="1089660"/>
                  </a:lnTo>
                </a:path>
                <a:path w="5284470" h="3703320">
                  <a:moveTo>
                    <a:pt x="0" y="731519"/>
                  </a:moveTo>
                  <a:lnTo>
                    <a:pt x="59690" y="731519"/>
                  </a:lnTo>
                </a:path>
                <a:path w="5284470" h="3703320">
                  <a:moveTo>
                    <a:pt x="0" y="358139"/>
                  </a:moveTo>
                  <a:lnTo>
                    <a:pt x="59690" y="358139"/>
                  </a:lnTo>
                </a:path>
                <a:path w="5284470" h="3703320">
                  <a:moveTo>
                    <a:pt x="0" y="0"/>
                  </a:moveTo>
                  <a:lnTo>
                    <a:pt x="59690" y="0"/>
                  </a:lnTo>
                </a:path>
                <a:path w="5284470" h="3703320">
                  <a:moveTo>
                    <a:pt x="59690" y="3643629"/>
                  </a:moveTo>
                  <a:lnTo>
                    <a:pt x="5284470" y="3643629"/>
                  </a:lnTo>
                </a:path>
                <a:path w="5284470" h="3703320">
                  <a:moveTo>
                    <a:pt x="59690" y="3703320"/>
                  </a:moveTo>
                  <a:lnTo>
                    <a:pt x="59690" y="3643629"/>
                  </a:lnTo>
                </a:path>
                <a:path w="5284470" h="3703320">
                  <a:moveTo>
                    <a:pt x="552449" y="3703320"/>
                  </a:moveTo>
                  <a:lnTo>
                    <a:pt x="552449" y="3643629"/>
                  </a:lnTo>
                </a:path>
                <a:path w="5284470" h="3703320">
                  <a:moveTo>
                    <a:pt x="1060449" y="3703320"/>
                  </a:moveTo>
                  <a:lnTo>
                    <a:pt x="1060449" y="3643629"/>
                  </a:lnTo>
                </a:path>
                <a:path w="5284470" h="3703320">
                  <a:moveTo>
                    <a:pt x="1551940" y="3703320"/>
                  </a:moveTo>
                  <a:lnTo>
                    <a:pt x="1551940" y="3643629"/>
                  </a:lnTo>
                </a:path>
                <a:path w="5284470" h="3703320">
                  <a:moveTo>
                    <a:pt x="2044700" y="3703320"/>
                  </a:moveTo>
                  <a:lnTo>
                    <a:pt x="2044700" y="3643629"/>
                  </a:lnTo>
                </a:path>
                <a:path w="5284470" h="3703320">
                  <a:moveTo>
                    <a:pt x="2552700" y="3703320"/>
                  </a:moveTo>
                  <a:lnTo>
                    <a:pt x="2552700" y="3643629"/>
                  </a:lnTo>
                </a:path>
                <a:path w="5284470" h="3703320">
                  <a:moveTo>
                    <a:pt x="3045460" y="3703320"/>
                  </a:moveTo>
                  <a:lnTo>
                    <a:pt x="3045460" y="3643629"/>
                  </a:lnTo>
                </a:path>
                <a:path w="5284470" h="3703320">
                  <a:moveTo>
                    <a:pt x="3538220" y="3703320"/>
                  </a:moveTo>
                  <a:lnTo>
                    <a:pt x="3538220" y="3643629"/>
                  </a:lnTo>
                </a:path>
                <a:path w="5284470" h="3703320">
                  <a:moveTo>
                    <a:pt x="4044950" y="3703320"/>
                  </a:moveTo>
                  <a:lnTo>
                    <a:pt x="4044950" y="3643629"/>
                  </a:lnTo>
                </a:path>
                <a:path w="5284470" h="3703320">
                  <a:moveTo>
                    <a:pt x="4537710" y="3703320"/>
                  </a:moveTo>
                  <a:lnTo>
                    <a:pt x="4537710" y="3643629"/>
                  </a:lnTo>
                </a:path>
                <a:path w="5284470" h="3703320">
                  <a:moveTo>
                    <a:pt x="5030470" y="3703320"/>
                  </a:moveTo>
                  <a:lnTo>
                    <a:pt x="5030470" y="36436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81810" y="2169160"/>
              <a:ext cx="4986020" cy="3643629"/>
            </a:xfrm>
            <a:custGeom>
              <a:avLst/>
              <a:gdLst/>
              <a:ahLst/>
              <a:cxnLst/>
              <a:rect l="l" t="t" r="r" b="b"/>
              <a:pathLst>
                <a:path w="4986020" h="3643629">
                  <a:moveTo>
                    <a:pt x="0" y="3643629"/>
                  </a:moveTo>
                  <a:lnTo>
                    <a:pt x="254000" y="3643629"/>
                  </a:lnTo>
                </a:path>
                <a:path w="4986020" h="3643629">
                  <a:moveTo>
                    <a:pt x="254000" y="3643629"/>
                  </a:moveTo>
                  <a:lnTo>
                    <a:pt x="508000" y="3643629"/>
                  </a:lnTo>
                </a:path>
                <a:path w="4986020" h="3643629">
                  <a:moveTo>
                    <a:pt x="508000" y="3643629"/>
                  </a:moveTo>
                  <a:lnTo>
                    <a:pt x="746759" y="3627120"/>
                  </a:lnTo>
                </a:path>
                <a:path w="4986020" h="3643629">
                  <a:moveTo>
                    <a:pt x="746759" y="3627120"/>
                  </a:moveTo>
                  <a:lnTo>
                    <a:pt x="1000759" y="3613150"/>
                  </a:lnTo>
                </a:path>
                <a:path w="4986020" h="3643629">
                  <a:moveTo>
                    <a:pt x="1000759" y="3613150"/>
                  </a:moveTo>
                  <a:lnTo>
                    <a:pt x="1253489" y="3582670"/>
                  </a:lnTo>
                </a:path>
                <a:path w="4986020" h="3643629">
                  <a:moveTo>
                    <a:pt x="1253489" y="3582670"/>
                  </a:moveTo>
                  <a:lnTo>
                    <a:pt x="1492250" y="3538220"/>
                  </a:lnTo>
                </a:path>
                <a:path w="4986020" h="3643629">
                  <a:moveTo>
                    <a:pt x="1492250" y="3538220"/>
                  </a:moveTo>
                  <a:lnTo>
                    <a:pt x="1746250" y="3493770"/>
                  </a:lnTo>
                </a:path>
                <a:path w="4986020" h="3643629">
                  <a:moveTo>
                    <a:pt x="1746250" y="3493770"/>
                  </a:moveTo>
                  <a:lnTo>
                    <a:pt x="2000250" y="3403600"/>
                  </a:lnTo>
                </a:path>
                <a:path w="4986020" h="3643629">
                  <a:moveTo>
                    <a:pt x="2000250" y="3403600"/>
                  </a:moveTo>
                  <a:lnTo>
                    <a:pt x="2239010" y="3314700"/>
                  </a:lnTo>
                </a:path>
                <a:path w="4986020" h="3643629">
                  <a:moveTo>
                    <a:pt x="2239010" y="3314700"/>
                  </a:moveTo>
                  <a:lnTo>
                    <a:pt x="2493010" y="3195320"/>
                  </a:lnTo>
                </a:path>
                <a:path w="4986020" h="3643629">
                  <a:moveTo>
                    <a:pt x="2493010" y="3195320"/>
                  </a:moveTo>
                  <a:lnTo>
                    <a:pt x="2747010" y="3030220"/>
                  </a:lnTo>
                </a:path>
                <a:path w="4986020" h="3643629">
                  <a:moveTo>
                    <a:pt x="2747010" y="3030220"/>
                  </a:moveTo>
                  <a:lnTo>
                    <a:pt x="2985769" y="2851150"/>
                  </a:lnTo>
                </a:path>
                <a:path w="4986020" h="3643629">
                  <a:moveTo>
                    <a:pt x="2985769" y="2851150"/>
                  </a:moveTo>
                  <a:lnTo>
                    <a:pt x="3239769" y="2642870"/>
                  </a:lnTo>
                </a:path>
                <a:path w="4986020" h="3643629">
                  <a:moveTo>
                    <a:pt x="3239769" y="2642870"/>
                  </a:moveTo>
                  <a:lnTo>
                    <a:pt x="3493769" y="2388870"/>
                  </a:lnTo>
                </a:path>
                <a:path w="4986020" h="3643629">
                  <a:moveTo>
                    <a:pt x="3493769" y="2388870"/>
                  </a:moveTo>
                  <a:lnTo>
                    <a:pt x="3732529" y="2105660"/>
                  </a:lnTo>
                </a:path>
                <a:path w="4986020" h="3643629">
                  <a:moveTo>
                    <a:pt x="3732529" y="2105660"/>
                  </a:moveTo>
                  <a:lnTo>
                    <a:pt x="3985260" y="1776729"/>
                  </a:lnTo>
                </a:path>
                <a:path w="4986020" h="3643629">
                  <a:moveTo>
                    <a:pt x="3985260" y="1776729"/>
                  </a:moveTo>
                  <a:lnTo>
                    <a:pt x="4239260" y="1403350"/>
                  </a:lnTo>
                </a:path>
                <a:path w="4986020" h="3643629">
                  <a:moveTo>
                    <a:pt x="4239260" y="1403350"/>
                  </a:moveTo>
                  <a:lnTo>
                    <a:pt x="4478020" y="985519"/>
                  </a:lnTo>
                </a:path>
                <a:path w="4986020" h="3643629">
                  <a:moveTo>
                    <a:pt x="4478020" y="985519"/>
                  </a:moveTo>
                  <a:lnTo>
                    <a:pt x="4732020" y="521969"/>
                  </a:lnTo>
                </a:path>
                <a:path w="4986020" h="3643629">
                  <a:moveTo>
                    <a:pt x="4732020" y="521969"/>
                  </a:moveTo>
                  <a:lnTo>
                    <a:pt x="4986020" y="0"/>
                  </a:lnTo>
                </a:path>
              </a:pathLst>
            </a:custGeom>
            <a:ln w="3048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1810" y="4199889"/>
              <a:ext cx="4986020" cy="1612900"/>
            </a:xfrm>
            <a:custGeom>
              <a:avLst/>
              <a:gdLst/>
              <a:ahLst/>
              <a:cxnLst/>
              <a:rect l="l" t="t" r="r" b="b"/>
              <a:pathLst>
                <a:path w="4986020" h="1612900">
                  <a:moveTo>
                    <a:pt x="0" y="1612900"/>
                  </a:moveTo>
                  <a:lnTo>
                    <a:pt x="119379" y="1596390"/>
                  </a:lnTo>
                  <a:lnTo>
                    <a:pt x="254000" y="1582420"/>
                  </a:lnTo>
                </a:path>
                <a:path w="4986020" h="1612900">
                  <a:moveTo>
                    <a:pt x="254000" y="1582420"/>
                  </a:moveTo>
                  <a:lnTo>
                    <a:pt x="388619" y="1551940"/>
                  </a:lnTo>
                  <a:lnTo>
                    <a:pt x="508000" y="1507490"/>
                  </a:lnTo>
                </a:path>
                <a:path w="4986020" h="1612900">
                  <a:moveTo>
                    <a:pt x="508000" y="1507490"/>
                  </a:moveTo>
                  <a:lnTo>
                    <a:pt x="746759" y="1403350"/>
                  </a:lnTo>
                </a:path>
                <a:path w="4986020" h="1612900">
                  <a:moveTo>
                    <a:pt x="746759" y="1403350"/>
                  </a:moveTo>
                  <a:lnTo>
                    <a:pt x="1000759" y="1268730"/>
                  </a:lnTo>
                </a:path>
                <a:path w="4986020" h="1612900">
                  <a:moveTo>
                    <a:pt x="1000759" y="1268730"/>
                  </a:moveTo>
                  <a:lnTo>
                    <a:pt x="1134109" y="1193800"/>
                  </a:lnTo>
                  <a:lnTo>
                    <a:pt x="1253489" y="1104900"/>
                  </a:lnTo>
                </a:path>
                <a:path w="4986020" h="1612900">
                  <a:moveTo>
                    <a:pt x="1253489" y="1104900"/>
                  </a:moveTo>
                  <a:lnTo>
                    <a:pt x="1492250" y="925830"/>
                  </a:lnTo>
                </a:path>
                <a:path w="4986020" h="1612900">
                  <a:moveTo>
                    <a:pt x="1492250" y="925830"/>
                  </a:moveTo>
                  <a:lnTo>
                    <a:pt x="1746250" y="745490"/>
                  </a:lnTo>
                </a:path>
                <a:path w="4986020" h="1612900">
                  <a:moveTo>
                    <a:pt x="1746250" y="745490"/>
                  </a:moveTo>
                  <a:lnTo>
                    <a:pt x="2000250" y="566420"/>
                  </a:lnTo>
                </a:path>
                <a:path w="4986020" h="1612900">
                  <a:moveTo>
                    <a:pt x="2000250" y="566420"/>
                  </a:moveTo>
                  <a:lnTo>
                    <a:pt x="2119629" y="477520"/>
                  </a:lnTo>
                  <a:lnTo>
                    <a:pt x="2239010" y="387350"/>
                  </a:lnTo>
                </a:path>
                <a:path w="4986020" h="1612900">
                  <a:moveTo>
                    <a:pt x="2239010" y="387350"/>
                  </a:moveTo>
                  <a:lnTo>
                    <a:pt x="2358390" y="313690"/>
                  </a:lnTo>
                  <a:lnTo>
                    <a:pt x="2493010" y="254000"/>
                  </a:lnTo>
                </a:path>
                <a:path w="4986020" h="1612900">
                  <a:moveTo>
                    <a:pt x="2493010" y="254000"/>
                  </a:moveTo>
                  <a:lnTo>
                    <a:pt x="2627629" y="179070"/>
                  </a:lnTo>
                  <a:lnTo>
                    <a:pt x="2747010" y="119380"/>
                  </a:lnTo>
                </a:path>
                <a:path w="4986020" h="1612900">
                  <a:moveTo>
                    <a:pt x="2747010" y="119380"/>
                  </a:moveTo>
                  <a:lnTo>
                    <a:pt x="2866390" y="74930"/>
                  </a:lnTo>
                  <a:lnTo>
                    <a:pt x="2985769" y="44450"/>
                  </a:lnTo>
                </a:path>
                <a:path w="4986020" h="1612900">
                  <a:moveTo>
                    <a:pt x="2985769" y="44450"/>
                  </a:moveTo>
                  <a:lnTo>
                    <a:pt x="3105150" y="13970"/>
                  </a:lnTo>
                  <a:lnTo>
                    <a:pt x="3239769" y="0"/>
                  </a:lnTo>
                </a:path>
                <a:path w="4986020" h="1612900">
                  <a:moveTo>
                    <a:pt x="3239769" y="0"/>
                  </a:moveTo>
                  <a:lnTo>
                    <a:pt x="3374390" y="0"/>
                  </a:lnTo>
                  <a:lnTo>
                    <a:pt x="3493769" y="0"/>
                  </a:lnTo>
                </a:path>
                <a:path w="4986020" h="1612900">
                  <a:moveTo>
                    <a:pt x="3493769" y="0"/>
                  </a:moveTo>
                  <a:lnTo>
                    <a:pt x="3613150" y="29210"/>
                  </a:lnTo>
                  <a:lnTo>
                    <a:pt x="3732529" y="74930"/>
                  </a:lnTo>
                </a:path>
                <a:path w="4986020" h="1612900">
                  <a:moveTo>
                    <a:pt x="3732529" y="74930"/>
                  </a:moveTo>
                  <a:lnTo>
                    <a:pt x="3851910" y="134620"/>
                  </a:lnTo>
                  <a:lnTo>
                    <a:pt x="3985260" y="208280"/>
                  </a:lnTo>
                </a:path>
                <a:path w="4986020" h="1612900">
                  <a:moveTo>
                    <a:pt x="3985260" y="208280"/>
                  </a:moveTo>
                  <a:lnTo>
                    <a:pt x="4119879" y="313690"/>
                  </a:lnTo>
                  <a:lnTo>
                    <a:pt x="4239260" y="433070"/>
                  </a:lnTo>
                </a:path>
                <a:path w="4986020" h="1612900">
                  <a:moveTo>
                    <a:pt x="4239260" y="433070"/>
                  </a:moveTo>
                  <a:lnTo>
                    <a:pt x="4358640" y="566420"/>
                  </a:lnTo>
                  <a:lnTo>
                    <a:pt x="4478020" y="731520"/>
                  </a:lnTo>
                </a:path>
                <a:path w="4986020" h="1612900">
                  <a:moveTo>
                    <a:pt x="4478020" y="731520"/>
                  </a:moveTo>
                  <a:lnTo>
                    <a:pt x="4597400" y="910590"/>
                  </a:lnTo>
                  <a:lnTo>
                    <a:pt x="4732020" y="1118870"/>
                  </a:lnTo>
                </a:path>
                <a:path w="4986020" h="1612900">
                  <a:moveTo>
                    <a:pt x="4732020" y="1118870"/>
                  </a:moveTo>
                  <a:lnTo>
                    <a:pt x="4791710" y="1238250"/>
                  </a:lnTo>
                  <a:lnTo>
                    <a:pt x="4851399" y="1357630"/>
                  </a:lnTo>
                  <a:lnTo>
                    <a:pt x="4986020" y="1612900"/>
                  </a:lnTo>
                </a:path>
              </a:pathLst>
            </a:custGeom>
            <a:ln w="30480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81810" y="4199889"/>
              <a:ext cx="4986020" cy="1612900"/>
            </a:xfrm>
            <a:custGeom>
              <a:avLst/>
              <a:gdLst/>
              <a:ahLst/>
              <a:cxnLst/>
              <a:rect l="l" t="t" r="r" b="b"/>
              <a:pathLst>
                <a:path w="4986020" h="1612900">
                  <a:moveTo>
                    <a:pt x="0" y="1612900"/>
                  </a:moveTo>
                  <a:lnTo>
                    <a:pt x="119379" y="1357630"/>
                  </a:lnTo>
                  <a:lnTo>
                    <a:pt x="194309" y="1238250"/>
                  </a:lnTo>
                  <a:lnTo>
                    <a:pt x="254000" y="1118870"/>
                  </a:lnTo>
                </a:path>
                <a:path w="4986020" h="1612900">
                  <a:moveTo>
                    <a:pt x="254000" y="1118870"/>
                  </a:moveTo>
                  <a:lnTo>
                    <a:pt x="388619" y="910590"/>
                  </a:lnTo>
                  <a:lnTo>
                    <a:pt x="508000" y="731520"/>
                  </a:lnTo>
                </a:path>
                <a:path w="4986020" h="1612900">
                  <a:moveTo>
                    <a:pt x="508000" y="731520"/>
                  </a:moveTo>
                  <a:lnTo>
                    <a:pt x="627379" y="566420"/>
                  </a:lnTo>
                  <a:lnTo>
                    <a:pt x="746759" y="433070"/>
                  </a:lnTo>
                </a:path>
                <a:path w="4986020" h="1612900">
                  <a:moveTo>
                    <a:pt x="746759" y="433070"/>
                  </a:moveTo>
                  <a:lnTo>
                    <a:pt x="866139" y="313690"/>
                  </a:lnTo>
                  <a:lnTo>
                    <a:pt x="1000759" y="208280"/>
                  </a:lnTo>
                </a:path>
                <a:path w="4986020" h="1612900">
                  <a:moveTo>
                    <a:pt x="1000759" y="208280"/>
                  </a:moveTo>
                  <a:lnTo>
                    <a:pt x="1134109" y="134620"/>
                  </a:lnTo>
                  <a:lnTo>
                    <a:pt x="1253489" y="74930"/>
                  </a:lnTo>
                </a:path>
                <a:path w="4986020" h="1612900">
                  <a:moveTo>
                    <a:pt x="1253489" y="74930"/>
                  </a:moveTo>
                  <a:lnTo>
                    <a:pt x="1372870" y="29210"/>
                  </a:lnTo>
                  <a:lnTo>
                    <a:pt x="1492250" y="0"/>
                  </a:lnTo>
                </a:path>
                <a:path w="4986020" h="1612900">
                  <a:moveTo>
                    <a:pt x="1492250" y="0"/>
                  </a:moveTo>
                  <a:lnTo>
                    <a:pt x="1611629" y="0"/>
                  </a:lnTo>
                  <a:lnTo>
                    <a:pt x="1746250" y="0"/>
                  </a:lnTo>
                </a:path>
                <a:path w="4986020" h="1612900">
                  <a:moveTo>
                    <a:pt x="1746250" y="0"/>
                  </a:moveTo>
                  <a:lnTo>
                    <a:pt x="1880869" y="13970"/>
                  </a:lnTo>
                  <a:lnTo>
                    <a:pt x="2000250" y="44450"/>
                  </a:lnTo>
                </a:path>
                <a:path w="4986020" h="1612900">
                  <a:moveTo>
                    <a:pt x="2000250" y="44450"/>
                  </a:moveTo>
                  <a:lnTo>
                    <a:pt x="2119629" y="74930"/>
                  </a:lnTo>
                  <a:lnTo>
                    <a:pt x="2239010" y="119380"/>
                  </a:lnTo>
                </a:path>
                <a:path w="4986020" h="1612900">
                  <a:moveTo>
                    <a:pt x="2239010" y="119380"/>
                  </a:moveTo>
                  <a:lnTo>
                    <a:pt x="2358390" y="179070"/>
                  </a:lnTo>
                  <a:lnTo>
                    <a:pt x="2493010" y="254000"/>
                  </a:lnTo>
                </a:path>
                <a:path w="4986020" h="1612900">
                  <a:moveTo>
                    <a:pt x="2493010" y="254000"/>
                  </a:moveTo>
                  <a:lnTo>
                    <a:pt x="2627629" y="313690"/>
                  </a:lnTo>
                  <a:lnTo>
                    <a:pt x="2747010" y="387350"/>
                  </a:lnTo>
                </a:path>
                <a:path w="4986020" h="1612900">
                  <a:moveTo>
                    <a:pt x="2747010" y="387350"/>
                  </a:moveTo>
                  <a:lnTo>
                    <a:pt x="2866390" y="477520"/>
                  </a:lnTo>
                  <a:lnTo>
                    <a:pt x="2985769" y="566420"/>
                  </a:lnTo>
                </a:path>
                <a:path w="4986020" h="1612900">
                  <a:moveTo>
                    <a:pt x="2985769" y="566420"/>
                  </a:moveTo>
                  <a:lnTo>
                    <a:pt x="3239769" y="745490"/>
                  </a:lnTo>
                </a:path>
                <a:path w="4986020" h="1612900">
                  <a:moveTo>
                    <a:pt x="3239769" y="745490"/>
                  </a:moveTo>
                  <a:lnTo>
                    <a:pt x="3493769" y="925830"/>
                  </a:lnTo>
                </a:path>
                <a:path w="4986020" h="1612900">
                  <a:moveTo>
                    <a:pt x="3493769" y="925830"/>
                  </a:moveTo>
                  <a:lnTo>
                    <a:pt x="3732529" y="1104900"/>
                  </a:lnTo>
                </a:path>
                <a:path w="4986020" h="1612900">
                  <a:moveTo>
                    <a:pt x="3732529" y="1104900"/>
                  </a:moveTo>
                  <a:lnTo>
                    <a:pt x="3851910" y="1193800"/>
                  </a:lnTo>
                  <a:lnTo>
                    <a:pt x="3985260" y="1268730"/>
                  </a:lnTo>
                </a:path>
                <a:path w="4986020" h="1612900">
                  <a:moveTo>
                    <a:pt x="3985260" y="1268730"/>
                  </a:moveTo>
                  <a:lnTo>
                    <a:pt x="4239260" y="1403350"/>
                  </a:lnTo>
                </a:path>
                <a:path w="4986020" h="1612900">
                  <a:moveTo>
                    <a:pt x="4239260" y="1403350"/>
                  </a:moveTo>
                  <a:lnTo>
                    <a:pt x="4478020" y="1507490"/>
                  </a:lnTo>
                </a:path>
                <a:path w="4986020" h="1612900">
                  <a:moveTo>
                    <a:pt x="4478020" y="1507490"/>
                  </a:moveTo>
                  <a:lnTo>
                    <a:pt x="4597400" y="1551940"/>
                  </a:lnTo>
                  <a:lnTo>
                    <a:pt x="4732020" y="1582420"/>
                  </a:lnTo>
                </a:path>
                <a:path w="4986020" h="1612900">
                  <a:moveTo>
                    <a:pt x="4732020" y="1582420"/>
                  </a:moveTo>
                  <a:lnTo>
                    <a:pt x="4851399" y="1596390"/>
                  </a:lnTo>
                  <a:lnTo>
                    <a:pt x="4986020" y="1612900"/>
                  </a:lnTo>
                </a:path>
              </a:pathLst>
            </a:custGeom>
            <a:ln w="30480">
              <a:solidFill>
                <a:srgbClr val="F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81810" y="2169160"/>
              <a:ext cx="4986020" cy="3643629"/>
            </a:xfrm>
            <a:custGeom>
              <a:avLst/>
              <a:gdLst/>
              <a:ahLst/>
              <a:cxnLst/>
              <a:rect l="l" t="t" r="r" b="b"/>
              <a:pathLst>
                <a:path w="4986020" h="3643629">
                  <a:moveTo>
                    <a:pt x="0" y="0"/>
                  </a:moveTo>
                  <a:lnTo>
                    <a:pt x="119379" y="267969"/>
                  </a:lnTo>
                  <a:lnTo>
                    <a:pt x="254000" y="521969"/>
                  </a:lnTo>
                </a:path>
                <a:path w="4986020" h="3643629">
                  <a:moveTo>
                    <a:pt x="254000" y="521969"/>
                  </a:moveTo>
                  <a:lnTo>
                    <a:pt x="388619" y="760729"/>
                  </a:lnTo>
                  <a:lnTo>
                    <a:pt x="508000" y="985519"/>
                  </a:lnTo>
                </a:path>
                <a:path w="4986020" h="3643629">
                  <a:moveTo>
                    <a:pt x="508000" y="985519"/>
                  </a:moveTo>
                  <a:lnTo>
                    <a:pt x="627379" y="1193800"/>
                  </a:lnTo>
                  <a:lnTo>
                    <a:pt x="746759" y="1403350"/>
                  </a:lnTo>
                </a:path>
                <a:path w="4986020" h="3643629">
                  <a:moveTo>
                    <a:pt x="746759" y="1403350"/>
                  </a:moveTo>
                  <a:lnTo>
                    <a:pt x="866139" y="1597659"/>
                  </a:lnTo>
                  <a:lnTo>
                    <a:pt x="1000759" y="1776729"/>
                  </a:lnTo>
                </a:path>
                <a:path w="4986020" h="3643629">
                  <a:moveTo>
                    <a:pt x="1000759" y="1776729"/>
                  </a:moveTo>
                  <a:lnTo>
                    <a:pt x="1134109" y="1940559"/>
                  </a:lnTo>
                  <a:lnTo>
                    <a:pt x="1253489" y="2105660"/>
                  </a:lnTo>
                </a:path>
                <a:path w="4986020" h="3643629">
                  <a:moveTo>
                    <a:pt x="1253489" y="2105660"/>
                  </a:moveTo>
                  <a:lnTo>
                    <a:pt x="1372870" y="2254250"/>
                  </a:lnTo>
                  <a:lnTo>
                    <a:pt x="1492250" y="2388870"/>
                  </a:lnTo>
                </a:path>
                <a:path w="4986020" h="3643629">
                  <a:moveTo>
                    <a:pt x="1492250" y="2388870"/>
                  </a:moveTo>
                  <a:lnTo>
                    <a:pt x="1611629" y="2523490"/>
                  </a:lnTo>
                  <a:lnTo>
                    <a:pt x="1746250" y="2642870"/>
                  </a:lnTo>
                </a:path>
                <a:path w="4986020" h="3643629">
                  <a:moveTo>
                    <a:pt x="1746250" y="2642870"/>
                  </a:moveTo>
                  <a:lnTo>
                    <a:pt x="1880869" y="2747010"/>
                  </a:lnTo>
                  <a:lnTo>
                    <a:pt x="2000250" y="2851150"/>
                  </a:lnTo>
                </a:path>
                <a:path w="4986020" h="3643629">
                  <a:moveTo>
                    <a:pt x="2000250" y="2851150"/>
                  </a:moveTo>
                  <a:lnTo>
                    <a:pt x="2239010" y="3030220"/>
                  </a:lnTo>
                </a:path>
                <a:path w="4986020" h="3643629">
                  <a:moveTo>
                    <a:pt x="2239010" y="3030220"/>
                  </a:moveTo>
                  <a:lnTo>
                    <a:pt x="2358390" y="3120390"/>
                  </a:lnTo>
                  <a:lnTo>
                    <a:pt x="2493010" y="3195320"/>
                  </a:lnTo>
                </a:path>
                <a:path w="4986020" h="3643629">
                  <a:moveTo>
                    <a:pt x="2493010" y="3195320"/>
                  </a:moveTo>
                  <a:lnTo>
                    <a:pt x="2627629" y="3255009"/>
                  </a:lnTo>
                  <a:lnTo>
                    <a:pt x="2747010" y="3314700"/>
                  </a:lnTo>
                </a:path>
                <a:path w="4986020" h="3643629">
                  <a:moveTo>
                    <a:pt x="2747010" y="3314700"/>
                  </a:moveTo>
                  <a:lnTo>
                    <a:pt x="2866390" y="3359150"/>
                  </a:lnTo>
                  <a:lnTo>
                    <a:pt x="2985769" y="3403600"/>
                  </a:lnTo>
                </a:path>
                <a:path w="4986020" h="3643629">
                  <a:moveTo>
                    <a:pt x="2985769" y="3403600"/>
                  </a:moveTo>
                  <a:lnTo>
                    <a:pt x="3105150" y="3448050"/>
                  </a:lnTo>
                  <a:lnTo>
                    <a:pt x="3239769" y="3493770"/>
                  </a:lnTo>
                </a:path>
                <a:path w="4986020" h="3643629">
                  <a:moveTo>
                    <a:pt x="3239769" y="3493770"/>
                  </a:moveTo>
                  <a:lnTo>
                    <a:pt x="3374390" y="3522979"/>
                  </a:lnTo>
                  <a:lnTo>
                    <a:pt x="3493769" y="3538220"/>
                  </a:lnTo>
                </a:path>
                <a:path w="4986020" h="3643629">
                  <a:moveTo>
                    <a:pt x="3493769" y="3538220"/>
                  </a:moveTo>
                  <a:lnTo>
                    <a:pt x="3732529" y="3582670"/>
                  </a:lnTo>
                </a:path>
                <a:path w="4986020" h="3643629">
                  <a:moveTo>
                    <a:pt x="3732529" y="3582670"/>
                  </a:moveTo>
                  <a:lnTo>
                    <a:pt x="3985260" y="3613150"/>
                  </a:lnTo>
                </a:path>
                <a:path w="4986020" h="3643629">
                  <a:moveTo>
                    <a:pt x="3985260" y="3613150"/>
                  </a:moveTo>
                  <a:lnTo>
                    <a:pt x="4239260" y="3627120"/>
                  </a:lnTo>
                </a:path>
                <a:path w="4986020" h="3643629">
                  <a:moveTo>
                    <a:pt x="4239260" y="3627120"/>
                  </a:moveTo>
                  <a:lnTo>
                    <a:pt x="4478020" y="3643629"/>
                  </a:lnTo>
                </a:path>
                <a:path w="4986020" h="3643629">
                  <a:moveTo>
                    <a:pt x="4478020" y="3643629"/>
                  </a:moveTo>
                  <a:lnTo>
                    <a:pt x="4732020" y="3643629"/>
                  </a:lnTo>
                </a:path>
                <a:path w="4986020" h="3643629">
                  <a:moveTo>
                    <a:pt x="4732020" y="3643629"/>
                  </a:moveTo>
                  <a:lnTo>
                    <a:pt x="4986020" y="3643629"/>
                  </a:lnTo>
                </a:path>
              </a:pathLst>
            </a:custGeom>
            <a:ln w="3048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203701" y="1347469"/>
            <a:ext cx="3943985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850" b="1" dirty="0">
                <a:latin typeface="Arial"/>
                <a:cs typeface="Arial"/>
              </a:rPr>
              <a:t>Polinômios</a:t>
            </a:r>
            <a:r>
              <a:rPr sz="1850" b="1" spc="-10" dirty="0">
                <a:latin typeface="Arial"/>
                <a:cs typeface="Arial"/>
              </a:rPr>
              <a:t> </a:t>
            </a:r>
            <a:r>
              <a:rPr sz="1850" b="1" spc="50" dirty="0">
                <a:latin typeface="Arial"/>
                <a:cs typeface="Arial"/>
              </a:rPr>
              <a:t>de</a:t>
            </a:r>
            <a:r>
              <a:rPr sz="1850" b="1" spc="-25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Bernstein</a:t>
            </a:r>
            <a:r>
              <a:rPr sz="1850" b="1" spc="-5" dirty="0">
                <a:latin typeface="Arial"/>
                <a:cs typeface="Arial"/>
              </a:rPr>
              <a:t> </a:t>
            </a:r>
            <a:r>
              <a:rPr sz="1850" b="1" spc="50" dirty="0">
                <a:latin typeface="Arial"/>
                <a:cs typeface="Arial"/>
              </a:rPr>
              <a:t>de</a:t>
            </a:r>
            <a:r>
              <a:rPr sz="1850" b="1" spc="-1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grau</a:t>
            </a:r>
            <a:r>
              <a:rPr sz="1850" b="1" spc="10" dirty="0">
                <a:latin typeface="Arial"/>
                <a:cs typeface="Arial"/>
              </a:rPr>
              <a:t> 3</a:t>
            </a:r>
            <a:endParaRPr sz="1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55901" y="1891792"/>
            <a:ext cx="301625" cy="402590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R="5080" algn="r">
              <a:spcBef>
                <a:spcPts val="1110"/>
              </a:spcBef>
            </a:pPr>
            <a:r>
              <a:rPr sz="1500" spc="-50" dirty="0"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  <a:p>
            <a:pPr marR="5080" algn="r">
              <a:spcBef>
                <a:spcPts val="1019"/>
              </a:spcBef>
            </a:pPr>
            <a:r>
              <a:rPr sz="1500" spc="-25" dirty="0">
                <a:latin typeface="Arial MT"/>
                <a:cs typeface="Arial MT"/>
              </a:rPr>
              <a:t>0.9</a:t>
            </a:r>
            <a:endParaRPr sz="1500">
              <a:latin typeface="Arial MT"/>
              <a:cs typeface="Arial MT"/>
            </a:endParaRPr>
          </a:p>
          <a:p>
            <a:pPr marR="5080" algn="r">
              <a:spcBef>
                <a:spcPts val="1140"/>
              </a:spcBef>
            </a:pPr>
            <a:r>
              <a:rPr sz="1500" spc="-25" dirty="0">
                <a:latin typeface="Arial MT"/>
                <a:cs typeface="Arial MT"/>
              </a:rPr>
              <a:t>0.8</a:t>
            </a:r>
            <a:endParaRPr sz="1500">
              <a:latin typeface="Arial MT"/>
              <a:cs typeface="Arial MT"/>
            </a:endParaRPr>
          </a:p>
          <a:p>
            <a:pPr marR="5080" algn="r">
              <a:spcBef>
                <a:spcPts val="1019"/>
              </a:spcBef>
            </a:pPr>
            <a:r>
              <a:rPr sz="1500" spc="-25" dirty="0">
                <a:latin typeface="Arial MT"/>
                <a:cs typeface="Arial MT"/>
              </a:rPr>
              <a:t>0.7</a:t>
            </a:r>
            <a:endParaRPr sz="1500">
              <a:latin typeface="Arial MT"/>
              <a:cs typeface="Arial MT"/>
            </a:endParaRPr>
          </a:p>
          <a:p>
            <a:pPr marR="5080" algn="r">
              <a:spcBef>
                <a:spcPts val="1140"/>
              </a:spcBef>
            </a:pPr>
            <a:r>
              <a:rPr sz="1500" spc="-25" dirty="0">
                <a:latin typeface="Arial MT"/>
                <a:cs typeface="Arial MT"/>
              </a:rPr>
              <a:t>0.6</a:t>
            </a:r>
            <a:endParaRPr sz="1500">
              <a:latin typeface="Arial MT"/>
              <a:cs typeface="Arial MT"/>
            </a:endParaRPr>
          </a:p>
          <a:p>
            <a:pPr marR="5080" algn="r">
              <a:spcBef>
                <a:spcPts val="1019"/>
              </a:spcBef>
            </a:pPr>
            <a:r>
              <a:rPr sz="1500" spc="-25" dirty="0">
                <a:latin typeface="Arial MT"/>
                <a:cs typeface="Arial MT"/>
              </a:rPr>
              <a:t>0.5</a:t>
            </a:r>
            <a:endParaRPr sz="1500">
              <a:latin typeface="Arial MT"/>
              <a:cs typeface="Arial MT"/>
            </a:endParaRPr>
          </a:p>
          <a:p>
            <a:pPr marR="5080" algn="r">
              <a:spcBef>
                <a:spcPts val="1019"/>
              </a:spcBef>
            </a:pPr>
            <a:r>
              <a:rPr sz="1500" spc="-25" dirty="0">
                <a:latin typeface="Arial MT"/>
                <a:cs typeface="Arial MT"/>
              </a:rPr>
              <a:t>0.4</a:t>
            </a:r>
            <a:endParaRPr sz="1500">
              <a:latin typeface="Arial MT"/>
              <a:cs typeface="Arial MT"/>
            </a:endParaRPr>
          </a:p>
          <a:p>
            <a:pPr marR="5080" algn="r">
              <a:spcBef>
                <a:spcPts val="1140"/>
              </a:spcBef>
            </a:pPr>
            <a:r>
              <a:rPr sz="1500" spc="-25" dirty="0">
                <a:latin typeface="Arial MT"/>
                <a:cs typeface="Arial MT"/>
              </a:rPr>
              <a:t>0.3</a:t>
            </a:r>
            <a:endParaRPr sz="1500">
              <a:latin typeface="Arial MT"/>
              <a:cs typeface="Arial MT"/>
            </a:endParaRPr>
          </a:p>
          <a:p>
            <a:pPr marR="5080" algn="r">
              <a:spcBef>
                <a:spcPts val="1019"/>
              </a:spcBef>
            </a:pPr>
            <a:r>
              <a:rPr sz="1500" spc="-25" dirty="0">
                <a:latin typeface="Arial MT"/>
                <a:cs typeface="Arial MT"/>
              </a:rPr>
              <a:t>0.2</a:t>
            </a:r>
            <a:endParaRPr sz="1500">
              <a:latin typeface="Arial MT"/>
              <a:cs typeface="Arial MT"/>
            </a:endParaRPr>
          </a:p>
          <a:p>
            <a:pPr marR="5080" algn="r">
              <a:spcBef>
                <a:spcPts val="1140"/>
              </a:spcBef>
            </a:pPr>
            <a:r>
              <a:rPr sz="1500" spc="-25" dirty="0">
                <a:latin typeface="Arial MT"/>
                <a:cs typeface="Arial MT"/>
              </a:rPr>
              <a:t>0.1</a:t>
            </a:r>
            <a:endParaRPr sz="1500">
              <a:latin typeface="Arial MT"/>
              <a:cs typeface="Arial MT"/>
            </a:endParaRPr>
          </a:p>
          <a:p>
            <a:pPr marR="5080" algn="r">
              <a:spcBef>
                <a:spcPts val="1019"/>
              </a:spcBef>
            </a:pPr>
            <a:r>
              <a:rPr sz="1500" spc="-50" dirty="0">
                <a:latin typeface="Arial MT"/>
                <a:cs typeface="Arial MT"/>
              </a:rPr>
              <a:t>0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48661" y="5943600"/>
            <a:ext cx="137795" cy="2475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500" spc="-50" dirty="0">
                <a:latin typeface="Arial MT"/>
                <a:cs typeface="Arial MT"/>
              </a:rPr>
              <a:t>0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59251" y="5943600"/>
            <a:ext cx="301625" cy="2475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500" spc="-25" dirty="0">
                <a:latin typeface="Arial MT"/>
                <a:cs typeface="Arial MT"/>
              </a:rPr>
              <a:t>0.2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58741" y="5943600"/>
            <a:ext cx="302895" cy="2475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500" spc="-25" dirty="0">
                <a:latin typeface="Arial MT"/>
                <a:cs typeface="Arial MT"/>
              </a:rPr>
              <a:t>0.4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44260" y="5943600"/>
            <a:ext cx="301625" cy="2475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500" spc="-25" dirty="0">
                <a:latin typeface="Arial MT"/>
                <a:cs typeface="Arial MT"/>
              </a:rPr>
              <a:t>0.6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45021" y="5943600"/>
            <a:ext cx="301625" cy="2475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500" spc="-25" dirty="0">
                <a:latin typeface="Arial MT"/>
                <a:cs typeface="Arial MT"/>
              </a:rPr>
              <a:t>0.8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34681" y="5943600"/>
            <a:ext cx="137795" cy="2475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500" spc="-50" dirty="0"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26430" y="6286500"/>
            <a:ext cx="137795" cy="2475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500" i="1" spc="-50" dirty="0">
                <a:latin typeface="Arial"/>
                <a:cs typeface="Arial"/>
              </a:rPr>
              <a:t>u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649969" y="3528059"/>
            <a:ext cx="358140" cy="970280"/>
            <a:chOff x="7125969" y="3528059"/>
            <a:chExt cx="358140" cy="970280"/>
          </a:xfrm>
        </p:grpSpPr>
        <p:sp>
          <p:nvSpPr>
            <p:cNvPr id="21" name="object 21"/>
            <p:cNvSpPr/>
            <p:nvPr/>
          </p:nvSpPr>
          <p:spPr>
            <a:xfrm>
              <a:off x="7125969" y="3543299"/>
              <a:ext cx="358140" cy="0"/>
            </a:xfrm>
            <a:custGeom>
              <a:avLst/>
              <a:gdLst/>
              <a:ahLst/>
              <a:cxnLst/>
              <a:rect l="l" t="t" r="r" b="b"/>
              <a:pathLst>
                <a:path w="358140">
                  <a:moveTo>
                    <a:pt x="0" y="0"/>
                  </a:moveTo>
                  <a:lnTo>
                    <a:pt x="358139" y="0"/>
                  </a:lnTo>
                </a:path>
              </a:pathLst>
            </a:custGeom>
            <a:ln w="3048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25969" y="3855719"/>
              <a:ext cx="358140" cy="0"/>
            </a:xfrm>
            <a:custGeom>
              <a:avLst/>
              <a:gdLst/>
              <a:ahLst/>
              <a:cxnLst/>
              <a:rect l="l" t="t" r="r" b="b"/>
              <a:pathLst>
                <a:path w="358140">
                  <a:moveTo>
                    <a:pt x="0" y="0"/>
                  </a:moveTo>
                  <a:lnTo>
                    <a:pt x="358139" y="0"/>
                  </a:lnTo>
                </a:path>
              </a:pathLst>
            </a:custGeom>
            <a:ln w="30480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125969" y="4169409"/>
              <a:ext cx="358140" cy="0"/>
            </a:xfrm>
            <a:custGeom>
              <a:avLst/>
              <a:gdLst/>
              <a:ahLst/>
              <a:cxnLst/>
              <a:rect l="l" t="t" r="r" b="b"/>
              <a:pathLst>
                <a:path w="358140">
                  <a:moveTo>
                    <a:pt x="0" y="0"/>
                  </a:moveTo>
                  <a:lnTo>
                    <a:pt x="358139" y="0"/>
                  </a:lnTo>
                </a:path>
              </a:pathLst>
            </a:custGeom>
            <a:ln w="30480">
              <a:solidFill>
                <a:srgbClr val="F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25969" y="4483099"/>
              <a:ext cx="358140" cy="0"/>
            </a:xfrm>
            <a:custGeom>
              <a:avLst/>
              <a:gdLst/>
              <a:ahLst/>
              <a:cxnLst/>
              <a:rect l="l" t="t" r="r" b="b"/>
              <a:pathLst>
                <a:path w="358140">
                  <a:moveTo>
                    <a:pt x="0" y="0"/>
                  </a:moveTo>
                  <a:lnTo>
                    <a:pt x="358139" y="0"/>
                  </a:lnTo>
                </a:path>
              </a:pathLst>
            </a:custGeom>
            <a:ln w="30480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575040" y="3362959"/>
            <a:ext cx="1104900" cy="125476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7939" rIns="0" bIns="0" rtlCol="0">
            <a:spAutoFit/>
          </a:bodyPr>
          <a:lstStyle/>
          <a:p>
            <a:pPr marL="476884">
              <a:spcBef>
                <a:spcPts val="219"/>
              </a:spcBef>
            </a:pPr>
            <a:r>
              <a:rPr sz="1500" i="1" spc="-10" dirty="0">
                <a:latin typeface="Arial"/>
                <a:cs typeface="Arial"/>
              </a:rPr>
              <a:t>b03(u)</a:t>
            </a:r>
            <a:endParaRPr sz="1500">
              <a:latin typeface="Arial"/>
              <a:cs typeface="Arial"/>
            </a:endParaRPr>
          </a:p>
          <a:p>
            <a:pPr marL="476884">
              <a:spcBef>
                <a:spcPts val="680"/>
              </a:spcBef>
            </a:pPr>
            <a:r>
              <a:rPr sz="1500" i="1" spc="-10" dirty="0">
                <a:latin typeface="Arial"/>
                <a:cs typeface="Arial"/>
              </a:rPr>
              <a:t>b13(u)</a:t>
            </a:r>
            <a:endParaRPr sz="1500">
              <a:latin typeface="Arial"/>
              <a:cs typeface="Arial"/>
            </a:endParaRPr>
          </a:p>
          <a:p>
            <a:pPr marL="476884">
              <a:spcBef>
                <a:spcPts val="660"/>
              </a:spcBef>
            </a:pPr>
            <a:r>
              <a:rPr sz="1500" i="1" spc="-10" dirty="0">
                <a:latin typeface="Arial"/>
                <a:cs typeface="Arial"/>
              </a:rPr>
              <a:t>b23(u)</a:t>
            </a:r>
            <a:endParaRPr sz="1500">
              <a:latin typeface="Arial"/>
              <a:cs typeface="Arial"/>
            </a:endParaRPr>
          </a:p>
          <a:p>
            <a:pPr marL="476884">
              <a:spcBef>
                <a:spcPts val="670"/>
              </a:spcBef>
            </a:pPr>
            <a:r>
              <a:rPr sz="1500" i="1" spc="-10" dirty="0">
                <a:latin typeface="Arial"/>
                <a:cs typeface="Arial"/>
              </a:rPr>
              <a:t>b33(u)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860">
              <a:spcBef>
                <a:spcPts val="100"/>
              </a:spcBef>
            </a:pPr>
            <a:r>
              <a:rPr dirty="0"/>
              <a:t>Forma</a:t>
            </a:r>
            <a:r>
              <a:rPr spc="-55" dirty="0"/>
              <a:t> </a:t>
            </a:r>
            <a:r>
              <a:rPr dirty="0"/>
              <a:t>Matricial</a:t>
            </a:r>
            <a:r>
              <a:rPr spc="-45" dirty="0"/>
              <a:t> </a:t>
            </a:r>
            <a:r>
              <a:rPr dirty="0"/>
              <a:t>da</a:t>
            </a:r>
            <a:r>
              <a:rPr spc="-50" dirty="0"/>
              <a:t> </a:t>
            </a:r>
            <a:r>
              <a:rPr dirty="0"/>
              <a:t>Base</a:t>
            </a:r>
            <a:r>
              <a:rPr spc="-50" dirty="0"/>
              <a:t> </a:t>
            </a:r>
            <a:r>
              <a:rPr spc="-10" dirty="0"/>
              <a:t>Bézier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70" y="161670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•</a:t>
            </a:r>
            <a:endParaRPr sz="260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01569" y="1634490"/>
            <a:ext cx="681863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Podemos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escrever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equação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64480" y="6047741"/>
            <a:ext cx="9461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2350" spc="-409" dirty="0">
                <a:latin typeface="Symbol"/>
                <a:cs typeface="Symbol"/>
              </a:rPr>
              <a:t>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86430" y="6047741"/>
            <a:ext cx="9461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2350" spc="-409" dirty="0">
                <a:latin typeface="Symbol"/>
                <a:cs typeface="Symbol"/>
              </a:rPr>
              <a:t>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21001" y="5219701"/>
            <a:ext cx="38544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spcBef>
                <a:spcPts val="120"/>
              </a:spcBef>
              <a:tabLst>
                <a:tab pos="277495" algn="l"/>
              </a:tabLst>
            </a:pPr>
            <a:r>
              <a:rPr sz="3525" spc="-847" baseline="-14184" dirty="0">
                <a:latin typeface="Symbol"/>
                <a:cs typeface="Symbol"/>
              </a:rPr>
              <a:t></a:t>
            </a:r>
            <a:r>
              <a:rPr sz="3525" baseline="-14184" dirty="0">
                <a:latin typeface="Times New Roman"/>
                <a:cs typeface="Times New Roman"/>
              </a:rPr>
              <a:t>	</a:t>
            </a:r>
            <a:r>
              <a:rPr sz="2350" spc="-409" dirty="0">
                <a:latin typeface="Symbol"/>
                <a:cs typeface="Symbol"/>
              </a:rPr>
              <a:t>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69101" y="3475990"/>
            <a:ext cx="9461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2350" spc="-409" dirty="0">
                <a:latin typeface="Symbol"/>
                <a:cs typeface="Symbol"/>
              </a:rPr>
              <a:t>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69101" y="2898140"/>
            <a:ext cx="9461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2350" spc="-409" dirty="0">
                <a:latin typeface="Symbol"/>
                <a:cs typeface="Symbol"/>
              </a:rPr>
              <a:t>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1601" y="5796280"/>
            <a:ext cx="30289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spcBef>
                <a:spcPts val="120"/>
              </a:spcBef>
            </a:pPr>
            <a:r>
              <a:rPr sz="3525" spc="-37" baseline="-33096" dirty="0">
                <a:latin typeface="Times New Roman"/>
                <a:cs typeface="Times New Roman"/>
              </a:rPr>
              <a:t>1</a:t>
            </a:r>
            <a:r>
              <a:rPr sz="2350" spc="-25" dirty="0">
                <a:latin typeface="Symbol"/>
                <a:cs typeface="Symbol"/>
              </a:rPr>
              <a:t>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09540" y="5219701"/>
            <a:ext cx="249554" cy="6750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5080" algn="r">
              <a:lnSpc>
                <a:spcPts val="2545"/>
              </a:lnSpc>
              <a:spcBef>
                <a:spcPts val="120"/>
              </a:spcBef>
            </a:pPr>
            <a:r>
              <a:rPr sz="2350" spc="-409" dirty="0">
                <a:latin typeface="Symbol"/>
                <a:cs typeface="Symbol"/>
              </a:rPr>
              <a:t></a:t>
            </a:r>
            <a:endParaRPr sz="2350">
              <a:latin typeface="Symbol"/>
              <a:cs typeface="Symbol"/>
            </a:endParaRPr>
          </a:p>
          <a:p>
            <a:pPr marR="5080" algn="r">
              <a:lnSpc>
                <a:spcPts val="2545"/>
              </a:lnSpc>
            </a:pPr>
            <a:r>
              <a:rPr sz="3525" spc="-187" baseline="-3546" dirty="0">
                <a:latin typeface="Times New Roman"/>
                <a:cs typeface="Times New Roman"/>
              </a:rPr>
              <a:t>0</a:t>
            </a:r>
            <a:r>
              <a:rPr sz="2350" spc="-125" dirty="0">
                <a:latin typeface="Symbol"/>
                <a:cs typeface="Symbol"/>
              </a:rPr>
              <a:t>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84141" y="4931410"/>
            <a:ext cx="30035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spcBef>
                <a:spcPts val="120"/>
              </a:spcBef>
            </a:pPr>
            <a:r>
              <a:rPr sz="3525" spc="-44" baseline="-26004" dirty="0">
                <a:latin typeface="Times New Roman"/>
                <a:cs typeface="Times New Roman"/>
              </a:rPr>
              <a:t>0</a:t>
            </a:r>
            <a:r>
              <a:rPr sz="2350" spc="-30" dirty="0">
                <a:latin typeface="Symbol"/>
                <a:cs typeface="Symbol"/>
              </a:rPr>
              <a:t>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35631" y="4529328"/>
            <a:ext cx="2361565" cy="183261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63500">
              <a:spcBef>
                <a:spcPts val="835"/>
              </a:spcBef>
              <a:tabLst>
                <a:tab pos="278765" algn="l"/>
                <a:tab pos="918844" algn="l"/>
                <a:tab pos="1556385" algn="l"/>
                <a:tab pos="2085975" algn="l"/>
              </a:tabLst>
            </a:pPr>
            <a:r>
              <a:rPr sz="3525" spc="-615" baseline="-4728" dirty="0">
                <a:latin typeface="Symbol"/>
                <a:cs typeface="Symbol"/>
              </a:rPr>
              <a:t></a:t>
            </a:r>
            <a:r>
              <a:rPr sz="3525" baseline="-4728" dirty="0">
                <a:latin typeface="Times New Roman"/>
                <a:cs typeface="Times New Roman"/>
              </a:rPr>
              <a:t>	</a:t>
            </a:r>
            <a:r>
              <a:rPr sz="2350" spc="-60" dirty="0">
                <a:latin typeface="Times New Roman"/>
                <a:cs typeface="Times New Roman"/>
              </a:rPr>
              <a:t>1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50" dirty="0">
                <a:latin typeface="Times New Roman"/>
                <a:cs typeface="Times New Roman"/>
              </a:rPr>
              <a:t>0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50" dirty="0">
                <a:latin typeface="Times New Roman"/>
                <a:cs typeface="Times New Roman"/>
              </a:rPr>
              <a:t>0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25" dirty="0">
                <a:latin typeface="Times New Roman"/>
                <a:cs typeface="Times New Roman"/>
              </a:rPr>
              <a:t>0</a:t>
            </a:r>
            <a:r>
              <a:rPr sz="3525" spc="-37" baseline="-4728" dirty="0">
                <a:latin typeface="Symbol"/>
                <a:cs typeface="Symbol"/>
              </a:rPr>
              <a:t></a:t>
            </a:r>
            <a:endParaRPr sz="3525" baseline="-4728">
              <a:latin typeface="Symbol"/>
              <a:cs typeface="Symbol"/>
            </a:endParaRPr>
          </a:p>
          <a:p>
            <a:pPr marL="63500">
              <a:spcBef>
                <a:spcPts val="740"/>
              </a:spcBef>
              <a:tabLst>
                <a:tab pos="921385" algn="l"/>
                <a:tab pos="1556385" algn="l"/>
              </a:tabLst>
            </a:pPr>
            <a:r>
              <a:rPr sz="3525" spc="-540" baseline="26004" dirty="0">
                <a:latin typeface="Symbol"/>
                <a:cs typeface="Symbol"/>
              </a:rPr>
              <a:t></a:t>
            </a:r>
            <a:r>
              <a:rPr sz="3525" spc="-262" baseline="26004" dirty="0">
                <a:latin typeface="Times New Roman"/>
                <a:cs typeface="Times New Roman"/>
              </a:rPr>
              <a:t> </a:t>
            </a:r>
            <a:r>
              <a:rPr sz="2350" spc="-515" dirty="0">
                <a:latin typeface="Symbol"/>
                <a:cs typeface="Symbol"/>
              </a:rPr>
              <a:t></a:t>
            </a:r>
            <a:r>
              <a:rPr sz="2350" spc="260" dirty="0">
                <a:latin typeface="Times New Roman"/>
                <a:cs typeface="Times New Roman"/>
              </a:rPr>
              <a:t> </a:t>
            </a:r>
            <a:r>
              <a:rPr sz="2350" spc="-50" dirty="0">
                <a:latin typeface="Times New Roman"/>
                <a:cs typeface="Times New Roman"/>
              </a:rPr>
              <a:t>3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50" dirty="0">
                <a:latin typeface="Times New Roman"/>
                <a:cs typeface="Times New Roman"/>
              </a:rPr>
              <a:t>3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50" dirty="0">
                <a:latin typeface="Times New Roman"/>
                <a:cs typeface="Times New Roman"/>
              </a:rPr>
              <a:t>0</a:t>
            </a:r>
            <a:endParaRPr sz="2350">
              <a:latin typeface="Times New Roman"/>
              <a:cs typeface="Times New Roman"/>
            </a:endParaRPr>
          </a:p>
          <a:p>
            <a:pPr marL="63500">
              <a:spcBef>
                <a:spcPts val="740"/>
              </a:spcBef>
              <a:tabLst>
                <a:tab pos="283845" algn="l"/>
                <a:tab pos="814705" algn="l"/>
                <a:tab pos="1558925" algn="l"/>
              </a:tabLst>
            </a:pPr>
            <a:r>
              <a:rPr sz="3525" spc="-615" baseline="3546" dirty="0">
                <a:latin typeface="Symbol"/>
                <a:cs typeface="Symbol"/>
              </a:rPr>
              <a:t></a:t>
            </a:r>
            <a:r>
              <a:rPr sz="3525" baseline="3546" dirty="0">
                <a:latin typeface="Times New Roman"/>
                <a:cs typeface="Times New Roman"/>
              </a:rPr>
              <a:t>	</a:t>
            </a:r>
            <a:r>
              <a:rPr sz="2350" spc="-50" dirty="0">
                <a:latin typeface="Times New Roman"/>
                <a:cs typeface="Times New Roman"/>
              </a:rPr>
              <a:t>3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515" dirty="0">
                <a:latin typeface="Symbol"/>
                <a:cs typeface="Symbol"/>
              </a:rPr>
              <a:t></a:t>
            </a:r>
            <a:r>
              <a:rPr sz="2350" spc="290" dirty="0">
                <a:latin typeface="Times New Roman"/>
                <a:cs typeface="Times New Roman"/>
              </a:rPr>
              <a:t> </a:t>
            </a:r>
            <a:r>
              <a:rPr sz="2350" spc="-50" dirty="0">
                <a:latin typeface="Times New Roman"/>
                <a:cs typeface="Times New Roman"/>
              </a:rPr>
              <a:t>6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50" dirty="0">
                <a:latin typeface="Times New Roman"/>
                <a:cs typeface="Times New Roman"/>
              </a:rPr>
              <a:t>3</a:t>
            </a:r>
            <a:endParaRPr sz="2350">
              <a:latin typeface="Times New Roman"/>
              <a:cs typeface="Times New Roman"/>
            </a:endParaRPr>
          </a:p>
          <a:p>
            <a:pPr marL="63500">
              <a:spcBef>
                <a:spcPts val="730"/>
              </a:spcBef>
              <a:tabLst>
                <a:tab pos="921385" algn="l"/>
                <a:tab pos="1459865" algn="l"/>
              </a:tabLst>
            </a:pPr>
            <a:r>
              <a:rPr sz="3525" spc="-540" baseline="33096" dirty="0">
                <a:latin typeface="Symbol"/>
                <a:cs typeface="Symbol"/>
              </a:rPr>
              <a:t></a:t>
            </a:r>
            <a:r>
              <a:rPr sz="3525" spc="-37" baseline="33096" dirty="0">
                <a:latin typeface="Times New Roman"/>
                <a:cs typeface="Times New Roman"/>
              </a:rPr>
              <a:t> </a:t>
            </a:r>
            <a:r>
              <a:rPr sz="2350" spc="-515" dirty="0">
                <a:latin typeface="Symbol"/>
                <a:cs typeface="Symbol"/>
              </a:rPr>
              <a:t></a:t>
            </a:r>
            <a:r>
              <a:rPr sz="2350" spc="70" dirty="0">
                <a:latin typeface="Times New Roman"/>
                <a:cs typeface="Times New Roman"/>
              </a:rPr>
              <a:t> </a:t>
            </a:r>
            <a:r>
              <a:rPr sz="2350" spc="-50" dirty="0">
                <a:latin typeface="Times New Roman"/>
                <a:cs typeface="Times New Roman"/>
              </a:rPr>
              <a:t>1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50" dirty="0">
                <a:latin typeface="Times New Roman"/>
                <a:cs typeface="Times New Roman"/>
              </a:rPr>
              <a:t>3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515" dirty="0">
                <a:latin typeface="Symbol"/>
                <a:cs typeface="Symbol"/>
              </a:rPr>
              <a:t></a:t>
            </a:r>
            <a:r>
              <a:rPr sz="2350" spc="260" dirty="0">
                <a:latin typeface="Times New Roman"/>
                <a:cs typeface="Times New Roman"/>
              </a:rPr>
              <a:t> </a:t>
            </a:r>
            <a:r>
              <a:rPr sz="2350" spc="-50" dirty="0">
                <a:latin typeface="Times New Roman"/>
                <a:cs typeface="Times New Roman"/>
              </a:rPr>
              <a:t>3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48501" y="3279140"/>
            <a:ext cx="27749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spcBef>
                <a:spcPts val="120"/>
              </a:spcBef>
            </a:pPr>
            <a:r>
              <a:rPr sz="1350" dirty="0">
                <a:latin typeface="Times New Roman"/>
                <a:cs typeface="Times New Roman"/>
              </a:rPr>
              <a:t>2</a:t>
            </a:r>
            <a:r>
              <a:rPr sz="1350" spc="25" dirty="0">
                <a:latin typeface="Times New Roman"/>
                <a:cs typeface="Times New Roman"/>
              </a:rPr>
              <a:t> </a:t>
            </a:r>
            <a:r>
              <a:rPr sz="3525" spc="-615" baseline="-36643" dirty="0">
                <a:latin typeface="Symbol"/>
                <a:cs typeface="Symbol"/>
              </a:rPr>
              <a:t></a:t>
            </a:r>
            <a:endParaRPr sz="3525" baseline="-36643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37071" y="2827020"/>
            <a:ext cx="28892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spcBef>
                <a:spcPts val="120"/>
              </a:spcBef>
            </a:pPr>
            <a:r>
              <a:rPr sz="1350" spc="-105" dirty="0">
                <a:latin typeface="Times New Roman"/>
                <a:cs typeface="Times New Roman"/>
              </a:rPr>
              <a:t>`1</a:t>
            </a:r>
            <a:r>
              <a:rPr sz="1350" spc="-130" dirty="0">
                <a:latin typeface="Times New Roman"/>
                <a:cs typeface="Times New Roman"/>
              </a:rPr>
              <a:t> </a:t>
            </a:r>
            <a:r>
              <a:rPr sz="3525" spc="-615" baseline="-13002" dirty="0">
                <a:latin typeface="Symbol"/>
                <a:cs typeface="Symbol"/>
              </a:rPr>
              <a:t></a:t>
            </a:r>
            <a:endParaRPr sz="3525" baseline="-13002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31539" y="3177539"/>
            <a:ext cx="201930" cy="224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350" spc="-25" dirty="0">
                <a:latin typeface="Times New Roman"/>
                <a:cs typeface="Times New Roman"/>
              </a:rPr>
              <a:t>03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33040" y="5494020"/>
            <a:ext cx="133985" cy="224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350" i="1" spc="-50" dirty="0">
                <a:latin typeface="Times New Roman"/>
                <a:cs typeface="Times New Roman"/>
              </a:rPr>
              <a:t>B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67629" y="2840990"/>
            <a:ext cx="341630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spcBef>
                <a:spcPts val="120"/>
              </a:spcBef>
            </a:pPr>
            <a:r>
              <a:rPr sz="3525" i="1" baseline="-24822" dirty="0">
                <a:latin typeface="Times New Roman"/>
                <a:cs typeface="Times New Roman"/>
              </a:rPr>
              <a:t>u</a:t>
            </a:r>
            <a:r>
              <a:rPr sz="3525" i="1" spc="-577" baseline="-24822" dirty="0">
                <a:latin typeface="Times New Roman"/>
                <a:cs typeface="Times New Roman"/>
              </a:rPr>
              <a:t> </a:t>
            </a:r>
            <a:r>
              <a:rPr sz="1350" spc="-50" dirty="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20620" y="5293360"/>
            <a:ext cx="31051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2350" b="1" spc="-50" dirty="0">
                <a:latin typeface="Times New Roman"/>
                <a:cs typeface="Times New Roman"/>
              </a:rPr>
              <a:t>M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35421" y="3187701"/>
            <a:ext cx="79057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spcBef>
                <a:spcPts val="120"/>
              </a:spcBef>
              <a:tabLst>
                <a:tab pos="682625" algn="l"/>
              </a:tabLst>
            </a:pPr>
            <a:r>
              <a:rPr sz="2025" i="1" baseline="43209" dirty="0">
                <a:latin typeface="Times New Roman"/>
                <a:cs typeface="Times New Roman"/>
              </a:rPr>
              <a:t>B</a:t>
            </a:r>
            <a:r>
              <a:rPr sz="2025" i="1" spc="690" baseline="43209" dirty="0">
                <a:latin typeface="Times New Roman"/>
                <a:cs typeface="Times New Roman"/>
              </a:rPr>
              <a:t> </a:t>
            </a:r>
            <a:r>
              <a:rPr sz="2350" spc="-360" dirty="0">
                <a:latin typeface="Symbol"/>
                <a:cs typeface="Symbol"/>
              </a:rPr>
              <a:t></a:t>
            </a:r>
            <a:r>
              <a:rPr sz="2350" spc="-190" dirty="0">
                <a:latin typeface="Times New Roman"/>
                <a:cs typeface="Times New Roman"/>
              </a:rPr>
              <a:t> </a:t>
            </a:r>
            <a:r>
              <a:rPr sz="3525" b="1" spc="-75" baseline="-3546" dirty="0">
                <a:latin typeface="Times New Roman"/>
                <a:cs typeface="Times New Roman"/>
              </a:rPr>
              <a:t>p</a:t>
            </a:r>
            <a:r>
              <a:rPr sz="3525" b="1" baseline="-3546" dirty="0">
                <a:latin typeface="Times New Roman"/>
                <a:cs typeface="Times New Roman"/>
              </a:rPr>
              <a:t>	</a:t>
            </a:r>
            <a:r>
              <a:rPr sz="2350" spc="-409" dirty="0">
                <a:latin typeface="Symbol"/>
                <a:cs typeface="Symbol"/>
              </a:rPr>
              <a:t>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43701" y="2609851"/>
            <a:ext cx="58229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spcBef>
                <a:spcPts val="120"/>
              </a:spcBef>
              <a:tabLst>
                <a:tab pos="474345" algn="l"/>
              </a:tabLst>
            </a:pPr>
            <a:r>
              <a:rPr sz="2350" spc="-360" dirty="0">
                <a:latin typeface="Symbol"/>
                <a:cs typeface="Symbol"/>
              </a:rPr>
              <a:t></a:t>
            </a:r>
            <a:r>
              <a:rPr sz="2350" spc="-245" dirty="0">
                <a:latin typeface="Times New Roman"/>
                <a:cs typeface="Times New Roman"/>
              </a:rPr>
              <a:t> </a:t>
            </a:r>
            <a:r>
              <a:rPr sz="3525" b="1" spc="-75" baseline="-26004" dirty="0">
                <a:latin typeface="Times New Roman"/>
                <a:cs typeface="Times New Roman"/>
              </a:rPr>
              <a:t>p</a:t>
            </a:r>
            <a:r>
              <a:rPr sz="3525" b="1" baseline="-26004" dirty="0">
                <a:latin typeface="Times New Roman"/>
                <a:cs typeface="Times New Roman"/>
              </a:rPr>
              <a:t>	</a:t>
            </a:r>
            <a:r>
              <a:rPr sz="2350" spc="-409" dirty="0">
                <a:latin typeface="Symbol"/>
                <a:cs typeface="Symbol"/>
              </a:rPr>
              <a:t>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88870" y="2030730"/>
            <a:ext cx="4949825" cy="67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2715"/>
              </a:lnSpc>
              <a:spcBef>
                <a:spcPts val="10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Bézier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cúbica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na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forma</a:t>
            </a:r>
            <a:endParaRPr sz="2600">
              <a:solidFill>
                <a:srgbClr val="002454"/>
              </a:solidFill>
              <a:latin typeface="Arial MT"/>
              <a:cs typeface="Arial MT"/>
            </a:endParaRPr>
          </a:p>
          <a:p>
            <a:pPr marR="43180" algn="r">
              <a:lnSpc>
                <a:spcPts val="2415"/>
              </a:lnSpc>
            </a:pPr>
            <a:r>
              <a:rPr sz="2350" spc="-360" dirty="0">
                <a:solidFill>
                  <a:srgbClr val="002454"/>
                </a:solidFill>
                <a:latin typeface="Symbol"/>
                <a:cs typeface="Symbol"/>
              </a:rPr>
              <a:t></a:t>
            </a:r>
            <a:r>
              <a:rPr sz="2350" spc="-185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3525" b="1" spc="97" baseline="3546" dirty="0">
                <a:solidFill>
                  <a:srgbClr val="002454"/>
                </a:solidFill>
                <a:latin typeface="Times New Roman"/>
                <a:cs typeface="Times New Roman"/>
              </a:rPr>
              <a:t>p</a:t>
            </a:r>
            <a:r>
              <a:rPr sz="2025" spc="97" baseline="-18518" dirty="0">
                <a:solidFill>
                  <a:srgbClr val="002454"/>
                </a:solidFill>
                <a:latin typeface="Times New Roman"/>
                <a:cs typeface="Times New Roman"/>
              </a:rPr>
              <a:t>0</a:t>
            </a:r>
            <a:r>
              <a:rPr sz="2025" spc="30" baseline="-18518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2350" spc="-409" dirty="0">
                <a:solidFill>
                  <a:srgbClr val="002454"/>
                </a:solidFill>
                <a:latin typeface="Symbol"/>
                <a:cs typeface="Symbol"/>
              </a:rPr>
              <a:t></a:t>
            </a:r>
            <a:endParaRPr sz="2350">
              <a:solidFill>
                <a:srgbClr val="002454"/>
              </a:solidFill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29480" y="2976881"/>
            <a:ext cx="1867535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spcBef>
                <a:spcPts val="120"/>
              </a:spcBef>
              <a:tabLst>
                <a:tab pos="1045844" algn="l"/>
              </a:tabLst>
            </a:pPr>
            <a:r>
              <a:rPr sz="2350" i="1" spc="-50" dirty="0">
                <a:latin typeface="Times New Roman"/>
                <a:cs typeface="Times New Roman"/>
              </a:rPr>
              <a:t>u</a:t>
            </a:r>
            <a:r>
              <a:rPr sz="2350" i="1" dirty="0">
                <a:latin typeface="Times New Roman"/>
                <a:cs typeface="Times New Roman"/>
              </a:rPr>
              <a:t>	</a:t>
            </a:r>
            <a:r>
              <a:rPr sz="2350" i="1" spc="90" dirty="0">
                <a:latin typeface="Times New Roman"/>
                <a:cs typeface="Times New Roman"/>
              </a:rPr>
              <a:t>u</a:t>
            </a:r>
            <a:r>
              <a:rPr sz="2025" spc="135" baseline="43209" dirty="0">
                <a:latin typeface="Times New Roman"/>
                <a:cs typeface="Times New Roman"/>
              </a:rPr>
              <a:t>3</a:t>
            </a:r>
            <a:r>
              <a:rPr sz="2025" spc="-187" baseline="43209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]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b="1" spc="-50" dirty="0">
                <a:latin typeface="Times New Roman"/>
                <a:cs typeface="Times New Roman"/>
              </a:rPr>
              <a:t>M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15539" y="2976881"/>
            <a:ext cx="2115820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  <a:tabLst>
                <a:tab pos="845185" algn="l"/>
                <a:tab pos="1232535" algn="l"/>
              </a:tabLst>
            </a:pPr>
            <a:r>
              <a:rPr sz="2350" b="1" dirty="0">
                <a:latin typeface="Times New Roman"/>
                <a:cs typeface="Times New Roman"/>
              </a:rPr>
              <a:t>p</a:t>
            </a:r>
            <a:r>
              <a:rPr sz="2350" dirty="0">
                <a:latin typeface="Times New Roman"/>
                <a:cs typeface="Times New Roman"/>
              </a:rPr>
              <a:t>(</a:t>
            </a:r>
            <a:r>
              <a:rPr sz="2350" i="1" dirty="0">
                <a:latin typeface="Times New Roman"/>
                <a:cs typeface="Times New Roman"/>
              </a:rPr>
              <a:t>u</a:t>
            </a:r>
            <a:r>
              <a:rPr sz="2350" dirty="0">
                <a:latin typeface="Times New Roman"/>
                <a:cs typeface="Times New Roman"/>
              </a:rPr>
              <a:t>)</a:t>
            </a:r>
            <a:r>
              <a:rPr sz="2350" spc="95" dirty="0">
                <a:latin typeface="Times New Roman"/>
                <a:cs typeface="Times New Roman"/>
              </a:rPr>
              <a:t> </a:t>
            </a:r>
            <a:r>
              <a:rPr sz="2350" spc="-565" dirty="0">
                <a:latin typeface="Symbol"/>
                <a:cs typeface="Symbol"/>
              </a:rPr>
              <a:t>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b="1" spc="-50" dirty="0">
                <a:latin typeface="Times New Roman"/>
                <a:cs typeface="Times New Roman"/>
              </a:rPr>
              <a:t>p</a:t>
            </a:r>
            <a:r>
              <a:rPr sz="2350" b="1" dirty="0">
                <a:latin typeface="Times New Roman"/>
                <a:cs typeface="Times New Roman"/>
              </a:rPr>
              <a:t>	</a:t>
            </a:r>
            <a:r>
              <a:rPr sz="2350" dirty="0">
                <a:latin typeface="Times New Roman"/>
                <a:cs typeface="Times New Roman"/>
              </a:rPr>
              <a:t>(</a:t>
            </a:r>
            <a:r>
              <a:rPr sz="2350" i="1" dirty="0">
                <a:latin typeface="Times New Roman"/>
                <a:cs typeface="Times New Roman"/>
              </a:rPr>
              <a:t>u</a:t>
            </a:r>
            <a:r>
              <a:rPr sz="2350" dirty="0">
                <a:latin typeface="Times New Roman"/>
                <a:cs typeface="Times New Roman"/>
              </a:rPr>
              <a:t>)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spc="-515" dirty="0">
                <a:latin typeface="Symbol"/>
                <a:cs typeface="Symbol"/>
              </a:rPr>
              <a:t></a:t>
            </a:r>
            <a:r>
              <a:rPr sz="2350" spc="360" dirty="0">
                <a:latin typeface="Times New Roman"/>
                <a:cs typeface="Times New Roman"/>
              </a:rPr>
              <a:t> </a:t>
            </a:r>
            <a:r>
              <a:rPr sz="2350" spc="-55" dirty="0">
                <a:latin typeface="Times New Roman"/>
                <a:cs typeface="Times New Roman"/>
              </a:rPr>
              <a:t>[1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82519" y="3692398"/>
            <a:ext cx="6528434" cy="833119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R="1614805" algn="r">
              <a:spcBef>
                <a:spcPts val="455"/>
              </a:spcBef>
            </a:pPr>
            <a:r>
              <a:rPr sz="2350" spc="-360" dirty="0">
                <a:latin typeface="Symbol"/>
                <a:cs typeface="Symbol"/>
              </a:rPr>
              <a:t></a:t>
            </a:r>
            <a:r>
              <a:rPr sz="2350" spc="-155" dirty="0">
                <a:latin typeface="Times New Roman"/>
                <a:cs typeface="Times New Roman"/>
              </a:rPr>
              <a:t> </a:t>
            </a:r>
            <a:r>
              <a:rPr sz="3525" b="1" spc="82" baseline="15366" dirty="0">
                <a:latin typeface="Times New Roman"/>
                <a:cs typeface="Times New Roman"/>
              </a:rPr>
              <a:t>p</a:t>
            </a:r>
            <a:r>
              <a:rPr sz="2025" spc="82" baseline="2057" dirty="0">
                <a:latin typeface="Times New Roman"/>
                <a:cs typeface="Times New Roman"/>
              </a:rPr>
              <a:t>3</a:t>
            </a:r>
            <a:r>
              <a:rPr sz="2025" spc="15" baseline="2057" dirty="0">
                <a:latin typeface="Times New Roman"/>
                <a:cs typeface="Times New Roman"/>
              </a:rPr>
              <a:t> </a:t>
            </a:r>
            <a:r>
              <a:rPr sz="2350" spc="-409" dirty="0">
                <a:latin typeface="Symbol"/>
                <a:cs typeface="Symbol"/>
              </a:rPr>
              <a:t></a:t>
            </a:r>
            <a:endParaRPr sz="2350">
              <a:latin typeface="Symbol"/>
              <a:cs typeface="Symbol"/>
            </a:endParaRPr>
          </a:p>
          <a:p>
            <a:pPr marL="50800">
              <a:spcBef>
                <a:spcPts val="360"/>
              </a:spcBef>
            </a:pPr>
            <a:r>
              <a:rPr sz="2350" dirty="0">
                <a:latin typeface="Cambria"/>
                <a:cs typeface="Cambria"/>
              </a:rPr>
              <a:t>onde</a:t>
            </a:r>
            <a:r>
              <a:rPr sz="2350" spc="10" dirty="0">
                <a:latin typeface="Cambria"/>
                <a:cs typeface="Cambria"/>
              </a:rPr>
              <a:t> </a:t>
            </a:r>
            <a:r>
              <a:rPr sz="2350" b="1" dirty="0">
                <a:latin typeface="Times New Roman"/>
                <a:cs typeface="Times New Roman"/>
              </a:rPr>
              <a:t>M</a:t>
            </a:r>
            <a:r>
              <a:rPr sz="2350" b="1" spc="-345" dirty="0">
                <a:latin typeface="Times New Roman"/>
                <a:cs typeface="Times New Roman"/>
              </a:rPr>
              <a:t> </a:t>
            </a:r>
            <a:r>
              <a:rPr sz="2025" i="1" baseline="-24691" dirty="0">
                <a:latin typeface="Times New Roman"/>
                <a:cs typeface="Times New Roman"/>
              </a:rPr>
              <a:t>B</a:t>
            </a:r>
            <a:r>
              <a:rPr sz="2025" i="1" spc="697" baseline="-24691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Cambria"/>
                <a:cs typeface="Cambria"/>
              </a:rPr>
              <a:t>é</a:t>
            </a:r>
            <a:r>
              <a:rPr sz="2350" spc="5" dirty="0">
                <a:latin typeface="Cambria"/>
                <a:cs typeface="Cambria"/>
              </a:rPr>
              <a:t> </a:t>
            </a:r>
            <a:r>
              <a:rPr sz="2350" dirty="0">
                <a:latin typeface="Cambria"/>
                <a:cs typeface="Cambria"/>
              </a:rPr>
              <a:t>a</a:t>
            </a:r>
            <a:r>
              <a:rPr sz="2350" spc="-10" dirty="0">
                <a:latin typeface="Cambria"/>
                <a:cs typeface="Cambria"/>
              </a:rPr>
              <a:t> </a:t>
            </a:r>
            <a:r>
              <a:rPr sz="2350" dirty="0">
                <a:latin typeface="Cambria"/>
                <a:cs typeface="Cambria"/>
              </a:rPr>
              <a:t>matriz</a:t>
            </a:r>
            <a:r>
              <a:rPr sz="2350" spc="-30" dirty="0">
                <a:latin typeface="Cambria"/>
                <a:cs typeface="Cambria"/>
              </a:rPr>
              <a:t> </a:t>
            </a:r>
            <a:r>
              <a:rPr sz="2350" spc="60" dirty="0">
                <a:latin typeface="Cambria"/>
                <a:cs typeface="Cambria"/>
              </a:rPr>
              <a:t>de</a:t>
            </a:r>
            <a:r>
              <a:rPr sz="2350" spc="55" dirty="0">
                <a:latin typeface="Cambria"/>
                <a:cs typeface="Cambria"/>
              </a:rPr>
              <a:t> </a:t>
            </a:r>
            <a:r>
              <a:rPr sz="2350" dirty="0">
                <a:latin typeface="Cambria"/>
                <a:cs typeface="Cambria"/>
              </a:rPr>
              <a:t>coeficientes</a:t>
            </a:r>
            <a:r>
              <a:rPr sz="2350" spc="-30" dirty="0">
                <a:latin typeface="Cambria"/>
                <a:cs typeface="Cambria"/>
              </a:rPr>
              <a:t> </a:t>
            </a:r>
            <a:r>
              <a:rPr sz="2350" spc="85" dirty="0">
                <a:latin typeface="Cambria"/>
                <a:cs typeface="Cambria"/>
              </a:rPr>
              <a:t>da</a:t>
            </a:r>
            <a:r>
              <a:rPr sz="2350" spc="40" dirty="0">
                <a:latin typeface="Cambria"/>
                <a:cs typeface="Cambria"/>
              </a:rPr>
              <a:t> </a:t>
            </a:r>
            <a:r>
              <a:rPr sz="2350" dirty="0">
                <a:latin typeface="Cambria"/>
                <a:cs typeface="Cambria"/>
              </a:rPr>
              <a:t>base</a:t>
            </a:r>
            <a:r>
              <a:rPr sz="2350" spc="-20" dirty="0">
                <a:latin typeface="Cambria"/>
                <a:cs typeface="Cambria"/>
              </a:rPr>
              <a:t> </a:t>
            </a:r>
            <a:r>
              <a:rPr sz="2350" spc="-10" dirty="0">
                <a:latin typeface="Cambria"/>
                <a:cs typeface="Cambria"/>
              </a:rPr>
              <a:t>Bézier</a:t>
            </a:r>
            <a:endParaRPr sz="23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>
              <a:spcBef>
                <a:spcPts val="100"/>
              </a:spcBef>
            </a:pPr>
            <a:r>
              <a:rPr dirty="0"/>
              <a:t>Propriedades</a:t>
            </a:r>
            <a:r>
              <a:rPr spc="-45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dirty="0"/>
              <a:t>Curva</a:t>
            </a:r>
            <a:r>
              <a:rPr spc="-4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Bézier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70" y="1160780"/>
            <a:ext cx="132715" cy="83311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spcBef>
                <a:spcPts val="400"/>
              </a:spcBef>
            </a:pP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•</a:t>
            </a:r>
            <a:endParaRPr sz="240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>
              <a:spcBef>
                <a:spcPts val="300"/>
              </a:spcBef>
            </a:pP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•</a:t>
            </a:r>
            <a:endParaRPr sz="240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70" y="233680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•</a:t>
            </a:r>
            <a:endParaRPr sz="240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8670" y="347599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•</a:t>
            </a:r>
            <a:endParaRPr sz="240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01570" y="1177289"/>
            <a:ext cx="7708265" cy="303784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spcBef>
                <a:spcPts val="409"/>
              </a:spcBef>
            </a:pP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Continuidade</a:t>
            </a:r>
            <a:r>
              <a:rPr sz="24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infinita</a:t>
            </a:r>
            <a:r>
              <a:rPr sz="24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(todas</a:t>
            </a:r>
            <a:r>
              <a:rPr sz="24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as</a:t>
            </a:r>
            <a:r>
              <a:rPr sz="24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derivadas</a:t>
            </a:r>
            <a:r>
              <a:rPr sz="24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contínuas)</a:t>
            </a:r>
            <a:endParaRPr sz="240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 marR="267335">
              <a:lnSpc>
                <a:spcPts val="2590"/>
              </a:lnSpc>
              <a:spcBef>
                <a:spcPts val="635"/>
              </a:spcBef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grau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(do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polinômio)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4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dado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pelo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número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de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do</a:t>
            </a:r>
            <a:r>
              <a:rPr sz="24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polígono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controle</a:t>
            </a:r>
            <a:r>
              <a:rPr sz="24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menos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endParaRPr sz="240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 marR="658495">
              <a:lnSpc>
                <a:spcPts val="2590"/>
              </a:lnSpc>
              <a:spcBef>
                <a:spcPts val="600"/>
              </a:spcBef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Bézier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está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contida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no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fecho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convexo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do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polígono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controle</a:t>
            </a:r>
            <a:endParaRPr sz="2400">
              <a:solidFill>
                <a:srgbClr val="002454"/>
              </a:solidFill>
              <a:latin typeface="Arial MT"/>
              <a:cs typeface="Arial MT"/>
            </a:endParaRPr>
          </a:p>
          <a:p>
            <a:pPr marL="412115" indent="-285115">
              <a:spcBef>
                <a:spcPts val="275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polinômios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Bernstein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somam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qualquer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spc="-50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endParaRPr sz="2400">
              <a:solidFill>
                <a:srgbClr val="002454"/>
              </a:solidFill>
              <a:latin typeface="Arial"/>
              <a:cs typeface="Arial"/>
            </a:endParaRPr>
          </a:p>
          <a:p>
            <a:pPr marL="12700" marR="284480">
              <a:lnSpc>
                <a:spcPts val="2590"/>
              </a:lnSpc>
              <a:spcBef>
                <a:spcPts val="635"/>
              </a:spcBef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interpola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primeiro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último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do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polígono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controle</a:t>
            </a:r>
            <a:endParaRPr sz="2400">
              <a:solidFill>
                <a:srgbClr val="002454"/>
              </a:solidFill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29027" y="4578757"/>
            <a:ext cx="4996180" cy="2127250"/>
            <a:chOff x="1405027" y="4578757"/>
            <a:chExt cx="4996180" cy="2127250"/>
          </a:xfrm>
        </p:grpSpPr>
        <p:sp>
          <p:nvSpPr>
            <p:cNvPr id="8" name="object 8"/>
            <p:cNvSpPr/>
            <p:nvPr/>
          </p:nvSpPr>
          <p:spPr>
            <a:xfrm>
              <a:off x="1443990" y="4630419"/>
              <a:ext cx="1226820" cy="1682750"/>
            </a:xfrm>
            <a:custGeom>
              <a:avLst/>
              <a:gdLst/>
              <a:ahLst/>
              <a:cxnLst/>
              <a:rect l="l" t="t" r="r" b="b"/>
              <a:pathLst>
                <a:path w="1226820" h="1682750">
                  <a:moveTo>
                    <a:pt x="30480" y="1652270"/>
                  </a:moveTo>
                  <a:lnTo>
                    <a:pt x="22860" y="1645920"/>
                  </a:lnTo>
                  <a:lnTo>
                    <a:pt x="0" y="1677670"/>
                  </a:lnTo>
                  <a:lnTo>
                    <a:pt x="7620" y="1682750"/>
                  </a:lnTo>
                  <a:lnTo>
                    <a:pt x="30480" y="1652270"/>
                  </a:lnTo>
                  <a:close/>
                </a:path>
                <a:path w="1226820" h="1682750">
                  <a:moveTo>
                    <a:pt x="68580" y="1598930"/>
                  </a:moveTo>
                  <a:lnTo>
                    <a:pt x="60960" y="1593850"/>
                  </a:lnTo>
                  <a:lnTo>
                    <a:pt x="39370" y="1624330"/>
                  </a:lnTo>
                  <a:lnTo>
                    <a:pt x="46990" y="1629410"/>
                  </a:lnTo>
                  <a:lnTo>
                    <a:pt x="68580" y="1598930"/>
                  </a:lnTo>
                  <a:close/>
                </a:path>
                <a:path w="1226820" h="1682750">
                  <a:moveTo>
                    <a:pt x="107950" y="1545590"/>
                  </a:moveTo>
                  <a:lnTo>
                    <a:pt x="100330" y="1539240"/>
                  </a:lnTo>
                  <a:lnTo>
                    <a:pt x="77470" y="1569720"/>
                  </a:lnTo>
                  <a:lnTo>
                    <a:pt x="85090" y="1576070"/>
                  </a:lnTo>
                  <a:lnTo>
                    <a:pt x="107950" y="1545590"/>
                  </a:lnTo>
                  <a:close/>
                </a:path>
                <a:path w="1226820" h="1682750">
                  <a:moveTo>
                    <a:pt x="147320" y="1490980"/>
                  </a:moveTo>
                  <a:lnTo>
                    <a:pt x="139700" y="1485900"/>
                  </a:lnTo>
                  <a:lnTo>
                    <a:pt x="116840" y="1516380"/>
                  </a:lnTo>
                  <a:lnTo>
                    <a:pt x="124460" y="1521460"/>
                  </a:lnTo>
                  <a:lnTo>
                    <a:pt x="147320" y="1490980"/>
                  </a:lnTo>
                  <a:close/>
                </a:path>
                <a:path w="1226820" h="1682750">
                  <a:moveTo>
                    <a:pt x="185420" y="1437640"/>
                  </a:moveTo>
                  <a:lnTo>
                    <a:pt x="177800" y="1432560"/>
                  </a:lnTo>
                  <a:lnTo>
                    <a:pt x="156210" y="1463040"/>
                  </a:lnTo>
                  <a:lnTo>
                    <a:pt x="163830" y="1468120"/>
                  </a:lnTo>
                  <a:lnTo>
                    <a:pt x="185420" y="1437640"/>
                  </a:lnTo>
                  <a:close/>
                </a:path>
                <a:path w="1226820" h="1682750">
                  <a:moveTo>
                    <a:pt x="224790" y="1384300"/>
                  </a:moveTo>
                  <a:lnTo>
                    <a:pt x="217170" y="1379220"/>
                  </a:lnTo>
                  <a:lnTo>
                    <a:pt x="194310" y="1409700"/>
                  </a:lnTo>
                  <a:lnTo>
                    <a:pt x="201930" y="1414780"/>
                  </a:lnTo>
                  <a:lnTo>
                    <a:pt x="224790" y="1384300"/>
                  </a:lnTo>
                  <a:close/>
                </a:path>
                <a:path w="1226820" h="1682750">
                  <a:moveTo>
                    <a:pt x="262890" y="1330960"/>
                  </a:moveTo>
                  <a:lnTo>
                    <a:pt x="256540" y="1324610"/>
                  </a:lnTo>
                  <a:lnTo>
                    <a:pt x="233680" y="1355090"/>
                  </a:lnTo>
                  <a:lnTo>
                    <a:pt x="241300" y="1361440"/>
                  </a:lnTo>
                  <a:lnTo>
                    <a:pt x="262890" y="1330960"/>
                  </a:lnTo>
                  <a:close/>
                </a:path>
                <a:path w="1226820" h="1682750">
                  <a:moveTo>
                    <a:pt x="302260" y="1277620"/>
                  </a:moveTo>
                  <a:lnTo>
                    <a:pt x="294640" y="1271270"/>
                  </a:lnTo>
                  <a:lnTo>
                    <a:pt x="273050" y="1301750"/>
                  </a:lnTo>
                  <a:lnTo>
                    <a:pt x="280670" y="1308100"/>
                  </a:lnTo>
                  <a:lnTo>
                    <a:pt x="302260" y="1277620"/>
                  </a:lnTo>
                  <a:close/>
                </a:path>
                <a:path w="1226820" h="1682750">
                  <a:moveTo>
                    <a:pt x="341630" y="1223010"/>
                  </a:moveTo>
                  <a:lnTo>
                    <a:pt x="334010" y="1217930"/>
                  </a:lnTo>
                  <a:lnTo>
                    <a:pt x="311150" y="1248410"/>
                  </a:lnTo>
                  <a:lnTo>
                    <a:pt x="318770" y="1254760"/>
                  </a:lnTo>
                  <a:lnTo>
                    <a:pt x="341630" y="1223010"/>
                  </a:lnTo>
                  <a:close/>
                </a:path>
                <a:path w="1226820" h="1682750">
                  <a:moveTo>
                    <a:pt x="381000" y="1169670"/>
                  </a:moveTo>
                  <a:lnTo>
                    <a:pt x="373380" y="1164590"/>
                  </a:lnTo>
                  <a:lnTo>
                    <a:pt x="350520" y="1195070"/>
                  </a:lnTo>
                  <a:lnTo>
                    <a:pt x="358140" y="1200150"/>
                  </a:lnTo>
                  <a:lnTo>
                    <a:pt x="381000" y="1169670"/>
                  </a:lnTo>
                  <a:close/>
                </a:path>
                <a:path w="1226820" h="1682750">
                  <a:moveTo>
                    <a:pt x="419100" y="1116330"/>
                  </a:moveTo>
                  <a:lnTo>
                    <a:pt x="411480" y="1111250"/>
                  </a:lnTo>
                  <a:lnTo>
                    <a:pt x="389890" y="1141730"/>
                  </a:lnTo>
                  <a:lnTo>
                    <a:pt x="397510" y="1146810"/>
                  </a:lnTo>
                  <a:lnTo>
                    <a:pt x="419100" y="1116330"/>
                  </a:lnTo>
                  <a:close/>
                </a:path>
                <a:path w="1226820" h="1682750">
                  <a:moveTo>
                    <a:pt x="458470" y="1062990"/>
                  </a:moveTo>
                  <a:lnTo>
                    <a:pt x="450850" y="1056640"/>
                  </a:lnTo>
                  <a:lnTo>
                    <a:pt x="429260" y="1088390"/>
                  </a:lnTo>
                  <a:lnTo>
                    <a:pt x="436880" y="1093470"/>
                  </a:lnTo>
                  <a:lnTo>
                    <a:pt x="458470" y="1062990"/>
                  </a:lnTo>
                  <a:close/>
                </a:path>
                <a:path w="1226820" h="1682750">
                  <a:moveTo>
                    <a:pt x="497840" y="1009650"/>
                  </a:moveTo>
                  <a:lnTo>
                    <a:pt x="488950" y="1003300"/>
                  </a:lnTo>
                  <a:lnTo>
                    <a:pt x="467360" y="1033780"/>
                  </a:lnTo>
                  <a:lnTo>
                    <a:pt x="474980" y="1040130"/>
                  </a:lnTo>
                  <a:lnTo>
                    <a:pt x="497840" y="1009650"/>
                  </a:lnTo>
                  <a:close/>
                </a:path>
                <a:path w="1226820" h="1682750">
                  <a:moveTo>
                    <a:pt x="535940" y="956310"/>
                  </a:moveTo>
                  <a:lnTo>
                    <a:pt x="528320" y="949960"/>
                  </a:lnTo>
                  <a:lnTo>
                    <a:pt x="506730" y="980440"/>
                  </a:lnTo>
                  <a:lnTo>
                    <a:pt x="514350" y="986790"/>
                  </a:lnTo>
                  <a:lnTo>
                    <a:pt x="535940" y="956310"/>
                  </a:lnTo>
                  <a:close/>
                </a:path>
                <a:path w="1226820" h="1682750">
                  <a:moveTo>
                    <a:pt x="575310" y="901700"/>
                  </a:moveTo>
                  <a:lnTo>
                    <a:pt x="567690" y="896620"/>
                  </a:lnTo>
                  <a:lnTo>
                    <a:pt x="544830" y="927100"/>
                  </a:lnTo>
                  <a:lnTo>
                    <a:pt x="552450" y="932180"/>
                  </a:lnTo>
                  <a:lnTo>
                    <a:pt x="575310" y="901700"/>
                  </a:lnTo>
                  <a:close/>
                </a:path>
                <a:path w="1226820" h="1682750">
                  <a:moveTo>
                    <a:pt x="614680" y="848360"/>
                  </a:moveTo>
                  <a:lnTo>
                    <a:pt x="607060" y="843280"/>
                  </a:lnTo>
                  <a:lnTo>
                    <a:pt x="584200" y="873760"/>
                  </a:lnTo>
                  <a:lnTo>
                    <a:pt x="591820" y="878840"/>
                  </a:lnTo>
                  <a:lnTo>
                    <a:pt x="614680" y="848360"/>
                  </a:lnTo>
                  <a:close/>
                </a:path>
                <a:path w="1226820" h="1682750">
                  <a:moveTo>
                    <a:pt x="652780" y="795020"/>
                  </a:moveTo>
                  <a:lnTo>
                    <a:pt x="645160" y="789940"/>
                  </a:lnTo>
                  <a:lnTo>
                    <a:pt x="623570" y="820420"/>
                  </a:lnTo>
                  <a:lnTo>
                    <a:pt x="631190" y="825500"/>
                  </a:lnTo>
                  <a:lnTo>
                    <a:pt x="652780" y="795020"/>
                  </a:lnTo>
                  <a:close/>
                </a:path>
                <a:path w="1226820" h="1682750">
                  <a:moveTo>
                    <a:pt x="692150" y="741680"/>
                  </a:moveTo>
                  <a:lnTo>
                    <a:pt x="684530" y="735330"/>
                  </a:lnTo>
                  <a:lnTo>
                    <a:pt x="662940" y="765810"/>
                  </a:lnTo>
                  <a:lnTo>
                    <a:pt x="670560" y="772160"/>
                  </a:lnTo>
                  <a:lnTo>
                    <a:pt x="692150" y="741680"/>
                  </a:lnTo>
                  <a:close/>
                </a:path>
                <a:path w="1226820" h="1682750">
                  <a:moveTo>
                    <a:pt x="731520" y="688340"/>
                  </a:moveTo>
                  <a:lnTo>
                    <a:pt x="723900" y="681990"/>
                  </a:lnTo>
                  <a:lnTo>
                    <a:pt x="701040" y="712470"/>
                  </a:lnTo>
                  <a:lnTo>
                    <a:pt x="708660" y="718820"/>
                  </a:lnTo>
                  <a:lnTo>
                    <a:pt x="731520" y="688340"/>
                  </a:lnTo>
                  <a:close/>
                </a:path>
                <a:path w="1226820" h="1682750">
                  <a:moveTo>
                    <a:pt x="769620" y="633730"/>
                  </a:moveTo>
                  <a:lnTo>
                    <a:pt x="762000" y="628650"/>
                  </a:lnTo>
                  <a:lnTo>
                    <a:pt x="740410" y="659130"/>
                  </a:lnTo>
                  <a:lnTo>
                    <a:pt x="748030" y="664210"/>
                  </a:lnTo>
                  <a:lnTo>
                    <a:pt x="769620" y="633730"/>
                  </a:lnTo>
                  <a:close/>
                </a:path>
                <a:path w="1226820" h="1682750">
                  <a:moveTo>
                    <a:pt x="808990" y="580402"/>
                  </a:moveTo>
                  <a:lnTo>
                    <a:pt x="801370" y="575310"/>
                  </a:lnTo>
                  <a:lnTo>
                    <a:pt x="778510" y="605790"/>
                  </a:lnTo>
                  <a:lnTo>
                    <a:pt x="786130" y="610870"/>
                  </a:lnTo>
                  <a:lnTo>
                    <a:pt x="808990" y="580402"/>
                  </a:lnTo>
                  <a:close/>
                </a:path>
                <a:path w="1226820" h="1682750">
                  <a:moveTo>
                    <a:pt x="848360" y="527050"/>
                  </a:moveTo>
                  <a:lnTo>
                    <a:pt x="840740" y="521970"/>
                  </a:lnTo>
                  <a:lnTo>
                    <a:pt x="817880" y="552450"/>
                  </a:lnTo>
                  <a:lnTo>
                    <a:pt x="825500" y="557530"/>
                  </a:lnTo>
                  <a:lnTo>
                    <a:pt x="848360" y="527050"/>
                  </a:lnTo>
                  <a:close/>
                </a:path>
                <a:path w="1226820" h="1682750">
                  <a:moveTo>
                    <a:pt x="886460" y="473710"/>
                  </a:moveTo>
                  <a:lnTo>
                    <a:pt x="878840" y="467360"/>
                  </a:lnTo>
                  <a:lnTo>
                    <a:pt x="857250" y="499110"/>
                  </a:lnTo>
                  <a:lnTo>
                    <a:pt x="864870" y="504190"/>
                  </a:lnTo>
                  <a:lnTo>
                    <a:pt x="886460" y="473710"/>
                  </a:lnTo>
                  <a:close/>
                </a:path>
                <a:path w="1226820" h="1682750">
                  <a:moveTo>
                    <a:pt x="925830" y="420370"/>
                  </a:moveTo>
                  <a:lnTo>
                    <a:pt x="918210" y="414020"/>
                  </a:lnTo>
                  <a:lnTo>
                    <a:pt x="896620" y="444500"/>
                  </a:lnTo>
                  <a:lnTo>
                    <a:pt x="902970" y="450850"/>
                  </a:lnTo>
                  <a:lnTo>
                    <a:pt x="925830" y="420370"/>
                  </a:lnTo>
                  <a:close/>
                </a:path>
                <a:path w="1226820" h="1682750">
                  <a:moveTo>
                    <a:pt x="965200" y="365760"/>
                  </a:moveTo>
                  <a:lnTo>
                    <a:pt x="957580" y="360680"/>
                  </a:lnTo>
                  <a:lnTo>
                    <a:pt x="934720" y="391160"/>
                  </a:lnTo>
                  <a:lnTo>
                    <a:pt x="942340" y="397510"/>
                  </a:lnTo>
                  <a:lnTo>
                    <a:pt x="965200" y="365760"/>
                  </a:lnTo>
                  <a:close/>
                </a:path>
                <a:path w="1226820" h="1682750">
                  <a:moveTo>
                    <a:pt x="1003300" y="312420"/>
                  </a:moveTo>
                  <a:lnTo>
                    <a:pt x="995680" y="307340"/>
                  </a:lnTo>
                  <a:lnTo>
                    <a:pt x="974090" y="337820"/>
                  </a:lnTo>
                  <a:lnTo>
                    <a:pt x="981710" y="342900"/>
                  </a:lnTo>
                  <a:lnTo>
                    <a:pt x="1003300" y="312420"/>
                  </a:lnTo>
                  <a:close/>
                </a:path>
                <a:path w="1226820" h="1682750">
                  <a:moveTo>
                    <a:pt x="1042670" y="259080"/>
                  </a:moveTo>
                  <a:lnTo>
                    <a:pt x="1035050" y="254000"/>
                  </a:lnTo>
                  <a:lnTo>
                    <a:pt x="1012190" y="284480"/>
                  </a:lnTo>
                  <a:lnTo>
                    <a:pt x="1019810" y="289560"/>
                  </a:lnTo>
                  <a:lnTo>
                    <a:pt x="1042670" y="259080"/>
                  </a:lnTo>
                  <a:close/>
                </a:path>
                <a:path w="1226820" h="1682750">
                  <a:moveTo>
                    <a:pt x="1082040" y="205740"/>
                  </a:moveTo>
                  <a:lnTo>
                    <a:pt x="1074420" y="200660"/>
                  </a:lnTo>
                  <a:lnTo>
                    <a:pt x="1051560" y="231140"/>
                  </a:lnTo>
                  <a:lnTo>
                    <a:pt x="1059180" y="236220"/>
                  </a:lnTo>
                  <a:lnTo>
                    <a:pt x="1082040" y="205740"/>
                  </a:lnTo>
                  <a:close/>
                </a:path>
                <a:path w="1226820" h="1682750">
                  <a:moveTo>
                    <a:pt x="1120140" y="152400"/>
                  </a:moveTo>
                  <a:lnTo>
                    <a:pt x="1112520" y="146050"/>
                  </a:lnTo>
                  <a:lnTo>
                    <a:pt x="1090930" y="176530"/>
                  </a:lnTo>
                  <a:lnTo>
                    <a:pt x="1098550" y="182880"/>
                  </a:lnTo>
                  <a:lnTo>
                    <a:pt x="1120140" y="152400"/>
                  </a:lnTo>
                  <a:close/>
                </a:path>
                <a:path w="1226820" h="1682750">
                  <a:moveTo>
                    <a:pt x="1159510" y="99060"/>
                  </a:moveTo>
                  <a:lnTo>
                    <a:pt x="1151890" y="92710"/>
                  </a:lnTo>
                  <a:lnTo>
                    <a:pt x="1129030" y="123190"/>
                  </a:lnTo>
                  <a:lnTo>
                    <a:pt x="1136650" y="129540"/>
                  </a:lnTo>
                  <a:lnTo>
                    <a:pt x="1159510" y="99060"/>
                  </a:lnTo>
                  <a:close/>
                </a:path>
                <a:path w="1226820" h="1682750">
                  <a:moveTo>
                    <a:pt x="1198880" y="44450"/>
                  </a:moveTo>
                  <a:lnTo>
                    <a:pt x="1191260" y="39370"/>
                  </a:lnTo>
                  <a:lnTo>
                    <a:pt x="1168400" y="69850"/>
                  </a:lnTo>
                  <a:lnTo>
                    <a:pt x="1176020" y="74930"/>
                  </a:lnTo>
                  <a:lnTo>
                    <a:pt x="1198880" y="44450"/>
                  </a:lnTo>
                  <a:close/>
                </a:path>
                <a:path w="1226820" h="1682750">
                  <a:moveTo>
                    <a:pt x="1226820" y="6350"/>
                  </a:moveTo>
                  <a:lnTo>
                    <a:pt x="1223010" y="2540"/>
                  </a:lnTo>
                  <a:lnTo>
                    <a:pt x="1219200" y="0"/>
                  </a:lnTo>
                  <a:lnTo>
                    <a:pt x="1207770" y="16510"/>
                  </a:lnTo>
                  <a:lnTo>
                    <a:pt x="1215390" y="21590"/>
                  </a:lnTo>
                  <a:lnTo>
                    <a:pt x="1226820" y="6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3190" y="4633595"/>
              <a:ext cx="1809750" cy="0"/>
            </a:xfrm>
            <a:custGeom>
              <a:avLst/>
              <a:gdLst/>
              <a:ahLst/>
              <a:cxnLst/>
              <a:rect l="l" t="t" r="r" b="b"/>
              <a:pathLst>
                <a:path w="1809750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ln w="888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95800" y="4634229"/>
              <a:ext cx="1527810" cy="1678939"/>
            </a:xfrm>
            <a:custGeom>
              <a:avLst/>
              <a:gdLst/>
              <a:ahLst/>
              <a:cxnLst/>
              <a:rect l="l" t="t" r="r" b="b"/>
              <a:pathLst>
                <a:path w="1527810" h="1678939">
                  <a:moveTo>
                    <a:pt x="33020" y="27940"/>
                  </a:moveTo>
                  <a:lnTo>
                    <a:pt x="7620" y="0"/>
                  </a:lnTo>
                  <a:lnTo>
                    <a:pt x="0" y="6350"/>
                  </a:lnTo>
                  <a:lnTo>
                    <a:pt x="26670" y="35560"/>
                  </a:lnTo>
                  <a:lnTo>
                    <a:pt x="33020" y="27940"/>
                  </a:lnTo>
                  <a:close/>
                </a:path>
                <a:path w="1527810" h="1678939">
                  <a:moveTo>
                    <a:pt x="77470" y="77470"/>
                  </a:moveTo>
                  <a:lnTo>
                    <a:pt x="52070" y="49530"/>
                  </a:lnTo>
                  <a:lnTo>
                    <a:pt x="45720" y="55880"/>
                  </a:lnTo>
                  <a:lnTo>
                    <a:pt x="71120" y="83820"/>
                  </a:lnTo>
                  <a:lnTo>
                    <a:pt x="77470" y="77470"/>
                  </a:lnTo>
                  <a:close/>
                </a:path>
                <a:path w="1527810" h="1678939">
                  <a:moveTo>
                    <a:pt x="121920" y="127000"/>
                  </a:moveTo>
                  <a:lnTo>
                    <a:pt x="96520" y="99060"/>
                  </a:lnTo>
                  <a:lnTo>
                    <a:pt x="90170" y="105410"/>
                  </a:lnTo>
                  <a:lnTo>
                    <a:pt x="115570" y="133350"/>
                  </a:lnTo>
                  <a:lnTo>
                    <a:pt x="121920" y="127000"/>
                  </a:lnTo>
                  <a:close/>
                </a:path>
                <a:path w="1527810" h="1678939">
                  <a:moveTo>
                    <a:pt x="166370" y="175260"/>
                  </a:moveTo>
                  <a:lnTo>
                    <a:pt x="140970" y="147320"/>
                  </a:lnTo>
                  <a:lnTo>
                    <a:pt x="134620" y="153670"/>
                  </a:lnTo>
                  <a:lnTo>
                    <a:pt x="160020" y="181610"/>
                  </a:lnTo>
                  <a:lnTo>
                    <a:pt x="166370" y="175260"/>
                  </a:lnTo>
                  <a:close/>
                </a:path>
                <a:path w="1527810" h="1678939">
                  <a:moveTo>
                    <a:pt x="210820" y="224790"/>
                  </a:moveTo>
                  <a:lnTo>
                    <a:pt x="185420" y="196850"/>
                  </a:lnTo>
                  <a:lnTo>
                    <a:pt x="179070" y="203200"/>
                  </a:lnTo>
                  <a:lnTo>
                    <a:pt x="204470" y="231140"/>
                  </a:lnTo>
                  <a:lnTo>
                    <a:pt x="210820" y="224790"/>
                  </a:lnTo>
                  <a:close/>
                </a:path>
                <a:path w="1527810" h="1678939">
                  <a:moveTo>
                    <a:pt x="255270" y="273050"/>
                  </a:moveTo>
                  <a:lnTo>
                    <a:pt x="229870" y="245110"/>
                  </a:lnTo>
                  <a:lnTo>
                    <a:pt x="223520" y="251460"/>
                  </a:lnTo>
                  <a:lnTo>
                    <a:pt x="248920" y="279400"/>
                  </a:lnTo>
                  <a:lnTo>
                    <a:pt x="255270" y="273050"/>
                  </a:lnTo>
                  <a:close/>
                </a:path>
                <a:path w="1527810" h="1678939">
                  <a:moveTo>
                    <a:pt x="300990" y="322580"/>
                  </a:moveTo>
                  <a:lnTo>
                    <a:pt x="274320" y="294640"/>
                  </a:lnTo>
                  <a:lnTo>
                    <a:pt x="267970" y="300990"/>
                  </a:lnTo>
                  <a:lnTo>
                    <a:pt x="293370" y="328930"/>
                  </a:lnTo>
                  <a:lnTo>
                    <a:pt x="300990" y="322580"/>
                  </a:lnTo>
                  <a:close/>
                </a:path>
                <a:path w="1527810" h="1678939">
                  <a:moveTo>
                    <a:pt x="345440" y="372110"/>
                  </a:moveTo>
                  <a:lnTo>
                    <a:pt x="320040" y="342900"/>
                  </a:lnTo>
                  <a:lnTo>
                    <a:pt x="312420" y="350520"/>
                  </a:lnTo>
                  <a:lnTo>
                    <a:pt x="337820" y="378460"/>
                  </a:lnTo>
                  <a:lnTo>
                    <a:pt x="345440" y="372110"/>
                  </a:lnTo>
                  <a:close/>
                </a:path>
                <a:path w="1527810" h="1678939">
                  <a:moveTo>
                    <a:pt x="389890" y="420370"/>
                  </a:moveTo>
                  <a:lnTo>
                    <a:pt x="364490" y="392430"/>
                  </a:lnTo>
                  <a:lnTo>
                    <a:pt x="356870" y="398780"/>
                  </a:lnTo>
                  <a:lnTo>
                    <a:pt x="382270" y="426720"/>
                  </a:lnTo>
                  <a:lnTo>
                    <a:pt x="389890" y="420370"/>
                  </a:lnTo>
                  <a:close/>
                </a:path>
                <a:path w="1527810" h="1678939">
                  <a:moveTo>
                    <a:pt x="434340" y="469900"/>
                  </a:moveTo>
                  <a:lnTo>
                    <a:pt x="408940" y="441960"/>
                  </a:lnTo>
                  <a:lnTo>
                    <a:pt x="401320" y="448310"/>
                  </a:lnTo>
                  <a:lnTo>
                    <a:pt x="426720" y="476250"/>
                  </a:lnTo>
                  <a:lnTo>
                    <a:pt x="434340" y="469900"/>
                  </a:lnTo>
                  <a:close/>
                </a:path>
                <a:path w="1527810" h="1678939">
                  <a:moveTo>
                    <a:pt x="478790" y="519430"/>
                  </a:moveTo>
                  <a:lnTo>
                    <a:pt x="453390" y="490220"/>
                  </a:lnTo>
                  <a:lnTo>
                    <a:pt x="445770" y="496570"/>
                  </a:lnTo>
                  <a:lnTo>
                    <a:pt x="472440" y="524510"/>
                  </a:lnTo>
                  <a:lnTo>
                    <a:pt x="478790" y="519430"/>
                  </a:lnTo>
                  <a:close/>
                </a:path>
                <a:path w="1527810" h="1678939">
                  <a:moveTo>
                    <a:pt x="523240" y="567690"/>
                  </a:moveTo>
                  <a:lnTo>
                    <a:pt x="497840" y="539750"/>
                  </a:lnTo>
                  <a:lnTo>
                    <a:pt x="491490" y="546100"/>
                  </a:lnTo>
                  <a:lnTo>
                    <a:pt x="515620" y="574040"/>
                  </a:lnTo>
                  <a:lnTo>
                    <a:pt x="523240" y="567690"/>
                  </a:lnTo>
                  <a:close/>
                </a:path>
                <a:path w="1527810" h="1678939">
                  <a:moveTo>
                    <a:pt x="567690" y="617220"/>
                  </a:moveTo>
                  <a:lnTo>
                    <a:pt x="542290" y="589292"/>
                  </a:lnTo>
                  <a:lnTo>
                    <a:pt x="535940" y="595642"/>
                  </a:lnTo>
                  <a:lnTo>
                    <a:pt x="561340" y="622300"/>
                  </a:lnTo>
                  <a:lnTo>
                    <a:pt x="567690" y="617220"/>
                  </a:lnTo>
                  <a:close/>
                </a:path>
                <a:path w="1527810" h="1678939">
                  <a:moveTo>
                    <a:pt x="612140" y="665480"/>
                  </a:moveTo>
                  <a:lnTo>
                    <a:pt x="586740" y="637540"/>
                  </a:lnTo>
                  <a:lnTo>
                    <a:pt x="580390" y="643890"/>
                  </a:lnTo>
                  <a:lnTo>
                    <a:pt x="605790" y="671830"/>
                  </a:lnTo>
                  <a:lnTo>
                    <a:pt x="612140" y="665480"/>
                  </a:lnTo>
                  <a:close/>
                </a:path>
                <a:path w="1527810" h="1678939">
                  <a:moveTo>
                    <a:pt x="656590" y="715010"/>
                  </a:moveTo>
                  <a:lnTo>
                    <a:pt x="631190" y="687070"/>
                  </a:lnTo>
                  <a:lnTo>
                    <a:pt x="624840" y="693420"/>
                  </a:lnTo>
                  <a:lnTo>
                    <a:pt x="650240" y="721360"/>
                  </a:lnTo>
                  <a:lnTo>
                    <a:pt x="656590" y="715010"/>
                  </a:lnTo>
                  <a:close/>
                </a:path>
                <a:path w="1527810" h="1678939">
                  <a:moveTo>
                    <a:pt x="701040" y="763270"/>
                  </a:moveTo>
                  <a:lnTo>
                    <a:pt x="675640" y="735330"/>
                  </a:lnTo>
                  <a:lnTo>
                    <a:pt x="669290" y="741680"/>
                  </a:lnTo>
                  <a:lnTo>
                    <a:pt x="694690" y="769620"/>
                  </a:lnTo>
                  <a:lnTo>
                    <a:pt x="701040" y="763270"/>
                  </a:lnTo>
                  <a:close/>
                </a:path>
                <a:path w="1527810" h="1678939">
                  <a:moveTo>
                    <a:pt x="745490" y="812800"/>
                  </a:moveTo>
                  <a:lnTo>
                    <a:pt x="720090" y="784860"/>
                  </a:lnTo>
                  <a:lnTo>
                    <a:pt x="713740" y="791210"/>
                  </a:lnTo>
                  <a:lnTo>
                    <a:pt x="739140" y="819150"/>
                  </a:lnTo>
                  <a:lnTo>
                    <a:pt x="745490" y="812800"/>
                  </a:lnTo>
                  <a:close/>
                </a:path>
                <a:path w="1527810" h="1678939">
                  <a:moveTo>
                    <a:pt x="789940" y="862330"/>
                  </a:moveTo>
                  <a:lnTo>
                    <a:pt x="765810" y="834390"/>
                  </a:lnTo>
                  <a:lnTo>
                    <a:pt x="758190" y="840740"/>
                  </a:lnTo>
                  <a:lnTo>
                    <a:pt x="783590" y="867410"/>
                  </a:lnTo>
                  <a:lnTo>
                    <a:pt x="789940" y="862330"/>
                  </a:lnTo>
                  <a:close/>
                </a:path>
                <a:path w="1527810" h="1678939">
                  <a:moveTo>
                    <a:pt x="835660" y="910590"/>
                  </a:moveTo>
                  <a:lnTo>
                    <a:pt x="808990" y="882650"/>
                  </a:lnTo>
                  <a:lnTo>
                    <a:pt x="802640" y="889000"/>
                  </a:lnTo>
                  <a:lnTo>
                    <a:pt x="828040" y="916940"/>
                  </a:lnTo>
                  <a:lnTo>
                    <a:pt x="835660" y="910590"/>
                  </a:lnTo>
                  <a:close/>
                </a:path>
                <a:path w="1527810" h="1678939">
                  <a:moveTo>
                    <a:pt x="880110" y="960120"/>
                  </a:moveTo>
                  <a:lnTo>
                    <a:pt x="854710" y="932180"/>
                  </a:lnTo>
                  <a:lnTo>
                    <a:pt x="847090" y="938530"/>
                  </a:lnTo>
                  <a:lnTo>
                    <a:pt x="872490" y="966470"/>
                  </a:lnTo>
                  <a:lnTo>
                    <a:pt x="880110" y="960120"/>
                  </a:lnTo>
                  <a:close/>
                </a:path>
                <a:path w="1527810" h="1678939">
                  <a:moveTo>
                    <a:pt x="924560" y="1008380"/>
                  </a:moveTo>
                  <a:lnTo>
                    <a:pt x="899160" y="980440"/>
                  </a:lnTo>
                  <a:lnTo>
                    <a:pt x="891540" y="986790"/>
                  </a:lnTo>
                  <a:lnTo>
                    <a:pt x="916940" y="1014730"/>
                  </a:lnTo>
                  <a:lnTo>
                    <a:pt x="924560" y="1008380"/>
                  </a:lnTo>
                  <a:close/>
                </a:path>
                <a:path w="1527810" h="1678939">
                  <a:moveTo>
                    <a:pt x="969010" y="1057910"/>
                  </a:moveTo>
                  <a:lnTo>
                    <a:pt x="943610" y="1029970"/>
                  </a:lnTo>
                  <a:lnTo>
                    <a:pt x="935990" y="1036320"/>
                  </a:lnTo>
                  <a:lnTo>
                    <a:pt x="961390" y="1064260"/>
                  </a:lnTo>
                  <a:lnTo>
                    <a:pt x="969010" y="1057910"/>
                  </a:lnTo>
                  <a:close/>
                </a:path>
                <a:path w="1527810" h="1678939">
                  <a:moveTo>
                    <a:pt x="1013460" y="1107440"/>
                  </a:moveTo>
                  <a:lnTo>
                    <a:pt x="988060" y="1079500"/>
                  </a:lnTo>
                  <a:lnTo>
                    <a:pt x="980440" y="1084580"/>
                  </a:lnTo>
                  <a:lnTo>
                    <a:pt x="1005840" y="1113790"/>
                  </a:lnTo>
                  <a:lnTo>
                    <a:pt x="1013460" y="1107440"/>
                  </a:lnTo>
                  <a:close/>
                </a:path>
                <a:path w="1527810" h="1678939">
                  <a:moveTo>
                    <a:pt x="1057910" y="1155700"/>
                  </a:moveTo>
                  <a:lnTo>
                    <a:pt x="1032510" y="1127760"/>
                  </a:lnTo>
                  <a:lnTo>
                    <a:pt x="1024890" y="1134110"/>
                  </a:lnTo>
                  <a:lnTo>
                    <a:pt x="1051560" y="1162050"/>
                  </a:lnTo>
                  <a:lnTo>
                    <a:pt x="1057910" y="1155700"/>
                  </a:lnTo>
                  <a:close/>
                </a:path>
                <a:path w="1527810" h="1678939">
                  <a:moveTo>
                    <a:pt x="1102360" y="1205230"/>
                  </a:moveTo>
                  <a:lnTo>
                    <a:pt x="1076960" y="1177290"/>
                  </a:lnTo>
                  <a:lnTo>
                    <a:pt x="1070610" y="1183640"/>
                  </a:lnTo>
                  <a:lnTo>
                    <a:pt x="1094740" y="1211580"/>
                  </a:lnTo>
                  <a:lnTo>
                    <a:pt x="1102360" y="1205230"/>
                  </a:lnTo>
                  <a:close/>
                </a:path>
                <a:path w="1527810" h="1678939">
                  <a:moveTo>
                    <a:pt x="1146810" y="1253490"/>
                  </a:moveTo>
                  <a:lnTo>
                    <a:pt x="1121410" y="1225550"/>
                  </a:lnTo>
                  <a:lnTo>
                    <a:pt x="1115060" y="1231900"/>
                  </a:lnTo>
                  <a:lnTo>
                    <a:pt x="1140460" y="1259840"/>
                  </a:lnTo>
                  <a:lnTo>
                    <a:pt x="1146810" y="1253490"/>
                  </a:lnTo>
                  <a:close/>
                </a:path>
                <a:path w="1527810" h="1678939">
                  <a:moveTo>
                    <a:pt x="1191260" y="1303020"/>
                  </a:moveTo>
                  <a:lnTo>
                    <a:pt x="1165860" y="1275080"/>
                  </a:lnTo>
                  <a:lnTo>
                    <a:pt x="1159510" y="1281430"/>
                  </a:lnTo>
                  <a:lnTo>
                    <a:pt x="1184910" y="1309370"/>
                  </a:lnTo>
                  <a:lnTo>
                    <a:pt x="1191260" y="1303020"/>
                  </a:lnTo>
                  <a:close/>
                </a:path>
                <a:path w="1527810" h="1678939">
                  <a:moveTo>
                    <a:pt x="1235710" y="1351280"/>
                  </a:moveTo>
                  <a:lnTo>
                    <a:pt x="1210310" y="1324610"/>
                  </a:lnTo>
                  <a:lnTo>
                    <a:pt x="1203960" y="1329690"/>
                  </a:lnTo>
                  <a:lnTo>
                    <a:pt x="1229360" y="1358900"/>
                  </a:lnTo>
                  <a:lnTo>
                    <a:pt x="1235710" y="1351280"/>
                  </a:lnTo>
                  <a:close/>
                </a:path>
                <a:path w="1527810" h="1678939">
                  <a:moveTo>
                    <a:pt x="1280160" y="1400810"/>
                  </a:moveTo>
                  <a:lnTo>
                    <a:pt x="1254760" y="1372870"/>
                  </a:lnTo>
                  <a:lnTo>
                    <a:pt x="1248410" y="1379220"/>
                  </a:lnTo>
                  <a:lnTo>
                    <a:pt x="1273810" y="1407160"/>
                  </a:lnTo>
                  <a:lnTo>
                    <a:pt x="1280160" y="1400810"/>
                  </a:lnTo>
                  <a:close/>
                </a:path>
                <a:path w="1527810" h="1678939">
                  <a:moveTo>
                    <a:pt x="1324610" y="1450340"/>
                  </a:moveTo>
                  <a:lnTo>
                    <a:pt x="1299210" y="1422400"/>
                  </a:lnTo>
                  <a:lnTo>
                    <a:pt x="1292860" y="1428750"/>
                  </a:lnTo>
                  <a:lnTo>
                    <a:pt x="1318260" y="1456690"/>
                  </a:lnTo>
                  <a:lnTo>
                    <a:pt x="1324610" y="1450340"/>
                  </a:lnTo>
                  <a:close/>
                </a:path>
                <a:path w="1527810" h="1678939">
                  <a:moveTo>
                    <a:pt x="1369060" y="1498600"/>
                  </a:moveTo>
                  <a:lnTo>
                    <a:pt x="1344930" y="1470660"/>
                  </a:lnTo>
                  <a:lnTo>
                    <a:pt x="1337310" y="1477010"/>
                  </a:lnTo>
                  <a:lnTo>
                    <a:pt x="1362710" y="1504950"/>
                  </a:lnTo>
                  <a:lnTo>
                    <a:pt x="1369060" y="1498600"/>
                  </a:lnTo>
                  <a:close/>
                </a:path>
                <a:path w="1527810" h="1678939">
                  <a:moveTo>
                    <a:pt x="1414780" y="1548130"/>
                  </a:moveTo>
                  <a:lnTo>
                    <a:pt x="1389380" y="1520190"/>
                  </a:lnTo>
                  <a:lnTo>
                    <a:pt x="1381760" y="1526540"/>
                  </a:lnTo>
                  <a:lnTo>
                    <a:pt x="1407160" y="1554480"/>
                  </a:lnTo>
                  <a:lnTo>
                    <a:pt x="1414780" y="1548130"/>
                  </a:lnTo>
                  <a:close/>
                </a:path>
                <a:path w="1527810" h="1678939">
                  <a:moveTo>
                    <a:pt x="1459230" y="1596390"/>
                  </a:moveTo>
                  <a:lnTo>
                    <a:pt x="1433830" y="1568450"/>
                  </a:lnTo>
                  <a:lnTo>
                    <a:pt x="1426210" y="1574800"/>
                  </a:lnTo>
                  <a:lnTo>
                    <a:pt x="1451610" y="1604010"/>
                  </a:lnTo>
                  <a:lnTo>
                    <a:pt x="1459230" y="1596390"/>
                  </a:lnTo>
                  <a:close/>
                </a:path>
                <a:path w="1527810" h="1678939">
                  <a:moveTo>
                    <a:pt x="1503680" y="1645920"/>
                  </a:moveTo>
                  <a:lnTo>
                    <a:pt x="1478280" y="1617980"/>
                  </a:lnTo>
                  <a:lnTo>
                    <a:pt x="1470660" y="1624330"/>
                  </a:lnTo>
                  <a:lnTo>
                    <a:pt x="1496060" y="1652270"/>
                  </a:lnTo>
                  <a:lnTo>
                    <a:pt x="1503680" y="1645920"/>
                  </a:lnTo>
                  <a:close/>
                </a:path>
                <a:path w="1527810" h="1678939">
                  <a:moveTo>
                    <a:pt x="1527810" y="1672590"/>
                  </a:moveTo>
                  <a:lnTo>
                    <a:pt x="1522730" y="1667510"/>
                  </a:lnTo>
                  <a:lnTo>
                    <a:pt x="1515110" y="1673860"/>
                  </a:lnTo>
                  <a:lnTo>
                    <a:pt x="1521460" y="1678940"/>
                  </a:lnTo>
                  <a:lnTo>
                    <a:pt x="1527810" y="16725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09700" y="62852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574" y="2917"/>
                  </a:lnTo>
                  <a:lnTo>
                    <a:pt x="11430" y="10953"/>
                  </a:lnTo>
                  <a:lnTo>
                    <a:pt x="3095" y="23038"/>
                  </a:lnTo>
                  <a:lnTo>
                    <a:pt x="0" y="38100"/>
                  </a:lnTo>
                  <a:lnTo>
                    <a:pt x="3095" y="52625"/>
                  </a:lnTo>
                  <a:lnTo>
                    <a:pt x="11430" y="64770"/>
                  </a:lnTo>
                  <a:lnTo>
                    <a:pt x="23574" y="73104"/>
                  </a:lnTo>
                  <a:lnTo>
                    <a:pt x="38100" y="76200"/>
                  </a:lnTo>
                  <a:lnTo>
                    <a:pt x="53161" y="73104"/>
                  </a:lnTo>
                  <a:lnTo>
                    <a:pt x="65246" y="64770"/>
                  </a:lnTo>
                  <a:lnTo>
                    <a:pt x="73282" y="52625"/>
                  </a:lnTo>
                  <a:lnTo>
                    <a:pt x="76200" y="38100"/>
                  </a:lnTo>
                  <a:lnTo>
                    <a:pt x="73282" y="23038"/>
                  </a:lnTo>
                  <a:lnTo>
                    <a:pt x="65246" y="10953"/>
                  </a:lnTo>
                  <a:lnTo>
                    <a:pt x="53161" y="291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09700" y="62852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574" y="73104"/>
                  </a:lnTo>
                  <a:lnTo>
                    <a:pt x="11430" y="64770"/>
                  </a:lnTo>
                  <a:lnTo>
                    <a:pt x="3095" y="52625"/>
                  </a:lnTo>
                  <a:lnTo>
                    <a:pt x="0" y="38100"/>
                  </a:lnTo>
                  <a:lnTo>
                    <a:pt x="3095" y="23038"/>
                  </a:lnTo>
                  <a:lnTo>
                    <a:pt x="11430" y="10953"/>
                  </a:lnTo>
                  <a:lnTo>
                    <a:pt x="23574" y="2917"/>
                  </a:lnTo>
                  <a:lnTo>
                    <a:pt x="38100" y="0"/>
                  </a:lnTo>
                  <a:lnTo>
                    <a:pt x="53161" y="2917"/>
                  </a:lnTo>
                  <a:lnTo>
                    <a:pt x="65246" y="10953"/>
                  </a:lnTo>
                  <a:lnTo>
                    <a:pt x="73282" y="23038"/>
                  </a:lnTo>
                  <a:lnTo>
                    <a:pt x="76200" y="38100"/>
                  </a:lnTo>
                  <a:lnTo>
                    <a:pt x="73282" y="52625"/>
                  </a:lnTo>
                  <a:lnTo>
                    <a:pt x="65246" y="64770"/>
                  </a:lnTo>
                  <a:lnTo>
                    <a:pt x="53161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28900" y="45961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038" y="2917"/>
                  </a:lnTo>
                  <a:lnTo>
                    <a:pt x="10953" y="10953"/>
                  </a:lnTo>
                  <a:lnTo>
                    <a:pt x="2917" y="23038"/>
                  </a:lnTo>
                  <a:lnTo>
                    <a:pt x="0" y="38100"/>
                  </a:lnTo>
                  <a:lnTo>
                    <a:pt x="2917" y="52625"/>
                  </a:lnTo>
                  <a:lnTo>
                    <a:pt x="10953" y="64770"/>
                  </a:lnTo>
                  <a:lnTo>
                    <a:pt x="23038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69" y="64770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038"/>
                  </a:lnTo>
                  <a:lnTo>
                    <a:pt x="64770" y="10953"/>
                  </a:lnTo>
                  <a:lnTo>
                    <a:pt x="52625" y="291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28900" y="45961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104"/>
                  </a:lnTo>
                  <a:lnTo>
                    <a:pt x="10953" y="64770"/>
                  </a:lnTo>
                  <a:lnTo>
                    <a:pt x="2917" y="52625"/>
                  </a:lnTo>
                  <a:lnTo>
                    <a:pt x="0" y="38100"/>
                  </a:lnTo>
                  <a:lnTo>
                    <a:pt x="2917" y="23038"/>
                  </a:lnTo>
                  <a:lnTo>
                    <a:pt x="10953" y="10953"/>
                  </a:lnTo>
                  <a:lnTo>
                    <a:pt x="23038" y="2917"/>
                  </a:lnTo>
                  <a:lnTo>
                    <a:pt x="38100" y="0"/>
                  </a:lnTo>
                  <a:lnTo>
                    <a:pt x="52625" y="2917"/>
                  </a:lnTo>
                  <a:lnTo>
                    <a:pt x="64770" y="10953"/>
                  </a:lnTo>
                  <a:lnTo>
                    <a:pt x="73104" y="23038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69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57700" y="45834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038" y="2917"/>
                  </a:lnTo>
                  <a:lnTo>
                    <a:pt x="10953" y="10953"/>
                  </a:lnTo>
                  <a:lnTo>
                    <a:pt x="2917" y="23038"/>
                  </a:lnTo>
                  <a:lnTo>
                    <a:pt x="0" y="38100"/>
                  </a:lnTo>
                  <a:lnTo>
                    <a:pt x="2917" y="52625"/>
                  </a:lnTo>
                  <a:lnTo>
                    <a:pt x="10953" y="64770"/>
                  </a:lnTo>
                  <a:lnTo>
                    <a:pt x="23038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70" y="64770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038"/>
                  </a:lnTo>
                  <a:lnTo>
                    <a:pt x="64770" y="10953"/>
                  </a:lnTo>
                  <a:lnTo>
                    <a:pt x="52625" y="291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7700" y="45834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104"/>
                  </a:lnTo>
                  <a:lnTo>
                    <a:pt x="10953" y="64770"/>
                  </a:lnTo>
                  <a:lnTo>
                    <a:pt x="2917" y="52625"/>
                  </a:lnTo>
                  <a:lnTo>
                    <a:pt x="0" y="38100"/>
                  </a:lnTo>
                  <a:lnTo>
                    <a:pt x="2917" y="23038"/>
                  </a:lnTo>
                  <a:lnTo>
                    <a:pt x="10953" y="10953"/>
                  </a:lnTo>
                  <a:lnTo>
                    <a:pt x="23038" y="2917"/>
                  </a:lnTo>
                  <a:lnTo>
                    <a:pt x="38100" y="0"/>
                  </a:lnTo>
                  <a:lnTo>
                    <a:pt x="52625" y="2917"/>
                  </a:lnTo>
                  <a:lnTo>
                    <a:pt x="64770" y="10953"/>
                  </a:lnTo>
                  <a:lnTo>
                    <a:pt x="73104" y="23038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70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37640" y="5095239"/>
              <a:ext cx="4591050" cy="1225550"/>
            </a:xfrm>
            <a:custGeom>
              <a:avLst/>
              <a:gdLst/>
              <a:ahLst/>
              <a:cxnLst/>
              <a:rect l="l" t="t" r="r" b="b"/>
              <a:pathLst>
                <a:path w="4591050" h="1225550">
                  <a:moveTo>
                    <a:pt x="4591050" y="1203960"/>
                  </a:moveTo>
                  <a:lnTo>
                    <a:pt x="4196080" y="875030"/>
                  </a:lnTo>
                  <a:lnTo>
                    <a:pt x="3996690" y="717550"/>
                  </a:lnTo>
                  <a:lnTo>
                    <a:pt x="3797300" y="570230"/>
                  </a:lnTo>
                  <a:lnTo>
                    <a:pt x="3597910" y="435610"/>
                  </a:lnTo>
                  <a:lnTo>
                    <a:pt x="3596640" y="434340"/>
                  </a:lnTo>
                  <a:lnTo>
                    <a:pt x="3395980" y="314960"/>
                  </a:lnTo>
                  <a:lnTo>
                    <a:pt x="3394710" y="314960"/>
                  </a:lnTo>
                  <a:lnTo>
                    <a:pt x="3192780" y="214630"/>
                  </a:lnTo>
                  <a:lnTo>
                    <a:pt x="3191510" y="213360"/>
                  </a:lnTo>
                  <a:lnTo>
                    <a:pt x="3089910" y="171450"/>
                  </a:lnTo>
                  <a:lnTo>
                    <a:pt x="3088640" y="171450"/>
                  </a:lnTo>
                  <a:lnTo>
                    <a:pt x="2987040" y="134632"/>
                  </a:lnTo>
                  <a:lnTo>
                    <a:pt x="2985770" y="134632"/>
                  </a:lnTo>
                  <a:lnTo>
                    <a:pt x="2777490" y="76200"/>
                  </a:lnTo>
                  <a:lnTo>
                    <a:pt x="2776220" y="76200"/>
                  </a:lnTo>
                  <a:lnTo>
                    <a:pt x="2561590" y="34290"/>
                  </a:lnTo>
                  <a:lnTo>
                    <a:pt x="2560320" y="34290"/>
                  </a:lnTo>
                  <a:lnTo>
                    <a:pt x="2344420" y="8890"/>
                  </a:lnTo>
                  <a:lnTo>
                    <a:pt x="2343150" y="8890"/>
                  </a:lnTo>
                  <a:lnTo>
                    <a:pt x="2124710" y="0"/>
                  </a:lnTo>
                  <a:lnTo>
                    <a:pt x="1908810" y="8890"/>
                  </a:lnTo>
                  <a:lnTo>
                    <a:pt x="1697990" y="34290"/>
                  </a:lnTo>
                  <a:lnTo>
                    <a:pt x="1696720" y="34290"/>
                  </a:lnTo>
                  <a:lnTo>
                    <a:pt x="1494790" y="76200"/>
                  </a:lnTo>
                  <a:lnTo>
                    <a:pt x="1493520" y="76200"/>
                  </a:lnTo>
                  <a:lnTo>
                    <a:pt x="1301750" y="134632"/>
                  </a:lnTo>
                  <a:lnTo>
                    <a:pt x="1300480" y="134632"/>
                  </a:lnTo>
                  <a:lnTo>
                    <a:pt x="1207770" y="171450"/>
                  </a:lnTo>
                  <a:lnTo>
                    <a:pt x="1117600" y="214630"/>
                  </a:lnTo>
                  <a:lnTo>
                    <a:pt x="1029970" y="261620"/>
                  </a:lnTo>
                  <a:lnTo>
                    <a:pt x="1028700" y="262890"/>
                  </a:lnTo>
                  <a:lnTo>
                    <a:pt x="943610" y="314960"/>
                  </a:lnTo>
                  <a:lnTo>
                    <a:pt x="942340" y="316230"/>
                  </a:lnTo>
                  <a:lnTo>
                    <a:pt x="774700" y="435610"/>
                  </a:lnTo>
                  <a:lnTo>
                    <a:pt x="613410" y="570230"/>
                  </a:lnTo>
                  <a:lnTo>
                    <a:pt x="612140" y="571500"/>
                  </a:lnTo>
                  <a:lnTo>
                    <a:pt x="455930" y="718820"/>
                  </a:lnTo>
                  <a:lnTo>
                    <a:pt x="454660" y="718820"/>
                  </a:lnTo>
                  <a:lnTo>
                    <a:pt x="300990" y="876300"/>
                  </a:lnTo>
                  <a:lnTo>
                    <a:pt x="0" y="1205230"/>
                  </a:lnTo>
                  <a:lnTo>
                    <a:pt x="20320" y="1225550"/>
                  </a:lnTo>
                  <a:lnTo>
                    <a:pt x="322580" y="895350"/>
                  </a:lnTo>
                  <a:lnTo>
                    <a:pt x="474980" y="739140"/>
                  </a:lnTo>
                  <a:lnTo>
                    <a:pt x="632460" y="591820"/>
                  </a:lnTo>
                  <a:lnTo>
                    <a:pt x="631875" y="591248"/>
                  </a:lnTo>
                  <a:lnTo>
                    <a:pt x="791108" y="458343"/>
                  </a:lnTo>
                  <a:lnTo>
                    <a:pt x="791210" y="458470"/>
                  </a:lnTo>
                  <a:lnTo>
                    <a:pt x="958850" y="339090"/>
                  </a:lnTo>
                  <a:lnTo>
                    <a:pt x="958481" y="338543"/>
                  </a:lnTo>
                  <a:lnTo>
                    <a:pt x="1043940" y="287020"/>
                  </a:lnTo>
                  <a:lnTo>
                    <a:pt x="1043622" y="286512"/>
                  </a:lnTo>
                  <a:lnTo>
                    <a:pt x="1130071" y="239585"/>
                  </a:lnTo>
                  <a:lnTo>
                    <a:pt x="1130300" y="240030"/>
                  </a:lnTo>
                  <a:lnTo>
                    <a:pt x="1218984" y="197561"/>
                  </a:lnTo>
                  <a:lnTo>
                    <a:pt x="1219200" y="198120"/>
                  </a:lnTo>
                  <a:lnTo>
                    <a:pt x="1310640" y="161290"/>
                  </a:lnTo>
                  <a:lnTo>
                    <a:pt x="1310500" y="160959"/>
                  </a:lnTo>
                  <a:lnTo>
                    <a:pt x="1501140" y="104140"/>
                  </a:lnTo>
                  <a:lnTo>
                    <a:pt x="1501063" y="103898"/>
                  </a:lnTo>
                  <a:lnTo>
                    <a:pt x="1703070" y="62230"/>
                  </a:lnTo>
                  <a:lnTo>
                    <a:pt x="1703019" y="62090"/>
                  </a:lnTo>
                  <a:lnTo>
                    <a:pt x="1911350" y="36830"/>
                  </a:lnTo>
                  <a:lnTo>
                    <a:pt x="2124710" y="29210"/>
                  </a:lnTo>
                  <a:lnTo>
                    <a:pt x="2340610" y="36791"/>
                  </a:lnTo>
                  <a:lnTo>
                    <a:pt x="2556535" y="62090"/>
                  </a:lnTo>
                  <a:lnTo>
                    <a:pt x="2556510" y="62230"/>
                  </a:lnTo>
                  <a:lnTo>
                    <a:pt x="2769933" y="103911"/>
                  </a:lnTo>
                  <a:lnTo>
                    <a:pt x="2769870" y="104140"/>
                  </a:lnTo>
                  <a:lnTo>
                    <a:pt x="2976994" y="160985"/>
                  </a:lnTo>
                  <a:lnTo>
                    <a:pt x="2976880" y="161290"/>
                  </a:lnTo>
                  <a:lnTo>
                    <a:pt x="3078645" y="197739"/>
                  </a:lnTo>
                  <a:lnTo>
                    <a:pt x="3078480" y="198120"/>
                  </a:lnTo>
                  <a:lnTo>
                    <a:pt x="3180080" y="240030"/>
                  </a:lnTo>
                  <a:lnTo>
                    <a:pt x="3382010" y="340360"/>
                  </a:lnTo>
                  <a:lnTo>
                    <a:pt x="3382200" y="339966"/>
                  </a:lnTo>
                  <a:lnTo>
                    <a:pt x="3581755" y="457936"/>
                  </a:lnTo>
                  <a:lnTo>
                    <a:pt x="3581400" y="458470"/>
                  </a:lnTo>
                  <a:lnTo>
                    <a:pt x="3780790" y="593090"/>
                  </a:lnTo>
                  <a:lnTo>
                    <a:pt x="3980180" y="740410"/>
                  </a:lnTo>
                  <a:lnTo>
                    <a:pt x="4177550" y="896035"/>
                  </a:lnTo>
                  <a:lnTo>
                    <a:pt x="4177030" y="896620"/>
                  </a:lnTo>
                  <a:lnTo>
                    <a:pt x="4573270" y="1225550"/>
                  </a:lnTo>
                  <a:lnTo>
                    <a:pt x="4582160" y="1215390"/>
                  </a:lnTo>
                  <a:lnTo>
                    <a:pt x="4591050" y="120396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8320" y="5675630"/>
              <a:ext cx="120650" cy="13080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436370" y="5749290"/>
              <a:ext cx="433070" cy="570230"/>
            </a:xfrm>
            <a:custGeom>
              <a:avLst/>
              <a:gdLst/>
              <a:ahLst/>
              <a:cxnLst/>
              <a:rect l="l" t="t" r="r" b="b"/>
              <a:pathLst>
                <a:path w="433069" h="570229">
                  <a:moveTo>
                    <a:pt x="410210" y="0"/>
                  </a:moveTo>
                  <a:lnTo>
                    <a:pt x="0" y="552450"/>
                  </a:lnTo>
                  <a:lnTo>
                    <a:pt x="22860" y="570230"/>
                  </a:lnTo>
                  <a:lnTo>
                    <a:pt x="433069" y="16510"/>
                  </a:lnTo>
                  <a:lnTo>
                    <a:pt x="41021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73799" y="6577330"/>
              <a:ext cx="127000" cy="12827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028690" y="6325870"/>
              <a:ext cx="311150" cy="316230"/>
            </a:xfrm>
            <a:custGeom>
              <a:avLst/>
              <a:gdLst/>
              <a:ahLst/>
              <a:cxnLst/>
              <a:rect l="l" t="t" r="r" b="b"/>
              <a:pathLst>
                <a:path w="311150" h="316229">
                  <a:moveTo>
                    <a:pt x="20320" y="0"/>
                  </a:moveTo>
                  <a:lnTo>
                    <a:pt x="0" y="20319"/>
                  </a:lnTo>
                  <a:lnTo>
                    <a:pt x="290830" y="316229"/>
                  </a:lnTo>
                  <a:lnTo>
                    <a:pt x="311150" y="297179"/>
                  </a:lnTo>
                  <a:lnTo>
                    <a:pt x="2032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77027" y="6253887"/>
              <a:ext cx="85544" cy="855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>
              <a:spcBef>
                <a:spcPts val="100"/>
              </a:spcBef>
            </a:pPr>
            <a:r>
              <a:rPr dirty="0"/>
              <a:t>Propriedades</a:t>
            </a:r>
            <a:r>
              <a:rPr spc="-45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dirty="0"/>
              <a:t>Curva</a:t>
            </a:r>
            <a:r>
              <a:rPr spc="-4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Bézier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70" y="2416809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•</a:t>
            </a:r>
            <a:endParaRPr sz="240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70" y="355600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•</a:t>
            </a:r>
            <a:endParaRPr sz="240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45970" y="1217929"/>
            <a:ext cx="7833359" cy="34061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67665" marR="654685" indent="-342900">
              <a:lnSpc>
                <a:spcPct val="100699"/>
              </a:lnSpc>
              <a:spcBef>
                <a:spcPts val="80"/>
              </a:spcBef>
              <a:buChar char="•"/>
              <a:tabLst>
                <a:tab pos="367665" algn="l"/>
              </a:tabLst>
            </a:pP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As</a:t>
            </a:r>
            <a:r>
              <a:rPr sz="3600" spc="-89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tangentes</a:t>
            </a:r>
            <a:r>
              <a:rPr sz="3600" spc="-60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à</a:t>
            </a:r>
            <a:r>
              <a:rPr sz="3600" spc="-37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3600" spc="-44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3600" spc="-60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="1" baseline="1157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baseline="-21825" dirty="0">
                <a:solidFill>
                  <a:srgbClr val="002454"/>
                </a:solidFill>
                <a:latin typeface="Arial MT"/>
                <a:cs typeface="Arial MT"/>
              </a:rPr>
              <a:t>0</a:t>
            </a:r>
            <a:r>
              <a:rPr sz="2100" spc="-37" baseline="-218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spc="-30" baseline="1157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3600" spc="-427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="1" baseline="1157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i="1" baseline="-21825" dirty="0">
                <a:solidFill>
                  <a:srgbClr val="002454"/>
                </a:solidFill>
                <a:latin typeface="Arial"/>
                <a:cs typeface="Arial"/>
              </a:rPr>
              <a:t>n</a:t>
            </a:r>
            <a:r>
              <a:rPr sz="2100" i="1" spc="359" baseline="-2182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têm</a:t>
            </a:r>
            <a:r>
              <a:rPr sz="3600" spc="-37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3600" spc="-52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baseline="1157" dirty="0">
                <a:solidFill>
                  <a:srgbClr val="002454"/>
                </a:solidFill>
                <a:latin typeface="Arial MT"/>
                <a:cs typeface="Arial MT"/>
              </a:rPr>
              <a:t>direção</a:t>
            </a:r>
            <a:r>
              <a:rPr sz="3600" spc="-67" baseline="1157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600" spc="-37" baseline="1157" dirty="0">
                <a:solidFill>
                  <a:srgbClr val="002454"/>
                </a:solidFill>
                <a:latin typeface="Arial MT"/>
                <a:cs typeface="Arial MT"/>
              </a:rPr>
              <a:t>dos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segmentos</a:t>
            </a:r>
            <a:r>
              <a:rPr sz="24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reta</a:t>
            </a:r>
            <a:r>
              <a:rPr sz="24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baseline="-23809" dirty="0">
                <a:solidFill>
                  <a:srgbClr val="002454"/>
                </a:solidFill>
                <a:latin typeface="Arial MT"/>
                <a:cs typeface="Arial MT"/>
              </a:rPr>
              <a:t>0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baseline="-23809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100" spc="509" baseline="-23809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400" spc="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b="1" spc="-10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i="1" spc="-15" baseline="-23809" dirty="0">
                <a:solidFill>
                  <a:srgbClr val="002454"/>
                </a:solidFill>
                <a:latin typeface="Arial"/>
                <a:cs typeface="Arial"/>
              </a:rPr>
              <a:t>n</a:t>
            </a:r>
            <a:r>
              <a:rPr sz="2100" spc="-15" baseline="-23809" dirty="0">
                <a:solidFill>
                  <a:srgbClr val="002454"/>
                </a:solidFill>
                <a:latin typeface="Arial MT"/>
                <a:cs typeface="Arial MT"/>
              </a:rPr>
              <a:t>-</a:t>
            </a:r>
            <a:r>
              <a:rPr sz="2100" baseline="-23809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4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100" i="1" baseline="-23809" dirty="0">
                <a:solidFill>
                  <a:srgbClr val="002454"/>
                </a:solidFill>
                <a:latin typeface="Arial"/>
                <a:cs typeface="Arial"/>
              </a:rPr>
              <a:t>n</a:t>
            </a:r>
            <a:r>
              <a:rPr sz="2100" i="1" spc="-37" baseline="-23809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respectivamente</a:t>
            </a:r>
            <a:endParaRPr sz="2400">
              <a:solidFill>
                <a:srgbClr val="002454"/>
              </a:solidFill>
              <a:latin typeface="Arial MT"/>
              <a:cs typeface="Arial MT"/>
            </a:endParaRPr>
          </a:p>
          <a:p>
            <a:pPr marL="767715" lvl="1" indent="-285750">
              <a:spcBef>
                <a:spcPts val="680"/>
              </a:spcBef>
              <a:buFont typeface="Wingdings"/>
              <a:buChar char=""/>
              <a:tabLst>
                <a:tab pos="767715" algn="l"/>
              </a:tabLst>
            </a:pP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3150" spc="-37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cúbicas, as derivadas são</a:t>
            </a:r>
            <a:r>
              <a:rPr sz="3150" spc="-22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3(</a:t>
            </a:r>
            <a:r>
              <a:rPr sz="3150" b="1" baseline="1322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baseline="-23148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pc="-22" baseline="-23148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3150" spc="-30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="1" baseline="1322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baseline="-23148" dirty="0">
                <a:solidFill>
                  <a:srgbClr val="002454"/>
                </a:solidFill>
                <a:latin typeface="Arial MT"/>
                <a:cs typeface="Arial MT"/>
              </a:rPr>
              <a:t>0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3150" spc="-30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3150" spc="-22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3(</a:t>
            </a:r>
            <a:r>
              <a:rPr sz="3150" b="1" baseline="1322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baseline="-23148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r>
              <a:rPr spc="-15" baseline="-23148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–</a:t>
            </a:r>
            <a:r>
              <a:rPr sz="3150" spc="-30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="1" spc="-37" baseline="1322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pc="-37" baseline="-23148" dirty="0">
                <a:solidFill>
                  <a:srgbClr val="002454"/>
                </a:solidFill>
                <a:latin typeface="Arial MT"/>
                <a:cs typeface="Arial MT"/>
              </a:rPr>
              <a:t>3</a:t>
            </a:r>
            <a:r>
              <a:rPr sz="3150" spc="-37" baseline="1322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endParaRPr sz="3150" baseline="1322">
              <a:solidFill>
                <a:srgbClr val="002454"/>
              </a:solidFill>
              <a:latin typeface="Arial MT"/>
              <a:cs typeface="Arial MT"/>
            </a:endParaRPr>
          </a:p>
          <a:p>
            <a:pPr marL="367665" marR="17780">
              <a:lnSpc>
                <a:spcPts val="2590"/>
              </a:lnSpc>
              <a:spcBef>
                <a:spcPts val="935"/>
              </a:spcBef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Qualquer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linha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reta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intercepta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tantas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ou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2454"/>
                </a:solidFill>
                <a:latin typeface="Arial MT"/>
                <a:cs typeface="Arial MT"/>
              </a:rPr>
              <a:t>menos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vezes</a:t>
            </a:r>
            <a:r>
              <a:rPr sz="24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quanto</a:t>
            </a:r>
            <a:r>
              <a:rPr sz="24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intercepta</a:t>
            </a:r>
            <a:r>
              <a:rPr sz="24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4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polígono</a:t>
            </a:r>
            <a:r>
              <a:rPr sz="24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controle</a:t>
            </a:r>
            <a:endParaRPr sz="2400">
              <a:solidFill>
                <a:srgbClr val="002454"/>
              </a:solidFill>
              <a:latin typeface="Arial MT"/>
              <a:cs typeface="Arial MT"/>
            </a:endParaRPr>
          </a:p>
          <a:p>
            <a:pPr marL="367665" marR="741680" lvl="1" indent="399415">
              <a:lnSpc>
                <a:spcPts val="3190"/>
              </a:lnSpc>
              <a:spcBef>
                <a:spcPts val="120"/>
              </a:spcBef>
              <a:buFont typeface="Wingdings"/>
              <a:buChar char=""/>
              <a:tabLst>
                <a:tab pos="76708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pode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oscilar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demasiadamente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Transformar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controle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(transf.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afim)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e</a:t>
            </a:r>
            <a:endParaRPr sz="2400">
              <a:solidFill>
                <a:srgbClr val="002454"/>
              </a:solidFill>
              <a:latin typeface="Arial MT"/>
              <a:cs typeface="Arial MT"/>
            </a:endParaRPr>
          </a:p>
          <a:p>
            <a:pPr marL="367665">
              <a:lnSpc>
                <a:spcPts val="2285"/>
              </a:lnSpc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desenhar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equivalente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desenhar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endParaRPr sz="2400">
              <a:solidFill>
                <a:srgbClr val="002454"/>
              </a:solidFill>
              <a:latin typeface="Arial MT"/>
              <a:cs typeface="Arial MT"/>
            </a:endParaRPr>
          </a:p>
          <a:p>
            <a:pPr marL="367665">
              <a:lnSpc>
                <a:spcPts val="2735"/>
              </a:lnSpc>
            </a:pP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transformada</a:t>
            </a:r>
            <a:endParaRPr sz="2400">
              <a:solidFill>
                <a:srgbClr val="002454"/>
              </a:solidFill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929027" y="4578757"/>
            <a:ext cx="4996180" cy="2127250"/>
            <a:chOff x="1405027" y="4578757"/>
            <a:chExt cx="4996180" cy="2127250"/>
          </a:xfrm>
        </p:grpSpPr>
        <p:sp>
          <p:nvSpPr>
            <p:cNvPr id="7" name="object 7"/>
            <p:cNvSpPr/>
            <p:nvPr/>
          </p:nvSpPr>
          <p:spPr>
            <a:xfrm>
              <a:off x="1443990" y="4630419"/>
              <a:ext cx="1226820" cy="1682750"/>
            </a:xfrm>
            <a:custGeom>
              <a:avLst/>
              <a:gdLst/>
              <a:ahLst/>
              <a:cxnLst/>
              <a:rect l="l" t="t" r="r" b="b"/>
              <a:pathLst>
                <a:path w="1226820" h="1682750">
                  <a:moveTo>
                    <a:pt x="30480" y="1652270"/>
                  </a:moveTo>
                  <a:lnTo>
                    <a:pt x="22860" y="1645920"/>
                  </a:lnTo>
                  <a:lnTo>
                    <a:pt x="0" y="1677670"/>
                  </a:lnTo>
                  <a:lnTo>
                    <a:pt x="7620" y="1682750"/>
                  </a:lnTo>
                  <a:lnTo>
                    <a:pt x="30480" y="1652270"/>
                  </a:lnTo>
                  <a:close/>
                </a:path>
                <a:path w="1226820" h="1682750">
                  <a:moveTo>
                    <a:pt x="68580" y="1598930"/>
                  </a:moveTo>
                  <a:lnTo>
                    <a:pt x="60960" y="1593850"/>
                  </a:lnTo>
                  <a:lnTo>
                    <a:pt x="39370" y="1624330"/>
                  </a:lnTo>
                  <a:lnTo>
                    <a:pt x="46990" y="1629410"/>
                  </a:lnTo>
                  <a:lnTo>
                    <a:pt x="68580" y="1598930"/>
                  </a:lnTo>
                  <a:close/>
                </a:path>
                <a:path w="1226820" h="1682750">
                  <a:moveTo>
                    <a:pt x="107950" y="1545590"/>
                  </a:moveTo>
                  <a:lnTo>
                    <a:pt x="100330" y="1539240"/>
                  </a:lnTo>
                  <a:lnTo>
                    <a:pt x="77470" y="1569720"/>
                  </a:lnTo>
                  <a:lnTo>
                    <a:pt x="85090" y="1576070"/>
                  </a:lnTo>
                  <a:lnTo>
                    <a:pt x="107950" y="1545590"/>
                  </a:lnTo>
                  <a:close/>
                </a:path>
                <a:path w="1226820" h="1682750">
                  <a:moveTo>
                    <a:pt x="147320" y="1490980"/>
                  </a:moveTo>
                  <a:lnTo>
                    <a:pt x="139700" y="1485900"/>
                  </a:lnTo>
                  <a:lnTo>
                    <a:pt x="116840" y="1516380"/>
                  </a:lnTo>
                  <a:lnTo>
                    <a:pt x="124460" y="1521460"/>
                  </a:lnTo>
                  <a:lnTo>
                    <a:pt x="147320" y="1490980"/>
                  </a:lnTo>
                  <a:close/>
                </a:path>
                <a:path w="1226820" h="1682750">
                  <a:moveTo>
                    <a:pt x="185420" y="1437640"/>
                  </a:moveTo>
                  <a:lnTo>
                    <a:pt x="177800" y="1432560"/>
                  </a:lnTo>
                  <a:lnTo>
                    <a:pt x="156210" y="1463040"/>
                  </a:lnTo>
                  <a:lnTo>
                    <a:pt x="163830" y="1468120"/>
                  </a:lnTo>
                  <a:lnTo>
                    <a:pt x="185420" y="1437640"/>
                  </a:lnTo>
                  <a:close/>
                </a:path>
                <a:path w="1226820" h="1682750">
                  <a:moveTo>
                    <a:pt x="224790" y="1384300"/>
                  </a:moveTo>
                  <a:lnTo>
                    <a:pt x="217170" y="1379220"/>
                  </a:lnTo>
                  <a:lnTo>
                    <a:pt x="194310" y="1409700"/>
                  </a:lnTo>
                  <a:lnTo>
                    <a:pt x="201930" y="1414780"/>
                  </a:lnTo>
                  <a:lnTo>
                    <a:pt x="224790" y="1384300"/>
                  </a:lnTo>
                  <a:close/>
                </a:path>
                <a:path w="1226820" h="1682750">
                  <a:moveTo>
                    <a:pt x="262890" y="1330960"/>
                  </a:moveTo>
                  <a:lnTo>
                    <a:pt x="256540" y="1324610"/>
                  </a:lnTo>
                  <a:lnTo>
                    <a:pt x="233680" y="1355090"/>
                  </a:lnTo>
                  <a:lnTo>
                    <a:pt x="241300" y="1361440"/>
                  </a:lnTo>
                  <a:lnTo>
                    <a:pt x="262890" y="1330960"/>
                  </a:lnTo>
                  <a:close/>
                </a:path>
                <a:path w="1226820" h="1682750">
                  <a:moveTo>
                    <a:pt x="302260" y="1277620"/>
                  </a:moveTo>
                  <a:lnTo>
                    <a:pt x="294640" y="1271270"/>
                  </a:lnTo>
                  <a:lnTo>
                    <a:pt x="273050" y="1301750"/>
                  </a:lnTo>
                  <a:lnTo>
                    <a:pt x="280670" y="1308100"/>
                  </a:lnTo>
                  <a:lnTo>
                    <a:pt x="302260" y="1277620"/>
                  </a:lnTo>
                  <a:close/>
                </a:path>
                <a:path w="1226820" h="1682750">
                  <a:moveTo>
                    <a:pt x="341630" y="1223010"/>
                  </a:moveTo>
                  <a:lnTo>
                    <a:pt x="334010" y="1217930"/>
                  </a:lnTo>
                  <a:lnTo>
                    <a:pt x="311150" y="1248410"/>
                  </a:lnTo>
                  <a:lnTo>
                    <a:pt x="318770" y="1254760"/>
                  </a:lnTo>
                  <a:lnTo>
                    <a:pt x="341630" y="1223010"/>
                  </a:lnTo>
                  <a:close/>
                </a:path>
                <a:path w="1226820" h="1682750">
                  <a:moveTo>
                    <a:pt x="381000" y="1169670"/>
                  </a:moveTo>
                  <a:lnTo>
                    <a:pt x="373380" y="1164590"/>
                  </a:lnTo>
                  <a:lnTo>
                    <a:pt x="350520" y="1195070"/>
                  </a:lnTo>
                  <a:lnTo>
                    <a:pt x="358140" y="1200150"/>
                  </a:lnTo>
                  <a:lnTo>
                    <a:pt x="381000" y="1169670"/>
                  </a:lnTo>
                  <a:close/>
                </a:path>
                <a:path w="1226820" h="1682750">
                  <a:moveTo>
                    <a:pt x="419100" y="1116330"/>
                  </a:moveTo>
                  <a:lnTo>
                    <a:pt x="411480" y="1111250"/>
                  </a:lnTo>
                  <a:lnTo>
                    <a:pt x="389890" y="1141730"/>
                  </a:lnTo>
                  <a:lnTo>
                    <a:pt x="397510" y="1146810"/>
                  </a:lnTo>
                  <a:lnTo>
                    <a:pt x="419100" y="1116330"/>
                  </a:lnTo>
                  <a:close/>
                </a:path>
                <a:path w="1226820" h="1682750">
                  <a:moveTo>
                    <a:pt x="458470" y="1062990"/>
                  </a:moveTo>
                  <a:lnTo>
                    <a:pt x="450850" y="1056640"/>
                  </a:lnTo>
                  <a:lnTo>
                    <a:pt x="429260" y="1088390"/>
                  </a:lnTo>
                  <a:lnTo>
                    <a:pt x="436880" y="1093470"/>
                  </a:lnTo>
                  <a:lnTo>
                    <a:pt x="458470" y="1062990"/>
                  </a:lnTo>
                  <a:close/>
                </a:path>
                <a:path w="1226820" h="1682750">
                  <a:moveTo>
                    <a:pt x="497840" y="1009650"/>
                  </a:moveTo>
                  <a:lnTo>
                    <a:pt x="488950" y="1003300"/>
                  </a:lnTo>
                  <a:lnTo>
                    <a:pt x="467360" y="1033780"/>
                  </a:lnTo>
                  <a:lnTo>
                    <a:pt x="474980" y="1040130"/>
                  </a:lnTo>
                  <a:lnTo>
                    <a:pt x="497840" y="1009650"/>
                  </a:lnTo>
                  <a:close/>
                </a:path>
                <a:path w="1226820" h="1682750">
                  <a:moveTo>
                    <a:pt x="535940" y="956310"/>
                  </a:moveTo>
                  <a:lnTo>
                    <a:pt x="528320" y="949960"/>
                  </a:lnTo>
                  <a:lnTo>
                    <a:pt x="506730" y="980440"/>
                  </a:lnTo>
                  <a:lnTo>
                    <a:pt x="514350" y="986790"/>
                  </a:lnTo>
                  <a:lnTo>
                    <a:pt x="535940" y="956310"/>
                  </a:lnTo>
                  <a:close/>
                </a:path>
                <a:path w="1226820" h="1682750">
                  <a:moveTo>
                    <a:pt x="575310" y="901700"/>
                  </a:moveTo>
                  <a:lnTo>
                    <a:pt x="567690" y="896620"/>
                  </a:lnTo>
                  <a:lnTo>
                    <a:pt x="544830" y="927100"/>
                  </a:lnTo>
                  <a:lnTo>
                    <a:pt x="552450" y="932180"/>
                  </a:lnTo>
                  <a:lnTo>
                    <a:pt x="575310" y="901700"/>
                  </a:lnTo>
                  <a:close/>
                </a:path>
                <a:path w="1226820" h="1682750">
                  <a:moveTo>
                    <a:pt x="614680" y="848360"/>
                  </a:moveTo>
                  <a:lnTo>
                    <a:pt x="607060" y="843280"/>
                  </a:lnTo>
                  <a:lnTo>
                    <a:pt x="584200" y="873760"/>
                  </a:lnTo>
                  <a:lnTo>
                    <a:pt x="591820" y="878840"/>
                  </a:lnTo>
                  <a:lnTo>
                    <a:pt x="614680" y="848360"/>
                  </a:lnTo>
                  <a:close/>
                </a:path>
                <a:path w="1226820" h="1682750">
                  <a:moveTo>
                    <a:pt x="652780" y="795020"/>
                  </a:moveTo>
                  <a:lnTo>
                    <a:pt x="645160" y="789940"/>
                  </a:lnTo>
                  <a:lnTo>
                    <a:pt x="623570" y="820420"/>
                  </a:lnTo>
                  <a:lnTo>
                    <a:pt x="631190" y="825500"/>
                  </a:lnTo>
                  <a:lnTo>
                    <a:pt x="652780" y="795020"/>
                  </a:lnTo>
                  <a:close/>
                </a:path>
                <a:path w="1226820" h="1682750">
                  <a:moveTo>
                    <a:pt x="692150" y="741680"/>
                  </a:moveTo>
                  <a:lnTo>
                    <a:pt x="684530" y="735330"/>
                  </a:lnTo>
                  <a:lnTo>
                    <a:pt x="662940" y="765810"/>
                  </a:lnTo>
                  <a:lnTo>
                    <a:pt x="670560" y="772160"/>
                  </a:lnTo>
                  <a:lnTo>
                    <a:pt x="692150" y="741680"/>
                  </a:lnTo>
                  <a:close/>
                </a:path>
                <a:path w="1226820" h="1682750">
                  <a:moveTo>
                    <a:pt x="731520" y="688340"/>
                  </a:moveTo>
                  <a:lnTo>
                    <a:pt x="723900" y="681990"/>
                  </a:lnTo>
                  <a:lnTo>
                    <a:pt x="701040" y="712470"/>
                  </a:lnTo>
                  <a:lnTo>
                    <a:pt x="708660" y="718820"/>
                  </a:lnTo>
                  <a:lnTo>
                    <a:pt x="731520" y="688340"/>
                  </a:lnTo>
                  <a:close/>
                </a:path>
                <a:path w="1226820" h="1682750">
                  <a:moveTo>
                    <a:pt x="769620" y="633730"/>
                  </a:moveTo>
                  <a:lnTo>
                    <a:pt x="762000" y="628650"/>
                  </a:lnTo>
                  <a:lnTo>
                    <a:pt x="740410" y="659130"/>
                  </a:lnTo>
                  <a:lnTo>
                    <a:pt x="748030" y="664210"/>
                  </a:lnTo>
                  <a:lnTo>
                    <a:pt x="769620" y="633730"/>
                  </a:lnTo>
                  <a:close/>
                </a:path>
                <a:path w="1226820" h="1682750">
                  <a:moveTo>
                    <a:pt x="808990" y="580402"/>
                  </a:moveTo>
                  <a:lnTo>
                    <a:pt x="801370" y="575310"/>
                  </a:lnTo>
                  <a:lnTo>
                    <a:pt x="778510" y="605790"/>
                  </a:lnTo>
                  <a:lnTo>
                    <a:pt x="786130" y="610870"/>
                  </a:lnTo>
                  <a:lnTo>
                    <a:pt x="808990" y="580402"/>
                  </a:lnTo>
                  <a:close/>
                </a:path>
                <a:path w="1226820" h="1682750">
                  <a:moveTo>
                    <a:pt x="848360" y="527050"/>
                  </a:moveTo>
                  <a:lnTo>
                    <a:pt x="840740" y="521970"/>
                  </a:lnTo>
                  <a:lnTo>
                    <a:pt x="817880" y="552450"/>
                  </a:lnTo>
                  <a:lnTo>
                    <a:pt x="825500" y="557530"/>
                  </a:lnTo>
                  <a:lnTo>
                    <a:pt x="848360" y="527050"/>
                  </a:lnTo>
                  <a:close/>
                </a:path>
                <a:path w="1226820" h="1682750">
                  <a:moveTo>
                    <a:pt x="886460" y="473710"/>
                  </a:moveTo>
                  <a:lnTo>
                    <a:pt x="878840" y="467360"/>
                  </a:lnTo>
                  <a:lnTo>
                    <a:pt x="857250" y="499110"/>
                  </a:lnTo>
                  <a:lnTo>
                    <a:pt x="864870" y="504190"/>
                  </a:lnTo>
                  <a:lnTo>
                    <a:pt x="886460" y="473710"/>
                  </a:lnTo>
                  <a:close/>
                </a:path>
                <a:path w="1226820" h="1682750">
                  <a:moveTo>
                    <a:pt x="925830" y="420370"/>
                  </a:moveTo>
                  <a:lnTo>
                    <a:pt x="918210" y="414020"/>
                  </a:lnTo>
                  <a:lnTo>
                    <a:pt x="896620" y="444500"/>
                  </a:lnTo>
                  <a:lnTo>
                    <a:pt x="902970" y="450850"/>
                  </a:lnTo>
                  <a:lnTo>
                    <a:pt x="925830" y="420370"/>
                  </a:lnTo>
                  <a:close/>
                </a:path>
                <a:path w="1226820" h="1682750">
                  <a:moveTo>
                    <a:pt x="965200" y="365760"/>
                  </a:moveTo>
                  <a:lnTo>
                    <a:pt x="957580" y="360680"/>
                  </a:lnTo>
                  <a:lnTo>
                    <a:pt x="934720" y="391160"/>
                  </a:lnTo>
                  <a:lnTo>
                    <a:pt x="942340" y="397510"/>
                  </a:lnTo>
                  <a:lnTo>
                    <a:pt x="965200" y="365760"/>
                  </a:lnTo>
                  <a:close/>
                </a:path>
                <a:path w="1226820" h="1682750">
                  <a:moveTo>
                    <a:pt x="1003300" y="312420"/>
                  </a:moveTo>
                  <a:lnTo>
                    <a:pt x="995680" y="307340"/>
                  </a:lnTo>
                  <a:lnTo>
                    <a:pt x="974090" y="337820"/>
                  </a:lnTo>
                  <a:lnTo>
                    <a:pt x="981710" y="342900"/>
                  </a:lnTo>
                  <a:lnTo>
                    <a:pt x="1003300" y="312420"/>
                  </a:lnTo>
                  <a:close/>
                </a:path>
                <a:path w="1226820" h="1682750">
                  <a:moveTo>
                    <a:pt x="1042670" y="259080"/>
                  </a:moveTo>
                  <a:lnTo>
                    <a:pt x="1035050" y="254000"/>
                  </a:lnTo>
                  <a:lnTo>
                    <a:pt x="1012190" y="284480"/>
                  </a:lnTo>
                  <a:lnTo>
                    <a:pt x="1019810" y="289560"/>
                  </a:lnTo>
                  <a:lnTo>
                    <a:pt x="1042670" y="259080"/>
                  </a:lnTo>
                  <a:close/>
                </a:path>
                <a:path w="1226820" h="1682750">
                  <a:moveTo>
                    <a:pt x="1082040" y="205740"/>
                  </a:moveTo>
                  <a:lnTo>
                    <a:pt x="1074420" y="200660"/>
                  </a:lnTo>
                  <a:lnTo>
                    <a:pt x="1051560" y="231140"/>
                  </a:lnTo>
                  <a:lnTo>
                    <a:pt x="1059180" y="236220"/>
                  </a:lnTo>
                  <a:lnTo>
                    <a:pt x="1082040" y="205740"/>
                  </a:lnTo>
                  <a:close/>
                </a:path>
                <a:path w="1226820" h="1682750">
                  <a:moveTo>
                    <a:pt x="1120140" y="152400"/>
                  </a:moveTo>
                  <a:lnTo>
                    <a:pt x="1112520" y="146050"/>
                  </a:lnTo>
                  <a:lnTo>
                    <a:pt x="1090930" y="176530"/>
                  </a:lnTo>
                  <a:lnTo>
                    <a:pt x="1098550" y="182880"/>
                  </a:lnTo>
                  <a:lnTo>
                    <a:pt x="1120140" y="152400"/>
                  </a:lnTo>
                  <a:close/>
                </a:path>
                <a:path w="1226820" h="1682750">
                  <a:moveTo>
                    <a:pt x="1159510" y="99060"/>
                  </a:moveTo>
                  <a:lnTo>
                    <a:pt x="1151890" y="92710"/>
                  </a:lnTo>
                  <a:lnTo>
                    <a:pt x="1129030" y="123190"/>
                  </a:lnTo>
                  <a:lnTo>
                    <a:pt x="1136650" y="129540"/>
                  </a:lnTo>
                  <a:lnTo>
                    <a:pt x="1159510" y="99060"/>
                  </a:lnTo>
                  <a:close/>
                </a:path>
                <a:path w="1226820" h="1682750">
                  <a:moveTo>
                    <a:pt x="1198880" y="44450"/>
                  </a:moveTo>
                  <a:lnTo>
                    <a:pt x="1191260" y="39370"/>
                  </a:lnTo>
                  <a:lnTo>
                    <a:pt x="1168400" y="69850"/>
                  </a:lnTo>
                  <a:lnTo>
                    <a:pt x="1176020" y="74930"/>
                  </a:lnTo>
                  <a:lnTo>
                    <a:pt x="1198880" y="44450"/>
                  </a:lnTo>
                  <a:close/>
                </a:path>
                <a:path w="1226820" h="1682750">
                  <a:moveTo>
                    <a:pt x="1226820" y="6350"/>
                  </a:moveTo>
                  <a:lnTo>
                    <a:pt x="1223010" y="2540"/>
                  </a:lnTo>
                  <a:lnTo>
                    <a:pt x="1219200" y="0"/>
                  </a:lnTo>
                  <a:lnTo>
                    <a:pt x="1207770" y="16510"/>
                  </a:lnTo>
                  <a:lnTo>
                    <a:pt x="1215390" y="21590"/>
                  </a:lnTo>
                  <a:lnTo>
                    <a:pt x="1226820" y="6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63190" y="4633595"/>
              <a:ext cx="1809750" cy="0"/>
            </a:xfrm>
            <a:custGeom>
              <a:avLst/>
              <a:gdLst/>
              <a:ahLst/>
              <a:cxnLst/>
              <a:rect l="l" t="t" r="r" b="b"/>
              <a:pathLst>
                <a:path w="1809750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ln w="888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95800" y="4634229"/>
              <a:ext cx="1527810" cy="1678939"/>
            </a:xfrm>
            <a:custGeom>
              <a:avLst/>
              <a:gdLst/>
              <a:ahLst/>
              <a:cxnLst/>
              <a:rect l="l" t="t" r="r" b="b"/>
              <a:pathLst>
                <a:path w="1527810" h="1678939">
                  <a:moveTo>
                    <a:pt x="33020" y="27940"/>
                  </a:moveTo>
                  <a:lnTo>
                    <a:pt x="7620" y="0"/>
                  </a:lnTo>
                  <a:lnTo>
                    <a:pt x="0" y="6350"/>
                  </a:lnTo>
                  <a:lnTo>
                    <a:pt x="26670" y="35560"/>
                  </a:lnTo>
                  <a:lnTo>
                    <a:pt x="33020" y="27940"/>
                  </a:lnTo>
                  <a:close/>
                </a:path>
                <a:path w="1527810" h="1678939">
                  <a:moveTo>
                    <a:pt x="77470" y="77470"/>
                  </a:moveTo>
                  <a:lnTo>
                    <a:pt x="52070" y="49530"/>
                  </a:lnTo>
                  <a:lnTo>
                    <a:pt x="45720" y="55880"/>
                  </a:lnTo>
                  <a:lnTo>
                    <a:pt x="71120" y="83820"/>
                  </a:lnTo>
                  <a:lnTo>
                    <a:pt x="77470" y="77470"/>
                  </a:lnTo>
                  <a:close/>
                </a:path>
                <a:path w="1527810" h="1678939">
                  <a:moveTo>
                    <a:pt x="121920" y="127000"/>
                  </a:moveTo>
                  <a:lnTo>
                    <a:pt x="96520" y="99060"/>
                  </a:lnTo>
                  <a:lnTo>
                    <a:pt x="90170" y="105410"/>
                  </a:lnTo>
                  <a:lnTo>
                    <a:pt x="115570" y="133350"/>
                  </a:lnTo>
                  <a:lnTo>
                    <a:pt x="121920" y="127000"/>
                  </a:lnTo>
                  <a:close/>
                </a:path>
                <a:path w="1527810" h="1678939">
                  <a:moveTo>
                    <a:pt x="166370" y="175260"/>
                  </a:moveTo>
                  <a:lnTo>
                    <a:pt x="140970" y="147320"/>
                  </a:lnTo>
                  <a:lnTo>
                    <a:pt x="134620" y="153670"/>
                  </a:lnTo>
                  <a:lnTo>
                    <a:pt x="160020" y="181610"/>
                  </a:lnTo>
                  <a:lnTo>
                    <a:pt x="166370" y="175260"/>
                  </a:lnTo>
                  <a:close/>
                </a:path>
                <a:path w="1527810" h="1678939">
                  <a:moveTo>
                    <a:pt x="210820" y="224790"/>
                  </a:moveTo>
                  <a:lnTo>
                    <a:pt x="185420" y="196850"/>
                  </a:lnTo>
                  <a:lnTo>
                    <a:pt x="179070" y="203200"/>
                  </a:lnTo>
                  <a:lnTo>
                    <a:pt x="204470" y="231140"/>
                  </a:lnTo>
                  <a:lnTo>
                    <a:pt x="210820" y="224790"/>
                  </a:lnTo>
                  <a:close/>
                </a:path>
                <a:path w="1527810" h="1678939">
                  <a:moveTo>
                    <a:pt x="255270" y="273050"/>
                  </a:moveTo>
                  <a:lnTo>
                    <a:pt x="229870" y="245110"/>
                  </a:lnTo>
                  <a:lnTo>
                    <a:pt x="223520" y="251460"/>
                  </a:lnTo>
                  <a:lnTo>
                    <a:pt x="248920" y="279400"/>
                  </a:lnTo>
                  <a:lnTo>
                    <a:pt x="255270" y="273050"/>
                  </a:lnTo>
                  <a:close/>
                </a:path>
                <a:path w="1527810" h="1678939">
                  <a:moveTo>
                    <a:pt x="300990" y="322580"/>
                  </a:moveTo>
                  <a:lnTo>
                    <a:pt x="274320" y="294640"/>
                  </a:lnTo>
                  <a:lnTo>
                    <a:pt x="267970" y="300990"/>
                  </a:lnTo>
                  <a:lnTo>
                    <a:pt x="293370" y="328930"/>
                  </a:lnTo>
                  <a:lnTo>
                    <a:pt x="300990" y="322580"/>
                  </a:lnTo>
                  <a:close/>
                </a:path>
                <a:path w="1527810" h="1678939">
                  <a:moveTo>
                    <a:pt x="345440" y="372110"/>
                  </a:moveTo>
                  <a:lnTo>
                    <a:pt x="320040" y="342900"/>
                  </a:lnTo>
                  <a:lnTo>
                    <a:pt x="312420" y="350520"/>
                  </a:lnTo>
                  <a:lnTo>
                    <a:pt x="337820" y="378460"/>
                  </a:lnTo>
                  <a:lnTo>
                    <a:pt x="345440" y="372110"/>
                  </a:lnTo>
                  <a:close/>
                </a:path>
                <a:path w="1527810" h="1678939">
                  <a:moveTo>
                    <a:pt x="389890" y="420370"/>
                  </a:moveTo>
                  <a:lnTo>
                    <a:pt x="364490" y="392430"/>
                  </a:lnTo>
                  <a:lnTo>
                    <a:pt x="356870" y="398780"/>
                  </a:lnTo>
                  <a:lnTo>
                    <a:pt x="382270" y="426720"/>
                  </a:lnTo>
                  <a:lnTo>
                    <a:pt x="389890" y="420370"/>
                  </a:lnTo>
                  <a:close/>
                </a:path>
                <a:path w="1527810" h="1678939">
                  <a:moveTo>
                    <a:pt x="434340" y="469900"/>
                  </a:moveTo>
                  <a:lnTo>
                    <a:pt x="408940" y="441960"/>
                  </a:lnTo>
                  <a:lnTo>
                    <a:pt x="401320" y="448310"/>
                  </a:lnTo>
                  <a:lnTo>
                    <a:pt x="426720" y="476250"/>
                  </a:lnTo>
                  <a:lnTo>
                    <a:pt x="434340" y="469900"/>
                  </a:lnTo>
                  <a:close/>
                </a:path>
                <a:path w="1527810" h="1678939">
                  <a:moveTo>
                    <a:pt x="478790" y="519430"/>
                  </a:moveTo>
                  <a:lnTo>
                    <a:pt x="453390" y="490220"/>
                  </a:lnTo>
                  <a:lnTo>
                    <a:pt x="445770" y="496570"/>
                  </a:lnTo>
                  <a:lnTo>
                    <a:pt x="472440" y="524510"/>
                  </a:lnTo>
                  <a:lnTo>
                    <a:pt x="478790" y="519430"/>
                  </a:lnTo>
                  <a:close/>
                </a:path>
                <a:path w="1527810" h="1678939">
                  <a:moveTo>
                    <a:pt x="523240" y="567690"/>
                  </a:moveTo>
                  <a:lnTo>
                    <a:pt x="497840" y="539750"/>
                  </a:lnTo>
                  <a:lnTo>
                    <a:pt x="491490" y="546100"/>
                  </a:lnTo>
                  <a:lnTo>
                    <a:pt x="515620" y="574040"/>
                  </a:lnTo>
                  <a:lnTo>
                    <a:pt x="523240" y="567690"/>
                  </a:lnTo>
                  <a:close/>
                </a:path>
                <a:path w="1527810" h="1678939">
                  <a:moveTo>
                    <a:pt x="567690" y="617220"/>
                  </a:moveTo>
                  <a:lnTo>
                    <a:pt x="542290" y="589292"/>
                  </a:lnTo>
                  <a:lnTo>
                    <a:pt x="535940" y="595642"/>
                  </a:lnTo>
                  <a:lnTo>
                    <a:pt x="561340" y="622300"/>
                  </a:lnTo>
                  <a:lnTo>
                    <a:pt x="567690" y="617220"/>
                  </a:lnTo>
                  <a:close/>
                </a:path>
                <a:path w="1527810" h="1678939">
                  <a:moveTo>
                    <a:pt x="612140" y="665480"/>
                  </a:moveTo>
                  <a:lnTo>
                    <a:pt x="586740" y="637540"/>
                  </a:lnTo>
                  <a:lnTo>
                    <a:pt x="580390" y="643890"/>
                  </a:lnTo>
                  <a:lnTo>
                    <a:pt x="605790" y="671830"/>
                  </a:lnTo>
                  <a:lnTo>
                    <a:pt x="612140" y="665480"/>
                  </a:lnTo>
                  <a:close/>
                </a:path>
                <a:path w="1527810" h="1678939">
                  <a:moveTo>
                    <a:pt x="656590" y="715010"/>
                  </a:moveTo>
                  <a:lnTo>
                    <a:pt x="631190" y="687070"/>
                  </a:lnTo>
                  <a:lnTo>
                    <a:pt x="624840" y="693420"/>
                  </a:lnTo>
                  <a:lnTo>
                    <a:pt x="650240" y="721360"/>
                  </a:lnTo>
                  <a:lnTo>
                    <a:pt x="656590" y="715010"/>
                  </a:lnTo>
                  <a:close/>
                </a:path>
                <a:path w="1527810" h="1678939">
                  <a:moveTo>
                    <a:pt x="701040" y="763270"/>
                  </a:moveTo>
                  <a:lnTo>
                    <a:pt x="675640" y="735330"/>
                  </a:lnTo>
                  <a:lnTo>
                    <a:pt x="669290" y="741680"/>
                  </a:lnTo>
                  <a:lnTo>
                    <a:pt x="694690" y="769620"/>
                  </a:lnTo>
                  <a:lnTo>
                    <a:pt x="701040" y="763270"/>
                  </a:lnTo>
                  <a:close/>
                </a:path>
                <a:path w="1527810" h="1678939">
                  <a:moveTo>
                    <a:pt x="745490" y="812800"/>
                  </a:moveTo>
                  <a:lnTo>
                    <a:pt x="720090" y="784860"/>
                  </a:lnTo>
                  <a:lnTo>
                    <a:pt x="713740" y="791210"/>
                  </a:lnTo>
                  <a:lnTo>
                    <a:pt x="739140" y="819150"/>
                  </a:lnTo>
                  <a:lnTo>
                    <a:pt x="745490" y="812800"/>
                  </a:lnTo>
                  <a:close/>
                </a:path>
                <a:path w="1527810" h="1678939">
                  <a:moveTo>
                    <a:pt x="789940" y="862330"/>
                  </a:moveTo>
                  <a:lnTo>
                    <a:pt x="765810" y="834390"/>
                  </a:lnTo>
                  <a:lnTo>
                    <a:pt x="758190" y="840740"/>
                  </a:lnTo>
                  <a:lnTo>
                    <a:pt x="783590" y="867410"/>
                  </a:lnTo>
                  <a:lnTo>
                    <a:pt x="789940" y="862330"/>
                  </a:lnTo>
                  <a:close/>
                </a:path>
                <a:path w="1527810" h="1678939">
                  <a:moveTo>
                    <a:pt x="835660" y="910590"/>
                  </a:moveTo>
                  <a:lnTo>
                    <a:pt x="808990" y="882650"/>
                  </a:lnTo>
                  <a:lnTo>
                    <a:pt x="802640" y="889000"/>
                  </a:lnTo>
                  <a:lnTo>
                    <a:pt x="828040" y="916940"/>
                  </a:lnTo>
                  <a:lnTo>
                    <a:pt x="835660" y="910590"/>
                  </a:lnTo>
                  <a:close/>
                </a:path>
                <a:path w="1527810" h="1678939">
                  <a:moveTo>
                    <a:pt x="880110" y="960120"/>
                  </a:moveTo>
                  <a:lnTo>
                    <a:pt x="854710" y="932180"/>
                  </a:lnTo>
                  <a:lnTo>
                    <a:pt x="847090" y="938530"/>
                  </a:lnTo>
                  <a:lnTo>
                    <a:pt x="872490" y="966470"/>
                  </a:lnTo>
                  <a:lnTo>
                    <a:pt x="880110" y="960120"/>
                  </a:lnTo>
                  <a:close/>
                </a:path>
                <a:path w="1527810" h="1678939">
                  <a:moveTo>
                    <a:pt x="924560" y="1008380"/>
                  </a:moveTo>
                  <a:lnTo>
                    <a:pt x="899160" y="980440"/>
                  </a:lnTo>
                  <a:lnTo>
                    <a:pt x="891540" y="986790"/>
                  </a:lnTo>
                  <a:lnTo>
                    <a:pt x="916940" y="1014730"/>
                  </a:lnTo>
                  <a:lnTo>
                    <a:pt x="924560" y="1008380"/>
                  </a:lnTo>
                  <a:close/>
                </a:path>
                <a:path w="1527810" h="1678939">
                  <a:moveTo>
                    <a:pt x="969010" y="1057910"/>
                  </a:moveTo>
                  <a:lnTo>
                    <a:pt x="943610" y="1029970"/>
                  </a:lnTo>
                  <a:lnTo>
                    <a:pt x="935990" y="1036320"/>
                  </a:lnTo>
                  <a:lnTo>
                    <a:pt x="961390" y="1064260"/>
                  </a:lnTo>
                  <a:lnTo>
                    <a:pt x="969010" y="1057910"/>
                  </a:lnTo>
                  <a:close/>
                </a:path>
                <a:path w="1527810" h="1678939">
                  <a:moveTo>
                    <a:pt x="1013460" y="1107440"/>
                  </a:moveTo>
                  <a:lnTo>
                    <a:pt x="988060" y="1079500"/>
                  </a:lnTo>
                  <a:lnTo>
                    <a:pt x="980440" y="1084580"/>
                  </a:lnTo>
                  <a:lnTo>
                    <a:pt x="1005840" y="1113790"/>
                  </a:lnTo>
                  <a:lnTo>
                    <a:pt x="1013460" y="1107440"/>
                  </a:lnTo>
                  <a:close/>
                </a:path>
                <a:path w="1527810" h="1678939">
                  <a:moveTo>
                    <a:pt x="1057910" y="1155700"/>
                  </a:moveTo>
                  <a:lnTo>
                    <a:pt x="1032510" y="1127760"/>
                  </a:lnTo>
                  <a:lnTo>
                    <a:pt x="1024890" y="1134110"/>
                  </a:lnTo>
                  <a:lnTo>
                    <a:pt x="1051560" y="1162050"/>
                  </a:lnTo>
                  <a:lnTo>
                    <a:pt x="1057910" y="1155700"/>
                  </a:lnTo>
                  <a:close/>
                </a:path>
                <a:path w="1527810" h="1678939">
                  <a:moveTo>
                    <a:pt x="1102360" y="1205230"/>
                  </a:moveTo>
                  <a:lnTo>
                    <a:pt x="1076960" y="1177290"/>
                  </a:lnTo>
                  <a:lnTo>
                    <a:pt x="1070610" y="1183640"/>
                  </a:lnTo>
                  <a:lnTo>
                    <a:pt x="1094740" y="1211580"/>
                  </a:lnTo>
                  <a:lnTo>
                    <a:pt x="1102360" y="1205230"/>
                  </a:lnTo>
                  <a:close/>
                </a:path>
                <a:path w="1527810" h="1678939">
                  <a:moveTo>
                    <a:pt x="1146810" y="1253490"/>
                  </a:moveTo>
                  <a:lnTo>
                    <a:pt x="1121410" y="1225550"/>
                  </a:lnTo>
                  <a:lnTo>
                    <a:pt x="1115060" y="1231900"/>
                  </a:lnTo>
                  <a:lnTo>
                    <a:pt x="1140460" y="1259840"/>
                  </a:lnTo>
                  <a:lnTo>
                    <a:pt x="1146810" y="1253490"/>
                  </a:lnTo>
                  <a:close/>
                </a:path>
                <a:path w="1527810" h="1678939">
                  <a:moveTo>
                    <a:pt x="1191260" y="1303020"/>
                  </a:moveTo>
                  <a:lnTo>
                    <a:pt x="1165860" y="1275080"/>
                  </a:lnTo>
                  <a:lnTo>
                    <a:pt x="1159510" y="1281430"/>
                  </a:lnTo>
                  <a:lnTo>
                    <a:pt x="1184910" y="1309370"/>
                  </a:lnTo>
                  <a:lnTo>
                    <a:pt x="1191260" y="1303020"/>
                  </a:lnTo>
                  <a:close/>
                </a:path>
                <a:path w="1527810" h="1678939">
                  <a:moveTo>
                    <a:pt x="1235710" y="1351280"/>
                  </a:moveTo>
                  <a:lnTo>
                    <a:pt x="1210310" y="1324610"/>
                  </a:lnTo>
                  <a:lnTo>
                    <a:pt x="1203960" y="1329690"/>
                  </a:lnTo>
                  <a:lnTo>
                    <a:pt x="1229360" y="1358900"/>
                  </a:lnTo>
                  <a:lnTo>
                    <a:pt x="1235710" y="1351280"/>
                  </a:lnTo>
                  <a:close/>
                </a:path>
                <a:path w="1527810" h="1678939">
                  <a:moveTo>
                    <a:pt x="1280160" y="1400810"/>
                  </a:moveTo>
                  <a:lnTo>
                    <a:pt x="1254760" y="1372870"/>
                  </a:lnTo>
                  <a:lnTo>
                    <a:pt x="1248410" y="1379220"/>
                  </a:lnTo>
                  <a:lnTo>
                    <a:pt x="1273810" y="1407160"/>
                  </a:lnTo>
                  <a:lnTo>
                    <a:pt x="1280160" y="1400810"/>
                  </a:lnTo>
                  <a:close/>
                </a:path>
                <a:path w="1527810" h="1678939">
                  <a:moveTo>
                    <a:pt x="1324610" y="1450340"/>
                  </a:moveTo>
                  <a:lnTo>
                    <a:pt x="1299210" y="1422400"/>
                  </a:lnTo>
                  <a:lnTo>
                    <a:pt x="1292860" y="1428750"/>
                  </a:lnTo>
                  <a:lnTo>
                    <a:pt x="1318260" y="1456690"/>
                  </a:lnTo>
                  <a:lnTo>
                    <a:pt x="1324610" y="1450340"/>
                  </a:lnTo>
                  <a:close/>
                </a:path>
                <a:path w="1527810" h="1678939">
                  <a:moveTo>
                    <a:pt x="1369060" y="1498600"/>
                  </a:moveTo>
                  <a:lnTo>
                    <a:pt x="1344930" y="1470660"/>
                  </a:lnTo>
                  <a:lnTo>
                    <a:pt x="1337310" y="1477010"/>
                  </a:lnTo>
                  <a:lnTo>
                    <a:pt x="1362710" y="1504950"/>
                  </a:lnTo>
                  <a:lnTo>
                    <a:pt x="1369060" y="1498600"/>
                  </a:lnTo>
                  <a:close/>
                </a:path>
                <a:path w="1527810" h="1678939">
                  <a:moveTo>
                    <a:pt x="1414780" y="1548130"/>
                  </a:moveTo>
                  <a:lnTo>
                    <a:pt x="1389380" y="1520190"/>
                  </a:lnTo>
                  <a:lnTo>
                    <a:pt x="1381760" y="1526540"/>
                  </a:lnTo>
                  <a:lnTo>
                    <a:pt x="1407160" y="1554480"/>
                  </a:lnTo>
                  <a:lnTo>
                    <a:pt x="1414780" y="1548130"/>
                  </a:lnTo>
                  <a:close/>
                </a:path>
                <a:path w="1527810" h="1678939">
                  <a:moveTo>
                    <a:pt x="1459230" y="1596390"/>
                  </a:moveTo>
                  <a:lnTo>
                    <a:pt x="1433830" y="1568450"/>
                  </a:lnTo>
                  <a:lnTo>
                    <a:pt x="1426210" y="1574800"/>
                  </a:lnTo>
                  <a:lnTo>
                    <a:pt x="1451610" y="1604010"/>
                  </a:lnTo>
                  <a:lnTo>
                    <a:pt x="1459230" y="1596390"/>
                  </a:lnTo>
                  <a:close/>
                </a:path>
                <a:path w="1527810" h="1678939">
                  <a:moveTo>
                    <a:pt x="1503680" y="1645920"/>
                  </a:moveTo>
                  <a:lnTo>
                    <a:pt x="1478280" y="1617980"/>
                  </a:lnTo>
                  <a:lnTo>
                    <a:pt x="1470660" y="1624330"/>
                  </a:lnTo>
                  <a:lnTo>
                    <a:pt x="1496060" y="1652270"/>
                  </a:lnTo>
                  <a:lnTo>
                    <a:pt x="1503680" y="1645920"/>
                  </a:lnTo>
                  <a:close/>
                </a:path>
                <a:path w="1527810" h="1678939">
                  <a:moveTo>
                    <a:pt x="1527810" y="1672590"/>
                  </a:moveTo>
                  <a:lnTo>
                    <a:pt x="1522730" y="1667510"/>
                  </a:lnTo>
                  <a:lnTo>
                    <a:pt x="1515110" y="1673860"/>
                  </a:lnTo>
                  <a:lnTo>
                    <a:pt x="1521460" y="1678940"/>
                  </a:lnTo>
                  <a:lnTo>
                    <a:pt x="1527810" y="16725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09700" y="62852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574" y="2917"/>
                  </a:lnTo>
                  <a:lnTo>
                    <a:pt x="11430" y="10953"/>
                  </a:lnTo>
                  <a:lnTo>
                    <a:pt x="3095" y="23038"/>
                  </a:lnTo>
                  <a:lnTo>
                    <a:pt x="0" y="38100"/>
                  </a:lnTo>
                  <a:lnTo>
                    <a:pt x="3095" y="52625"/>
                  </a:lnTo>
                  <a:lnTo>
                    <a:pt x="11430" y="64770"/>
                  </a:lnTo>
                  <a:lnTo>
                    <a:pt x="23574" y="73104"/>
                  </a:lnTo>
                  <a:lnTo>
                    <a:pt x="38100" y="76200"/>
                  </a:lnTo>
                  <a:lnTo>
                    <a:pt x="53161" y="73104"/>
                  </a:lnTo>
                  <a:lnTo>
                    <a:pt x="65246" y="64770"/>
                  </a:lnTo>
                  <a:lnTo>
                    <a:pt x="73282" y="52625"/>
                  </a:lnTo>
                  <a:lnTo>
                    <a:pt x="76200" y="38100"/>
                  </a:lnTo>
                  <a:lnTo>
                    <a:pt x="73282" y="23038"/>
                  </a:lnTo>
                  <a:lnTo>
                    <a:pt x="65246" y="10953"/>
                  </a:lnTo>
                  <a:lnTo>
                    <a:pt x="53161" y="291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09700" y="62852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574" y="73104"/>
                  </a:lnTo>
                  <a:lnTo>
                    <a:pt x="11430" y="64770"/>
                  </a:lnTo>
                  <a:lnTo>
                    <a:pt x="3095" y="52625"/>
                  </a:lnTo>
                  <a:lnTo>
                    <a:pt x="0" y="38100"/>
                  </a:lnTo>
                  <a:lnTo>
                    <a:pt x="3095" y="23038"/>
                  </a:lnTo>
                  <a:lnTo>
                    <a:pt x="11430" y="10953"/>
                  </a:lnTo>
                  <a:lnTo>
                    <a:pt x="23574" y="2917"/>
                  </a:lnTo>
                  <a:lnTo>
                    <a:pt x="38100" y="0"/>
                  </a:lnTo>
                  <a:lnTo>
                    <a:pt x="53161" y="2917"/>
                  </a:lnTo>
                  <a:lnTo>
                    <a:pt x="65246" y="10953"/>
                  </a:lnTo>
                  <a:lnTo>
                    <a:pt x="73282" y="23038"/>
                  </a:lnTo>
                  <a:lnTo>
                    <a:pt x="76200" y="38100"/>
                  </a:lnTo>
                  <a:lnTo>
                    <a:pt x="73282" y="52625"/>
                  </a:lnTo>
                  <a:lnTo>
                    <a:pt x="65246" y="64770"/>
                  </a:lnTo>
                  <a:lnTo>
                    <a:pt x="53161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28900" y="45961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038" y="2917"/>
                  </a:lnTo>
                  <a:lnTo>
                    <a:pt x="10953" y="10953"/>
                  </a:lnTo>
                  <a:lnTo>
                    <a:pt x="2917" y="23038"/>
                  </a:lnTo>
                  <a:lnTo>
                    <a:pt x="0" y="38100"/>
                  </a:lnTo>
                  <a:lnTo>
                    <a:pt x="2917" y="52625"/>
                  </a:lnTo>
                  <a:lnTo>
                    <a:pt x="10953" y="64770"/>
                  </a:lnTo>
                  <a:lnTo>
                    <a:pt x="23038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69" y="64770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038"/>
                  </a:lnTo>
                  <a:lnTo>
                    <a:pt x="64770" y="10953"/>
                  </a:lnTo>
                  <a:lnTo>
                    <a:pt x="52625" y="291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28900" y="45961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104"/>
                  </a:lnTo>
                  <a:lnTo>
                    <a:pt x="10953" y="64770"/>
                  </a:lnTo>
                  <a:lnTo>
                    <a:pt x="2917" y="52625"/>
                  </a:lnTo>
                  <a:lnTo>
                    <a:pt x="0" y="38100"/>
                  </a:lnTo>
                  <a:lnTo>
                    <a:pt x="2917" y="23038"/>
                  </a:lnTo>
                  <a:lnTo>
                    <a:pt x="10953" y="10953"/>
                  </a:lnTo>
                  <a:lnTo>
                    <a:pt x="23038" y="2917"/>
                  </a:lnTo>
                  <a:lnTo>
                    <a:pt x="38100" y="0"/>
                  </a:lnTo>
                  <a:lnTo>
                    <a:pt x="52625" y="2917"/>
                  </a:lnTo>
                  <a:lnTo>
                    <a:pt x="64770" y="10953"/>
                  </a:lnTo>
                  <a:lnTo>
                    <a:pt x="73104" y="23038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69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57700" y="45834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038" y="2917"/>
                  </a:lnTo>
                  <a:lnTo>
                    <a:pt x="10953" y="10953"/>
                  </a:lnTo>
                  <a:lnTo>
                    <a:pt x="2917" y="23038"/>
                  </a:lnTo>
                  <a:lnTo>
                    <a:pt x="0" y="38100"/>
                  </a:lnTo>
                  <a:lnTo>
                    <a:pt x="2917" y="52625"/>
                  </a:lnTo>
                  <a:lnTo>
                    <a:pt x="10953" y="64770"/>
                  </a:lnTo>
                  <a:lnTo>
                    <a:pt x="23038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70" y="64770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038"/>
                  </a:lnTo>
                  <a:lnTo>
                    <a:pt x="64770" y="10953"/>
                  </a:lnTo>
                  <a:lnTo>
                    <a:pt x="52625" y="291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57700" y="45834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104"/>
                  </a:lnTo>
                  <a:lnTo>
                    <a:pt x="10953" y="64770"/>
                  </a:lnTo>
                  <a:lnTo>
                    <a:pt x="2917" y="52625"/>
                  </a:lnTo>
                  <a:lnTo>
                    <a:pt x="0" y="38100"/>
                  </a:lnTo>
                  <a:lnTo>
                    <a:pt x="2917" y="23038"/>
                  </a:lnTo>
                  <a:lnTo>
                    <a:pt x="10953" y="10953"/>
                  </a:lnTo>
                  <a:lnTo>
                    <a:pt x="23038" y="2917"/>
                  </a:lnTo>
                  <a:lnTo>
                    <a:pt x="38100" y="0"/>
                  </a:lnTo>
                  <a:lnTo>
                    <a:pt x="52625" y="2917"/>
                  </a:lnTo>
                  <a:lnTo>
                    <a:pt x="64770" y="10953"/>
                  </a:lnTo>
                  <a:lnTo>
                    <a:pt x="73104" y="23038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70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37640" y="5095239"/>
              <a:ext cx="4591050" cy="1225550"/>
            </a:xfrm>
            <a:custGeom>
              <a:avLst/>
              <a:gdLst/>
              <a:ahLst/>
              <a:cxnLst/>
              <a:rect l="l" t="t" r="r" b="b"/>
              <a:pathLst>
                <a:path w="4591050" h="1225550">
                  <a:moveTo>
                    <a:pt x="4591050" y="1203960"/>
                  </a:moveTo>
                  <a:lnTo>
                    <a:pt x="4196080" y="875030"/>
                  </a:lnTo>
                  <a:lnTo>
                    <a:pt x="3996690" y="717550"/>
                  </a:lnTo>
                  <a:lnTo>
                    <a:pt x="3797300" y="570230"/>
                  </a:lnTo>
                  <a:lnTo>
                    <a:pt x="3597910" y="435610"/>
                  </a:lnTo>
                  <a:lnTo>
                    <a:pt x="3596640" y="434340"/>
                  </a:lnTo>
                  <a:lnTo>
                    <a:pt x="3395980" y="314960"/>
                  </a:lnTo>
                  <a:lnTo>
                    <a:pt x="3394710" y="314960"/>
                  </a:lnTo>
                  <a:lnTo>
                    <a:pt x="3192780" y="214630"/>
                  </a:lnTo>
                  <a:lnTo>
                    <a:pt x="3191510" y="213360"/>
                  </a:lnTo>
                  <a:lnTo>
                    <a:pt x="3089910" y="171450"/>
                  </a:lnTo>
                  <a:lnTo>
                    <a:pt x="3088640" y="171450"/>
                  </a:lnTo>
                  <a:lnTo>
                    <a:pt x="2987040" y="134632"/>
                  </a:lnTo>
                  <a:lnTo>
                    <a:pt x="2985770" y="134632"/>
                  </a:lnTo>
                  <a:lnTo>
                    <a:pt x="2777490" y="76200"/>
                  </a:lnTo>
                  <a:lnTo>
                    <a:pt x="2776220" y="76200"/>
                  </a:lnTo>
                  <a:lnTo>
                    <a:pt x="2561590" y="34290"/>
                  </a:lnTo>
                  <a:lnTo>
                    <a:pt x="2560320" y="34290"/>
                  </a:lnTo>
                  <a:lnTo>
                    <a:pt x="2344420" y="8890"/>
                  </a:lnTo>
                  <a:lnTo>
                    <a:pt x="2343150" y="8890"/>
                  </a:lnTo>
                  <a:lnTo>
                    <a:pt x="2124710" y="0"/>
                  </a:lnTo>
                  <a:lnTo>
                    <a:pt x="1908810" y="8890"/>
                  </a:lnTo>
                  <a:lnTo>
                    <a:pt x="1697990" y="34290"/>
                  </a:lnTo>
                  <a:lnTo>
                    <a:pt x="1696720" y="34290"/>
                  </a:lnTo>
                  <a:lnTo>
                    <a:pt x="1494790" y="76200"/>
                  </a:lnTo>
                  <a:lnTo>
                    <a:pt x="1493520" y="76200"/>
                  </a:lnTo>
                  <a:lnTo>
                    <a:pt x="1301750" y="134632"/>
                  </a:lnTo>
                  <a:lnTo>
                    <a:pt x="1300480" y="134632"/>
                  </a:lnTo>
                  <a:lnTo>
                    <a:pt x="1207770" y="171450"/>
                  </a:lnTo>
                  <a:lnTo>
                    <a:pt x="1117600" y="214630"/>
                  </a:lnTo>
                  <a:lnTo>
                    <a:pt x="1029970" y="261620"/>
                  </a:lnTo>
                  <a:lnTo>
                    <a:pt x="1028700" y="262890"/>
                  </a:lnTo>
                  <a:lnTo>
                    <a:pt x="943610" y="314960"/>
                  </a:lnTo>
                  <a:lnTo>
                    <a:pt x="942340" y="316230"/>
                  </a:lnTo>
                  <a:lnTo>
                    <a:pt x="774700" y="435610"/>
                  </a:lnTo>
                  <a:lnTo>
                    <a:pt x="613410" y="570230"/>
                  </a:lnTo>
                  <a:lnTo>
                    <a:pt x="612140" y="571500"/>
                  </a:lnTo>
                  <a:lnTo>
                    <a:pt x="455930" y="718820"/>
                  </a:lnTo>
                  <a:lnTo>
                    <a:pt x="454660" y="718820"/>
                  </a:lnTo>
                  <a:lnTo>
                    <a:pt x="300990" y="876300"/>
                  </a:lnTo>
                  <a:lnTo>
                    <a:pt x="0" y="1205230"/>
                  </a:lnTo>
                  <a:lnTo>
                    <a:pt x="20320" y="1225550"/>
                  </a:lnTo>
                  <a:lnTo>
                    <a:pt x="322580" y="895350"/>
                  </a:lnTo>
                  <a:lnTo>
                    <a:pt x="474980" y="739140"/>
                  </a:lnTo>
                  <a:lnTo>
                    <a:pt x="632460" y="591820"/>
                  </a:lnTo>
                  <a:lnTo>
                    <a:pt x="631875" y="591248"/>
                  </a:lnTo>
                  <a:lnTo>
                    <a:pt x="791108" y="458343"/>
                  </a:lnTo>
                  <a:lnTo>
                    <a:pt x="791210" y="458470"/>
                  </a:lnTo>
                  <a:lnTo>
                    <a:pt x="958850" y="339090"/>
                  </a:lnTo>
                  <a:lnTo>
                    <a:pt x="958481" y="338543"/>
                  </a:lnTo>
                  <a:lnTo>
                    <a:pt x="1043940" y="287020"/>
                  </a:lnTo>
                  <a:lnTo>
                    <a:pt x="1043622" y="286512"/>
                  </a:lnTo>
                  <a:lnTo>
                    <a:pt x="1130071" y="239585"/>
                  </a:lnTo>
                  <a:lnTo>
                    <a:pt x="1130300" y="240030"/>
                  </a:lnTo>
                  <a:lnTo>
                    <a:pt x="1218984" y="197561"/>
                  </a:lnTo>
                  <a:lnTo>
                    <a:pt x="1219200" y="198120"/>
                  </a:lnTo>
                  <a:lnTo>
                    <a:pt x="1310640" y="161290"/>
                  </a:lnTo>
                  <a:lnTo>
                    <a:pt x="1310500" y="160959"/>
                  </a:lnTo>
                  <a:lnTo>
                    <a:pt x="1501140" y="104140"/>
                  </a:lnTo>
                  <a:lnTo>
                    <a:pt x="1501063" y="103898"/>
                  </a:lnTo>
                  <a:lnTo>
                    <a:pt x="1703070" y="62230"/>
                  </a:lnTo>
                  <a:lnTo>
                    <a:pt x="1703019" y="62090"/>
                  </a:lnTo>
                  <a:lnTo>
                    <a:pt x="1911350" y="36830"/>
                  </a:lnTo>
                  <a:lnTo>
                    <a:pt x="2124710" y="29210"/>
                  </a:lnTo>
                  <a:lnTo>
                    <a:pt x="2340610" y="36791"/>
                  </a:lnTo>
                  <a:lnTo>
                    <a:pt x="2556535" y="62090"/>
                  </a:lnTo>
                  <a:lnTo>
                    <a:pt x="2556510" y="62230"/>
                  </a:lnTo>
                  <a:lnTo>
                    <a:pt x="2769933" y="103911"/>
                  </a:lnTo>
                  <a:lnTo>
                    <a:pt x="2769870" y="104140"/>
                  </a:lnTo>
                  <a:lnTo>
                    <a:pt x="2976994" y="160985"/>
                  </a:lnTo>
                  <a:lnTo>
                    <a:pt x="2976880" y="161290"/>
                  </a:lnTo>
                  <a:lnTo>
                    <a:pt x="3078645" y="197739"/>
                  </a:lnTo>
                  <a:lnTo>
                    <a:pt x="3078480" y="198120"/>
                  </a:lnTo>
                  <a:lnTo>
                    <a:pt x="3180080" y="240030"/>
                  </a:lnTo>
                  <a:lnTo>
                    <a:pt x="3382010" y="340360"/>
                  </a:lnTo>
                  <a:lnTo>
                    <a:pt x="3382200" y="339966"/>
                  </a:lnTo>
                  <a:lnTo>
                    <a:pt x="3581755" y="457936"/>
                  </a:lnTo>
                  <a:lnTo>
                    <a:pt x="3581400" y="458470"/>
                  </a:lnTo>
                  <a:lnTo>
                    <a:pt x="3780790" y="593090"/>
                  </a:lnTo>
                  <a:lnTo>
                    <a:pt x="3980180" y="740410"/>
                  </a:lnTo>
                  <a:lnTo>
                    <a:pt x="4177550" y="896035"/>
                  </a:lnTo>
                  <a:lnTo>
                    <a:pt x="4177030" y="896620"/>
                  </a:lnTo>
                  <a:lnTo>
                    <a:pt x="4573270" y="1225550"/>
                  </a:lnTo>
                  <a:lnTo>
                    <a:pt x="4582160" y="1215390"/>
                  </a:lnTo>
                  <a:lnTo>
                    <a:pt x="4591050" y="120396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8320" y="5675630"/>
              <a:ext cx="120650" cy="1308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436370" y="5749290"/>
              <a:ext cx="433070" cy="570230"/>
            </a:xfrm>
            <a:custGeom>
              <a:avLst/>
              <a:gdLst/>
              <a:ahLst/>
              <a:cxnLst/>
              <a:rect l="l" t="t" r="r" b="b"/>
              <a:pathLst>
                <a:path w="433069" h="570229">
                  <a:moveTo>
                    <a:pt x="410210" y="0"/>
                  </a:moveTo>
                  <a:lnTo>
                    <a:pt x="0" y="552450"/>
                  </a:lnTo>
                  <a:lnTo>
                    <a:pt x="22860" y="570230"/>
                  </a:lnTo>
                  <a:lnTo>
                    <a:pt x="433069" y="16510"/>
                  </a:lnTo>
                  <a:lnTo>
                    <a:pt x="41021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73799" y="6577330"/>
              <a:ext cx="127000" cy="12827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028690" y="6325870"/>
              <a:ext cx="311150" cy="316230"/>
            </a:xfrm>
            <a:custGeom>
              <a:avLst/>
              <a:gdLst/>
              <a:ahLst/>
              <a:cxnLst/>
              <a:rect l="l" t="t" r="r" b="b"/>
              <a:pathLst>
                <a:path w="311150" h="316229">
                  <a:moveTo>
                    <a:pt x="20320" y="0"/>
                  </a:moveTo>
                  <a:lnTo>
                    <a:pt x="0" y="20319"/>
                  </a:lnTo>
                  <a:lnTo>
                    <a:pt x="290830" y="316229"/>
                  </a:lnTo>
                  <a:lnTo>
                    <a:pt x="311150" y="297179"/>
                  </a:lnTo>
                  <a:lnTo>
                    <a:pt x="2032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77027" y="6253887"/>
              <a:ext cx="85544" cy="855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9930">
              <a:spcBef>
                <a:spcPts val="100"/>
              </a:spcBef>
            </a:pPr>
            <a:r>
              <a:rPr dirty="0"/>
              <a:t>Desenhando</a:t>
            </a:r>
            <a:r>
              <a:rPr spc="-70" dirty="0"/>
              <a:t> </a:t>
            </a:r>
            <a:r>
              <a:rPr dirty="0"/>
              <a:t>Curvas</a:t>
            </a:r>
            <a:r>
              <a:rPr spc="-50" dirty="0"/>
              <a:t> </a:t>
            </a:r>
            <a:r>
              <a:rPr spc="-10" dirty="0"/>
              <a:t>Bézier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70" y="161670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70" y="2490470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8670" y="430402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58670" y="522350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685800" y="1523778"/>
            <a:ext cx="10259060" cy="3699731"/>
          </a:xfrm>
          <a:prstGeom prst="rect">
            <a:avLst/>
          </a:prstGeom>
        </p:spPr>
        <p:txBody>
          <a:bodyPr vert="horz" wrap="square" lIns="0" tIns="52070" rIns="0" bIns="0" rtlCol="0">
            <a:spAutoFit/>
          </a:bodyPr>
          <a:lstStyle/>
          <a:p>
            <a:pPr marL="38100" marR="574675">
              <a:spcBef>
                <a:spcPts val="100"/>
              </a:spcBef>
            </a:pPr>
            <a:r>
              <a:rPr dirty="0">
                <a:solidFill>
                  <a:srgbClr val="002454"/>
                </a:solidFill>
              </a:rPr>
              <a:t>Curva</a:t>
            </a:r>
            <a:r>
              <a:rPr spc="-65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normalmente</a:t>
            </a:r>
            <a:r>
              <a:rPr spc="-85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é</a:t>
            </a:r>
            <a:r>
              <a:rPr spc="-85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aproximada</a:t>
            </a:r>
            <a:r>
              <a:rPr spc="-55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por</a:t>
            </a:r>
            <a:r>
              <a:rPr spc="-85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uma</a:t>
            </a:r>
            <a:r>
              <a:rPr spc="-85" dirty="0">
                <a:solidFill>
                  <a:srgbClr val="002454"/>
                </a:solidFill>
              </a:rPr>
              <a:t> </a:t>
            </a:r>
            <a:r>
              <a:rPr spc="-10" dirty="0">
                <a:solidFill>
                  <a:srgbClr val="002454"/>
                </a:solidFill>
              </a:rPr>
              <a:t>linha poligonal</a:t>
            </a:r>
          </a:p>
          <a:p>
            <a:pPr marL="38100" marR="30480">
              <a:spcBef>
                <a:spcPts val="650"/>
              </a:spcBef>
            </a:pPr>
            <a:r>
              <a:rPr dirty="0">
                <a:solidFill>
                  <a:srgbClr val="002454"/>
                </a:solidFill>
              </a:rPr>
              <a:t>Pontos</a:t>
            </a:r>
            <a:r>
              <a:rPr spc="-35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podem</a:t>
            </a:r>
            <a:r>
              <a:rPr spc="-50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ser</a:t>
            </a:r>
            <a:r>
              <a:rPr spc="-55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obtidos</a:t>
            </a:r>
            <a:r>
              <a:rPr spc="-35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avaliando</a:t>
            </a:r>
            <a:r>
              <a:rPr spc="-50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a</a:t>
            </a:r>
            <a:r>
              <a:rPr spc="-55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curva</a:t>
            </a:r>
            <a:r>
              <a:rPr spc="-35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em</a:t>
            </a:r>
            <a:r>
              <a:rPr spc="-45" dirty="0">
                <a:solidFill>
                  <a:srgbClr val="002454"/>
                </a:solidFill>
              </a:rPr>
              <a:t> </a:t>
            </a:r>
            <a:r>
              <a:rPr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i="1" spc="-50" dirty="0">
                <a:solidFill>
                  <a:srgbClr val="002454"/>
                </a:solidFill>
                <a:latin typeface="Arial"/>
                <a:cs typeface="Arial"/>
              </a:rPr>
              <a:t> = </a:t>
            </a:r>
            <a:r>
              <a:rPr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250" baseline="-24074" dirty="0">
                <a:solidFill>
                  <a:srgbClr val="002454"/>
                </a:solidFill>
              </a:rPr>
              <a:t>1</a:t>
            </a:r>
            <a:r>
              <a:rPr dirty="0">
                <a:solidFill>
                  <a:srgbClr val="002454"/>
                </a:solidFill>
              </a:rPr>
              <a:t>,</a:t>
            </a:r>
            <a:r>
              <a:rPr spc="-30" dirty="0">
                <a:solidFill>
                  <a:srgbClr val="002454"/>
                </a:solidFill>
              </a:rPr>
              <a:t> </a:t>
            </a:r>
            <a:r>
              <a:rPr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250" baseline="-24074" dirty="0">
                <a:solidFill>
                  <a:srgbClr val="002454"/>
                </a:solidFill>
              </a:rPr>
              <a:t>2</a:t>
            </a:r>
            <a:r>
              <a:rPr sz="2250" spc="405" baseline="-24074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...</a:t>
            </a:r>
            <a:r>
              <a:rPr spc="-30" dirty="0">
                <a:solidFill>
                  <a:srgbClr val="002454"/>
                </a:solidFill>
              </a:rPr>
              <a:t> </a:t>
            </a:r>
            <a:r>
              <a:rPr i="1" spc="-25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250" spc="-37" baseline="-24074" dirty="0">
                <a:solidFill>
                  <a:srgbClr val="002454"/>
                </a:solidFill>
              </a:rPr>
              <a:t>k</a:t>
            </a:r>
            <a:endParaRPr sz="2250" baseline="-24074" dirty="0">
              <a:solidFill>
                <a:srgbClr val="002454"/>
              </a:solidFill>
              <a:latin typeface="Arial"/>
              <a:cs typeface="Arial"/>
            </a:endParaRPr>
          </a:p>
          <a:p>
            <a:pPr marL="437515" indent="-285115">
              <a:spcBef>
                <a:spcPts val="1020"/>
              </a:spcBef>
              <a:buFont typeface="Wingdings"/>
              <a:buChar char=""/>
              <a:tabLst>
                <a:tab pos="437515" algn="l"/>
              </a:tabLst>
            </a:pPr>
            <a:r>
              <a:rPr sz="2400" dirty="0">
                <a:solidFill>
                  <a:srgbClr val="002454"/>
                </a:solidFill>
              </a:rPr>
              <a:t>Avaliar</a:t>
            </a:r>
            <a:r>
              <a:rPr sz="2400" spc="-80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os</a:t>
            </a:r>
            <a:r>
              <a:rPr sz="2400" spc="-75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polinômios</a:t>
            </a:r>
            <a:r>
              <a:rPr sz="2400" spc="-75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de</a:t>
            </a:r>
            <a:r>
              <a:rPr sz="2400" spc="-70" dirty="0">
                <a:solidFill>
                  <a:srgbClr val="002454"/>
                </a:solidFill>
              </a:rPr>
              <a:t> </a:t>
            </a:r>
            <a:r>
              <a:rPr sz="2400" spc="-10" dirty="0">
                <a:solidFill>
                  <a:srgbClr val="002454"/>
                </a:solidFill>
              </a:rPr>
              <a:t>Bernstein</a:t>
            </a:r>
            <a:endParaRPr sz="2400" dirty="0">
              <a:solidFill>
                <a:srgbClr val="002454"/>
              </a:solidFill>
            </a:endParaRPr>
          </a:p>
          <a:p>
            <a:pPr marL="437515" indent="-285115">
              <a:spcBef>
                <a:spcPts val="600"/>
              </a:spcBef>
              <a:buFont typeface="Wingdings"/>
              <a:buChar char=""/>
              <a:tabLst>
                <a:tab pos="437515" algn="l"/>
              </a:tabLst>
            </a:pPr>
            <a:r>
              <a:rPr sz="2400" dirty="0">
                <a:solidFill>
                  <a:srgbClr val="002454"/>
                </a:solidFill>
              </a:rPr>
              <a:t>Usar</a:t>
            </a:r>
            <a:r>
              <a:rPr sz="2400" spc="-65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o</a:t>
            </a:r>
            <a:r>
              <a:rPr sz="2400" spc="-50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algoritmo</a:t>
            </a:r>
            <a:r>
              <a:rPr sz="2400" spc="-60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recursivo</a:t>
            </a:r>
            <a:r>
              <a:rPr sz="2400" spc="-60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de</a:t>
            </a:r>
            <a:r>
              <a:rPr sz="2400" spc="-60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De</a:t>
            </a:r>
            <a:r>
              <a:rPr sz="2400" spc="-65" dirty="0">
                <a:solidFill>
                  <a:srgbClr val="002454"/>
                </a:solidFill>
              </a:rPr>
              <a:t> </a:t>
            </a:r>
            <a:r>
              <a:rPr sz="2400" spc="-10" dirty="0">
                <a:solidFill>
                  <a:srgbClr val="002454"/>
                </a:solidFill>
              </a:rPr>
              <a:t>Casteljau</a:t>
            </a:r>
            <a:endParaRPr sz="2400" dirty="0">
              <a:solidFill>
                <a:srgbClr val="002454"/>
              </a:solidFill>
            </a:endParaRPr>
          </a:p>
          <a:p>
            <a:pPr marL="38100">
              <a:spcBef>
                <a:spcPts val="650"/>
              </a:spcBef>
            </a:pPr>
            <a:r>
              <a:rPr dirty="0">
                <a:solidFill>
                  <a:srgbClr val="002454"/>
                </a:solidFill>
              </a:rPr>
              <a:t>Quantos</a:t>
            </a:r>
            <a:r>
              <a:rPr spc="-80" dirty="0">
                <a:solidFill>
                  <a:srgbClr val="002454"/>
                </a:solidFill>
              </a:rPr>
              <a:t> </a:t>
            </a:r>
            <a:r>
              <a:rPr spc="-10" dirty="0">
                <a:solidFill>
                  <a:srgbClr val="002454"/>
                </a:solidFill>
              </a:rPr>
              <a:t>pontos?</a:t>
            </a:r>
          </a:p>
          <a:p>
            <a:pPr marL="437515" indent="-285115">
              <a:spcBef>
                <a:spcPts val="600"/>
              </a:spcBef>
              <a:buFont typeface="Wingdings"/>
              <a:buChar char=""/>
              <a:tabLst>
                <a:tab pos="437515" algn="l"/>
              </a:tabLst>
            </a:pPr>
            <a:r>
              <a:rPr sz="2400" dirty="0">
                <a:solidFill>
                  <a:srgbClr val="002454"/>
                </a:solidFill>
              </a:rPr>
              <a:t>Mais</a:t>
            </a:r>
            <a:r>
              <a:rPr sz="2400" spc="-60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pontos</a:t>
            </a:r>
            <a:r>
              <a:rPr sz="2400" spc="-55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em</a:t>
            </a:r>
            <a:r>
              <a:rPr sz="2400" spc="-60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regiões</a:t>
            </a:r>
            <a:r>
              <a:rPr sz="2400" spc="-60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de</a:t>
            </a:r>
            <a:r>
              <a:rPr sz="2400" spc="-55" dirty="0">
                <a:solidFill>
                  <a:srgbClr val="002454"/>
                </a:solidFill>
              </a:rPr>
              <a:t> </a:t>
            </a:r>
            <a:r>
              <a:rPr sz="2400" dirty="0">
                <a:solidFill>
                  <a:srgbClr val="002454"/>
                </a:solidFill>
              </a:rPr>
              <a:t>alta</a:t>
            </a:r>
            <a:r>
              <a:rPr sz="2400" spc="-55" dirty="0">
                <a:solidFill>
                  <a:srgbClr val="002454"/>
                </a:solidFill>
              </a:rPr>
              <a:t> </a:t>
            </a:r>
            <a:r>
              <a:rPr sz="2400" spc="-10" dirty="0">
                <a:solidFill>
                  <a:srgbClr val="002454"/>
                </a:solidFill>
              </a:rPr>
              <a:t>curvatura</a:t>
            </a:r>
            <a:endParaRPr sz="2400" dirty="0">
              <a:solidFill>
                <a:srgbClr val="002454"/>
              </a:solidFill>
            </a:endParaRPr>
          </a:p>
          <a:p>
            <a:pPr marL="38100" marR="114300">
              <a:spcBef>
                <a:spcPts val="640"/>
              </a:spcBef>
            </a:pPr>
            <a:r>
              <a:rPr dirty="0">
                <a:solidFill>
                  <a:srgbClr val="002454"/>
                </a:solidFill>
              </a:rPr>
              <a:t>Idéia:</a:t>
            </a:r>
            <a:r>
              <a:rPr spc="-50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subdividir</a:t>
            </a:r>
            <a:r>
              <a:rPr spc="-50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recursivamente</a:t>
            </a:r>
            <a:r>
              <a:rPr spc="-50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a</a:t>
            </a:r>
            <a:r>
              <a:rPr spc="-45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curva</a:t>
            </a:r>
            <a:r>
              <a:rPr spc="-50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em</a:t>
            </a:r>
            <a:r>
              <a:rPr spc="-25" dirty="0">
                <a:solidFill>
                  <a:srgbClr val="002454"/>
                </a:solidFill>
              </a:rPr>
              <a:t> </a:t>
            </a:r>
            <a:r>
              <a:rPr spc="-10" dirty="0">
                <a:solidFill>
                  <a:srgbClr val="002454"/>
                </a:solidFill>
              </a:rPr>
              <a:t>trechos </a:t>
            </a:r>
            <a:r>
              <a:rPr dirty="0">
                <a:solidFill>
                  <a:srgbClr val="002454"/>
                </a:solidFill>
              </a:rPr>
              <a:t>até</a:t>
            </a:r>
            <a:r>
              <a:rPr spc="-50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que</a:t>
            </a:r>
            <a:r>
              <a:rPr spc="-50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cada</a:t>
            </a:r>
            <a:r>
              <a:rPr spc="-45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trecho</a:t>
            </a:r>
            <a:r>
              <a:rPr spc="-50" dirty="0">
                <a:solidFill>
                  <a:srgbClr val="002454"/>
                </a:solidFill>
              </a:rPr>
              <a:t> </a:t>
            </a:r>
            <a:r>
              <a:rPr dirty="0">
                <a:solidFill>
                  <a:srgbClr val="002454"/>
                </a:solidFill>
              </a:rPr>
              <a:t>seja</a:t>
            </a:r>
            <a:r>
              <a:rPr spc="-30" dirty="0">
                <a:solidFill>
                  <a:srgbClr val="002454"/>
                </a:solidFill>
              </a:rPr>
              <a:t> </a:t>
            </a:r>
            <a:r>
              <a:rPr spc="-10" dirty="0">
                <a:solidFill>
                  <a:srgbClr val="002454"/>
                </a:solidFill>
              </a:rPr>
              <a:t>aproximadamente</a:t>
            </a:r>
            <a:r>
              <a:rPr spc="-15" dirty="0">
                <a:solidFill>
                  <a:srgbClr val="002454"/>
                </a:solidFill>
              </a:rPr>
              <a:t> </a:t>
            </a:r>
            <a:r>
              <a:rPr spc="-10" dirty="0">
                <a:solidFill>
                  <a:srgbClr val="002454"/>
                </a:solidFill>
              </a:rPr>
              <a:t>“reto”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28938" y="3872229"/>
            <a:ext cx="5826125" cy="2508250"/>
            <a:chOff x="1404937" y="3872229"/>
            <a:chExt cx="5826125" cy="25082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0180" y="6059169"/>
              <a:ext cx="233680" cy="27178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58620" y="4486909"/>
              <a:ext cx="5510530" cy="1845310"/>
            </a:xfrm>
            <a:custGeom>
              <a:avLst/>
              <a:gdLst/>
              <a:ahLst/>
              <a:cxnLst/>
              <a:rect l="l" t="t" r="r" b="b"/>
              <a:pathLst>
                <a:path w="5510530" h="1845310">
                  <a:moveTo>
                    <a:pt x="2089150" y="48260"/>
                  </a:moveTo>
                  <a:lnTo>
                    <a:pt x="2087880" y="39370"/>
                  </a:lnTo>
                  <a:lnTo>
                    <a:pt x="2086610" y="29210"/>
                  </a:lnTo>
                  <a:lnTo>
                    <a:pt x="2085340" y="29210"/>
                  </a:lnTo>
                  <a:lnTo>
                    <a:pt x="1902460" y="71120"/>
                  </a:lnTo>
                  <a:lnTo>
                    <a:pt x="1722120" y="128270"/>
                  </a:lnTo>
                  <a:lnTo>
                    <a:pt x="1720850" y="129540"/>
                  </a:lnTo>
                  <a:lnTo>
                    <a:pt x="1543050" y="200660"/>
                  </a:lnTo>
                  <a:lnTo>
                    <a:pt x="1543050" y="201930"/>
                  </a:lnTo>
                  <a:lnTo>
                    <a:pt x="1366520" y="287020"/>
                  </a:lnTo>
                  <a:lnTo>
                    <a:pt x="1193800" y="384810"/>
                  </a:lnTo>
                  <a:lnTo>
                    <a:pt x="1193800" y="386080"/>
                  </a:lnTo>
                  <a:lnTo>
                    <a:pt x="1024890" y="495300"/>
                  </a:lnTo>
                  <a:lnTo>
                    <a:pt x="939800" y="557530"/>
                  </a:lnTo>
                  <a:lnTo>
                    <a:pt x="938530" y="557530"/>
                  </a:lnTo>
                  <a:lnTo>
                    <a:pt x="852170" y="631190"/>
                  </a:lnTo>
                  <a:lnTo>
                    <a:pt x="850900" y="631190"/>
                  </a:lnTo>
                  <a:lnTo>
                    <a:pt x="671830" y="801370"/>
                  </a:lnTo>
                  <a:lnTo>
                    <a:pt x="670560" y="801370"/>
                  </a:lnTo>
                  <a:lnTo>
                    <a:pt x="488950" y="993140"/>
                  </a:lnTo>
                  <a:lnTo>
                    <a:pt x="488950" y="994410"/>
                  </a:lnTo>
                  <a:lnTo>
                    <a:pt x="313690" y="1195070"/>
                  </a:lnTo>
                  <a:lnTo>
                    <a:pt x="312420" y="1195070"/>
                  </a:lnTo>
                  <a:lnTo>
                    <a:pt x="0" y="1572260"/>
                  </a:lnTo>
                  <a:lnTo>
                    <a:pt x="15240" y="1584960"/>
                  </a:lnTo>
                  <a:lnTo>
                    <a:pt x="327660" y="1207770"/>
                  </a:lnTo>
                  <a:lnTo>
                    <a:pt x="502920" y="1007110"/>
                  </a:lnTo>
                  <a:lnTo>
                    <a:pt x="684530" y="815340"/>
                  </a:lnTo>
                  <a:lnTo>
                    <a:pt x="864870" y="645160"/>
                  </a:lnTo>
                  <a:lnTo>
                    <a:pt x="864235" y="644639"/>
                  </a:lnTo>
                  <a:lnTo>
                    <a:pt x="951230" y="572770"/>
                  </a:lnTo>
                  <a:lnTo>
                    <a:pt x="1036320" y="510540"/>
                  </a:lnTo>
                  <a:lnTo>
                    <a:pt x="1035862" y="510006"/>
                  </a:lnTo>
                  <a:lnTo>
                    <a:pt x="1203960" y="401320"/>
                  </a:lnTo>
                  <a:lnTo>
                    <a:pt x="1375410" y="303530"/>
                  </a:lnTo>
                  <a:lnTo>
                    <a:pt x="1550670" y="218440"/>
                  </a:lnTo>
                  <a:lnTo>
                    <a:pt x="1726996" y="146646"/>
                  </a:lnTo>
                  <a:lnTo>
                    <a:pt x="1727200" y="147320"/>
                  </a:lnTo>
                  <a:lnTo>
                    <a:pt x="1907540" y="90170"/>
                  </a:lnTo>
                  <a:lnTo>
                    <a:pt x="2089150" y="48260"/>
                  </a:lnTo>
                  <a:close/>
                </a:path>
                <a:path w="5510530" h="1845310">
                  <a:moveTo>
                    <a:pt x="5510530" y="1831340"/>
                  </a:moveTo>
                  <a:lnTo>
                    <a:pt x="4824730" y="1203960"/>
                  </a:lnTo>
                  <a:lnTo>
                    <a:pt x="4401820" y="839470"/>
                  </a:lnTo>
                  <a:lnTo>
                    <a:pt x="4193540" y="679450"/>
                  </a:lnTo>
                  <a:lnTo>
                    <a:pt x="4192270" y="678180"/>
                  </a:lnTo>
                  <a:lnTo>
                    <a:pt x="3995420" y="547370"/>
                  </a:lnTo>
                  <a:lnTo>
                    <a:pt x="3994150" y="546100"/>
                  </a:lnTo>
                  <a:lnTo>
                    <a:pt x="3802380" y="435610"/>
                  </a:lnTo>
                  <a:lnTo>
                    <a:pt x="3609340" y="334010"/>
                  </a:lnTo>
                  <a:lnTo>
                    <a:pt x="3415030" y="242570"/>
                  </a:lnTo>
                  <a:lnTo>
                    <a:pt x="3415030" y="241300"/>
                  </a:lnTo>
                  <a:lnTo>
                    <a:pt x="3220720" y="162560"/>
                  </a:lnTo>
                  <a:lnTo>
                    <a:pt x="3027680" y="96520"/>
                  </a:lnTo>
                  <a:lnTo>
                    <a:pt x="3026410" y="96520"/>
                  </a:lnTo>
                  <a:lnTo>
                    <a:pt x="2834640" y="45720"/>
                  </a:lnTo>
                  <a:lnTo>
                    <a:pt x="2644140" y="12700"/>
                  </a:lnTo>
                  <a:lnTo>
                    <a:pt x="2550160" y="3810"/>
                  </a:lnTo>
                  <a:lnTo>
                    <a:pt x="2548890" y="13335"/>
                  </a:lnTo>
                  <a:lnTo>
                    <a:pt x="2548890" y="12700"/>
                  </a:lnTo>
                  <a:lnTo>
                    <a:pt x="2550160" y="3810"/>
                  </a:lnTo>
                  <a:lnTo>
                    <a:pt x="2548890" y="3810"/>
                  </a:lnTo>
                  <a:lnTo>
                    <a:pt x="2456180" y="0"/>
                  </a:lnTo>
                  <a:lnTo>
                    <a:pt x="2363470" y="0"/>
                  </a:lnTo>
                  <a:lnTo>
                    <a:pt x="2270760" y="5080"/>
                  </a:lnTo>
                  <a:lnTo>
                    <a:pt x="2269490" y="5080"/>
                  </a:lnTo>
                  <a:lnTo>
                    <a:pt x="2086610" y="29210"/>
                  </a:lnTo>
                  <a:lnTo>
                    <a:pt x="2089150" y="48260"/>
                  </a:lnTo>
                  <a:lnTo>
                    <a:pt x="2272030" y="24130"/>
                  </a:lnTo>
                  <a:lnTo>
                    <a:pt x="2363470" y="19050"/>
                  </a:lnTo>
                  <a:lnTo>
                    <a:pt x="2455164" y="17805"/>
                  </a:lnTo>
                  <a:lnTo>
                    <a:pt x="2547620" y="22796"/>
                  </a:lnTo>
                  <a:lnTo>
                    <a:pt x="2641600" y="31750"/>
                  </a:lnTo>
                  <a:lnTo>
                    <a:pt x="2829610" y="64566"/>
                  </a:lnTo>
                  <a:lnTo>
                    <a:pt x="2829560" y="64770"/>
                  </a:lnTo>
                  <a:lnTo>
                    <a:pt x="3021330" y="114300"/>
                  </a:lnTo>
                  <a:lnTo>
                    <a:pt x="3213252" y="179971"/>
                  </a:lnTo>
                  <a:lnTo>
                    <a:pt x="3213100" y="180340"/>
                  </a:lnTo>
                  <a:lnTo>
                    <a:pt x="3407410" y="259080"/>
                  </a:lnTo>
                  <a:lnTo>
                    <a:pt x="3600450" y="350520"/>
                  </a:lnTo>
                  <a:lnTo>
                    <a:pt x="3793490" y="452120"/>
                  </a:lnTo>
                  <a:lnTo>
                    <a:pt x="3984333" y="562089"/>
                  </a:lnTo>
                  <a:lnTo>
                    <a:pt x="3983990" y="562610"/>
                  </a:lnTo>
                  <a:lnTo>
                    <a:pt x="4182110" y="694690"/>
                  </a:lnTo>
                  <a:lnTo>
                    <a:pt x="4389717" y="852944"/>
                  </a:lnTo>
                  <a:lnTo>
                    <a:pt x="4389120" y="853440"/>
                  </a:lnTo>
                  <a:lnTo>
                    <a:pt x="4812550" y="1217295"/>
                  </a:lnTo>
                  <a:lnTo>
                    <a:pt x="4812030" y="1217930"/>
                  </a:lnTo>
                  <a:lnTo>
                    <a:pt x="5497830" y="1845310"/>
                  </a:lnTo>
                  <a:lnTo>
                    <a:pt x="5504180" y="1837690"/>
                  </a:lnTo>
                  <a:lnTo>
                    <a:pt x="5510530" y="18313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35100" y="3872229"/>
              <a:ext cx="5739130" cy="2447290"/>
            </a:xfrm>
            <a:custGeom>
              <a:avLst/>
              <a:gdLst/>
              <a:ahLst/>
              <a:cxnLst/>
              <a:rect l="l" t="t" r="r" b="b"/>
              <a:pathLst>
                <a:path w="5739130" h="2447290">
                  <a:moveTo>
                    <a:pt x="146050" y="2252980"/>
                  </a:moveTo>
                  <a:lnTo>
                    <a:pt x="121920" y="2237740"/>
                  </a:lnTo>
                  <a:lnTo>
                    <a:pt x="0" y="2430780"/>
                  </a:lnTo>
                  <a:lnTo>
                    <a:pt x="24130" y="2446020"/>
                  </a:lnTo>
                  <a:lnTo>
                    <a:pt x="146050" y="2252980"/>
                  </a:lnTo>
                  <a:close/>
                </a:path>
                <a:path w="5739130" h="2447290">
                  <a:moveTo>
                    <a:pt x="313690" y="1986280"/>
                  </a:moveTo>
                  <a:lnTo>
                    <a:pt x="289560" y="1971040"/>
                  </a:lnTo>
                  <a:lnTo>
                    <a:pt x="167640" y="2165362"/>
                  </a:lnTo>
                  <a:lnTo>
                    <a:pt x="191770" y="2180590"/>
                  </a:lnTo>
                  <a:lnTo>
                    <a:pt x="313690" y="1986280"/>
                  </a:lnTo>
                  <a:close/>
                </a:path>
                <a:path w="5739130" h="2447290">
                  <a:moveTo>
                    <a:pt x="480060" y="1720850"/>
                  </a:moveTo>
                  <a:lnTo>
                    <a:pt x="457200" y="1705610"/>
                  </a:lnTo>
                  <a:lnTo>
                    <a:pt x="335280" y="1898650"/>
                  </a:lnTo>
                  <a:lnTo>
                    <a:pt x="359410" y="1913890"/>
                  </a:lnTo>
                  <a:lnTo>
                    <a:pt x="480060" y="1720850"/>
                  </a:lnTo>
                  <a:close/>
                </a:path>
                <a:path w="5739130" h="2447290">
                  <a:moveTo>
                    <a:pt x="647700" y="1454150"/>
                  </a:moveTo>
                  <a:lnTo>
                    <a:pt x="623570" y="1438910"/>
                  </a:lnTo>
                  <a:lnTo>
                    <a:pt x="501650" y="1633220"/>
                  </a:lnTo>
                  <a:lnTo>
                    <a:pt x="525780" y="1648460"/>
                  </a:lnTo>
                  <a:lnTo>
                    <a:pt x="647700" y="1454150"/>
                  </a:lnTo>
                  <a:close/>
                </a:path>
                <a:path w="5739130" h="2447290">
                  <a:moveTo>
                    <a:pt x="815340" y="1188720"/>
                  </a:moveTo>
                  <a:lnTo>
                    <a:pt x="791210" y="1173480"/>
                  </a:lnTo>
                  <a:lnTo>
                    <a:pt x="669290" y="1366520"/>
                  </a:lnTo>
                  <a:lnTo>
                    <a:pt x="693420" y="1381760"/>
                  </a:lnTo>
                  <a:lnTo>
                    <a:pt x="815340" y="1188720"/>
                  </a:lnTo>
                  <a:close/>
                </a:path>
                <a:path w="5739130" h="2447290">
                  <a:moveTo>
                    <a:pt x="981710" y="922020"/>
                  </a:moveTo>
                  <a:lnTo>
                    <a:pt x="957580" y="906780"/>
                  </a:lnTo>
                  <a:lnTo>
                    <a:pt x="836930" y="1099820"/>
                  </a:lnTo>
                  <a:lnTo>
                    <a:pt x="861060" y="1115060"/>
                  </a:lnTo>
                  <a:lnTo>
                    <a:pt x="981710" y="922020"/>
                  </a:lnTo>
                  <a:close/>
                </a:path>
                <a:path w="5739130" h="2447290">
                  <a:moveTo>
                    <a:pt x="1149350" y="656590"/>
                  </a:moveTo>
                  <a:lnTo>
                    <a:pt x="1125220" y="641350"/>
                  </a:lnTo>
                  <a:lnTo>
                    <a:pt x="1003300" y="834390"/>
                  </a:lnTo>
                  <a:lnTo>
                    <a:pt x="1027430" y="849630"/>
                  </a:lnTo>
                  <a:lnTo>
                    <a:pt x="1149350" y="656590"/>
                  </a:lnTo>
                  <a:close/>
                </a:path>
                <a:path w="5739130" h="2447290">
                  <a:moveTo>
                    <a:pt x="1316990" y="389890"/>
                  </a:moveTo>
                  <a:lnTo>
                    <a:pt x="1292860" y="374650"/>
                  </a:lnTo>
                  <a:lnTo>
                    <a:pt x="1170940" y="568960"/>
                  </a:lnTo>
                  <a:lnTo>
                    <a:pt x="1195070" y="582930"/>
                  </a:lnTo>
                  <a:lnTo>
                    <a:pt x="1316990" y="389890"/>
                  </a:lnTo>
                  <a:close/>
                </a:path>
                <a:path w="5739130" h="2447290">
                  <a:moveTo>
                    <a:pt x="2672080" y="0"/>
                  </a:moveTo>
                  <a:lnTo>
                    <a:pt x="2443480" y="0"/>
                  </a:lnTo>
                  <a:lnTo>
                    <a:pt x="2443480" y="27940"/>
                  </a:lnTo>
                  <a:lnTo>
                    <a:pt x="2672080" y="27940"/>
                  </a:lnTo>
                  <a:lnTo>
                    <a:pt x="2672080" y="0"/>
                  </a:lnTo>
                  <a:close/>
                </a:path>
                <a:path w="5739130" h="2447290">
                  <a:moveTo>
                    <a:pt x="2987040" y="0"/>
                  </a:moveTo>
                  <a:lnTo>
                    <a:pt x="2758440" y="0"/>
                  </a:lnTo>
                  <a:lnTo>
                    <a:pt x="2758440" y="27940"/>
                  </a:lnTo>
                  <a:lnTo>
                    <a:pt x="2987040" y="27940"/>
                  </a:lnTo>
                  <a:lnTo>
                    <a:pt x="2987040" y="0"/>
                  </a:lnTo>
                  <a:close/>
                </a:path>
                <a:path w="5739130" h="2447290">
                  <a:moveTo>
                    <a:pt x="4094480" y="336550"/>
                  </a:moveTo>
                  <a:lnTo>
                    <a:pt x="3953510" y="156210"/>
                  </a:lnTo>
                  <a:lnTo>
                    <a:pt x="3930650" y="173990"/>
                  </a:lnTo>
                  <a:lnTo>
                    <a:pt x="4071620" y="354330"/>
                  </a:lnTo>
                  <a:lnTo>
                    <a:pt x="4094480" y="336550"/>
                  </a:lnTo>
                  <a:close/>
                </a:path>
                <a:path w="5739130" h="2447290">
                  <a:moveTo>
                    <a:pt x="4288790" y="582930"/>
                  </a:moveTo>
                  <a:lnTo>
                    <a:pt x="4146550" y="403860"/>
                  </a:lnTo>
                  <a:lnTo>
                    <a:pt x="4124960" y="421640"/>
                  </a:lnTo>
                  <a:lnTo>
                    <a:pt x="4265930" y="600710"/>
                  </a:lnTo>
                  <a:lnTo>
                    <a:pt x="4288790" y="582930"/>
                  </a:lnTo>
                  <a:close/>
                </a:path>
                <a:path w="5739130" h="2447290">
                  <a:moveTo>
                    <a:pt x="4483100" y="830580"/>
                  </a:moveTo>
                  <a:lnTo>
                    <a:pt x="4340860" y="650240"/>
                  </a:lnTo>
                  <a:lnTo>
                    <a:pt x="4319270" y="668020"/>
                  </a:lnTo>
                  <a:lnTo>
                    <a:pt x="4460240" y="848360"/>
                  </a:lnTo>
                  <a:lnTo>
                    <a:pt x="4483100" y="830580"/>
                  </a:lnTo>
                  <a:close/>
                </a:path>
                <a:path w="5739130" h="2447290">
                  <a:moveTo>
                    <a:pt x="4676140" y="1078230"/>
                  </a:moveTo>
                  <a:lnTo>
                    <a:pt x="4535170" y="897890"/>
                  </a:lnTo>
                  <a:lnTo>
                    <a:pt x="4513580" y="915670"/>
                  </a:lnTo>
                  <a:lnTo>
                    <a:pt x="4654550" y="1096010"/>
                  </a:lnTo>
                  <a:lnTo>
                    <a:pt x="4676140" y="1078230"/>
                  </a:lnTo>
                  <a:close/>
                </a:path>
                <a:path w="5739130" h="2447290">
                  <a:moveTo>
                    <a:pt x="4870450" y="1324610"/>
                  </a:moveTo>
                  <a:lnTo>
                    <a:pt x="4729480" y="1145540"/>
                  </a:lnTo>
                  <a:lnTo>
                    <a:pt x="4706620" y="1163320"/>
                  </a:lnTo>
                  <a:lnTo>
                    <a:pt x="4848860" y="1342390"/>
                  </a:lnTo>
                  <a:lnTo>
                    <a:pt x="4870450" y="1324610"/>
                  </a:lnTo>
                  <a:close/>
                </a:path>
                <a:path w="5739130" h="2447290">
                  <a:moveTo>
                    <a:pt x="5064760" y="1572260"/>
                  </a:moveTo>
                  <a:lnTo>
                    <a:pt x="4923790" y="1391920"/>
                  </a:lnTo>
                  <a:lnTo>
                    <a:pt x="4900930" y="1409700"/>
                  </a:lnTo>
                  <a:lnTo>
                    <a:pt x="5043170" y="1590040"/>
                  </a:lnTo>
                  <a:lnTo>
                    <a:pt x="5064760" y="1572260"/>
                  </a:lnTo>
                  <a:close/>
                </a:path>
                <a:path w="5739130" h="2447290">
                  <a:moveTo>
                    <a:pt x="5259070" y="1818640"/>
                  </a:moveTo>
                  <a:lnTo>
                    <a:pt x="5118100" y="1639570"/>
                  </a:lnTo>
                  <a:lnTo>
                    <a:pt x="5095240" y="1657350"/>
                  </a:lnTo>
                  <a:lnTo>
                    <a:pt x="5236210" y="1836420"/>
                  </a:lnTo>
                  <a:lnTo>
                    <a:pt x="5259070" y="1818640"/>
                  </a:lnTo>
                  <a:close/>
                </a:path>
                <a:path w="5739130" h="2447290">
                  <a:moveTo>
                    <a:pt x="5453380" y="2066290"/>
                  </a:moveTo>
                  <a:lnTo>
                    <a:pt x="5312410" y="1887220"/>
                  </a:lnTo>
                  <a:lnTo>
                    <a:pt x="5289550" y="1903730"/>
                  </a:lnTo>
                  <a:lnTo>
                    <a:pt x="5431790" y="2084070"/>
                  </a:lnTo>
                  <a:lnTo>
                    <a:pt x="5453380" y="2066290"/>
                  </a:lnTo>
                  <a:close/>
                </a:path>
                <a:path w="5739130" h="2447290">
                  <a:moveTo>
                    <a:pt x="5647690" y="2312670"/>
                  </a:moveTo>
                  <a:lnTo>
                    <a:pt x="5506720" y="2133600"/>
                  </a:lnTo>
                  <a:lnTo>
                    <a:pt x="5483860" y="2151380"/>
                  </a:lnTo>
                  <a:lnTo>
                    <a:pt x="5624830" y="2330450"/>
                  </a:lnTo>
                  <a:lnTo>
                    <a:pt x="5647690" y="2312670"/>
                  </a:lnTo>
                  <a:close/>
                </a:path>
                <a:path w="5739130" h="2447290">
                  <a:moveTo>
                    <a:pt x="5739130" y="2429510"/>
                  </a:moveTo>
                  <a:lnTo>
                    <a:pt x="5701030" y="2379980"/>
                  </a:lnTo>
                  <a:lnTo>
                    <a:pt x="5678170" y="2397760"/>
                  </a:lnTo>
                  <a:lnTo>
                    <a:pt x="5716270" y="2447290"/>
                  </a:lnTo>
                  <a:lnTo>
                    <a:pt x="5739130" y="242951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09700" y="628522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574" y="2917"/>
                  </a:lnTo>
                  <a:lnTo>
                    <a:pt x="11430" y="10953"/>
                  </a:lnTo>
                  <a:lnTo>
                    <a:pt x="3095" y="23038"/>
                  </a:lnTo>
                  <a:lnTo>
                    <a:pt x="0" y="38100"/>
                  </a:lnTo>
                  <a:lnTo>
                    <a:pt x="3095" y="52625"/>
                  </a:lnTo>
                  <a:lnTo>
                    <a:pt x="11430" y="64770"/>
                  </a:lnTo>
                  <a:lnTo>
                    <a:pt x="23574" y="73104"/>
                  </a:lnTo>
                  <a:lnTo>
                    <a:pt x="38100" y="76200"/>
                  </a:lnTo>
                  <a:lnTo>
                    <a:pt x="53161" y="73104"/>
                  </a:lnTo>
                  <a:lnTo>
                    <a:pt x="65246" y="64770"/>
                  </a:lnTo>
                  <a:lnTo>
                    <a:pt x="73282" y="52625"/>
                  </a:lnTo>
                  <a:lnTo>
                    <a:pt x="76200" y="38100"/>
                  </a:lnTo>
                  <a:lnTo>
                    <a:pt x="73282" y="23038"/>
                  </a:lnTo>
                  <a:lnTo>
                    <a:pt x="65246" y="10953"/>
                  </a:lnTo>
                  <a:lnTo>
                    <a:pt x="53161" y="291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09700" y="628522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574" y="73104"/>
                  </a:lnTo>
                  <a:lnTo>
                    <a:pt x="11430" y="64770"/>
                  </a:lnTo>
                  <a:lnTo>
                    <a:pt x="3095" y="52625"/>
                  </a:lnTo>
                  <a:lnTo>
                    <a:pt x="0" y="38100"/>
                  </a:lnTo>
                  <a:lnTo>
                    <a:pt x="3095" y="23038"/>
                  </a:lnTo>
                  <a:lnTo>
                    <a:pt x="11430" y="10953"/>
                  </a:lnTo>
                  <a:lnTo>
                    <a:pt x="23574" y="2917"/>
                  </a:lnTo>
                  <a:lnTo>
                    <a:pt x="38100" y="0"/>
                  </a:lnTo>
                  <a:lnTo>
                    <a:pt x="53161" y="2917"/>
                  </a:lnTo>
                  <a:lnTo>
                    <a:pt x="65246" y="10953"/>
                  </a:lnTo>
                  <a:lnTo>
                    <a:pt x="73282" y="23038"/>
                  </a:lnTo>
                  <a:lnTo>
                    <a:pt x="76200" y="38100"/>
                  </a:lnTo>
                  <a:lnTo>
                    <a:pt x="73282" y="52625"/>
                  </a:lnTo>
                  <a:lnTo>
                    <a:pt x="65246" y="64770"/>
                  </a:lnTo>
                  <a:lnTo>
                    <a:pt x="53161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50100" y="6297929"/>
              <a:ext cx="76200" cy="77470"/>
            </a:xfrm>
            <a:custGeom>
              <a:avLst/>
              <a:gdLst/>
              <a:ahLst/>
              <a:cxnLst/>
              <a:rect l="l" t="t" r="r" b="b"/>
              <a:pathLst>
                <a:path w="76200" h="77470">
                  <a:moveTo>
                    <a:pt x="38100" y="0"/>
                  </a:moveTo>
                  <a:lnTo>
                    <a:pt x="23038" y="3115"/>
                  </a:lnTo>
                  <a:lnTo>
                    <a:pt x="10953" y="11588"/>
                  </a:lnTo>
                  <a:lnTo>
                    <a:pt x="2917" y="24110"/>
                  </a:lnTo>
                  <a:lnTo>
                    <a:pt x="0" y="39370"/>
                  </a:lnTo>
                  <a:lnTo>
                    <a:pt x="2917" y="53895"/>
                  </a:lnTo>
                  <a:lnTo>
                    <a:pt x="10953" y="66040"/>
                  </a:lnTo>
                  <a:lnTo>
                    <a:pt x="23038" y="74374"/>
                  </a:lnTo>
                  <a:lnTo>
                    <a:pt x="38100" y="77470"/>
                  </a:lnTo>
                  <a:lnTo>
                    <a:pt x="52625" y="74374"/>
                  </a:lnTo>
                  <a:lnTo>
                    <a:pt x="64770" y="66040"/>
                  </a:lnTo>
                  <a:lnTo>
                    <a:pt x="73104" y="53895"/>
                  </a:lnTo>
                  <a:lnTo>
                    <a:pt x="76200" y="39370"/>
                  </a:lnTo>
                  <a:lnTo>
                    <a:pt x="73104" y="24110"/>
                  </a:lnTo>
                  <a:lnTo>
                    <a:pt x="64769" y="11588"/>
                  </a:lnTo>
                  <a:lnTo>
                    <a:pt x="52625" y="311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50100" y="6297929"/>
              <a:ext cx="76200" cy="77470"/>
            </a:xfrm>
            <a:custGeom>
              <a:avLst/>
              <a:gdLst/>
              <a:ahLst/>
              <a:cxnLst/>
              <a:rect l="l" t="t" r="r" b="b"/>
              <a:pathLst>
                <a:path w="76200" h="77470">
                  <a:moveTo>
                    <a:pt x="38100" y="77470"/>
                  </a:moveTo>
                  <a:lnTo>
                    <a:pt x="23038" y="74374"/>
                  </a:lnTo>
                  <a:lnTo>
                    <a:pt x="10953" y="66040"/>
                  </a:lnTo>
                  <a:lnTo>
                    <a:pt x="2917" y="53895"/>
                  </a:lnTo>
                  <a:lnTo>
                    <a:pt x="0" y="39370"/>
                  </a:lnTo>
                  <a:lnTo>
                    <a:pt x="2917" y="24110"/>
                  </a:lnTo>
                  <a:lnTo>
                    <a:pt x="10953" y="11588"/>
                  </a:lnTo>
                  <a:lnTo>
                    <a:pt x="23038" y="3115"/>
                  </a:lnTo>
                  <a:lnTo>
                    <a:pt x="38100" y="0"/>
                  </a:lnTo>
                  <a:lnTo>
                    <a:pt x="52625" y="3115"/>
                  </a:lnTo>
                  <a:lnTo>
                    <a:pt x="64769" y="11588"/>
                  </a:lnTo>
                  <a:lnTo>
                    <a:pt x="73104" y="24110"/>
                  </a:lnTo>
                  <a:lnTo>
                    <a:pt x="76200" y="39370"/>
                  </a:lnTo>
                  <a:lnTo>
                    <a:pt x="73104" y="53895"/>
                  </a:lnTo>
                  <a:lnTo>
                    <a:pt x="64770" y="66040"/>
                  </a:lnTo>
                  <a:lnTo>
                    <a:pt x="52625" y="74374"/>
                  </a:lnTo>
                  <a:lnTo>
                    <a:pt x="38100" y="7747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71700" y="506602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038" y="2917"/>
                  </a:lnTo>
                  <a:lnTo>
                    <a:pt x="10953" y="10953"/>
                  </a:lnTo>
                  <a:lnTo>
                    <a:pt x="2917" y="23038"/>
                  </a:lnTo>
                  <a:lnTo>
                    <a:pt x="0" y="38100"/>
                  </a:lnTo>
                  <a:lnTo>
                    <a:pt x="2917" y="52625"/>
                  </a:lnTo>
                  <a:lnTo>
                    <a:pt x="10953" y="64770"/>
                  </a:lnTo>
                  <a:lnTo>
                    <a:pt x="23038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69" y="64770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038"/>
                  </a:lnTo>
                  <a:lnTo>
                    <a:pt x="64770" y="10953"/>
                  </a:lnTo>
                  <a:lnTo>
                    <a:pt x="52625" y="291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71700" y="506602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104"/>
                  </a:lnTo>
                  <a:lnTo>
                    <a:pt x="10953" y="64770"/>
                  </a:lnTo>
                  <a:lnTo>
                    <a:pt x="2917" y="52625"/>
                  </a:lnTo>
                  <a:lnTo>
                    <a:pt x="0" y="38100"/>
                  </a:lnTo>
                  <a:lnTo>
                    <a:pt x="2917" y="23038"/>
                  </a:lnTo>
                  <a:lnTo>
                    <a:pt x="10953" y="10953"/>
                  </a:lnTo>
                  <a:lnTo>
                    <a:pt x="23038" y="2917"/>
                  </a:lnTo>
                  <a:lnTo>
                    <a:pt x="38100" y="0"/>
                  </a:lnTo>
                  <a:lnTo>
                    <a:pt x="52625" y="2917"/>
                  </a:lnTo>
                  <a:lnTo>
                    <a:pt x="64770" y="10953"/>
                  </a:lnTo>
                  <a:lnTo>
                    <a:pt x="73104" y="23038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69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72200" y="506729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574" y="3095"/>
                  </a:lnTo>
                  <a:lnTo>
                    <a:pt x="11429" y="11429"/>
                  </a:lnTo>
                  <a:lnTo>
                    <a:pt x="3095" y="23574"/>
                  </a:lnTo>
                  <a:lnTo>
                    <a:pt x="0" y="38100"/>
                  </a:lnTo>
                  <a:lnTo>
                    <a:pt x="3095" y="53161"/>
                  </a:lnTo>
                  <a:lnTo>
                    <a:pt x="11429" y="65246"/>
                  </a:lnTo>
                  <a:lnTo>
                    <a:pt x="23574" y="73282"/>
                  </a:lnTo>
                  <a:lnTo>
                    <a:pt x="38100" y="76200"/>
                  </a:lnTo>
                  <a:lnTo>
                    <a:pt x="52625" y="73282"/>
                  </a:lnTo>
                  <a:lnTo>
                    <a:pt x="64770" y="65246"/>
                  </a:lnTo>
                  <a:lnTo>
                    <a:pt x="73104" y="53161"/>
                  </a:lnTo>
                  <a:lnTo>
                    <a:pt x="76200" y="38100"/>
                  </a:lnTo>
                  <a:lnTo>
                    <a:pt x="73104" y="23574"/>
                  </a:lnTo>
                  <a:lnTo>
                    <a:pt x="64770" y="11430"/>
                  </a:lnTo>
                  <a:lnTo>
                    <a:pt x="52625" y="309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72200" y="506729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574" y="73282"/>
                  </a:lnTo>
                  <a:lnTo>
                    <a:pt x="11429" y="65246"/>
                  </a:lnTo>
                  <a:lnTo>
                    <a:pt x="3095" y="53161"/>
                  </a:lnTo>
                  <a:lnTo>
                    <a:pt x="0" y="38100"/>
                  </a:lnTo>
                  <a:lnTo>
                    <a:pt x="3095" y="23574"/>
                  </a:lnTo>
                  <a:lnTo>
                    <a:pt x="11429" y="11429"/>
                  </a:lnTo>
                  <a:lnTo>
                    <a:pt x="23574" y="3095"/>
                  </a:lnTo>
                  <a:lnTo>
                    <a:pt x="38100" y="0"/>
                  </a:lnTo>
                  <a:lnTo>
                    <a:pt x="52625" y="3095"/>
                  </a:lnTo>
                  <a:lnTo>
                    <a:pt x="64770" y="11430"/>
                  </a:lnTo>
                  <a:lnTo>
                    <a:pt x="73104" y="23574"/>
                  </a:lnTo>
                  <a:lnTo>
                    <a:pt x="76200" y="38100"/>
                  </a:lnTo>
                  <a:lnTo>
                    <a:pt x="73104" y="53161"/>
                  </a:lnTo>
                  <a:lnTo>
                    <a:pt x="64770" y="65246"/>
                  </a:lnTo>
                  <a:lnTo>
                    <a:pt x="52625" y="73282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6580">
              <a:spcBef>
                <a:spcPts val="100"/>
              </a:spcBef>
            </a:pPr>
            <a:r>
              <a:rPr dirty="0"/>
              <a:t>Subdivisão</a:t>
            </a:r>
            <a:r>
              <a:rPr spc="-4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Curvas</a:t>
            </a:r>
            <a:r>
              <a:rPr spc="-35" dirty="0"/>
              <a:t> </a:t>
            </a:r>
            <a:r>
              <a:rPr spc="-10" dirty="0"/>
              <a:t>Bézier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58670" y="1537970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1056" y="1626235"/>
            <a:ext cx="6203950" cy="1450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Como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saber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trecho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“reto”?</a:t>
            </a:r>
            <a:endParaRPr sz="2600">
              <a:solidFill>
                <a:srgbClr val="002454"/>
              </a:solidFill>
              <a:latin typeface="Arial MT"/>
              <a:cs typeface="Arial MT"/>
            </a:endParaRPr>
          </a:p>
          <a:p>
            <a:pPr marL="412115" indent="-285115">
              <a:spcBef>
                <a:spcPts val="20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Encontrar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polígono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controle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do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trecho</a:t>
            </a:r>
            <a:endParaRPr sz="2400">
              <a:solidFill>
                <a:srgbClr val="002454"/>
              </a:solidFill>
              <a:latin typeface="Arial MT"/>
              <a:cs typeface="Arial MT"/>
            </a:endParaRPr>
          </a:p>
          <a:p>
            <a:pPr marL="412750" marR="953769" indent="-285750">
              <a:lnSpc>
                <a:spcPct val="79900"/>
              </a:lnSpc>
              <a:spcBef>
                <a:spcPts val="595"/>
              </a:spcBef>
              <a:buFont typeface="Wingdings"/>
              <a:buChar char=""/>
              <a:tabLst>
                <a:tab pos="41275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Parar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vértices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do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polígono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forem aproximadamente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colineares</a:t>
            </a:r>
            <a:endParaRPr sz="240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97679" y="3981451"/>
            <a:ext cx="146050" cy="208279"/>
          </a:xfrm>
          <a:custGeom>
            <a:avLst/>
            <a:gdLst/>
            <a:ahLst/>
            <a:cxnLst/>
            <a:rect l="l" t="t" r="r" b="b"/>
            <a:pathLst>
              <a:path w="146050" h="208279">
                <a:moveTo>
                  <a:pt x="121919" y="0"/>
                </a:moveTo>
                <a:lnTo>
                  <a:pt x="0" y="193039"/>
                </a:lnTo>
                <a:lnTo>
                  <a:pt x="24130" y="208280"/>
                </a:lnTo>
                <a:lnTo>
                  <a:pt x="146050" y="13969"/>
                </a:lnTo>
                <a:lnTo>
                  <a:pt x="121919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773929" y="3872229"/>
            <a:ext cx="228600" cy="27940"/>
          </a:xfrm>
          <a:custGeom>
            <a:avLst/>
            <a:gdLst/>
            <a:ahLst/>
            <a:cxnLst/>
            <a:rect l="l" t="t" r="r" b="b"/>
            <a:pathLst>
              <a:path w="228600" h="27939">
                <a:moveTo>
                  <a:pt x="228599" y="0"/>
                </a:moveTo>
                <a:lnTo>
                  <a:pt x="0" y="0"/>
                </a:lnTo>
                <a:lnTo>
                  <a:pt x="0" y="27940"/>
                </a:lnTo>
                <a:lnTo>
                  <a:pt x="228599" y="27940"/>
                </a:lnTo>
                <a:lnTo>
                  <a:pt x="228599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88890" y="3872229"/>
            <a:ext cx="228600" cy="27940"/>
          </a:xfrm>
          <a:custGeom>
            <a:avLst/>
            <a:gdLst/>
            <a:ahLst/>
            <a:cxnLst/>
            <a:rect l="l" t="t" r="r" b="b"/>
            <a:pathLst>
              <a:path w="228600" h="27939">
                <a:moveTo>
                  <a:pt x="228600" y="0"/>
                </a:moveTo>
                <a:lnTo>
                  <a:pt x="0" y="0"/>
                </a:lnTo>
                <a:lnTo>
                  <a:pt x="0" y="27940"/>
                </a:lnTo>
                <a:lnTo>
                  <a:pt x="228600" y="27940"/>
                </a:lnTo>
                <a:lnTo>
                  <a:pt x="2286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31229" y="3872229"/>
            <a:ext cx="228600" cy="27940"/>
          </a:xfrm>
          <a:custGeom>
            <a:avLst/>
            <a:gdLst/>
            <a:ahLst/>
            <a:cxnLst/>
            <a:rect l="l" t="t" r="r" b="b"/>
            <a:pathLst>
              <a:path w="228600" h="27939">
                <a:moveTo>
                  <a:pt x="228600" y="0"/>
                </a:moveTo>
                <a:lnTo>
                  <a:pt x="0" y="0"/>
                </a:lnTo>
                <a:lnTo>
                  <a:pt x="0" y="27940"/>
                </a:lnTo>
                <a:lnTo>
                  <a:pt x="228600" y="27940"/>
                </a:lnTo>
                <a:lnTo>
                  <a:pt x="2286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46190" y="3872229"/>
            <a:ext cx="228600" cy="27940"/>
          </a:xfrm>
          <a:custGeom>
            <a:avLst/>
            <a:gdLst/>
            <a:ahLst/>
            <a:cxnLst/>
            <a:rect l="l" t="t" r="r" b="b"/>
            <a:pathLst>
              <a:path w="228600" h="27939">
                <a:moveTo>
                  <a:pt x="228600" y="0"/>
                </a:moveTo>
                <a:lnTo>
                  <a:pt x="0" y="0"/>
                </a:lnTo>
                <a:lnTo>
                  <a:pt x="0" y="27940"/>
                </a:lnTo>
                <a:lnTo>
                  <a:pt x="228600" y="27940"/>
                </a:lnTo>
                <a:lnTo>
                  <a:pt x="2286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4453027" y="3843428"/>
            <a:ext cx="236220" cy="85725"/>
            <a:chOff x="2929027" y="3843427"/>
            <a:chExt cx="236220" cy="85725"/>
          </a:xfrm>
        </p:grpSpPr>
        <p:sp>
          <p:nvSpPr>
            <p:cNvPr id="23" name="object 23"/>
            <p:cNvSpPr/>
            <p:nvPr/>
          </p:nvSpPr>
          <p:spPr>
            <a:xfrm>
              <a:off x="2941320" y="3872229"/>
              <a:ext cx="223520" cy="50800"/>
            </a:xfrm>
            <a:custGeom>
              <a:avLst/>
              <a:gdLst/>
              <a:ahLst/>
              <a:cxnLst/>
              <a:rect l="l" t="t" r="r" b="b"/>
              <a:pathLst>
                <a:path w="223519" h="50800">
                  <a:moveTo>
                    <a:pt x="223520" y="0"/>
                  </a:moveTo>
                  <a:lnTo>
                    <a:pt x="30480" y="0"/>
                  </a:lnTo>
                  <a:lnTo>
                    <a:pt x="25400" y="0"/>
                  </a:lnTo>
                  <a:lnTo>
                    <a:pt x="24130" y="1270"/>
                  </a:lnTo>
                  <a:lnTo>
                    <a:pt x="19050" y="3810"/>
                  </a:lnTo>
                  <a:lnTo>
                    <a:pt x="17780" y="6350"/>
                  </a:lnTo>
                  <a:lnTo>
                    <a:pt x="0" y="36830"/>
                  </a:lnTo>
                  <a:lnTo>
                    <a:pt x="11430" y="44450"/>
                  </a:lnTo>
                  <a:lnTo>
                    <a:pt x="22860" y="50800"/>
                  </a:lnTo>
                  <a:lnTo>
                    <a:pt x="37757" y="27940"/>
                  </a:lnTo>
                  <a:lnTo>
                    <a:pt x="223520" y="27940"/>
                  </a:lnTo>
                  <a:lnTo>
                    <a:pt x="22352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33699" y="38481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574" y="3095"/>
                  </a:lnTo>
                  <a:lnTo>
                    <a:pt x="11430" y="11429"/>
                  </a:lnTo>
                  <a:lnTo>
                    <a:pt x="3095" y="23574"/>
                  </a:lnTo>
                  <a:lnTo>
                    <a:pt x="0" y="38100"/>
                  </a:lnTo>
                  <a:lnTo>
                    <a:pt x="3095" y="52625"/>
                  </a:lnTo>
                  <a:lnTo>
                    <a:pt x="11429" y="64769"/>
                  </a:lnTo>
                  <a:lnTo>
                    <a:pt x="23574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69" y="64770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574"/>
                  </a:lnTo>
                  <a:lnTo>
                    <a:pt x="64770" y="11430"/>
                  </a:lnTo>
                  <a:lnTo>
                    <a:pt x="52625" y="309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33699" y="38481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574" y="73104"/>
                  </a:lnTo>
                  <a:lnTo>
                    <a:pt x="11429" y="64769"/>
                  </a:lnTo>
                  <a:lnTo>
                    <a:pt x="3095" y="52625"/>
                  </a:lnTo>
                  <a:lnTo>
                    <a:pt x="0" y="38100"/>
                  </a:lnTo>
                  <a:lnTo>
                    <a:pt x="3095" y="23574"/>
                  </a:lnTo>
                  <a:lnTo>
                    <a:pt x="11430" y="11429"/>
                  </a:lnTo>
                  <a:lnTo>
                    <a:pt x="23574" y="3095"/>
                  </a:lnTo>
                  <a:lnTo>
                    <a:pt x="38100" y="0"/>
                  </a:lnTo>
                  <a:lnTo>
                    <a:pt x="52625" y="3095"/>
                  </a:lnTo>
                  <a:lnTo>
                    <a:pt x="64770" y="11430"/>
                  </a:lnTo>
                  <a:lnTo>
                    <a:pt x="73104" y="23574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69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6659879" y="3830727"/>
            <a:ext cx="199390" cy="148590"/>
            <a:chOff x="5135879" y="3830727"/>
            <a:chExt cx="199390" cy="148590"/>
          </a:xfrm>
        </p:grpSpPr>
        <p:sp>
          <p:nvSpPr>
            <p:cNvPr id="27" name="object 27"/>
            <p:cNvSpPr/>
            <p:nvPr/>
          </p:nvSpPr>
          <p:spPr>
            <a:xfrm>
              <a:off x="5135880" y="3872229"/>
              <a:ext cx="199390" cy="106680"/>
            </a:xfrm>
            <a:custGeom>
              <a:avLst/>
              <a:gdLst/>
              <a:ahLst/>
              <a:cxnLst/>
              <a:rect l="l" t="t" r="r" b="b"/>
              <a:pathLst>
                <a:path w="199389" h="106679">
                  <a:moveTo>
                    <a:pt x="199390" y="88900"/>
                  </a:moveTo>
                  <a:lnTo>
                    <a:pt x="133350" y="5080"/>
                  </a:lnTo>
                  <a:lnTo>
                    <a:pt x="129540" y="1270"/>
                  </a:lnTo>
                  <a:lnTo>
                    <a:pt x="127000" y="1270"/>
                  </a:lnTo>
                  <a:lnTo>
                    <a:pt x="124460" y="0"/>
                  </a:lnTo>
                  <a:lnTo>
                    <a:pt x="121920" y="0"/>
                  </a:lnTo>
                  <a:lnTo>
                    <a:pt x="0" y="0"/>
                  </a:lnTo>
                  <a:lnTo>
                    <a:pt x="0" y="27940"/>
                  </a:lnTo>
                  <a:lnTo>
                    <a:pt x="114490" y="27940"/>
                  </a:lnTo>
                  <a:lnTo>
                    <a:pt x="176530" y="106680"/>
                  </a:lnTo>
                  <a:lnTo>
                    <a:pt x="199390" y="8890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94299" y="38354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038" y="3095"/>
                  </a:lnTo>
                  <a:lnTo>
                    <a:pt x="10953" y="11429"/>
                  </a:lnTo>
                  <a:lnTo>
                    <a:pt x="2917" y="23574"/>
                  </a:lnTo>
                  <a:lnTo>
                    <a:pt x="0" y="38100"/>
                  </a:lnTo>
                  <a:lnTo>
                    <a:pt x="2917" y="53161"/>
                  </a:lnTo>
                  <a:lnTo>
                    <a:pt x="10953" y="65246"/>
                  </a:lnTo>
                  <a:lnTo>
                    <a:pt x="23038" y="73282"/>
                  </a:lnTo>
                  <a:lnTo>
                    <a:pt x="38100" y="76200"/>
                  </a:lnTo>
                  <a:lnTo>
                    <a:pt x="52625" y="73282"/>
                  </a:lnTo>
                  <a:lnTo>
                    <a:pt x="64770" y="65246"/>
                  </a:lnTo>
                  <a:lnTo>
                    <a:pt x="73104" y="53161"/>
                  </a:lnTo>
                  <a:lnTo>
                    <a:pt x="76200" y="38100"/>
                  </a:lnTo>
                  <a:lnTo>
                    <a:pt x="73104" y="23574"/>
                  </a:lnTo>
                  <a:lnTo>
                    <a:pt x="64770" y="11430"/>
                  </a:lnTo>
                  <a:lnTo>
                    <a:pt x="52625" y="309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94299" y="38354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282"/>
                  </a:lnTo>
                  <a:lnTo>
                    <a:pt x="10953" y="65246"/>
                  </a:lnTo>
                  <a:lnTo>
                    <a:pt x="2917" y="53161"/>
                  </a:lnTo>
                  <a:lnTo>
                    <a:pt x="0" y="38100"/>
                  </a:lnTo>
                  <a:lnTo>
                    <a:pt x="2917" y="23574"/>
                  </a:lnTo>
                  <a:lnTo>
                    <a:pt x="10953" y="11429"/>
                  </a:lnTo>
                  <a:lnTo>
                    <a:pt x="23038" y="3095"/>
                  </a:lnTo>
                  <a:lnTo>
                    <a:pt x="38100" y="0"/>
                  </a:lnTo>
                  <a:lnTo>
                    <a:pt x="52625" y="3095"/>
                  </a:lnTo>
                  <a:lnTo>
                    <a:pt x="64770" y="11430"/>
                  </a:lnTo>
                  <a:lnTo>
                    <a:pt x="73104" y="23574"/>
                  </a:lnTo>
                  <a:lnTo>
                    <a:pt x="76200" y="38100"/>
                  </a:lnTo>
                  <a:lnTo>
                    <a:pt x="73104" y="53161"/>
                  </a:lnTo>
                  <a:lnTo>
                    <a:pt x="64770" y="65246"/>
                  </a:lnTo>
                  <a:lnTo>
                    <a:pt x="52625" y="73282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458719" y="6269990"/>
            <a:ext cx="379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7" baseline="13888" dirty="0">
                <a:latin typeface="Palatino Linotype"/>
                <a:cs typeface="Palatino Linotype"/>
              </a:rPr>
              <a:t>p</a:t>
            </a:r>
            <a:r>
              <a:rPr sz="1150" b="1" spc="-25" dirty="0">
                <a:latin typeface="Palatino Linotype"/>
                <a:cs typeface="Palatino Linotype"/>
              </a:rPr>
              <a:t>00</a:t>
            </a:r>
            <a:endParaRPr sz="1150">
              <a:latin typeface="Palatino Linotype"/>
              <a:cs typeface="Palatino Linotyp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29100" y="3450590"/>
            <a:ext cx="379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7" baseline="13888" dirty="0">
                <a:latin typeface="Palatino Linotype"/>
                <a:cs typeface="Palatino Linotype"/>
              </a:rPr>
              <a:t>p</a:t>
            </a:r>
            <a:r>
              <a:rPr sz="1150" b="1" spc="-25" dirty="0">
                <a:latin typeface="Palatino Linotype"/>
                <a:cs typeface="Palatino Linotype"/>
              </a:rPr>
              <a:t>10</a:t>
            </a:r>
            <a:endParaRPr sz="1150">
              <a:latin typeface="Palatino Linotype"/>
              <a:cs typeface="Palatino Linotyp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96100" y="3450590"/>
            <a:ext cx="379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7" baseline="13888" dirty="0">
                <a:latin typeface="Palatino Linotype"/>
                <a:cs typeface="Palatino Linotype"/>
              </a:rPr>
              <a:t>p</a:t>
            </a:r>
            <a:r>
              <a:rPr sz="1150" b="1" spc="-25" dirty="0">
                <a:latin typeface="Palatino Linotype"/>
                <a:cs typeface="Palatino Linotype"/>
              </a:rPr>
              <a:t>20</a:t>
            </a:r>
            <a:endParaRPr sz="1150">
              <a:latin typeface="Palatino Linotype"/>
              <a:cs typeface="Palatino Linotyp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915400" y="6193790"/>
            <a:ext cx="379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7" baseline="13888" dirty="0">
                <a:latin typeface="Palatino Linotype"/>
                <a:cs typeface="Palatino Linotype"/>
              </a:rPr>
              <a:t>p</a:t>
            </a:r>
            <a:r>
              <a:rPr sz="1150" b="1" spc="-25" dirty="0">
                <a:latin typeface="Palatino Linotype"/>
                <a:cs typeface="Palatino Linotype"/>
              </a:rPr>
              <a:t>30</a:t>
            </a:r>
            <a:endParaRPr sz="1150">
              <a:latin typeface="Palatino Linotype"/>
              <a:cs typeface="Palatino Linotyp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30590" y="4246879"/>
            <a:ext cx="7683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dirty="0">
                <a:latin typeface="Cambria"/>
                <a:cs typeface="Cambria"/>
              </a:rPr>
              <a:t>u</a:t>
            </a:r>
            <a:r>
              <a:rPr sz="2000" i="1" spc="8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= </a:t>
            </a:r>
            <a:r>
              <a:rPr sz="2000" spc="-25" dirty="0">
                <a:latin typeface="Cambria"/>
                <a:cs typeface="Cambria"/>
              </a:rPr>
              <a:t>0.5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238500" y="4898390"/>
            <a:ext cx="379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7" baseline="13888" dirty="0">
                <a:latin typeface="Palatino Linotype"/>
                <a:cs typeface="Palatino Linotype"/>
              </a:rPr>
              <a:t>p</a:t>
            </a:r>
            <a:r>
              <a:rPr sz="1150" b="1" spc="-25" dirty="0">
                <a:latin typeface="Palatino Linotype"/>
                <a:cs typeface="Palatino Linotype"/>
              </a:rPr>
              <a:t>01</a:t>
            </a:r>
            <a:endParaRPr sz="1150">
              <a:latin typeface="Palatino Linotype"/>
              <a:cs typeface="Palatino Linotyp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48300" y="3526790"/>
            <a:ext cx="3810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7" baseline="13888" dirty="0">
                <a:latin typeface="Palatino Linotype"/>
                <a:cs typeface="Palatino Linotype"/>
              </a:rPr>
              <a:t>p</a:t>
            </a:r>
            <a:r>
              <a:rPr sz="1150" b="1" spc="-25" dirty="0">
                <a:latin typeface="Palatino Linotype"/>
                <a:cs typeface="Palatino Linotype"/>
              </a:rPr>
              <a:t>11</a:t>
            </a:r>
            <a:endParaRPr sz="1150">
              <a:latin typeface="Palatino Linotype"/>
              <a:cs typeface="Palatino Linotyp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886700" y="4898390"/>
            <a:ext cx="379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7" baseline="13888" dirty="0">
                <a:latin typeface="Palatino Linotype"/>
                <a:cs typeface="Palatino Linotype"/>
              </a:rPr>
              <a:t>p</a:t>
            </a:r>
            <a:r>
              <a:rPr sz="1150" b="1" spc="-25" dirty="0">
                <a:latin typeface="Palatino Linotype"/>
                <a:cs typeface="Palatino Linotype"/>
              </a:rPr>
              <a:t>21</a:t>
            </a:r>
            <a:endParaRPr sz="1150">
              <a:latin typeface="Palatino Linotype"/>
              <a:cs typeface="Palatino Linotype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726180" y="3843337"/>
            <a:ext cx="3961129" cy="1273810"/>
            <a:chOff x="2202179" y="3843337"/>
            <a:chExt cx="3961129" cy="1273810"/>
          </a:xfrm>
        </p:grpSpPr>
        <p:sp>
          <p:nvSpPr>
            <p:cNvPr id="39" name="object 39"/>
            <p:cNvSpPr/>
            <p:nvPr/>
          </p:nvSpPr>
          <p:spPr>
            <a:xfrm>
              <a:off x="4051300" y="38481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038" y="3095"/>
                  </a:lnTo>
                  <a:lnTo>
                    <a:pt x="10953" y="11429"/>
                  </a:lnTo>
                  <a:lnTo>
                    <a:pt x="2917" y="23574"/>
                  </a:lnTo>
                  <a:lnTo>
                    <a:pt x="0" y="38100"/>
                  </a:lnTo>
                  <a:lnTo>
                    <a:pt x="2917" y="52625"/>
                  </a:lnTo>
                  <a:lnTo>
                    <a:pt x="10953" y="64769"/>
                  </a:lnTo>
                  <a:lnTo>
                    <a:pt x="23038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70" y="64770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574"/>
                  </a:lnTo>
                  <a:lnTo>
                    <a:pt x="64770" y="11430"/>
                  </a:lnTo>
                  <a:lnTo>
                    <a:pt x="52625" y="309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051300" y="38481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104"/>
                  </a:lnTo>
                  <a:lnTo>
                    <a:pt x="10953" y="64769"/>
                  </a:lnTo>
                  <a:lnTo>
                    <a:pt x="2917" y="52625"/>
                  </a:lnTo>
                  <a:lnTo>
                    <a:pt x="0" y="38100"/>
                  </a:lnTo>
                  <a:lnTo>
                    <a:pt x="2917" y="23574"/>
                  </a:lnTo>
                  <a:lnTo>
                    <a:pt x="10953" y="11429"/>
                  </a:lnTo>
                  <a:lnTo>
                    <a:pt x="23038" y="3095"/>
                  </a:lnTo>
                  <a:lnTo>
                    <a:pt x="38100" y="0"/>
                  </a:lnTo>
                  <a:lnTo>
                    <a:pt x="52625" y="3095"/>
                  </a:lnTo>
                  <a:lnTo>
                    <a:pt x="64770" y="11430"/>
                  </a:lnTo>
                  <a:lnTo>
                    <a:pt x="73104" y="23574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70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202180" y="3873499"/>
              <a:ext cx="3961129" cy="1243330"/>
            </a:xfrm>
            <a:custGeom>
              <a:avLst/>
              <a:gdLst/>
              <a:ahLst/>
              <a:cxnLst/>
              <a:rect l="l" t="t" r="r" b="b"/>
              <a:pathLst>
                <a:path w="3961129" h="1243329">
                  <a:moveTo>
                    <a:pt x="208280" y="1120140"/>
                  </a:moveTo>
                  <a:lnTo>
                    <a:pt x="193040" y="1096010"/>
                  </a:lnTo>
                  <a:lnTo>
                    <a:pt x="0" y="1219200"/>
                  </a:lnTo>
                  <a:lnTo>
                    <a:pt x="15240" y="1243330"/>
                  </a:lnTo>
                  <a:lnTo>
                    <a:pt x="208280" y="1120140"/>
                  </a:lnTo>
                  <a:close/>
                </a:path>
                <a:path w="3961129" h="1243329">
                  <a:moveTo>
                    <a:pt x="472440" y="951230"/>
                  </a:moveTo>
                  <a:lnTo>
                    <a:pt x="457200" y="927100"/>
                  </a:lnTo>
                  <a:lnTo>
                    <a:pt x="264160" y="1050290"/>
                  </a:lnTo>
                  <a:lnTo>
                    <a:pt x="279400" y="1074420"/>
                  </a:lnTo>
                  <a:lnTo>
                    <a:pt x="472440" y="951230"/>
                  </a:lnTo>
                  <a:close/>
                </a:path>
                <a:path w="3961129" h="1243329">
                  <a:moveTo>
                    <a:pt x="736600" y="781050"/>
                  </a:moveTo>
                  <a:lnTo>
                    <a:pt x="721360" y="756920"/>
                  </a:lnTo>
                  <a:lnTo>
                    <a:pt x="529590" y="881380"/>
                  </a:lnTo>
                  <a:lnTo>
                    <a:pt x="544830" y="904240"/>
                  </a:lnTo>
                  <a:lnTo>
                    <a:pt x="736600" y="781050"/>
                  </a:lnTo>
                  <a:close/>
                </a:path>
                <a:path w="3961129" h="1243329">
                  <a:moveTo>
                    <a:pt x="1002030" y="612140"/>
                  </a:moveTo>
                  <a:lnTo>
                    <a:pt x="986790" y="588010"/>
                  </a:lnTo>
                  <a:lnTo>
                    <a:pt x="793750" y="711200"/>
                  </a:lnTo>
                  <a:lnTo>
                    <a:pt x="808990" y="735330"/>
                  </a:lnTo>
                  <a:lnTo>
                    <a:pt x="1002030" y="612140"/>
                  </a:lnTo>
                  <a:close/>
                </a:path>
                <a:path w="3961129" h="1243329">
                  <a:moveTo>
                    <a:pt x="1266190" y="443230"/>
                  </a:moveTo>
                  <a:lnTo>
                    <a:pt x="1250950" y="419100"/>
                  </a:lnTo>
                  <a:lnTo>
                    <a:pt x="1059180" y="542290"/>
                  </a:lnTo>
                  <a:lnTo>
                    <a:pt x="1074420" y="566420"/>
                  </a:lnTo>
                  <a:lnTo>
                    <a:pt x="1266190" y="443230"/>
                  </a:lnTo>
                  <a:close/>
                </a:path>
                <a:path w="3961129" h="1243329">
                  <a:moveTo>
                    <a:pt x="1531620" y="273050"/>
                  </a:moveTo>
                  <a:lnTo>
                    <a:pt x="1516380" y="248920"/>
                  </a:lnTo>
                  <a:lnTo>
                    <a:pt x="1323340" y="372110"/>
                  </a:lnTo>
                  <a:lnTo>
                    <a:pt x="1338580" y="396240"/>
                  </a:lnTo>
                  <a:lnTo>
                    <a:pt x="1531620" y="273050"/>
                  </a:lnTo>
                  <a:close/>
                </a:path>
                <a:path w="3961129" h="1243329">
                  <a:moveTo>
                    <a:pt x="1795780" y="104140"/>
                  </a:moveTo>
                  <a:lnTo>
                    <a:pt x="1780540" y="80010"/>
                  </a:lnTo>
                  <a:lnTo>
                    <a:pt x="1587500" y="203200"/>
                  </a:lnTo>
                  <a:lnTo>
                    <a:pt x="1604010" y="227330"/>
                  </a:lnTo>
                  <a:lnTo>
                    <a:pt x="1795780" y="104140"/>
                  </a:lnTo>
                  <a:close/>
                </a:path>
                <a:path w="3961129" h="1243329">
                  <a:moveTo>
                    <a:pt x="2042160" y="113030"/>
                  </a:moveTo>
                  <a:lnTo>
                    <a:pt x="1903755" y="34582"/>
                  </a:lnTo>
                  <a:lnTo>
                    <a:pt x="1920240" y="24130"/>
                  </a:lnTo>
                  <a:lnTo>
                    <a:pt x="1905000" y="0"/>
                  </a:lnTo>
                  <a:lnTo>
                    <a:pt x="1875624" y="18630"/>
                  </a:lnTo>
                  <a:lnTo>
                    <a:pt x="1842770" y="0"/>
                  </a:lnTo>
                  <a:lnTo>
                    <a:pt x="1830070" y="25400"/>
                  </a:lnTo>
                  <a:lnTo>
                    <a:pt x="1858098" y="41224"/>
                  </a:lnTo>
                  <a:lnTo>
                    <a:pt x="1868170" y="57150"/>
                  </a:lnTo>
                  <a:lnTo>
                    <a:pt x="1876729" y="51727"/>
                  </a:lnTo>
                  <a:lnTo>
                    <a:pt x="2028190" y="137160"/>
                  </a:lnTo>
                  <a:lnTo>
                    <a:pt x="2042160" y="113030"/>
                  </a:lnTo>
                  <a:close/>
                </a:path>
                <a:path w="3961129" h="1243329">
                  <a:moveTo>
                    <a:pt x="2316480" y="266700"/>
                  </a:moveTo>
                  <a:lnTo>
                    <a:pt x="2117090" y="153670"/>
                  </a:lnTo>
                  <a:lnTo>
                    <a:pt x="2103120" y="179070"/>
                  </a:lnTo>
                  <a:lnTo>
                    <a:pt x="2302510" y="290830"/>
                  </a:lnTo>
                  <a:lnTo>
                    <a:pt x="2316480" y="266700"/>
                  </a:lnTo>
                  <a:close/>
                </a:path>
                <a:path w="3961129" h="1243329">
                  <a:moveTo>
                    <a:pt x="2590800" y="420370"/>
                  </a:moveTo>
                  <a:lnTo>
                    <a:pt x="2391410" y="308610"/>
                  </a:lnTo>
                  <a:lnTo>
                    <a:pt x="2377440" y="332740"/>
                  </a:lnTo>
                  <a:lnTo>
                    <a:pt x="2576830" y="444500"/>
                  </a:lnTo>
                  <a:lnTo>
                    <a:pt x="2590800" y="420370"/>
                  </a:lnTo>
                  <a:close/>
                </a:path>
                <a:path w="3961129" h="1243329">
                  <a:moveTo>
                    <a:pt x="2863850" y="574040"/>
                  </a:moveTo>
                  <a:lnTo>
                    <a:pt x="2665730" y="462280"/>
                  </a:lnTo>
                  <a:lnTo>
                    <a:pt x="2651760" y="486410"/>
                  </a:lnTo>
                  <a:lnTo>
                    <a:pt x="2851150" y="598170"/>
                  </a:lnTo>
                  <a:lnTo>
                    <a:pt x="2863850" y="574040"/>
                  </a:lnTo>
                  <a:close/>
                </a:path>
                <a:path w="3961129" h="1243329">
                  <a:moveTo>
                    <a:pt x="3138170" y="727710"/>
                  </a:moveTo>
                  <a:lnTo>
                    <a:pt x="2938780" y="615950"/>
                  </a:lnTo>
                  <a:lnTo>
                    <a:pt x="2924810" y="641350"/>
                  </a:lnTo>
                  <a:lnTo>
                    <a:pt x="3124200" y="753110"/>
                  </a:lnTo>
                  <a:lnTo>
                    <a:pt x="3138170" y="727710"/>
                  </a:lnTo>
                  <a:close/>
                </a:path>
                <a:path w="3961129" h="1243329">
                  <a:moveTo>
                    <a:pt x="3412490" y="882650"/>
                  </a:moveTo>
                  <a:lnTo>
                    <a:pt x="3213100" y="769620"/>
                  </a:lnTo>
                  <a:lnTo>
                    <a:pt x="3199130" y="795020"/>
                  </a:lnTo>
                  <a:lnTo>
                    <a:pt x="3398520" y="906780"/>
                  </a:lnTo>
                  <a:lnTo>
                    <a:pt x="3412490" y="882650"/>
                  </a:lnTo>
                  <a:close/>
                </a:path>
                <a:path w="3961129" h="1243329">
                  <a:moveTo>
                    <a:pt x="3686810" y="1036320"/>
                  </a:moveTo>
                  <a:lnTo>
                    <a:pt x="3487420" y="923290"/>
                  </a:lnTo>
                  <a:lnTo>
                    <a:pt x="3473450" y="948690"/>
                  </a:lnTo>
                  <a:lnTo>
                    <a:pt x="3672840" y="1060450"/>
                  </a:lnTo>
                  <a:lnTo>
                    <a:pt x="3686810" y="1036320"/>
                  </a:lnTo>
                  <a:close/>
                </a:path>
                <a:path w="3961129" h="1243329">
                  <a:moveTo>
                    <a:pt x="3961130" y="1189990"/>
                  </a:moveTo>
                  <a:lnTo>
                    <a:pt x="3761740" y="1078230"/>
                  </a:lnTo>
                  <a:lnTo>
                    <a:pt x="3747770" y="1102360"/>
                  </a:lnTo>
                  <a:lnTo>
                    <a:pt x="3947160" y="1214120"/>
                  </a:lnTo>
                  <a:lnTo>
                    <a:pt x="3961130" y="118999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111499" y="44564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574" y="2917"/>
                  </a:lnTo>
                  <a:lnTo>
                    <a:pt x="11430" y="10953"/>
                  </a:lnTo>
                  <a:lnTo>
                    <a:pt x="3095" y="23038"/>
                  </a:lnTo>
                  <a:lnTo>
                    <a:pt x="0" y="38100"/>
                  </a:lnTo>
                  <a:lnTo>
                    <a:pt x="3095" y="52625"/>
                  </a:lnTo>
                  <a:lnTo>
                    <a:pt x="11429" y="64770"/>
                  </a:lnTo>
                  <a:lnTo>
                    <a:pt x="23574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69" y="64770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038"/>
                  </a:lnTo>
                  <a:lnTo>
                    <a:pt x="64770" y="10953"/>
                  </a:lnTo>
                  <a:lnTo>
                    <a:pt x="52625" y="291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111499" y="44564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574" y="73104"/>
                  </a:lnTo>
                  <a:lnTo>
                    <a:pt x="11429" y="64770"/>
                  </a:lnTo>
                  <a:lnTo>
                    <a:pt x="3095" y="52625"/>
                  </a:lnTo>
                  <a:lnTo>
                    <a:pt x="0" y="38100"/>
                  </a:lnTo>
                  <a:lnTo>
                    <a:pt x="3095" y="23038"/>
                  </a:lnTo>
                  <a:lnTo>
                    <a:pt x="11430" y="10953"/>
                  </a:lnTo>
                  <a:lnTo>
                    <a:pt x="23574" y="2917"/>
                  </a:lnTo>
                  <a:lnTo>
                    <a:pt x="38100" y="0"/>
                  </a:lnTo>
                  <a:lnTo>
                    <a:pt x="52625" y="2917"/>
                  </a:lnTo>
                  <a:lnTo>
                    <a:pt x="64770" y="10953"/>
                  </a:lnTo>
                  <a:lnTo>
                    <a:pt x="73104" y="23038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69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111750" y="44577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574" y="2917"/>
                  </a:lnTo>
                  <a:lnTo>
                    <a:pt x="11429" y="10953"/>
                  </a:lnTo>
                  <a:lnTo>
                    <a:pt x="3095" y="23038"/>
                  </a:lnTo>
                  <a:lnTo>
                    <a:pt x="0" y="38100"/>
                  </a:lnTo>
                  <a:lnTo>
                    <a:pt x="3095" y="52625"/>
                  </a:lnTo>
                  <a:lnTo>
                    <a:pt x="11429" y="64769"/>
                  </a:lnTo>
                  <a:lnTo>
                    <a:pt x="23574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70" y="64770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038"/>
                  </a:lnTo>
                  <a:lnTo>
                    <a:pt x="64770" y="10953"/>
                  </a:lnTo>
                  <a:lnTo>
                    <a:pt x="52625" y="291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111750" y="44577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574" y="73104"/>
                  </a:lnTo>
                  <a:lnTo>
                    <a:pt x="11429" y="64769"/>
                  </a:lnTo>
                  <a:lnTo>
                    <a:pt x="3095" y="52625"/>
                  </a:lnTo>
                  <a:lnTo>
                    <a:pt x="0" y="38100"/>
                  </a:lnTo>
                  <a:lnTo>
                    <a:pt x="3095" y="23038"/>
                  </a:lnTo>
                  <a:lnTo>
                    <a:pt x="11429" y="10953"/>
                  </a:lnTo>
                  <a:lnTo>
                    <a:pt x="23574" y="2917"/>
                  </a:lnTo>
                  <a:lnTo>
                    <a:pt x="38100" y="0"/>
                  </a:lnTo>
                  <a:lnTo>
                    <a:pt x="52625" y="2917"/>
                  </a:lnTo>
                  <a:lnTo>
                    <a:pt x="64770" y="10953"/>
                  </a:lnTo>
                  <a:lnTo>
                    <a:pt x="73104" y="23038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70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533901" y="4136390"/>
            <a:ext cx="7283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  <a:tabLst>
                <a:tab pos="689610" algn="l"/>
              </a:tabLst>
            </a:pPr>
            <a:r>
              <a:rPr sz="3000" b="1" baseline="13888" dirty="0">
                <a:latin typeface="Palatino Linotype"/>
                <a:cs typeface="Palatino Linotype"/>
              </a:rPr>
              <a:t>p</a:t>
            </a:r>
            <a:r>
              <a:rPr sz="1150" b="1" dirty="0">
                <a:latin typeface="Palatino Linotype"/>
                <a:cs typeface="Palatino Linotype"/>
              </a:rPr>
              <a:t>02</a:t>
            </a:r>
            <a:r>
              <a:rPr sz="1150" b="1" spc="380" dirty="0">
                <a:latin typeface="Palatino Linotype"/>
                <a:cs typeface="Palatino Linotype"/>
              </a:rPr>
              <a:t> </a:t>
            </a:r>
            <a:r>
              <a:rPr sz="1150" u="heavy" dirty="0">
                <a:uFill>
                  <a:solidFill>
                    <a:srgbClr val="339933"/>
                  </a:solidFill>
                </a:uFill>
                <a:latin typeface="Times New Roman"/>
                <a:cs typeface="Times New Roman"/>
              </a:rPr>
              <a:t>	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438900" y="4136390"/>
            <a:ext cx="379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7" baseline="13888" dirty="0">
                <a:latin typeface="Palatino Linotype"/>
                <a:cs typeface="Palatino Linotype"/>
              </a:rPr>
              <a:t>p</a:t>
            </a:r>
            <a:r>
              <a:rPr sz="1150" b="1" spc="-25" dirty="0">
                <a:latin typeface="Palatino Linotype"/>
                <a:cs typeface="Palatino Linotype"/>
              </a:rPr>
              <a:t>12</a:t>
            </a:r>
            <a:endParaRPr sz="1150">
              <a:latin typeface="Palatino Linotype"/>
              <a:cs typeface="Palatino Linotype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648200" y="4464458"/>
            <a:ext cx="2057400" cy="86995"/>
            <a:chOff x="3124200" y="4464457"/>
            <a:chExt cx="2057400" cy="86995"/>
          </a:xfrm>
        </p:grpSpPr>
        <p:sp>
          <p:nvSpPr>
            <p:cNvPr id="49" name="object 49"/>
            <p:cNvSpPr/>
            <p:nvPr/>
          </p:nvSpPr>
          <p:spPr>
            <a:xfrm>
              <a:off x="3124200" y="4481829"/>
              <a:ext cx="2057400" cy="27940"/>
            </a:xfrm>
            <a:custGeom>
              <a:avLst/>
              <a:gdLst/>
              <a:ahLst/>
              <a:cxnLst/>
              <a:rect l="l" t="t" r="r" b="b"/>
              <a:pathLst>
                <a:path w="2057400" h="27939">
                  <a:moveTo>
                    <a:pt x="228600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228600" y="27940"/>
                  </a:lnTo>
                  <a:lnTo>
                    <a:pt x="228600" y="0"/>
                  </a:lnTo>
                  <a:close/>
                </a:path>
                <a:path w="2057400" h="27939">
                  <a:moveTo>
                    <a:pt x="857250" y="0"/>
                  </a:moveTo>
                  <a:lnTo>
                    <a:pt x="628650" y="0"/>
                  </a:lnTo>
                  <a:lnTo>
                    <a:pt x="628650" y="27940"/>
                  </a:lnTo>
                  <a:lnTo>
                    <a:pt x="857250" y="27940"/>
                  </a:lnTo>
                  <a:lnTo>
                    <a:pt x="857250" y="0"/>
                  </a:lnTo>
                  <a:close/>
                </a:path>
                <a:path w="2057400" h="27939">
                  <a:moveTo>
                    <a:pt x="1170940" y="0"/>
                  </a:moveTo>
                  <a:lnTo>
                    <a:pt x="942340" y="0"/>
                  </a:lnTo>
                  <a:lnTo>
                    <a:pt x="942340" y="27940"/>
                  </a:lnTo>
                  <a:lnTo>
                    <a:pt x="1170940" y="27940"/>
                  </a:lnTo>
                  <a:lnTo>
                    <a:pt x="1170940" y="0"/>
                  </a:lnTo>
                  <a:close/>
                </a:path>
                <a:path w="2057400" h="27939">
                  <a:moveTo>
                    <a:pt x="1485900" y="0"/>
                  </a:moveTo>
                  <a:lnTo>
                    <a:pt x="1257300" y="0"/>
                  </a:lnTo>
                  <a:lnTo>
                    <a:pt x="1257300" y="27940"/>
                  </a:lnTo>
                  <a:lnTo>
                    <a:pt x="1485900" y="27940"/>
                  </a:lnTo>
                  <a:lnTo>
                    <a:pt x="1485900" y="0"/>
                  </a:lnTo>
                  <a:close/>
                </a:path>
                <a:path w="2057400" h="27939">
                  <a:moveTo>
                    <a:pt x="1799590" y="0"/>
                  </a:moveTo>
                  <a:lnTo>
                    <a:pt x="1570990" y="0"/>
                  </a:lnTo>
                  <a:lnTo>
                    <a:pt x="1570990" y="27940"/>
                  </a:lnTo>
                  <a:lnTo>
                    <a:pt x="1799590" y="27940"/>
                  </a:lnTo>
                  <a:lnTo>
                    <a:pt x="1799590" y="0"/>
                  </a:lnTo>
                  <a:close/>
                </a:path>
                <a:path w="2057400" h="27939">
                  <a:moveTo>
                    <a:pt x="2057400" y="0"/>
                  </a:moveTo>
                  <a:lnTo>
                    <a:pt x="1885950" y="0"/>
                  </a:lnTo>
                  <a:lnTo>
                    <a:pt x="1885950" y="27940"/>
                  </a:lnTo>
                  <a:lnTo>
                    <a:pt x="2057400" y="27940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33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064000" y="4469130"/>
              <a:ext cx="76200" cy="77470"/>
            </a:xfrm>
            <a:custGeom>
              <a:avLst/>
              <a:gdLst/>
              <a:ahLst/>
              <a:cxnLst/>
              <a:rect l="l" t="t" r="r" b="b"/>
              <a:pathLst>
                <a:path w="76200" h="77470">
                  <a:moveTo>
                    <a:pt x="38100" y="0"/>
                  </a:moveTo>
                  <a:lnTo>
                    <a:pt x="23574" y="3115"/>
                  </a:lnTo>
                  <a:lnTo>
                    <a:pt x="11429" y="11588"/>
                  </a:lnTo>
                  <a:lnTo>
                    <a:pt x="3095" y="24110"/>
                  </a:lnTo>
                  <a:lnTo>
                    <a:pt x="0" y="39370"/>
                  </a:lnTo>
                  <a:lnTo>
                    <a:pt x="3095" y="53895"/>
                  </a:lnTo>
                  <a:lnTo>
                    <a:pt x="11429" y="66040"/>
                  </a:lnTo>
                  <a:lnTo>
                    <a:pt x="23574" y="74374"/>
                  </a:lnTo>
                  <a:lnTo>
                    <a:pt x="38100" y="77470"/>
                  </a:lnTo>
                  <a:lnTo>
                    <a:pt x="53161" y="74374"/>
                  </a:lnTo>
                  <a:lnTo>
                    <a:pt x="65246" y="66040"/>
                  </a:lnTo>
                  <a:lnTo>
                    <a:pt x="73282" y="53895"/>
                  </a:lnTo>
                  <a:lnTo>
                    <a:pt x="76200" y="39370"/>
                  </a:lnTo>
                  <a:lnTo>
                    <a:pt x="73282" y="24110"/>
                  </a:lnTo>
                  <a:lnTo>
                    <a:pt x="65246" y="11588"/>
                  </a:lnTo>
                  <a:lnTo>
                    <a:pt x="53161" y="311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064000" y="4469130"/>
              <a:ext cx="76200" cy="77470"/>
            </a:xfrm>
            <a:custGeom>
              <a:avLst/>
              <a:gdLst/>
              <a:ahLst/>
              <a:cxnLst/>
              <a:rect l="l" t="t" r="r" b="b"/>
              <a:pathLst>
                <a:path w="76200" h="77470">
                  <a:moveTo>
                    <a:pt x="38100" y="77470"/>
                  </a:moveTo>
                  <a:lnTo>
                    <a:pt x="23574" y="74374"/>
                  </a:lnTo>
                  <a:lnTo>
                    <a:pt x="11429" y="66040"/>
                  </a:lnTo>
                  <a:lnTo>
                    <a:pt x="3095" y="53895"/>
                  </a:lnTo>
                  <a:lnTo>
                    <a:pt x="0" y="39370"/>
                  </a:lnTo>
                  <a:lnTo>
                    <a:pt x="3095" y="24110"/>
                  </a:lnTo>
                  <a:lnTo>
                    <a:pt x="11429" y="11588"/>
                  </a:lnTo>
                  <a:lnTo>
                    <a:pt x="23574" y="3115"/>
                  </a:lnTo>
                  <a:lnTo>
                    <a:pt x="38100" y="0"/>
                  </a:lnTo>
                  <a:lnTo>
                    <a:pt x="53161" y="3115"/>
                  </a:lnTo>
                  <a:lnTo>
                    <a:pt x="65246" y="11588"/>
                  </a:lnTo>
                  <a:lnTo>
                    <a:pt x="73282" y="24110"/>
                  </a:lnTo>
                  <a:lnTo>
                    <a:pt x="76200" y="39370"/>
                  </a:lnTo>
                  <a:lnTo>
                    <a:pt x="73282" y="53895"/>
                  </a:lnTo>
                  <a:lnTo>
                    <a:pt x="65246" y="66040"/>
                  </a:lnTo>
                  <a:lnTo>
                    <a:pt x="53161" y="74374"/>
                  </a:lnTo>
                  <a:lnTo>
                    <a:pt x="38100" y="7747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5448300" y="4669790"/>
            <a:ext cx="3810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7" baseline="13888" dirty="0">
                <a:latin typeface="Palatino Linotype"/>
                <a:cs typeface="Palatino Linotype"/>
              </a:rPr>
              <a:t>p</a:t>
            </a:r>
            <a:r>
              <a:rPr sz="1150" b="1" spc="-25" dirty="0">
                <a:latin typeface="Palatino Linotype"/>
                <a:cs typeface="Palatino Linotype"/>
              </a:rPr>
              <a:t>03</a:t>
            </a:r>
            <a:endParaRPr sz="1150">
              <a:latin typeface="Palatino Linotype"/>
              <a:cs typeface="Palatino Linotype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2959100" y="4481829"/>
            <a:ext cx="5739130" cy="1851660"/>
            <a:chOff x="1435100" y="4481829"/>
            <a:chExt cx="5739130" cy="1851660"/>
          </a:xfrm>
        </p:grpSpPr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7800" y="4494529"/>
              <a:ext cx="2667000" cy="183007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435100" y="4481829"/>
              <a:ext cx="2679700" cy="1850389"/>
            </a:xfrm>
            <a:custGeom>
              <a:avLst/>
              <a:gdLst/>
              <a:ahLst/>
              <a:cxnLst/>
              <a:rect l="l" t="t" r="r" b="b"/>
              <a:pathLst>
                <a:path w="2679700" h="1850389">
                  <a:moveTo>
                    <a:pt x="2679700" y="0"/>
                  </a:moveTo>
                  <a:lnTo>
                    <a:pt x="1727200" y="0"/>
                  </a:lnTo>
                  <a:lnTo>
                    <a:pt x="1723390" y="0"/>
                  </a:lnTo>
                  <a:lnTo>
                    <a:pt x="1722120" y="1270"/>
                  </a:lnTo>
                  <a:lnTo>
                    <a:pt x="1719580" y="2540"/>
                  </a:lnTo>
                  <a:lnTo>
                    <a:pt x="767080" y="610870"/>
                  </a:lnTo>
                  <a:lnTo>
                    <a:pt x="762000" y="615950"/>
                  </a:lnTo>
                  <a:lnTo>
                    <a:pt x="0" y="1835150"/>
                  </a:lnTo>
                  <a:lnTo>
                    <a:pt x="25400" y="1850390"/>
                  </a:lnTo>
                  <a:lnTo>
                    <a:pt x="786815" y="632129"/>
                  </a:lnTo>
                  <a:lnTo>
                    <a:pt x="1730844" y="27940"/>
                  </a:lnTo>
                  <a:lnTo>
                    <a:pt x="2679700" y="27940"/>
                  </a:lnTo>
                  <a:lnTo>
                    <a:pt x="26797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4800" y="4494529"/>
              <a:ext cx="3049270" cy="183007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4114800" y="4481829"/>
              <a:ext cx="3059430" cy="1851660"/>
            </a:xfrm>
            <a:custGeom>
              <a:avLst/>
              <a:gdLst/>
              <a:ahLst/>
              <a:cxnLst/>
              <a:rect l="l" t="t" r="r" b="b"/>
              <a:pathLst>
                <a:path w="3059429" h="1851660">
                  <a:moveTo>
                    <a:pt x="3059430" y="1833880"/>
                  </a:moveTo>
                  <a:lnTo>
                    <a:pt x="2106930" y="614680"/>
                  </a:lnTo>
                  <a:lnTo>
                    <a:pt x="2104390" y="612140"/>
                  </a:lnTo>
                  <a:lnTo>
                    <a:pt x="2101850" y="610870"/>
                  </a:lnTo>
                  <a:lnTo>
                    <a:pt x="996950" y="1270"/>
                  </a:lnTo>
                  <a:lnTo>
                    <a:pt x="995680" y="0"/>
                  </a:lnTo>
                  <a:lnTo>
                    <a:pt x="990600" y="0"/>
                  </a:lnTo>
                  <a:lnTo>
                    <a:pt x="0" y="0"/>
                  </a:lnTo>
                  <a:lnTo>
                    <a:pt x="0" y="27940"/>
                  </a:lnTo>
                  <a:lnTo>
                    <a:pt x="985278" y="27940"/>
                  </a:lnTo>
                  <a:lnTo>
                    <a:pt x="2086406" y="635469"/>
                  </a:lnTo>
                  <a:lnTo>
                    <a:pt x="3036570" y="1851660"/>
                  </a:lnTo>
                  <a:lnTo>
                    <a:pt x="3059430" y="183388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8130">
              <a:spcBef>
                <a:spcPts val="100"/>
              </a:spcBef>
            </a:pPr>
            <a:r>
              <a:rPr dirty="0"/>
              <a:t>Curvas</a:t>
            </a:r>
            <a:r>
              <a:rPr spc="-25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spc="-10" dirty="0"/>
              <a:t>Hermite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69" y="1205229"/>
            <a:ext cx="1193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69" y="2136140"/>
            <a:ext cx="1193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8669" y="2778759"/>
            <a:ext cx="1193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2000" y="1566261"/>
            <a:ext cx="7610475" cy="1946559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ct val="89900"/>
              </a:lnSpc>
              <a:spcBef>
                <a:spcPts val="355"/>
              </a:spcBef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Ao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invés de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modelar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partir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um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polígono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controle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(Bézier),</a:t>
            </a:r>
            <a:r>
              <a:rPr sz="2100" spc="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especifica-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100" spc="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controle e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vetores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tangentes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nesses</a:t>
            </a:r>
            <a:r>
              <a:rPr sz="2100" spc="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 marR="238760">
              <a:lnSpc>
                <a:spcPts val="2260"/>
              </a:lnSpc>
              <a:spcBef>
                <a:spcPts val="570"/>
              </a:spcBef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Vantagem: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1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fácil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emendar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várias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curvas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bastando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especificar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tangentes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iguais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nos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emenda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>
              <a:spcBef>
                <a:spcPts val="250"/>
              </a:spcBef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Exemplos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(cúbicas):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125469" y="3581400"/>
            <a:ext cx="4644390" cy="3124200"/>
            <a:chOff x="1601469" y="3581400"/>
            <a:chExt cx="4644390" cy="3124200"/>
          </a:xfrm>
        </p:grpSpPr>
        <p:sp>
          <p:nvSpPr>
            <p:cNvPr id="8" name="object 8"/>
            <p:cNvSpPr/>
            <p:nvPr/>
          </p:nvSpPr>
          <p:spPr>
            <a:xfrm>
              <a:off x="1684007" y="5405119"/>
              <a:ext cx="3787775" cy="504190"/>
            </a:xfrm>
            <a:custGeom>
              <a:avLst/>
              <a:gdLst/>
              <a:ahLst/>
              <a:cxnLst/>
              <a:rect l="l" t="t" r="r" b="b"/>
              <a:pathLst>
                <a:path w="3787775" h="504189">
                  <a:moveTo>
                    <a:pt x="3787152" y="495300"/>
                  </a:moveTo>
                  <a:lnTo>
                    <a:pt x="3432822" y="482600"/>
                  </a:lnTo>
                  <a:lnTo>
                    <a:pt x="3082264" y="449707"/>
                  </a:lnTo>
                  <a:lnTo>
                    <a:pt x="3082302" y="449580"/>
                  </a:lnTo>
                  <a:lnTo>
                    <a:pt x="2399042" y="337820"/>
                  </a:lnTo>
                  <a:lnTo>
                    <a:pt x="1187462" y="76200"/>
                  </a:lnTo>
                  <a:lnTo>
                    <a:pt x="933462" y="31750"/>
                  </a:lnTo>
                  <a:lnTo>
                    <a:pt x="703592" y="3810"/>
                  </a:lnTo>
                  <a:lnTo>
                    <a:pt x="501662" y="0"/>
                  </a:lnTo>
                  <a:lnTo>
                    <a:pt x="411492" y="7620"/>
                  </a:lnTo>
                  <a:lnTo>
                    <a:pt x="328942" y="24130"/>
                  </a:lnTo>
                  <a:lnTo>
                    <a:pt x="255282" y="48260"/>
                  </a:lnTo>
                  <a:lnTo>
                    <a:pt x="254012" y="48260"/>
                  </a:lnTo>
                  <a:lnTo>
                    <a:pt x="189242" y="81280"/>
                  </a:lnTo>
                  <a:lnTo>
                    <a:pt x="133362" y="123190"/>
                  </a:lnTo>
                  <a:lnTo>
                    <a:pt x="132092" y="123190"/>
                  </a:lnTo>
                  <a:lnTo>
                    <a:pt x="86372" y="176530"/>
                  </a:lnTo>
                  <a:lnTo>
                    <a:pt x="85102" y="176530"/>
                  </a:lnTo>
                  <a:lnTo>
                    <a:pt x="48272" y="238760"/>
                  </a:lnTo>
                  <a:lnTo>
                    <a:pt x="48272" y="240030"/>
                  </a:lnTo>
                  <a:lnTo>
                    <a:pt x="20332" y="313690"/>
                  </a:lnTo>
                  <a:lnTo>
                    <a:pt x="20332" y="314960"/>
                  </a:lnTo>
                  <a:lnTo>
                    <a:pt x="3822" y="400050"/>
                  </a:lnTo>
                  <a:lnTo>
                    <a:pt x="3822" y="401320"/>
                  </a:lnTo>
                  <a:lnTo>
                    <a:pt x="3771" y="402590"/>
                  </a:lnTo>
                  <a:lnTo>
                    <a:pt x="596" y="402590"/>
                  </a:lnTo>
                  <a:lnTo>
                    <a:pt x="596" y="499110"/>
                  </a:lnTo>
                  <a:lnTo>
                    <a:pt x="0" y="499110"/>
                  </a:lnTo>
                  <a:lnTo>
                    <a:pt x="0" y="500380"/>
                  </a:lnTo>
                  <a:lnTo>
                    <a:pt x="7670" y="500380"/>
                  </a:lnTo>
                  <a:lnTo>
                    <a:pt x="7670" y="499110"/>
                  </a:lnTo>
                  <a:lnTo>
                    <a:pt x="10845" y="499110"/>
                  </a:lnTo>
                  <a:lnTo>
                    <a:pt x="10845" y="402590"/>
                  </a:lnTo>
                  <a:lnTo>
                    <a:pt x="11442" y="402590"/>
                  </a:lnTo>
                  <a:lnTo>
                    <a:pt x="11442" y="402170"/>
                  </a:lnTo>
                  <a:lnTo>
                    <a:pt x="12712" y="402590"/>
                  </a:lnTo>
                  <a:lnTo>
                    <a:pt x="30492" y="316230"/>
                  </a:lnTo>
                  <a:lnTo>
                    <a:pt x="29692" y="316230"/>
                  </a:lnTo>
                  <a:lnTo>
                    <a:pt x="57162" y="243840"/>
                  </a:lnTo>
                  <a:lnTo>
                    <a:pt x="56172" y="243357"/>
                  </a:lnTo>
                  <a:lnTo>
                    <a:pt x="92722" y="181610"/>
                  </a:lnTo>
                  <a:lnTo>
                    <a:pt x="139712" y="130810"/>
                  </a:lnTo>
                  <a:lnTo>
                    <a:pt x="139166" y="130276"/>
                  </a:lnTo>
                  <a:lnTo>
                    <a:pt x="194322" y="88900"/>
                  </a:lnTo>
                  <a:lnTo>
                    <a:pt x="257683" y="56603"/>
                  </a:lnTo>
                  <a:lnTo>
                    <a:pt x="257822" y="57150"/>
                  </a:lnTo>
                  <a:lnTo>
                    <a:pt x="331482" y="33020"/>
                  </a:lnTo>
                  <a:lnTo>
                    <a:pt x="412762" y="17780"/>
                  </a:lnTo>
                  <a:lnTo>
                    <a:pt x="501662" y="10160"/>
                  </a:lnTo>
                  <a:lnTo>
                    <a:pt x="702322" y="13957"/>
                  </a:lnTo>
                  <a:lnTo>
                    <a:pt x="932192" y="40640"/>
                  </a:lnTo>
                  <a:lnTo>
                    <a:pt x="1186192" y="85090"/>
                  </a:lnTo>
                  <a:lnTo>
                    <a:pt x="2396502" y="346710"/>
                  </a:lnTo>
                  <a:lnTo>
                    <a:pt x="3079762" y="458470"/>
                  </a:lnTo>
                  <a:lnTo>
                    <a:pt x="3081032" y="458470"/>
                  </a:lnTo>
                  <a:lnTo>
                    <a:pt x="3431552" y="492760"/>
                  </a:lnTo>
                  <a:lnTo>
                    <a:pt x="3432822" y="492760"/>
                  </a:lnTo>
                  <a:lnTo>
                    <a:pt x="3787152" y="504190"/>
                  </a:lnTo>
                  <a:lnTo>
                    <a:pt x="3787152" y="495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5679" y="5819139"/>
              <a:ext cx="170180" cy="17145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471160" y="5891529"/>
              <a:ext cx="638810" cy="27940"/>
            </a:xfrm>
            <a:custGeom>
              <a:avLst/>
              <a:gdLst/>
              <a:ahLst/>
              <a:cxnLst/>
              <a:rect l="l" t="t" r="r" b="b"/>
              <a:pathLst>
                <a:path w="638810" h="27939">
                  <a:moveTo>
                    <a:pt x="638810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638810" y="27940"/>
                  </a:lnTo>
                  <a:lnTo>
                    <a:pt x="63881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1469" y="4812030"/>
              <a:ext cx="170180" cy="1714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672589" y="4949189"/>
              <a:ext cx="27940" cy="955040"/>
            </a:xfrm>
            <a:custGeom>
              <a:avLst/>
              <a:gdLst/>
              <a:ahLst/>
              <a:cxnLst/>
              <a:rect l="l" t="t" r="r" b="b"/>
              <a:pathLst>
                <a:path w="27939" h="955039">
                  <a:moveTo>
                    <a:pt x="27940" y="0"/>
                  </a:moveTo>
                  <a:lnTo>
                    <a:pt x="0" y="0"/>
                  </a:lnTo>
                  <a:lnTo>
                    <a:pt x="0" y="955040"/>
                  </a:lnTo>
                  <a:lnTo>
                    <a:pt x="27940" y="955040"/>
                  </a:lnTo>
                  <a:lnTo>
                    <a:pt x="2794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2357" y="5899557"/>
              <a:ext cx="107134" cy="11856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83937" y="5844947"/>
              <a:ext cx="105864" cy="11856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676400" y="4834889"/>
              <a:ext cx="3794760" cy="1196975"/>
            </a:xfrm>
            <a:custGeom>
              <a:avLst/>
              <a:gdLst/>
              <a:ahLst/>
              <a:cxnLst/>
              <a:rect l="l" t="t" r="r" b="b"/>
              <a:pathLst>
                <a:path w="3794760" h="1196975">
                  <a:moveTo>
                    <a:pt x="3794760" y="1061720"/>
                  </a:moveTo>
                  <a:lnTo>
                    <a:pt x="3440430" y="1033780"/>
                  </a:lnTo>
                  <a:lnTo>
                    <a:pt x="3089783" y="960361"/>
                  </a:lnTo>
                  <a:lnTo>
                    <a:pt x="3089910" y="960120"/>
                  </a:lnTo>
                  <a:lnTo>
                    <a:pt x="2743200" y="850900"/>
                  </a:lnTo>
                  <a:lnTo>
                    <a:pt x="2405380" y="716280"/>
                  </a:lnTo>
                  <a:lnTo>
                    <a:pt x="1191260" y="151130"/>
                  </a:lnTo>
                  <a:lnTo>
                    <a:pt x="935990" y="58420"/>
                  </a:lnTo>
                  <a:lnTo>
                    <a:pt x="817880" y="26670"/>
                  </a:lnTo>
                  <a:lnTo>
                    <a:pt x="816610" y="26670"/>
                  </a:lnTo>
                  <a:lnTo>
                    <a:pt x="704850" y="6350"/>
                  </a:lnTo>
                  <a:lnTo>
                    <a:pt x="704850" y="11430"/>
                  </a:lnTo>
                  <a:lnTo>
                    <a:pt x="704215" y="13335"/>
                  </a:lnTo>
                  <a:lnTo>
                    <a:pt x="704215" y="11430"/>
                  </a:lnTo>
                  <a:lnTo>
                    <a:pt x="704850" y="11430"/>
                  </a:lnTo>
                  <a:lnTo>
                    <a:pt x="704850" y="6350"/>
                  </a:lnTo>
                  <a:lnTo>
                    <a:pt x="652145" y="6350"/>
                  </a:lnTo>
                  <a:lnTo>
                    <a:pt x="652145" y="0"/>
                  </a:lnTo>
                  <a:lnTo>
                    <a:pt x="599440" y="0"/>
                  </a:lnTo>
                  <a:lnTo>
                    <a:pt x="501650" y="7620"/>
                  </a:lnTo>
                  <a:lnTo>
                    <a:pt x="500380" y="7620"/>
                  </a:lnTo>
                  <a:lnTo>
                    <a:pt x="411480" y="31750"/>
                  </a:lnTo>
                  <a:lnTo>
                    <a:pt x="410210" y="31750"/>
                  </a:lnTo>
                  <a:lnTo>
                    <a:pt x="327660" y="73660"/>
                  </a:lnTo>
                  <a:lnTo>
                    <a:pt x="254000" y="134620"/>
                  </a:lnTo>
                  <a:lnTo>
                    <a:pt x="252730" y="134620"/>
                  </a:lnTo>
                  <a:lnTo>
                    <a:pt x="187960" y="214630"/>
                  </a:lnTo>
                  <a:lnTo>
                    <a:pt x="132080" y="316230"/>
                  </a:lnTo>
                  <a:lnTo>
                    <a:pt x="132080" y="317500"/>
                  </a:lnTo>
                  <a:lnTo>
                    <a:pt x="85090" y="441960"/>
                  </a:lnTo>
                  <a:lnTo>
                    <a:pt x="48260" y="590550"/>
                  </a:lnTo>
                  <a:lnTo>
                    <a:pt x="21590" y="764540"/>
                  </a:lnTo>
                  <a:lnTo>
                    <a:pt x="21590" y="765810"/>
                  </a:lnTo>
                  <a:lnTo>
                    <a:pt x="0" y="1195070"/>
                  </a:lnTo>
                  <a:lnTo>
                    <a:pt x="3810" y="1196352"/>
                  </a:lnTo>
                  <a:lnTo>
                    <a:pt x="8890" y="1196352"/>
                  </a:lnTo>
                  <a:lnTo>
                    <a:pt x="30480" y="765810"/>
                  </a:lnTo>
                  <a:lnTo>
                    <a:pt x="56959" y="593051"/>
                  </a:lnTo>
                  <a:lnTo>
                    <a:pt x="57150" y="593090"/>
                  </a:lnTo>
                  <a:lnTo>
                    <a:pt x="93980" y="444500"/>
                  </a:lnTo>
                  <a:lnTo>
                    <a:pt x="139319" y="321068"/>
                  </a:lnTo>
                  <a:lnTo>
                    <a:pt x="139700" y="321310"/>
                  </a:lnTo>
                  <a:lnTo>
                    <a:pt x="195122" y="220535"/>
                  </a:lnTo>
                  <a:lnTo>
                    <a:pt x="195580" y="220980"/>
                  </a:lnTo>
                  <a:lnTo>
                    <a:pt x="260350" y="140970"/>
                  </a:lnTo>
                  <a:lnTo>
                    <a:pt x="259778" y="140411"/>
                  </a:lnTo>
                  <a:lnTo>
                    <a:pt x="332282" y="81648"/>
                  </a:lnTo>
                  <a:lnTo>
                    <a:pt x="332740" y="82550"/>
                  </a:lnTo>
                  <a:lnTo>
                    <a:pt x="414020" y="40640"/>
                  </a:lnTo>
                  <a:lnTo>
                    <a:pt x="502920" y="17780"/>
                  </a:lnTo>
                  <a:lnTo>
                    <a:pt x="599440" y="8890"/>
                  </a:lnTo>
                  <a:lnTo>
                    <a:pt x="620255" y="8890"/>
                  </a:lnTo>
                  <a:lnTo>
                    <a:pt x="620255" y="11430"/>
                  </a:lnTo>
                  <a:lnTo>
                    <a:pt x="672325" y="11430"/>
                  </a:lnTo>
                  <a:lnTo>
                    <a:pt x="672325" y="15240"/>
                  </a:lnTo>
                  <a:lnTo>
                    <a:pt x="703580" y="15240"/>
                  </a:lnTo>
                  <a:lnTo>
                    <a:pt x="815340" y="35560"/>
                  </a:lnTo>
                  <a:lnTo>
                    <a:pt x="933450" y="67310"/>
                  </a:lnTo>
                  <a:lnTo>
                    <a:pt x="1187450" y="160020"/>
                  </a:lnTo>
                  <a:lnTo>
                    <a:pt x="2401570" y="725170"/>
                  </a:lnTo>
                  <a:lnTo>
                    <a:pt x="2739390" y="859790"/>
                  </a:lnTo>
                  <a:lnTo>
                    <a:pt x="2740660" y="859790"/>
                  </a:lnTo>
                  <a:lnTo>
                    <a:pt x="3086100" y="969010"/>
                  </a:lnTo>
                  <a:lnTo>
                    <a:pt x="3087370" y="969010"/>
                  </a:lnTo>
                  <a:lnTo>
                    <a:pt x="3437890" y="1042670"/>
                  </a:lnTo>
                  <a:lnTo>
                    <a:pt x="3439160" y="1043940"/>
                  </a:lnTo>
                  <a:lnTo>
                    <a:pt x="3793490" y="1070610"/>
                  </a:lnTo>
                  <a:lnTo>
                    <a:pt x="3793490" y="1065530"/>
                  </a:lnTo>
                  <a:lnTo>
                    <a:pt x="3794760" y="1061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75679" y="5815329"/>
              <a:ext cx="170180" cy="17145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469890" y="5886450"/>
              <a:ext cx="640080" cy="29209"/>
            </a:xfrm>
            <a:custGeom>
              <a:avLst/>
              <a:gdLst/>
              <a:ahLst/>
              <a:cxnLst/>
              <a:rect l="l" t="t" r="r" b="b"/>
              <a:pathLst>
                <a:path w="640079" h="29210">
                  <a:moveTo>
                    <a:pt x="640080" y="0"/>
                  </a:moveTo>
                  <a:lnTo>
                    <a:pt x="0" y="0"/>
                  </a:lnTo>
                  <a:lnTo>
                    <a:pt x="0" y="29209"/>
                  </a:lnTo>
                  <a:lnTo>
                    <a:pt x="640080" y="29209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1469" y="3581400"/>
              <a:ext cx="170180" cy="1701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672589" y="3717289"/>
              <a:ext cx="27940" cy="2184400"/>
            </a:xfrm>
            <a:custGeom>
              <a:avLst/>
              <a:gdLst/>
              <a:ahLst/>
              <a:cxnLst/>
              <a:rect l="l" t="t" r="r" b="b"/>
              <a:pathLst>
                <a:path w="27939" h="2184400">
                  <a:moveTo>
                    <a:pt x="27940" y="0"/>
                  </a:moveTo>
                  <a:lnTo>
                    <a:pt x="0" y="0"/>
                  </a:lnTo>
                  <a:lnTo>
                    <a:pt x="0" y="2184400"/>
                  </a:lnTo>
                  <a:lnTo>
                    <a:pt x="27940" y="2184400"/>
                  </a:lnTo>
                  <a:lnTo>
                    <a:pt x="2794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38299" y="5901689"/>
              <a:ext cx="96520" cy="107950"/>
            </a:xfrm>
            <a:custGeom>
              <a:avLst/>
              <a:gdLst/>
              <a:ahLst/>
              <a:cxnLst/>
              <a:rect l="l" t="t" r="r" b="b"/>
              <a:pathLst>
                <a:path w="96519" h="107950">
                  <a:moveTo>
                    <a:pt x="48260" y="0"/>
                  </a:moveTo>
                  <a:lnTo>
                    <a:pt x="29467" y="4226"/>
                  </a:lnTo>
                  <a:lnTo>
                    <a:pt x="14128" y="15716"/>
                  </a:lnTo>
                  <a:lnTo>
                    <a:pt x="3790" y="32682"/>
                  </a:lnTo>
                  <a:lnTo>
                    <a:pt x="0" y="53340"/>
                  </a:lnTo>
                  <a:lnTo>
                    <a:pt x="3790" y="74731"/>
                  </a:lnTo>
                  <a:lnTo>
                    <a:pt x="14128" y="92075"/>
                  </a:lnTo>
                  <a:lnTo>
                    <a:pt x="29467" y="103703"/>
                  </a:lnTo>
                  <a:lnTo>
                    <a:pt x="48260" y="107950"/>
                  </a:lnTo>
                  <a:lnTo>
                    <a:pt x="67052" y="103703"/>
                  </a:lnTo>
                  <a:lnTo>
                    <a:pt x="82391" y="92075"/>
                  </a:lnTo>
                  <a:lnTo>
                    <a:pt x="92729" y="74731"/>
                  </a:lnTo>
                  <a:lnTo>
                    <a:pt x="96519" y="53340"/>
                  </a:lnTo>
                  <a:lnTo>
                    <a:pt x="92729" y="32682"/>
                  </a:lnTo>
                  <a:lnTo>
                    <a:pt x="82391" y="15716"/>
                  </a:lnTo>
                  <a:lnTo>
                    <a:pt x="67052" y="4226"/>
                  </a:lnTo>
                  <a:lnTo>
                    <a:pt x="4826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38299" y="5901689"/>
              <a:ext cx="96520" cy="107950"/>
            </a:xfrm>
            <a:custGeom>
              <a:avLst/>
              <a:gdLst/>
              <a:ahLst/>
              <a:cxnLst/>
              <a:rect l="l" t="t" r="r" b="b"/>
              <a:pathLst>
                <a:path w="96519" h="107950">
                  <a:moveTo>
                    <a:pt x="48260" y="107950"/>
                  </a:moveTo>
                  <a:lnTo>
                    <a:pt x="29467" y="103703"/>
                  </a:lnTo>
                  <a:lnTo>
                    <a:pt x="14128" y="92075"/>
                  </a:lnTo>
                  <a:lnTo>
                    <a:pt x="3790" y="74731"/>
                  </a:lnTo>
                  <a:lnTo>
                    <a:pt x="0" y="53340"/>
                  </a:lnTo>
                  <a:lnTo>
                    <a:pt x="3790" y="32682"/>
                  </a:lnTo>
                  <a:lnTo>
                    <a:pt x="14128" y="15716"/>
                  </a:lnTo>
                  <a:lnTo>
                    <a:pt x="29467" y="4226"/>
                  </a:lnTo>
                  <a:lnTo>
                    <a:pt x="48260" y="0"/>
                  </a:lnTo>
                  <a:lnTo>
                    <a:pt x="67052" y="4226"/>
                  </a:lnTo>
                  <a:lnTo>
                    <a:pt x="82391" y="15716"/>
                  </a:lnTo>
                  <a:lnTo>
                    <a:pt x="92729" y="32682"/>
                  </a:lnTo>
                  <a:lnTo>
                    <a:pt x="96519" y="53340"/>
                  </a:lnTo>
                  <a:lnTo>
                    <a:pt x="92729" y="74731"/>
                  </a:lnTo>
                  <a:lnTo>
                    <a:pt x="82391" y="92075"/>
                  </a:lnTo>
                  <a:lnTo>
                    <a:pt x="67052" y="103703"/>
                  </a:lnTo>
                  <a:lnTo>
                    <a:pt x="48260" y="10795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83937" y="5841137"/>
              <a:ext cx="105864" cy="11856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676400" y="4474209"/>
              <a:ext cx="3972560" cy="1557655"/>
            </a:xfrm>
            <a:custGeom>
              <a:avLst/>
              <a:gdLst/>
              <a:ahLst/>
              <a:cxnLst/>
              <a:rect l="l" t="t" r="r" b="b"/>
              <a:pathLst>
                <a:path w="3972560" h="1557654">
                  <a:moveTo>
                    <a:pt x="3972560" y="1068070"/>
                  </a:moveTo>
                  <a:lnTo>
                    <a:pt x="3970655" y="1068070"/>
                  </a:lnTo>
                  <a:lnTo>
                    <a:pt x="3970655" y="953770"/>
                  </a:lnTo>
                  <a:lnTo>
                    <a:pt x="3968750" y="953770"/>
                  </a:lnTo>
                  <a:lnTo>
                    <a:pt x="3968750" y="952500"/>
                  </a:lnTo>
                  <a:lnTo>
                    <a:pt x="3937000" y="840740"/>
                  </a:lnTo>
                  <a:lnTo>
                    <a:pt x="3937000" y="839470"/>
                  </a:lnTo>
                  <a:lnTo>
                    <a:pt x="3878580" y="731520"/>
                  </a:lnTo>
                  <a:lnTo>
                    <a:pt x="3797300" y="628650"/>
                  </a:lnTo>
                  <a:lnTo>
                    <a:pt x="3694430" y="530860"/>
                  </a:lnTo>
                  <a:lnTo>
                    <a:pt x="3693160" y="530860"/>
                  </a:lnTo>
                  <a:lnTo>
                    <a:pt x="3571240" y="439420"/>
                  </a:lnTo>
                  <a:lnTo>
                    <a:pt x="3571240" y="438150"/>
                  </a:lnTo>
                  <a:lnTo>
                    <a:pt x="3431540" y="354330"/>
                  </a:lnTo>
                  <a:lnTo>
                    <a:pt x="3430270" y="354330"/>
                  </a:lnTo>
                  <a:lnTo>
                    <a:pt x="3106420" y="207010"/>
                  </a:lnTo>
                  <a:lnTo>
                    <a:pt x="2735580" y="96520"/>
                  </a:lnTo>
                  <a:lnTo>
                    <a:pt x="2334260" y="25400"/>
                  </a:lnTo>
                  <a:lnTo>
                    <a:pt x="1920240" y="0"/>
                  </a:lnTo>
                  <a:lnTo>
                    <a:pt x="1508760" y="25400"/>
                  </a:lnTo>
                  <a:lnTo>
                    <a:pt x="1116330" y="107950"/>
                  </a:lnTo>
                  <a:lnTo>
                    <a:pt x="1115060" y="107950"/>
                  </a:lnTo>
                  <a:lnTo>
                    <a:pt x="930910" y="171450"/>
                  </a:lnTo>
                  <a:lnTo>
                    <a:pt x="930910" y="172720"/>
                  </a:lnTo>
                  <a:lnTo>
                    <a:pt x="758190" y="252730"/>
                  </a:lnTo>
                  <a:lnTo>
                    <a:pt x="756920" y="252730"/>
                  </a:lnTo>
                  <a:lnTo>
                    <a:pt x="596900" y="349250"/>
                  </a:lnTo>
                  <a:lnTo>
                    <a:pt x="450850" y="463550"/>
                  </a:lnTo>
                  <a:lnTo>
                    <a:pt x="449580" y="464820"/>
                  </a:lnTo>
                  <a:lnTo>
                    <a:pt x="321310" y="596900"/>
                  </a:lnTo>
                  <a:lnTo>
                    <a:pt x="210820" y="748030"/>
                  </a:lnTo>
                  <a:lnTo>
                    <a:pt x="210820" y="749312"/>
                  </a:lnTo>
                  <a:lnTo>
                    <a:pt x="121920" y="919480"/>
                  </a:lnTo>
                  <a:lnTo>
                    <a:pt x="121920" y="920750"/>
                  </a:lnTo>
                  <a:lnTo>
                    <a:pt x="54610" y="1111250"/>
                  </a:lnTo>
                  <a:lnTo>
                    <a:pt x="54610" y="1112520"/>
                  </a:lnTo>
                  <a:lnTo>
                    <a:pt x="13970" y="1323340"/>
                  </a:lnTo>
                  <a:lnTo>
                    <a:pt x="0" y="1557032"/>
                  </a:lnTo>
                  <a:lnTo>
                    <a:pt x="8890" y="1557032"/>
                  </a:lnTo>
                  <a:lnTo>
                    <a:pt x="22860" y="1324610"/>
                  </a:lnTo>
                  <a:lnTo>
                    <a:pt x="64770" y="1113790"/>
                  </a:lnTo>
                  <a:lnTo>
                    <a:pt x="129184" y="924331"/>
                  </a:lnTo>
                  <a:lnTo>
                    <a:pt x="129540" y="924560"/>
                  </a:lnTo>
                  <a:lnTo>
                    <a:pt x="217995" y="753948"/>
                  </a:lnTo>
                  <a:lnTo>
                    <a:pt x="218440" y="754380"/>
                  </a:lnTo>
                  <a:lnTo>
                    <a:pt x="328930" y="603250"/>
                  </a:lnTo>
                  <a:lnTo>
                    <a:pt x="328282" y="602615"/>
                  </a:lnTo>
                  <a:lnTo>
                    <a:pt x="457200" y="471170"/>
                  </a:lnTo>
                  <a:lnTo>
                    <a:pt x="601980" y="356870"/>
                  </a:lnTo>
                  <a:lnTo>
                    <a:pt x="762000" y="260350"/>
                  </a:lnTo>
                  <a:lnTo>
                    <a:pt x="934720" y="180340"/>
                  </a:lnTo>
                  <a:lnTo>
                    <a:pt x="1118870" y="116840"/>
                  </a:lnTo>
                  <a:lnTo>
                    <a:pt x="1118704" y="116611"/>
                  </a:lnTo>
                  <a:lnTo>
                    <a:pt x="1510030" y="34290"/>
                  </a:lnTo>
                  <a:lnTo>
                    <a:pt x="1920240" y="8890"/>
                  </a:lnTo>
                  <a:lnTo>
                    <a:pt x="2333002" y="34213"/>
                  </a:lnTo>
                  <a:lnTo>
                    <a:pt x="2733040" y="105410"/>
                  </a:lnTo>
                  <a:lnTo>
                    <a:pt x="3102610" y="215900"/>
                  </a:lnTo>
                  <a:lnTo>
                    <a:pt x="3426460" y="361950"/>
                  </a:lnTo>
                  <a:lnTo>
                    <a:pt x="3566160" y="447040"/>
                  </a:lnTo>
                  <a:lnTo>
                    <a:pt x="3688080" y="537210"/>
                  </a:lnTo>
                  <a:lnTo>
                    <a:pt x="3790289" y="634390"/>
                  </a:lnTo>
                  <a:lnTo>
                    <a:pt x="3789680" y="635000"/>
                  </a:lnTo>
                  <a:lnTo>
                    <a:pt x="3870960" y="736612"/>
                  </a:lnTo>
                  <a:lnTo>
                    <a:pt x="3928110" y="844550"/>
                  </a:lnTo>
                  <a:lnTo>
                    <a:pt x="3928402" y="844359"/>
                  </a:lnTo>
                  <a:lnTo>
                    <a:pt x="3959860" y="955040"/>
                  </a:lnTo>
                  <a:lnTo>
                    <a:pt x="3961739" y="954570"/>
                  </a:lnTo>
                  <a:lnTo>
                    <a:pt x="3961739" y="1068070"/>
                  </a:lnTo>
                  <a:lnTo>
                    <a:pt x="3963644" y="1068070"/>
                  </a:lnTo>
                  <a:lnTo>
                    <a:pt x="3963644" y="1068197"/>
                  </a:lnTo>
                  <a:lnTo>
                    <a:pt x="3938511" y="1183767"/>
                  </a:lnTo>
                  <a:lnTo>
                    <a:pt x="3938270" y="1183640"/>
                  </a:lnTo>
                  <a:lnTo>
                    <a:pt x="3881120" y="1304290"/>
                  </a:lnTo>
                  <a:lnTo>
                    <a:pt x="3881386" y="1304366"/>
                  </a:lnTo>
                  <a:lnTo>
                    <a:pt x="3790950" y="1424940"/>
                  </a:lnTo>
                  <a:lnTo>
                    <a:pt x="3798570" y="1430020"/>
                  </a:lnTo>
                  <a:lnTo>
                    <a:pt x="3888740" y="1309370"/>
                  </a:lnTo>
                  <a:lnTo>
                    <a:pt x="3890010" y="1309370"/>
                  </a:lnTo>
                  <a:lnTo>
                    <a:pt x="3890010" y="1308100"/>
                  </a:lnTo>
                  <a:lnTo>
                    <a:pt x="3947160" y="1188720"/>
                  </a:lnTo>
                  <a:lnTo>
                    <a:pt x="3947160" y="1187450"/>
                  </a:lnTo>
                  <a:lnTo>
                    <a:pt x="3972560" y="1069340"/>
                  </a:lnTo>
                  <a:lnTo>
                    <a:pt x="3972560" y="1068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76799" y="6530339"/>
              <a:ext cx="161289" cy="17526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946649" y="5891529"/>
              <a:ext cx="534670" cy="712470"/>
            </a:xfrm>
            <a:custGeom>
              <a:avLst/>
              <a:gdLst/>
              <a:ahLst/>
              <a:cxnLst/>
              <a:rect l="l" t="t" r="r" b="b"/>
              <a:pathLst>
                <a:path w="534670" h="712470">
                  <a:moveTo>
                    <a:pt x="511810" y="0"/>
                  </a:moveTo>
                  <a:lnTo>
                    <a:pt x="0" y="695960"/>
                  </a:lnTo>
                  <a:lnTo>
                    <a:pt x="22860" y="712470"/>
                  </a:lnTo>
                  <a:lnTo>
                    <a:pt x="534670" y="17780"/>
                  </a:lnTo>
                  <a:lnTo>
                    <a:pt x="51181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02739" y="3581400"/>
              <a:ext cx="170179" cy="17145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673859" y="3718560"/>
              <a:ext cx="27940" cy="2181860"/>
            </a:xfrm>
            <a:custGeom>
              <a:avLst/>
              <a:gdLst/>
              <a:ahLst/>
              <a:cxnLst/>
              <a:rect l="l" t="t" r="r" b="b"/>
              <a:pathLst>
                <a:path w="27939" h="2181860">
                  <a:moveTo>
                    <a:pt x="27939" y="0"/>
                  </a:moveTo>
                  <a:lnTo>
                    <a:pt x="0" y="0"/>
                  </a:lnTo>
                  <a:lnTo>
                    <a:pt x="0" y="2181860"/>
                  </a:lnTo>
                  <a:lnTo>
                    <a:pt x="27939" y="2181860"/>
                  </a:lnTo>
                  <a:lnTo>
                    <a:pt x="27939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32357" y="5895747"/>
              <a:ext cx="107134" cy="11856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83937" y="5841137"/>
              <a:ext cx="107134" cy="11983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8130">
              <a:spcBef>
                <a:spcPts val="100"/>
              </a:spcBef>
            </a:pPr>
            <a:r>
              <a:rPr dirty="0"/>
              <a:t>Curvas</a:t>
            </a:r>
            <a:r>
              <a:rPr spc="-25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spc="-10" dirty="0"/>
              <a:t>Hermite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70" y="161670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7524" y="1633495"/>
            <a:ext cx="709295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No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caso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cúbicas,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temos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inicial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final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além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dos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vetores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tangentes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06971" y="5863591"/>
            <a:ext cx="9334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300" spc="-415" dirty="0">
                <a:latin typeface="Symbol"/>
                <a:cs typeface="Symbol"/>
              </a:rPr>
              <a:t>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56251" y="5863591"/>
            <a:ext cx="9334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300" spc="-415" dirty="0">
                <a:latin typeface="Symbol"/>
                <a:cs typeface="Symbol"/>
              </a:rPr>
              <a:t>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97171" y="5055871"/>
            <a:ext cx="37782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spcBef>
                <a:spcPts val="110"/>
              </a:spcBef>
              <a:tabLst>
                <a:tab pos="271145" algn="l"/>
              </a:tabLst>
            </a:pPr>
            <a:r>
              <a:rPr sz="3450" spc="-832" baseline="-13285" dirty="0">
                <a:latin typeface="Symbol"/>
                <a:cs typeface="Symbol"/>
              </a:rPr>
              <a:t></a:t>
            </a:r>
            <a:r>
              <a:rPr sz="3450" baseline="-13285" dirty="0">
                <a:latin typeface="Times New Roman"/>
                <a:cs typeface="Times New Roman"/>
              </a:rPr>
              <a:t>	</a:t>
            </a:r>
            <a:r>
              <a:rPr sz="2300" spc="-415" dirty="0">
                <a:latin typeface="Symbol"/>
                <a:cs typeface="Symbol"/>
              </a:rPr>
              <a:t>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04480" y="3243580"/>
            <a:ext cx="9334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300" spc="-415" dirty="0">
                <a:latin typeface="Symbol"/>
                <a:cs typeface="Symbol"/>
              </a:rPr>
              <a:t>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07251" y="3243580"/>
            <a:ext cx="9334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300" spc="-415" dirty="0">
                <a:latin typeface="Symbol"/>
                <a:cs typeface="Symbol"/>
              </a:rPr>
              <a:t>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19951" y="5619751"/>
            <a:ext cx="40576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spcBef>
                <a:spcPts val="110"/>
              </a:spcBef>
            </a:pPr>
            <a:r>
              <a:rPr sz="3450" baseline="-32608" dirty="0">
                <a:latin typeface="Times New Roman"/>
                <a:cs typeface="Times New Roman"/>
              </a:rPr>
              <a:t>1</a:t>
            </a:r>
            <a:r>
              <a:rPr sz="3450" spc="494" baseline="-32608" dirty="0">
                <a:latin typeface="Times New Roman"/>
                <a:cs typeface="Times New Roman"/>
              </a:rPr>
              <a:t> </a:t>
            </a:r>
            <a:r>
              <a:rPr sz="2300" spc="-415" dirty="0">
                <a:latin typeface="Symbol"/>
                <a:cs typeface="Symbol"/>
              </a:rPr>
              <a:t>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45351" y="5055871"/>
            <a:ext cx="354965" cy="659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5080" algn="r">
              <a:lnSpc>
                <a:spcPts val="2490"/>
              </a:lnSpc>
              <a:spcBef>
                <a:spcPts val="110"/>
              </a:spcBef>
            </a:pPr>
            <a:r>
              <a:rPr sz="2300" spc="-415" dirty="0">
                <a:latin typeface="Symbol"/>
                <a:cs typeface="Symbol"/>
              </a:rPr>
              <a:t></a:t>
            </a:r>
            <a:endParaRPr sz="2300">
              <a:latin typeface="Symbol"/>
              <a:cs typeface="Symbol"/>
            </a:endParaRPr>
          </a:p>
          <a:p>
            <a:pPr marR="5080" algn="r">
              <a:lnSpc>
                <a:spcPts val="2490"/>
              </a:lnSpc>
            </a:pPr>
            <a:r>
              <a:rPr sz="3450" baseline="-2415" dirty="0">
                <a:latin typeface="Times New Roman"/>
                <a:cs typeface="Times New Roman"/>
              </a:rPr>
              <a:t>1</a:t>
            </a:r>
            <a:r>
              <a:rPr sz="3450" spc="494" baseline="-2415" dirty="0">
                <a:latin typeface="Times New Roman"/>
                <a:cs typeface="Times New Roman"/>
              </a:rPr>
              <a:t> </a:t>
            </a:r>
            <a:r>
              <a:rPr sz="2300" spc="-415" dirty="0">
                <a:latin typeface="Symbol"/>
                <a:cs typeface="Symbol"/>
              </a:rPr>
              <a:t>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30851" y="5337810"/>
            <a:ext cx="337185" cy="659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ts val="2490"/>
              </a:lnSpc>
              <a:spcBef>
                <a:spcPts val="110"/>
              </a:spcBef>
            </a:pPr>
            <a:r>
              <a:rPr sz="2300" spc="-365" dirty="0">
                <a:latin typeface="Symbol"/>
                <a:cs typeface="Symbol"/>
              </a:rPr>
              <a:t></a:t>
            </a:r>
            <a:r>
              <a:rPr sz="2300" spc="-210" dirty="0">
                <a:latin typeface="Times New Roman"/>
                <a:cs typeface="Times New Roman"/>
              </a:rPr>
              <a:t> </a:t>
            </a:r>
            <a:r>
              <a:rPr sz="3450" spc="-75" baseline="-2415" dirty="0">
                <a:latin typeface="Times New Roman"/>
                <a:cs typeface="Times New Roman"/>
              </a:rPr>
              <a:t>0</a:t>
            </a:r>
            <a:endParaRPr sz="3450" baseline="-2415">
              <a:latin typeface="Times New Roman"/>
              <a:cs typeface="Times New Roman"/>
            </a:endParaRPr>
          </a:p>
          <a:p>
            <a:pPr marL="38100">
              <a:lnSpc>
                <a:spcPts val="2490"/>
              </a:lnSpc>
            </a:pPr>
            <a:r>
              <a:rPr sz="2300" spc="-365" dirty="0">
                <a:latin typeface="Symbol"/>
                <a:cs typeface="Symbol"/>
              </a:rPr>
              <a:t></a:t>
            </a:r>
            <a:r>
              <a:rPr sz="2300" spc="-210" dirty="0">
                <a:latin typeface="Times New Roman"/>
                <a:cs typeface="Times New Roman"/>
              </a:rPr>
              <a:t> </a:t>
            </a:r>
            <a:r>
              <a:rPr sz="3450" spc="-75" baseline="-32608" dirty="0">
                <a:latin typeface="Times New Roman"/>
                <a:cs typeface="Times New Roman"/>
              </a:rPr>
              <a:t>0</a:t>
            </a:r>
            <a:endParaRPr sz="3450" baseline="-32608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30851" y="4773930"/>
            <a:ext cx="33718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spcBef>
                <a:spcPts val="110"/>
              </a:spcBef>
            </a:pPr>
            <a:r>
              <a:rPr sz="2300" spc="-365" dirty="0">
                <a:latin typeface="Symbol"/>
                <a:cs typeface="Symbol"/>
              </a:rPr>
              <a:t></a:t>
            </a:r>
            <a:r>
              <a:rPr sz="2300" spc="-210" dirty="0">
                <a:latin typeface="Times New Roman"/>
                <a:cs typeface="Times New Roman"/>
              </a:rPr>
              <a:t> </a:t>
            </a:r>
            <a:r>
              <a:rPr sz="3450" spc="-75" baseline="-26570" dirty="0">
                <a:latin typeface="Times New Roman"/>
                <a:cs typeface="Times New Roman"/>
              </a:rPr>
              <a:t>0</a:t>
            </a:r>
            <a:endParaRPr sz="3450" baseline="-2657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30851" y="3985514"/>
            <a:ext cx="2492375" cy="218567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R="30480" algn="r">
              <a:spcBef>
                <a:spcPts val="635"/>
              </a:spcBef>
              <a:tabLst>
                <a:tab pos="696595" algn="l"/>
              </a:tabLst>
            </a:pPr>
            <a:r>
              <a:rPr sz="2300" spc="-415" dirty="0">
                <a:latin typeface="Symbol"/>
                <a:cs typeface="Symbol"/>
              </a:rPr>
              <a:t>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415" dirty="0">
                <a:latin typeface="Symbol"/>
                <a:cs typeface="Symbol"/>
              </a:rPr>
              <a:t></a:t>
            </a:r>
            <a:endParaRPr sz="2300">
              <a:latin typeface="Symbol"/>
              <a:cs typeface="Symbol"/>
            </a:endParaRPr>
          </a:p>
          <a:p>
            <a:pPr marL="38100">
              <a:spcBef>
                <a:spcPts val="540"/>
              </a:spcBef>
              <a:tabLst>
                <a:tab pos="569595" algn="l"/>
                <a:tab pos="1001394" algn="l"/>
                <a:tab pos="1731645" algn="l"/>
              </a:tabLst>
            </a:pPr>
            <a:r>
              <a:rPr sz="3450" spc="-547" baseline="-3623" dirty="0">
                <a:latin typeface="Symbol"/>
                <a:cs typeface="Symbol"/>
              </a:rPr>
              <a:t></a:t>
            </a:r>
            <a:r>
              <a:rPr sz="3450" spc="-330" baseline="-3623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Times New Roman"/>
                <a:cs typeface="Times New Roman"/>
              </a:rPr>
              <a:t>1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50" dirty="0">
                <a:latin typeface="Times New Roman"/>
                <a:cs typeface="Times New Roman"/>
              </a:rPr>
              <a:t>0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505" dirty="0">
                <a:latin typeface="Symbol"/>
                <a:cs typeface="Symbol"/>
              </a:rPr>
              <a:t></a:t>
            </a:r>
            <a:r>
              <a:rPr sz="2300" spc="254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Times New Roman"/>
                <a:cs typeface="Times New Roman"/>
              </a:rPr>
              <a:t>3</a:t>
            </a:r>
            <a:r>
              <a:rPr sz="2300" dirty="0">
                <a:latin typeface="Times New Roman"/>
                <a:cs typeface="Times New Roman"/>
              </a:rPr>
              <a:t>	2</a:t>
            </a:r>
            <a:r>
              <a:rPr sz="2300" spc="290" dirty="0">
                <a:latin typeface="Times New Roman"/>
                <a:cs typeface="Times New Roman"/>
              </a:rPr>
              <a:t> </a:t>
            </a:r>
            <a:r>
              <a:rPr sz="3450" spc="-622" baseline="-3623" dirty="0">
                <a:latin typeface="Symbol"/>
                <a:cs typeface="Symbol"/>
              </a:rPr>
              <a:t></a:t>
            </a:r>
            <a:endParaRPr sz="3450" baseline="-3623">
              <a:latin typeface="Symbol"/>
              <a:cs typeface="Symbol"/>
            </a:endParaRPr>
          </a:p>
          <a:p>
            <a:pPr marL="569595">
              <a:spcBef>
                <a:spcPts val="710"/>
              </a:spcBef>
              <a:tabLst>
                <a:tab pos="1097915" algn="l"/>
                <a:tab pos="1624965" algn="l"/>
              </a:tabLst>
            </a:pPr>
            <a:r>
              <a:rPr sz="2300" spc="-50" dirty="0">
                <a:latin typeface="Times New Roman"/>
                <a:cs typeface="Times New Roman"/>
              </a:rPr>
              <a:t>0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50" dirty="0">
                <a:latin typeface="Times New Roman"/>
                <a:cs typeface="Times New Roman"/>
              </a:rPr>
              <a:t>3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505" dirty="0">
                <a:latin typeface="Symbol"/>
                <a:cs typeface="Symbol"/>
              </a:rPr>
              <a:t></a:t>
            </a:r>
            <a:r>
              <a:rPr sz="2300" spc="335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2</a:t>
            </a:r>
            <a:r>
              <a:rPr sz="3450" spc="-37" baseline="26570" dirty="0">
                <a:latin typeface="Symbol"/>
                <a:cs typeface="Symbol"/>
              </a:rPr>
              <a:t></a:t>
            </a:r>
            <a:endParaRPr sz="3450" baseline="26570">
              <a:latin typeface="Symbol"/>
              <a:cs typeface="Symbol"/>
            </a:endParaRPr>
          </a:p>
          <a:p>
            <a:pPr marL="568960">
              <a:spcBef>
                <a:spcPts val="710"/>
              </a:spcBef>
              <a:tabLst>
                <a:tab pos="992505" algn="l"/>
              </a:tabLst>
            </a:pPr>
            <a:r>
              <a:rPr sz="2300" spc="-50" dirty="0">
                <a:latin typeface="Times New Roman"/>
                <a:cs typeface="Times New Roman"/>
              </a:rPr>
              <a:t>1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505" dirty="0">
                <a:latin typeface="Symbol"/>
                <a:cs typeface="Symbol"/>
              </a:rPr>
              <a:t></a:t>
            </a:r>
            <a:r>
              <a:rPr sz="2300" spc="325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Times New Roman"/>
                <a:cs typeface="Times New Roman"/>
              </a:rPr>
              <a:t>2</a:t>
            </a:r>
            <a:endParaRPr sz="2300">
              <a:latin typeface="Times New Roman"/>
              <a:cs typeface="Times New Roman"/>
            </a:endParaRPr>
          </a:p>
          <a:p>
            <a:pPr marL="569595">
              <a:spcBef>
                <a:spcPts val="710"/>
              </a:spcBef>
              <a:tabLst>
                <a:tab pos="1019175" algn="l"/>
              </a:tabLst>
            </a:pPr>
            <a:r>
              <a:rPr sz="2300" spc="-50" dirty="0">
                <a:latin typeface="Times New Roman"/>
                <a:cs typeface="Times New Roman"/>
              </a:rPr>
              <a:t>0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505" dirty="0">
                <a:latin typeface="Symbol"/>
                <a:cs typeface="Symbol"/>
              </a:rPr>
              <a:t></a:t>
            </a:r>
            <a:r>
              <a:rPr sz="2300" spc="75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Times New Roman"/>
                <a:cs typeface="Times New Roman"/>
              </a:rPr>
              <a:t>1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36509" y="3295651"/>
            <a:ext cx="111760" cy="220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350" spc="-5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43979" y="3247391"/>
            <a:ext cx="111760" cy="220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350" spc="-50" dirty="0">
                <a:latin typeface="Times New Roman"/>
                <a:cs typeface="Times New Roman"/>
              </a:rPr>
              <a:t>3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67220" y="3511551"/>
            <a:ext cx="149860" cy="220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350" i="1" spc="-50" dirty="0">
                <a:latin typeface="Times New Roman"/>
                <a:cs typeface="Times New Roman"/>
              </a:rPr>
              <a:t>H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95950" y="3183890"/>
            <a:ext cx="33401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spcBef>
                <a:spcPts val="110"/>
              </a:spcBef>
            </a:pPr>
            <a:r>
              <a:rPr sz="3450" i="1" baseline="-25362" dirty="0">
                <a:latin typeface="Times New Roman"/>
                <a:cs typeface="Times New Roman"/>
              </a:rPr>
              <a:t>u</a:t>
            </a:r>
            <a:r>
              <a:rPr sz="3450" i="1" spc="-569" baseline="-25362" dirty="0">
                <a:latin typeface="Times New Roman"/>
                <a:cs typeface="Times New Roman"/>
              </a:rPr>
              <a:t> </a:t>
            </a:r>
            <a:r>
              <a:rPr sz="1350" spc="-60" dirty="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81851" y="3452113"/>
            <a:ext cx="841375" cy="90678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8100">
              <a:spcBef>
                <a:spcPts val="805"/>
              </a:spcBef>
            </a:pPr>
            <a:r>
              <a:rPr sz="3450" spc="-547" baseline="2415" dirty="0">
                <a:latin typeface="Symbol"/>
                <a:cs typeface="Symbol"/>
              </a:rPr>
              <a:t></a:t>
            </a:r>
            <a:r>
              <a:rPr sz="3450" spc="-359" baseline="2415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p</a:t>
            </a:r>
            <a:r>
              <a:rPr sz="3450" spc="-15" baseline="3623" dirty="0">
                <a:latin typeface="Symbol"/>
                <a:cs typeface="Symbol"/>
              </a:rPr>
              <a:t></a:t>
            </a:r>
            <a:r>
              <a:rPr sz="2300" spc="-10" dirty="0">
                <a:latin typeface="Times New Roman"/>
                <a:cs typeface="Times New Roman"/>
              </a:rPr>
              <a:t>(0)</a:t>
            </a:r>
            <a:r>
              <a:rPr sz="3450" spc="-15" baseline="2415" dirty="0">
                <a:latin typeface="Symbol"/>
                <a:cs typeface="Symbol"/>
              </a:rPr>
              <a:t></a:t>
            </a:r>
            <a:endParaRPr sz="3450" baseline="2415">
              <a:latin typeface="Symbol"/>
              <a:cs typeface="Symbol"/>
            </a:endParaRPr>
          </a:p>
          <a:p>
            <a:pPr marL="38100">
              <a:spcBef>
                <a:spcPts val="710"/>
              </a:spcBef>
            </a:pPr>
            <a:r>
              <a:rPr sz="3450" spc="-547" baseline="32608" dirty="0">
                <a:latin typeface="Symbol"/>
                <a:cs typeface="Symbol"/>
              </a:rPr>
              <a:t></a:t>
            </a:r>
            <a:r>
              <a:rPr sz="3450" spc="-30" baseline="32608" dirty="0">
                <a:latin typeface="Times New Roman"/>
                <a:cs typeface="Times New Roman"/>
              </a:rPr>
              <a:t> </a:t>
            </a:r>
            <a:r>
              <a:rPr sz="2300" b="1" spc="-85" dirty="0">
                <a:latin typeface="Times New Roman"/>
                <a:cs typeface="Times New Roman"/>
              </a:rPr>
              <a:t>p</a:t>
            </a:r>
            <a:r>
              <a:rPr sz="3450" spc="-127" baseline="3623" dirty="0">
                <a:latin typeface="Symbol"/>
                <a:cs typeface="Symbol"/>
              </a:rPr>
              <a:t></a:t>
            </a:r>
            <a:r>
              <a:rPr sz="2300" spc="-85" dirty="0">
                <a:latin typeface="Times New Roman"/>
                <a:cs typeface="Times New Roman"/>
              </a:rPr>
              <a:t>(1)</a:t>
            </a:r>
            <a:r>
              <a:rPr sz="2300" spc="-300" dirty="0">
                <a:latin typeface="Times New Roman"/>
                <a:cs typeface="Times New Roman"/>
              </a:rPr>
              <a:t> </a:t>
            </a:r>
            <a:r>
              <a:rPr sz="3450" spc="-637" baseline="32608" dirty="0">
                <a:latin typeface="Symbol"/>
                <a:cs typeface="Symbol"/>
              </a:rPr>
              <a:t></a:t>
            </a:r>
            <a:endParaRPr sz="3450" baseline="32608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75221" y="3100071"/>
            <a:ext cx="18859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300" b="1" spc="-50" dirty="0">
                <a:latin typeface="Times New Roman"/>
                <a:cs typeface="Times New Roman"/>
              </a:rPr>
              <a:t>p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69151" y="2680971"/>
            <a:ext cx="854075" cy="659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ts val="2490"/>
              </a:lnSpc>
              <a:spcBef>
                <a:spcPts val="110"/>
              </a:spcBef>
              <a:tabLst>
                <a:tab pos="302895" algn="l"/>
                <a:tab pos="747395" algn="l"/>
              </a:tabLst>
            </a:pPr>
            <a:r>
              <a:rPr sz="2300" spc="-415" dirty="0">
                <a:latin typeface="Symbol"/>
                <a:cs typeface="Symbol"/>
              </a:rPr>
              <a:t>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3450" b="1" spc="37" baseline="3623" dirty="0">
                <a:latin typeface="Times New Roman"/>
                <a:cs typeface="Times New Roman"/>
              </a:rPr>
              <a:t>p</a:t>
            </a:r>
            <a:r>
              <a:rPr sz="2025" spc="37" baseline="-16460" dirty="0">
                <a:latin typeface="Times New Roman"/>
                <a:cs typeface="Times New Roman"/>
              </a:rPr>
              <a:t>0</a:t>
            </a:r>
            <a:r>
              <a:rPr sz="2025" baseline="-16460" dirty="0">
                <a:latin typeface="Times New Roman"/>
                <a:cs typeface="Times New Roman"/>
              </a:rPr>
              <a:t>	</a:t>
            </a:r>
            <a:r>
              <a:rPr sz="2300" spc="-415" dirty="0">
                <a:latin typeface="Symbol"/>
                <a:cs typeface="Symbol"/>
              </a:rPr>
              <a:t></a:t>
            </a:r>
            <a:endParaRPr sz="2300">
              <a:latin typeface="Symbol"/>
              <a:cs typeface="Symbol"/>
            </a:endParaRPr>
          </a:p>
          <a:p>
            <a:pPr marL="50800">
              <a:lnSpc>
                <a:spcPts val="2490"/>
              </a:lnSpc>
              <a:tabLst>
                <a:tab pos="747395" algn="l"/>
              </a:tabLst>
            </a:pPr>
            <a:r>
              <a:rPr sz="2300" spc="-415" dirty="0">
                <a:latin typeface="Symbol"/>
                <a:cs typeface="Symbol"/>
              </a:rPr>
              <a:t>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415" dirty="0">
                <a:latin typeface="Symbol"/>
                <a:cs typeface="Symbol"/>
              </a:rPr>
              <a:t>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61461" y="2987039"/>
            <a:ext cx="290131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245235" algn="l"/>
                <a:tab pos="2228215" algn="l"/>
                <a:tab pos="2513965" algn="l"/>
              </a:tabLst>
            </a:pPr>
            <a:r>
              <a:rPr sz="2300" b="1" dirty="0">
                <a:latin typeface="Times New Roman"/>
                <a:cs typeface="Times New Roman"/>
              </a:rPr>
              <a:t>p</a:t>
            </a:r>
            <a:r>
              <a:rPr sz="2300" dirty="0">
                <a:latin typeface="Times New Roman"/>
                <a:cs typeface="Times New Roman"/>
              </a:rPr>
              <a:t>(</a:t>
            </a:r>
            <a:r>
              <a:rPr sz="2300" i="1" dirty="0">
                <a:latin typeface="Times New Roman"/>
                <a:cs typeface="Times New Roman"/>
              </a:rPr>
              <a:t>u</a:t>
            </a:r>
            <a:r>
              <a:rPr sz="2300" dirty="0">
                <a:latin typeface="Times New Roman"/>
                <a:cs typeface="Times New Roman"/>
              </a:rPr>
              <a:t>)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05" dirty="0">
                <a:latin typeface="Symbol"/>
                <a:cs typeface="Symbol"/>
              </a:rPr>
              <a:t></a:t>
            </a:r>
            <a:r>
              <a:rPr sz="2300" spc="525" dirty="0">
                <a:latin typeface="Times New Roman"/>
                <a:cs typeface="Times New Roman"/>
              </a:rPr>
              <a:t> </a:t>
            </a:r>
            <a:r>
              <a:rPr sz="4900" spc="-750" dirty="0">
                <a:latin typeface="Symbol"/>
                <a:cs typeface="Symbol"/>
              </a:rPr>
              <a:t></a:t>
            </a:r>
            <a:r>
              <a:rPr sz="2300" spc="-750" dirty="0">
                <a:latin typeface="Times New Roman"/>
                <a:cs typeface="Times New Roman"/>
              </a:rPr>
              <a:t>1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i="1" spc="-50" dirty="0">
                <a:latin typeface="Times New Roman"/>
                <a:cs typeface="Times New Roman"/>
              </a:rPr>
              <a:t>u</a:t>
            </a:r>
            <a:r>
              <a:rPr sz="2300" i="1" dirty="0">
                <a:latin typeface="Times New Roman"/>
                <a:cs typeface="Times New Roman"/>
              </a:rPr>
              <a:t>	</a:t>
            </a:r>
            <a:r>
              <a:rPr sz="2300" i="1" spc="-50" dirty="0">
                <a:latin typeface="Times New Roman"/>
                <a:cs typeface="Times New Roman"/>
              </a:rPr>
              <a:t>u</a:t>
            </a:r>
            <a:r>
              <a:rPr sz="2300" i="1" dirty="0">
                <a:latin typeface="Times New Roman"/>
                <a:cs typeface="Times New Roman"/>
              </a:rPr>
              <a:t>	</a:t>
            </a:r>
            <a:r>
              <a:rPr sz="4900" spc="-480" dirty="0">
                <a:latin typeface="Symbol"/>
                <a:cs typeface="Symbol"/>
              </a:rPr>
              <a:t></a:t>
            </a:r>
            <a:r>
              <a:rPr sz="2300" b="1" spc="-480" dirty="0">
                <a:latin typeface="Times New Roman"/>
                <a:cs typeface="Times New Roman"/>
              </a:rPr>
              <a:t>M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39870" y="5128260"/>
            <a:ext cx="121285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spcBef>
                <a:spcPts val="110"/>
              </a:spcBef>
            </a:pPr>
            <a:r>
              <a:rPr sz="2300" dirty="0">
                <a:latin typeface="Cambria"/>
                <a:cs typeface="Cambria"/>
              </a:rPr>
              <a:t>onde</a:t>
            </a:r>
            <a:r>
              <a:rPr sz="2300" spc="50" dirty="0">
                <a:latin typeface="Cambria"/>
                <a:cs typeface="Cambria"/>
              </a:rPr>
              <a:t> </a:t>
            </a:r>
            <a:r>
              <a:rPr sz="2300" b="1" spc="-30" dirty="0">
                <a:latin typeface="Times New Roman"/>
                <a:cs typeface="Times New Roman"/>
              </a:rPr>
              <a:t>M</a:t>
            </a:r>
            <a:r>
              <a:rPr sz="2300" b="1" spc="-285" dirty="0">
                <a:latin typeface="Times New Roman"/>
                <a:cs typeface="Times New Roman"/>
              </a:rPr>
              <a:t> </a:t>
            </a:r>
            <a:r>
              <a:rPr sz="2025" i="1" spc="-75" baseline="-24691" dirty="0">
                <a:latin typeface="Times New Roman"/>
                <a:cs typeface="Times New Roman"/>
              </a:rPr>
              <a:t>H</a:t>
            </a:r>
            <a:endParaRPr sz="2025" baseline="-2469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5475">
              <a:spcBef>
                <a:spcPts val="100"/>
              </a:spcBef>
            </a:pPr>
            <a:r>
              <a:rPr dirty="0"/>
              <a:t>Curvas</a:t>
            </a:r>
            <a:r>
              <a:rPr spc="-40" dirty="0"/>
              <a:t> </a:t>
            </a:r>
            <a:r>
              <a:rPr spc="-10" dirty="0"/>
              <a:t>Longas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70" y="1309370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70" y="202437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8670" y="316102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58670" y="453770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2000" y="1389379"/>
            <a:ext cx="7322820" cy="438658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 marR="346710">
              <a:lnSpc>
                <a:spcPct val="79800"/>
              </a:lnSpc>
              <a:spcBef>
                <a:spcPts val="73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Curvas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Bézier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k</a:t>
            </a:r>
            <a:r>
              <a:rPr sz="2600" i="1" spc="-5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controle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de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grau</a:t>
            </a:r>
            <a:r>
              <a:rPr sz="26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k</a:t>
            </a:r>
            <a:r>
              <a:rPr sz="2600" i="1" spc="-2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–</a:t>
            </a:r>
            <a:r>
              <a:rPr sz="2600" i="1" spc="-2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>
              <a:spcBef>
                <a:spcPts val="3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Curvas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grau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alto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difíceis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desenhar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115" indent="-285115">
              <a:spcBef>
                <a:spcPts val="10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Complexas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115" indent="-285115">
              <a:spcBef>
                <a:spcPts val="20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Sujeitas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erros</a:t>
            </a:r>
            <a:r>
              <a:rPr sz="24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precisão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 marR="198755">
              <a:lnSpc>
                <a:spcPct val="79800"/>
              </a:lnSpc>
              <a:spcBef>
                <a:spcPts val="660"/>
              </a:spcBef>
            </a:pP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Normalmente,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queremos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controle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tenham</a:t>
            </a:r>
            <a:r>
              <a:rPr sz="26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efeito</a:t>
            </a:r>
            <a:r>
              <a:rPr sz="26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i="1" spc="-20" dirty="0">
                <a:solidFill>
                  <a:srgbClr val="002454"/>
                </a:solidFill>
                <a:latin typeface="Arial"/>
                <a:cs typeface="Arial"/>
              </a:rPr>
              <a:t>local</a:t>
            </a:r>
            <a:endParaRPr sz="26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412750" marR="5080" indent="-285750">
              <a:lnSpc>
                <a:spcPct val="79900"/>
              </a:lnSpc>
              <a:spcBef>
                <a:spcPts val="600"/>
              </a:spcBef>
              <a:buFont typeface="Wingdings"/>
              <a:buChar char=""/>
              <a:tabLst>
                <a:tab pos="41275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curvas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Bézier,</a:t>
            </a:r>
            <a:r>
              <a:rPr sz="24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todos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controle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têm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efeito</a:t>
            </a:r>
            <a:r>
              <a:rPr sz="24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spc="-10" dirty="0">
                <a:solidFill>
                  <a:srgbClr val="002454"/>
                </a:solidFill>
                <a:latin typeface="Arial"/>
                <a:cs typeface="Arial"/>
              </a:rPr>
              <a:t>global</a:t>
            </a:r>
            <a:endParaRPr sz="24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12700">
              <a:spcBef>
                <a:spcPts val="30"/>
              </a:spcBef>
            </a:pP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Solução: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115" indent="-285115">
              <a:spcBef>
                <a:spcPts val="20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Emendar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curvas</a:t>
            </a:r>
            <a:r>
              <a:rPr sz="24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polinomiais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grau</a:t>
            </a:r>
            <a:r>
              <a:rPr sz="24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baixo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115" indent="-285115">
              <a:spcBef>
                <a:spcPts val="20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Relaxar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condições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10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continuidade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985">
              <a:spcBef>
                <a:spcPts val="100"/>
              </a:spcBef>
            </a:pPr>
            <a:r>
              <a:rPr dirty="0"/>
              <a:t>Emendando</a:t>
            </a:r>
            <a:r>
              <a:rPr spc="-80" dirty="0"/>
              <a:t> </a:t>
            </a:r>
            <a:r>
              <a:rPr dirty="0"/>
              <a:t>Curvas</a:t>
            </a:r>
            <a:r>
              <a:rPr spc="-65" dirty="0"/>
              <a:t> </a:t>
            </a:r>
            <a:r>
              <a:rPr spc="-10" dirty="0"/>
              <a:t>Bézier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69" y="1433829"/>
            <a:ext cx="1193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800" y="1522526"/>
            <a:ext cx="7960359" cy="20320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67665" marR="233679">
              <a:lnSpc>
                <a:spcPts val="2270"/>
              </a:lnSpc>
              <a:spcBef>
                <a:spcPts val="380"/>
              </a:spcBef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Continuidade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</a:t>
            </a:r>
            <a:r>
              <a:rPr baseline="30092" dirty="0">
                <a:solidFill>
                  <a:srgbClr val="002454"/>
                </a:solidFill>
                <a:latin typeface="Arial MT"/>
                <a:cs typeface="Arial MT"/>
              </a:rPr>
              <a:t>0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: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Último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primeira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primeiro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da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segunda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67665" marR="294640" indent="-342900">
              <a:lnSpc>
                <a:spcPct val="100800"/>
              </a:lnSpc>
              <a:spcBef>
                <a:spcPts val="219"/>
              </a:spcBef>
              <a:buChar char="•"/>
              <a:tabLst>
                <a:tab pos="367665" algn="l"/>
              </a:tabLst>
            </a:pP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Continuidade</a:t>
            </a:r>
            <a:r>
              <a:rPr sz="3150" spc="-37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C</a:t>
            </a:r>
            <a:r>
              <a:rPr baseline="30092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:</a:t>
            </a:r>
            <a:r>
              <a:rPr sz="3150" spc="-22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C</a:t>
            </a:r>
            <a:r>
              <a:rPr baseline="30092" dirty="0">
                <a:solidFill>
                  <a:srgbClr val="002454"/>
                </a:solidFill>
                <a:latin typeface="Arial MT"/>
                <a:cs typeface="Arial MT"/>
              </a:rPr>
              <a:t>0</a:t>
            </a:r>
            <a:r>
              <a:rPr spc="345" baseline="3009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3150" spc="-15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segmento</a:t>
            </a:r>
            <a:r>
              <a:rPr sz="3150" spc="-30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="1" baseline="1322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baseline="-23148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r>
              <a:rPr sz="3150" b="1" baseline="1322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baseline="-23148" dirty="0">
                <a:solidFill>
                  <a:srgbClr val="002454"/>
                </a:solidFill>
                <a:latin typeface="Arial MT"/>
                <a:cs typeface="Arial MT"/>
              </a:rPr>
              <a:t>3</a:t>
            </a:r>
            <a:r>
              <a:rPr spc="-22" baseline="-23148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3150" spc="-22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primeira</a:t>
            </a:r>
            <a:r>
              <a:rPr sz="3150" spc="-30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r>
              <a:rPr sz="3150" spc="-30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spc="-15" baseline="1322" dirty="0">
                <a:solidFill>
                  <a:srgbClr val="002454"/>
                </a:solidFill>
                <a:latin typeface="Arial MT"/>
                <a:cs typeface="Arial MT"/>
              </a:rPr>
              <a:t>mesma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direção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comprimento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segmento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baseline="-23148" dirty="0">
                <a:solidFill>
                  <a:srgbClr val="002454"/>
                </a:solidFill>
                <a:latin typeface="Arial MT"/>
                <a:cs typeface="Arial MT"/>
              </a:rPr>
              <a:t>0</a:t>
            </a:r>
            <a:r>
              <a:rPr sz="21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baseline="-23148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pc="-22" baseline="-23148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segunda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67665" indent="-342265">
              <a:spcBef>
                <a:spcPts val="620"/>
              </a:spcBef>
              <a:buChar char="•"/>
              <a:tabLst>
                <a:tab pos="367665" algn="l"/>
              </a:tabLst>
            </a:pP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Continuidade</a:t>
            </a:r>
            <a:r>
              <a:rPr sz="3150" spc="-37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C</a:t>
            </a:r>
            <a:r>
              <a:rPr baseline="30092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:</a:t>
            </a:r>
            <a:r>
              <a:rPr sz="3150" spc="-30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C</a:t>
            </a:r>
            <a:r>
              <a:rPr baseline="30092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pc="345" baseline="3009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3150" spc="-15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+</a:t>
            </a:r>
            <a:r>
              <a:rPr sz="3150" spc="-30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restrições</a:t>
            </a:r>
            <a:r>
              <a:rPr sz="3150" spc="-22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sobre</a:t>
            </a:r>
            <a:r>
              <a:rPr sz="3150" spc="-22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3150" spc="-7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="1" baseline="1322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baseline="-23148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pc="-22" baseline="-23148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3150" spc="-22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baseline="1322" dirty="0">
                <a:solidFill>
                  <a:srgbClr val="002454"/>
                </a:solidFill>
                <a:latin typeface="Arial MT"/>
                <a:cs typeface="Arial MT"/>
              </a:rPr>
              <a:t>primeira</a:t>
            </a:r>
            <a:r>
              <a:rPr sz="3150" spc="-37" baseline="1322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150" spc="-75" baseline="1322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endParaRPr sz="3150" baseline="1322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67665">
              <a:spcBef>
                <a:spcPts val="20"/>
              </a:spcBef>
            </a:pPr>
            <a:r>
              <a:rPr sz="21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baseline="-23148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r>
              <a:rPr spc="-15" baseline="-23148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1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segunda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38528" y="4334918"/>
            <a:ext cx="6114415" cy="2084705"/>
            <a:chOff x="1214527" y="4334917"/>
            <a:chExt cx="6114415" cy="2084705"/>
          </a:xfrm>
        </p:grpSpPr>
        <p:sp>
          <p:nvSpPr>
            <p:cNvPr id="6" name="object 6"/>
            <p:cNvSpPr/>
            <p:nvPr/>
          </p:nvSpPr>
          <p:spPr>
            <a:xfrm>
              <a:off x="1291590" y="4490719"/>
              <a:ext cx="3131820" cy="1379220"/>
            </a:xfrm>
            <a:custGeom>
              <a:avLst/>
              <a:gdLst/>
              <a:ahLst/>
              <a:cxnLst/>
              <a:rect l="l" t="t" r="r" b="b"/>
              <a:pathLst>
                <a:path w="3131820" h="1379220">
                  <a:moveTo>
                    <a:pt x="3131820" y="688340"/>
                  </a:moveTo>
                  <a:lnTo>
                    <a:pt x="2674620" y="2540"/>
                  </a:lnTo>
                  <a:lnTo>
                    <a:pt x="2673350" y="1270"/>
                  </a:lnTo>
                  <a:lnTo>
                    <a:pt x="2672080" y="1270"/>
                  </a:lnTo>
                  <a:lnTo>
                    <a:pt x="2670810" y="0"/>
                  </a:lnTo>
                  <a:lnTo>
                    <a:pt x="842010" y="0"/>
                  </a:lnTo>
                  <a:lnTo>
                    <a:pt x="840740" y="0"/>
                  </a:lnTo>
                  <a:lnTo>
                    <a:pt x="839470" y="1270"/>
                  </a:lnTo>
                  <a:lnTo>
                    <a:pt x="838200" y="1270"/>
                  </a:lnTo>
                  <a:lnTo>
                    <a:pt x="836930" y="2540"/>
                  </a:lnTo>
                  <a:lnTo>
                    <a:pt x="0" y="1374140"/>
                  </a:lnTo>
                  <a:lnTo>
                    <a:pt x="7620" y="1379220"/>
                  </a:lnTo>
                  <a:lnTo>
                    <a:pt x="844257" y="10160"/>
                  </a:lnTo>
                  <a:lnTo>
                    <a:pt x="2668689" y="10160"/>
                  </a:lnTo>
                  <a:lnTo>
                    <a:pt x="3124200" y="693420"/>
                  </a:lnTo>
                  <a:lnTo>
                    <a:pt x="3131820" y="6883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4527" y="5862727"/>
              <a:ext cx="85544" cy="85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9717" y="4456837"/>
              <a:ext cx="86814" cy="85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24707" y="4456837"/>
              <a:ext cx="85544" cy="85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0957" y="5161687"/>
              <a:ext cx="85544" cy="8554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61510" y="4378959"/>
              <a:ext cx="2830830" cy="2011680"/>
            </a:xfrm>
            <a:custGeom>
              <a:avLst/>
              <a:gdLst/>
              <a:ahLst/>
              <a:cxnLst/>
              <a:rect l="l" t="t" r="r" b="b"/>
              <a:pathLst>
                <a:path w="2830829" h="2011679">
                  <a:moveTo>
                    <a:pt x="2830830" y="3810"/>
                  </a:moveTo>
                  <a:lnTo>
                    <a:pt x="2827020" y="2540"/>
                  </a:lnTo>
                  <a:lnTo>
                    <a:pt x="2823210" y="0"/>
                  </a:lnTo>
                  <a:lnTo>
                    <a:pt x="1759623" y="2001659"/>
                  </a:lnTo>
                  <a:lnTo>
                    <a:pt x="464096" y="1533093"/>
                  </a:lnTo>
                  <a:lnTo>
                    <a:pt x="7620" y="848360"/>
                  </a:lnTo>
                  <a:lnTo>
                    <a:pt x="0" y="853440"/>
                  </a:lnTo>
                  <a:lnTo>
                    <a:pt x="457200" y="1539240"/>
                  </a:lnTo>
                  <a:lnTo>
                    <a:pt x="459740" y="1541780"/>
                  </a:lnTo>
                  <a:lnTo>
                    <a:pt x="1760220" y="2011680"/>
                  </a:lnTo>
                  <a:lnTo>
                    <a:pt x="1764030" y="2011680"/>
                  </a:lnTo>
                  <a:lnTo>
                    <a:pt x="1765300" y="2010410"/>
                  </a:lnTo>
                  <a:lnTo>
                    <a:pt x="1765300" y="2009140"/>
                  </a:lnTo>
                  <a:lnTo>
                    <a:pt x="2830830" y="3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43217" y="4334917"/>
              <a:ext cx="85544" cy="8681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81497" y="6333897"/>
              <a:ext cx="85544" cy="85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7207" y="5869077"/>
              <a:ext cx="85544" cy="8554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405630" y="516889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038" y="3095"/>
                  </a:lnTo>
                  <a:lnTo>
                    <a:pt x="10953" y="11429"/>
                  </a:lnTo>
                  <a:lnTo>
                    <a:pt x="2917" y="23574"/>
                  </a:lnTo>
                  <a:lnTo>
                    <a:pt x="0" y="38100"/>
                  </a:lnTo>
                  <a:lnTo>
                    <a:pt x="2917" y="52625"/>
                  </a:lnTo>
                  <a:lnTo>
                    <a:pt x="10953" y="64769"/>
                  </a:lnTo>
                  <a:lnTo>
                    <a:pt x="23038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70" y="64770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574"/>
                  </a:lnTo>
                  <a:lnTo>
                    <a:pt x="64770" y="11430"/>
                  </a:lnTo>
                  <a:lnTo>
                    <a:pt x="52625" y="309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05630" y="516889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52625" y="3095"/>
                  </a:lnTo>
                  <a:lnTo>
                    <a:pt x="64770" y="11430"/>
                  </a:lnTo>
                  <a:lnTo>
                    <a:pt x="73104" y="23574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70" y="64770"/>
                  </a:lnTo>
                  <a:lnTo>
                    <a:pt x="52625" y="73104"/>
                  </a:lnTo>
                  <a:lnTo>
                    <a:pt x="38100" y="76200"/>
                  </a:lnTo>
                  <a:lnTo>
                    <a:pt x="23038" y="73104"/>
                  </a:lnTo>
                  <a:lnTo>
                    <a:pt x="10953" y="64769"/>
                  </a:lnTo>
                  <a:lnTo>
                    <a:pt x="2917" y="52625"/>
                  </a:lnTo>
                  <a:lnTo>
                    <a:pt x="0" y="38100"/>
                  </a:lnTo>
                  <a:lnTo>
                    <a:pt x="2917" y="23574"/>
                  </a:lnTo>
                  <a:lnTo>
                    <a:pt x="10953" y="11429"/>
                  </a:lnTo>
                  <a:lnTo>
                    <a:pt x="23038" y="3095"/>
                  </a:lnTo>
                  <a:lnTo>
                    <a:pt x="38100" y="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208530" y="5770879"/>
            <a:ext cx="3060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spc="-37" baseline="-24154" dirty="0">
                <a:latin typeface="Cambria"/>
                <a:cs typeface="Cambria"/>
              </a:rPr>
              <a:t>0</a:t>
            </a:r>
            <a:endParaRPr sz="1725" baseline="-24154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32479" y="4072890"/>
            <a:ext cx="3060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spc="-37" baseline="-24154" dirty="0">
                <a:latin typeface="Cambria"/>
                <a:cs typeface="Cambria"/>
              </a:rPr>
              <a:t>1</a:t>
            </a:r>
            <a:endParaRPr sz="1725" baseline="-24154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13679" y="4072890"/>
            <a:ext cx="3060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spc="-37" baseline="-24154" dirty="0">
                <a:latin typeface="Cambria"/>
                <a:cs typeface="Cambria"/>
              </a:rPr>
              <a:t>2</a:t>
            </a:r>
            <a:endParaRPr sz="1725" baseline="-24154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18880" y="3996690"/>
            <a:ext cx="3060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spc="-37" baseline="-24154" dirty="0">
                <a:latin typeface="Cambria"/>
                <a:cs typeface="Cambria"/>
              </a:rPr>
              <a:t>2</a:t>
            </a:r>
            <a:endParaRPr sz="1725" baseline="-24154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07050" y="4911090"/>
            <a:ext cx="78867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0">
              <a:lnSpc>
                <a:spcPts val="2100"/>
              </a:lnSpc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spc="-37" baseline="-24154" dirty="0">
                <a:latin typeface="Cambria"/>
                <a:cs typeface="Cambria"/>
              </a:rPr>
              <a:t>3</a:t>
            </a:r>
            <a:endParaRPr sz="1725" baseline="-24154">
              <a:latin typeface="Cambria"/>
              <a:cs typeface="Cambria"/>
            </a:endParaRPr>
          </a:p>
          <a:p>
            <a:pPr marL="50800">
              <a:lnSpc>
                <a:spcPts val="2100"/>
              </a:lnSpc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spc="-37" baseline="-24154" dirty="0">
                <a:latin typeface="Cambria"/>
                <a:cs typeface="Cambria"/>
              </a:rPr>
              <a:t>0</a:t>
            </a:r>
            <a:endParaRPr sz="1725" baseline="-24154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78551" y="5977890"/>
            <a:ext cx="180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spc="-50" dirty="0">
                <a:latin typeface="Palatino Linotype"/>
                <a:cs typeface="Palatino Linotype"/>
              </a:rPr>
              <a:t>p</a:t>
            </a:r>
            <a:endParaRPr sz="2000">
              <a:latin typeface="Palatino Linotype"/>
              <a:cs typeface="Palatino Linotyp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34759" y="6148070"/>
            <a:ext cx="99060" cy="19107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150" spc="-50" dirty="0">
                <a:latin typeface="Cambria"/>
                <a:cs typeface="Cambria"/>
              </a:rPr>
              <a:t>1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05750" y="6282690"/>
            <a:ext cx="3060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spc="-37" baseline="-24154" dirty="0">
                <a:latin typeface="Cambria"/>
                <a:cs typeface="Cambria"/>
              </a:rPr>
              <a:t>2</a:t>
            </a:r>
            <a:endParaRPr sz="1725" baseline="-24154">
              <a:latin typeface="Cambria"/>
              <a:cs typeface="Cambr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07969" y="4387850"/>
            <a:ext cx="6002020" cy="1488440"/>
            <a:chOff x="1283969" y="4387850"/>
            <a:chExt cx="6002020" cy="1488440"/>
          </a:xfrm>
        </p:grpSpPr>
        <p:sp>
          <p:nvSpPr>
            <p:cNvPr id="26" name="object 26"/>
            <p:cNvSpPr/>
            <p:nvPr/>
          </p:nvSpPr>
          <p:spPr>
            <a:xfrm>
              <a:off x="1283970" y="4743449"/>
              <a:ext cx="3148330" cy="1132840"/>
            </a:xfrm>
            <a:custGeom>
              <a:avLst/>
              <a:gdLst/>
              <a:ahLst/>
              <a:cxnLst/>
              <a:rect l="l" t="t" r="r" b="b"/>
              <a:pathLst>
                <a:path w="3148329" h="1132839">
                  <a:moveTo>
                    <a:pt x="3148330" y="461022"/>
                  </a:moveTo>
                  <a:lnTo>
                    <a:pt x="3100070" y="397510"/>
                  </a:lnTo>
                  <a:lnTo>
                    <a:pt x="3098800" y="394970"/>
                  </a:lnTo>
                  <a:lnTo>
                    <a:pt x="3042920" y="335280"/>
                  </a:lnTo>
                  <a:lnTo>
                    <a:pt x="3041650" y="335280"/>
                  </a:lnTo>
                  <a:lnTo>
                    <a:pt x="3032760" y="345440"/>
                  </a:lnTo>
                  <a:lnTo>
                    <a:pt x="3032125" y="346075"/>
                  </a:lnTo>
                  <a:lnTo>
                    <a:pt x="3041650" y="335280"/>
                  </a:lnTo>
                  <a:lnTo>
                    <a:pt x="2978150" y="279400"/>
                  </a:lnTo>
                  <a:lnTo>
                    <a:pt x="2976880" y="279400"/>
                  </a:lnTo>
                  <a:lnTo>
                    <a:pt x="2907030" y="228600"/>
                  </a:lnTo>
                  <a:lnTo>
                    <a:pt x="2905760" y="227330"/>
                  </a:lnTo>
                  <a:lnTo>
                    <a:pt x="2748280" y="140970"/>
                  </a:lnTo>
                  <a:lnTo>
                    <a:pt x="2745740" y="139700"/>
                  </a:lnTo>
                  <a:lnTo>
                    <a:pt x="2565400" y="73660"/>
                  </a:lnTo>
                  <a:lnTo>
                    <a:pt x="2564130" y="72390"/>
                  </a:lnTo>
                  <a:lnTo>
                    <a:pt x="2366010" y="26670"/>
                  </a:lnTo>
                  <a:lnTo>
                    <a:pt x="2364740" y="26670"/>
                  </a:lnTo>
                  <a:lnTo>
                    <a:pt x="2152650" y="2540"/>
                  </a:lnTo>
                  <a:lnTo>
                    <a:pt x="2151380" y="2540"/>
                  </a:lnTo>
                  <a:lnTo>
                    <a:pt x="1927860" y="0"/>
                  </a:lnTo>
                  <a:lnTo>
                    <a:pt x="1926590" y="0"/>
                  </a:lnTo>
                  <a:lnTo>
                    <a:pt x="1696720" y="20320"/>
                  </a:lnTo>
                  <a:lnTo>
                    <a:pt x="1695450" y="20320"/>
                  </a:lnTo>
                  <a:lnTo>
                    <a:pt x="1460500" y="66040"/>
                  </a:lnTo>
                  <a:lnTo>
                    <a:pt x="1459230" y="66040"/>
                  </a:lnTo>
                  <a:lnTo>
                    <a:pt x="1224280" y="134620"/>
                  </a:lnTo>
                  <a:lnTo>
                    <a:pt x="1223010" y="135890"/>
                  </a:lnTo>
                  <a:lnTo>
                    <a:pt x="991870" y="229870"/>
                  </a:lnTo>
                  <a:lnTo>
                    <a:pt x="990600" y="231140"/>
                  </a:lnTo>
                  <a:lnTo>
                    <a:pt x="765810" y="351790"/>
                  </a:lnTo>
                  <a:lnTo>
                    <a:pt x="764540" y="351790"/>
                  </a:lnTo>
                  <a:lnTo>
                    <a:pt x="549910" y="500380"/>
                  </a:lnTo>
                  <a:lnTo>
                    <a:pt x="548640" y="501650"/>
                  </a:lnTo>
                  <a:lnTo>
                    <a:pt x="347980" y="676910"/>
                  </a:lnTo>
                  <a:lnTo>
                    <a:pt x="357124" y="687298"/>
                  </a:lnTo>
                  <a:lnTo>
                    <a:pt x="356857" y="687070"/>
                  </a:lnTo>
                  <a:lnTo>
                    <a:pt x="347980" y="676910"/>
                  </a:lnTo>
                  <a:lnTo>
                    <a:pt x="346710" y="676910"/>
                  </a:lnTo>
                  <a:lnTo>
                    <a:pt x="163830" y="881380"/>
                  </a:lnTo>
                  <a:lnTo>
                    <a:pt x="162560" y="882650"/>
                  </a:lnTo>
                  <a:lnTo>
                    <a:pt x="0" y="1116330"/>
                  </a:lnTo>
                  <a:lnTo>
                    <a:pt x="11430" y="1123950"/>
                  </a:lnTo>
                  <a:lnTo>
                    <a:pt x="22860" y="1132840"/>
                  </a:lnTo>
                  <a:lnTo>
                    <a:pt x="185420" y="899160"/>
                  </a:lnTo>
                  <a:lnTo>
                    <a:pt x="366522" y="697941"/>
                  </a:lnTo>
                  <a:lnTo>
                    <a:pt x="367030" y="698500"/>
                  </a:lnTo>
                  <a:lnTo>
                    <a:pt x="566343" y="523151"/>
                  </a:lnTo>
                  <a:lnTo>
                    <a:pt x="781050" y="375920"/>
                  </a:lnTo>
                  <a:lnTo>
                    <a:pt x="780669" y="375450"/>
                  </a:lnTo>
                  <a:lnTo>
                    <a:pt x="1003058" y="256082"/>
                  </a:lnTo>
                  <a:lnTo>
                    <a:pt x="1003300" y="256540"/>
                  </a:lnTo>
                  <a:lnTo>
                    <a:pt x="1232979" y="161899"/>
                  </a:lnTo>
                  <a:lnTo>
                    <a:pt x="1233170" y="162560"/>
                  </a:lnTo>
                  <a:lnTo>
                    <a:pt x="1465491" y="93497"/>
                  </a:lnTo>
                  <a:lnTo>
                    <a:pt x="1465580" y="93980"/>
                  </a:lnTo>
                  <a:lnTo>
                    <a:pt x="1700530" y="48260"/>
                  </a:lnTo>
                  <a:lnTo>
                    <a:pt x="1928977" y="27965"/>
                  </a:lnTo>
                  <a:lnTo>
                    <a:pt x="2150110" y="30467"/>
                  </a:lnTo>
                  <a:lnTo>
                    <a:pt x="2359736" y="54330"/>
                  </a:lnTo>
                  <a:lnTo>
                    <a:pt x="2359660" y="54610"/>
                  </a:lnTo>
                  <a:lnTo>
                    <a:pt x="2556599" y="100063"/>
                  </a:lnTo>
                  <a:lnTo>
                    <a:pt x="2556510" y="100330"/>
                  </a:lnTo>
                  <a:lnTo>
                    <a:pt x="2734500" y="165976"/>
                  </a:lnTo>
                  <a:lnTo>
                    <a:pt x="2734310" y="166370"/>
                  </a:lnTo>
                  <a:lnTo>
                    <a:pt x="2891790" y="252730"/>
                  </a:lnTo>
                  <a:lnTo>
                    <a:pt x="2891929" y="252501"/>
                  </a:lnTo>
                  <a:lnTo>
                    <a:pt x="2960370" y="302260"/>
                  </a:lnTo>
                  <a:lnTo>
                    <a:pt x="3022600" y="356870"/>
                  </a:lnTo>
                  <a:lnTo>
                    <a:pt x="3023171" y="356222"/>
                  </a:lnTo>
                  <a:lnTo>
                    <a:pt x="3077248" y="413994"/>
                  </a:lnTo>
                  <a:lnTo>
                    <a:pt x="3125470" y="478790"/>
                  </a:lnTo>
                  <a:lnTo>
                    <a:pt x="3148330" y="46102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33570" y="4387849"/>
              <a:ext cx="2852420" cy="1436370"/>
            </a:xfrm>
            <a:custGeom>
              <a:avLst/>
              <a:gdLst/>
              <a:ahLst/>
              <a:cxnLst/>
              <a:rect l="l" t="t" r="r" b="b"/>
              <a:pathLst>
                <a:path w="2852420" h="1436370">
                  <a:moveTo>
                    <a:pt x="2852420" y="12700"/>
                  </a:moveTo>
                  <a:lnTo>
                    <a:pt x="2840990" y="6350"/>
                  </a:lnTo>
                  <a:lnTo>
                    <a:pt x="2828290" y="0"/>
                  </a:lnTo>
                  <a:lnTo>
                    <a:pt x="2632710" y="344170"/>
                  </a:lnTo>
                  <a:lnTo>
                    <a:pt x="2632976" y="344335"/>
                  </a:lnTo>
                  <a:lnTo>
                    <a:pt x="2432050" y="633730"/>
                  </a:lnTo>
                  <a:lnTo>
                    <a:pt x="2229243" y="872032"/>
                  </a:lnTo>
                  <a:lnTo>
                    <a:pt x="2023110" y="1061720"/>
                  </a:lnTo>
                  <a:lnTo>
                    <a:pt x="2023554" y="1062304"/>
                  </a:lnTo>
                  <a:lnTo>
                    <a:pt x="1818767" y="1206779"/>
                  </a:lnTo>
                  <a:lnTo>
                    <a:pt x="1818640" y="1206500"/>
                  </a:lnTo>
                  <a:lnTo>
                    <a:pt x="1614373" y="1311160"/>
                  </a:lnTo>
                  <a:lnTo>
                    <a:pt x="1614170" y="1310640"/>
                  </a:lnTo>
                  <a:lnTo>
                    <a:pt x="1410970" y="1376680"/>
                  </a:lnTo>
                  <a:lnTo>
                    <a:pt x="1411109" y="1377073"/>
                  </a:lnTo>
                  <a:lnTo>
                    <a:pt x="1215390" y="1408430"/>
                  </a:lnTo>
                  <a:lnTo>
                    <a:pt x="1027430" y="1408430"/>
                  </a:lnTo>
                  <a:lnTo>
                    <a:pt x="844550" y="1380490"/>
                  </a:lnTo>
                  <a:lnTo>
                    <a:pt x="844461" y="1380959"/>
                  </a:lnTo>
                  <a:lnTo>
                    <a:pt x="674230" y="1328775"/>
                  </a:lnTo>
                  <a:lnTo>
                    <a:pt x="674370" y="1328420"/>
                  </a:lnTo>
                  <a:lnTo>
                    <a:pt x="514070" y="1253959"/>
                  </a:lnTo>
                  <a:lnTo>
                    <a:pt x="514350" y="1253490"/>
                  </a:lnTo>
                  <a:lnTo>
                    <a:pt x="368096" y="1162253"/>
                  </a:lnTo>
                  <a:lnTo>
                    <a:pt x="368300" y="1162050"/>
                  </a:lnTo>
                  <a:lnTo>
                    <a:pt x="235191" y="1053033"/>
                  </a:lnTo>
                  <a:lnTo>
                    <a:pt x="120611" y="933475"/>
                  </a:lnTo>
                  <a:lnTo>
                    <a:pt x="22860" y="803910"/>
                  </a:lnTo>
                  <a:lnTo>
                    <a:pt x="0" y="821690"/>
                  </a:lnTo>
                  <a:lnTo>
                    <a:pt x="97790" y="951230"/>
                  </a:lnTo>
                  <a:lnTo>
                    <a:pt x="99060" y="952500"/>
                  </a:lnTo>
                  <a:lnTo>
                    <a:pt x="214630" y="1073150"/>
                  </a:lnTo>
                  <a:lnTo>
                    <a:pt x="217170" y="1074420"/>
                  </a:lnTo>
                  <a:lnTo>
                    <a:pt x="349250" y="1183640"/>
                  </a:lnTo>
                  <a:lnTo>
                    <a:pt x="350520" y="1184910"/>
                  </a:lnTo>
                  <a:lnTo>
                    <a:pt x="499110" y="1277620"/>
                  </a:lnTo>
                  <a:lnTo>
                    <a:pt x="500380" y="1278890"/>
                  </a:lnTo>
                  <a:lnTo>
                    <a:pt x="662940" y="1353820"/>
                  </a:lnTo>
                  <a:lnTo>
                    <a:pt x="664210" y="1355090"/>
                  </a:lnTo>
                  <a:lnTo>
                    <a:pt x="838200" y="1408430"/>
                  </a:lnTo>
                  <a:lnTo>
                    <a:pt x="839470" y="1408430"/>
                  </a:lnTo>
                  <a:lnTo>
                    <a:pt x="1023620" y="1436370"/>
                  </a:lnTo>
                  <a:lnTo>
                    <a:pt x="1026160" y="1436370"/>
                  </a:lnTo>
                  <a:lnTo>
                    <a:pt x="1217930" y="1436370"/>
                  </a:lnTo>
                  <a:lnTo>
                    <a:pt x="1220470" y="1436370"/>
                  </a:lnTo>
                  <a:lnTo>
                    <a:pt x="1417320" y="1404620"/>
                  </a:lnTo>
                  <a:lnTo>
                    <a:pt x="1419860" y="1404620"/>
                  </a:lnTo>
                  <a:lnTo>
                    <a:pt x="1623060" y="1337310"/>
                  </a:lnTo>
                  <a:lnTo>
                    <a:pt x="1625600" y="1337310"/>
                  </a:lnTo>
                  <a:lnTo>
                    <a:pt x="1831340" y="1231900"/>
                  </a:lnTo>
                  <a:lnTo>
                    <a:pt x="1832610" y="1230630"/>
                  </a:lnTo>
                  <a:lnTo>
                    <a:pt x="2040890" y="1084580"/>
                  </a:lnTo>
                  <a:lnTo>
                    <a:pt x="2042160" y="1083310"/>
                  </a:lnTo>
                  <a:lnTo>
                    <a:pt x="2249170" y="891540"/>
                  </a:lnTo>
                  <a:lnTo>
                    <a:pt x="2250440" y="890270"/>
                  </a:lnTo>
                  <a:lnTo>
                    <a:pt x="2454910" y="651510"/>
                  </a:lnTo>
                  <a:lnTo>
                    <a:pt x="2456180" y="650240"/>
                  </a:lnTo>
                  <a:lnTo>
                    <a:pt x="2656840" y="359410"/>
                  </a:lnTo>
                  <a:lnTo>
                    <a:pt x="2658110" y="358140"/>
                  </a:lnTo>
                  <a:lnTo>
                    <a:pt x="2852420" y="1270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7155">
              <a:spcBef>
                <a:spcPts val="100"/>
              </a:spcBef>
            </a:pPr>
            <a:r>
              <a:rPr spc="-10" dirty="0"/>
              <a:t>Splines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70" y="131825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70" y="2923540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1292513"/>
            <a:ext cx="7686040" cy="497967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5400" marR="237490">
              <a:lnSpc>
                <a:spcPts val="2800"/>
              </a:lnSpc>
              <a:spcBef>
                <a:spcPts val="459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base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Bézier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própria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modelagem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curvas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longas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4815" indent="-285115">
              <a:spcBef>
                <a:spcPts val="270"/>
              </a:spcBef>
              <a:buFont typeface="Wingdings"/>
              <a:buChar char=""/>
              <a:tabLst>
                <a:tab pos="4248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Bézier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única: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suporte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local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4815" indent="-285115">
              <a:spcBef>
                <a:spcPts val="309"/>
              </a:spcBef>
              <a:buFont typeface="Wingdings"/>
              <a:buChar char=""/>
              <a:tabLst>
                <a:tab pos="4248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Trechos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emendados: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restrições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naturais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25400">
              <a:spcBef>
                <a:spcPts val="34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Base</a:t>
            </a:r>
            <a:r>
              <a:rPr sz="26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alternativa: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B-Splines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4815" indent="-285115">
              <a:spcBef>
                <a:spcPts val="309"/>
              </a:spcBef>
              <a:buFont typeface="Wingdings"/>
              <a:buChar char=""/>
              <a:tabLst>
                <a:tab pos="4248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Nome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vem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um</a:t>
            </a:r>
            <a:r>
              <a:rPr sz="24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instrumento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usado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desenhistas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5450" marR="69215" indent="-285750">
              <a:lnSpc>
                <a:spcPts val="2590"/>
              </a:lnSpc>
              <a:spcBef>
                <a:spcPts val="635"/>
              </a:spcBef>
              <a:buFont typeface="Wingdings"/>
              <a:buChar char=""/>
              <a:tabLst>
                <a:tab pos="42545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Modelagem</a:t>
            </a:r>
            <a:r>
              <a:rPr sz="2400" spc="-9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4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polígonos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controle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sem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restrições adicionais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4815" indent="-285115">
              <a:spcBef>
                <a:spcPts val="275"/>
              </a:spcBef>
              <a:buFont typeface="Wingdings"/>
              <a:buChar char=""/>
              <a:tabLst>
                <a:tab pos="4248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Suporte</a:t>
            </a:r>
            <a:r>
              <a:rPr sz="2400" spc="-10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local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824865" lvl="1" indent="-227965">
              <a:spcBef>
                <a:spcPts val="250"/>
              </a:spcBef>
              <a:buChar char="•"/>
              <a:tabLst>
                <a:tab pos="82486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Alteração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um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vértice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afeta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apenas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na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vizinhança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5450" marR="647700" indent="-285750">
              <a:lnSpc>
                <a:spcPts val="2590"/>
              </a:lnSpc>
              <a:spcBef>
                <a:spcPts val="635"/>
              </a:spcBef>
              <a:buFont typeface="Wingdings"/>
              <a:buChar char=""/>
              <a:tabLst>
                <a:tab pos="42545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Existem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muitos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tipos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Splines,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mas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vamos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nos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concentrar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4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B-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splines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uniformes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824865" lvl="1" indent="-227965">
              <a:spcBef>
                <a:spcPts val="225"/>
              </a:spcBef>
              <a:buChar char="•"/>
              <a:tabLst>
                <a:tab pos="824865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B-spline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uniforme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grau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002454"/>
                </a:solidFill>
                <a:latin typeface="Arial"/>
                <a:cs typeface="Arial"/>
              </a:rPr>
              <a:t>d</a:t>
            </a:r>
            <a:r>
              <a:rPr sz="2000" i="1" spc="-3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tem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continuidade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C</a:t>
            </a:r>
            <a:r>
              <a:rPr sz="1725" i="1" spc="-15" baseline="28985" dirty="0">
                <a:solidFill>
                  <a:srgbClr val="002454"/>
                </a:solidFill>
                <a:latin typeface="Arial"/>
                <a:cs typeface="Arial"/>
              </a:rPr>
              <a:t>d</a:t>
            </a:r>
            <a:r>
              <a:rPr sz="1725" spc="-15" baseline="28985" dirty="0">
                <a:solidFill>
                  <a:srgbClr val="002454"/>
                </a:solidFill>
                <a:latin typeface="Arial MT"/>
                <a:cs typeface="Arial MT"/>
              </a:rPr>
              <a:t>-</a:t>
            </a:r>
            <a:r>
              <a:rPr sz="1725" spc="-75" baseline="28985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endParaRPr sz="1725" baseline="28985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87525">
              <a:spcBef>
                <a:spcPts val="100"/>
              </a:spcBef>
            </a:pPr>
            <a:r>
              <a:rPr dirty="0"/>
              <a:t>Curvas</a:t>
            </a:r>
            <a:r>
              <a:rPr spc="-20" dirty="0"/>
              <a:t> B-</a:t>
            </a:r>
            <a:r>
              <a:rPr spc="-10" dirty="0"/>
              <a:t>Spline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69" y="1129029"/>
            <a:ext cx="1193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8200" y="1365327"/>
            <a:ext cx="7583805" cy="1895391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5400" marR="481965">
              <a:lnSpc>
                <a:spcPts val="2270"/>
              </a:lnSpc>
              <a:spcBef>
                <a:spcPts val="380"/>
              </a:spcBef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Funções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base</a:t>
            </a:r>
            <a:r>
              <a:rPr sz="21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nulas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apenas</a:t>
            </a:r>
            <a:r>
              <a:rPr sz="21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um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intervalo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no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espaço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do</a:t>
            </a:r>
            <a:r>
              <a:rPr sz="21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parâmetro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5450" marR="17780" indent="-285750">
              <a:lnSpc>
                <a:spcPts val="2160"/>
              </a:lnSpc>
              <a:spcBef>
                <a:spcPts val="500"/>
              </a:spcBef>
              <a:buFont typeface="Wingdings"/>
              <a:buChar char=""/>
              <a:tabLst>
                <a:tab pos="425450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Como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impossível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obter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isso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apenas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polinomial,</a:t>
            </a:r>
            <a:r>
              <a:rPr sz="20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cada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função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base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composta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emenda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funções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polinomiais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5450" marR="105410" indent="-285750">
              <a:lnSpc>
                <a:spcPts val="2160"/>
              </a:lnSpc>
              <a:spcBef>
                <a:spcPts val="490"/>
              </a:spcBef>
              <a:buFont typeface="Wingdings"/>
              <a:buChar char=""/>
              <a:tabLst>
                <a:tab pos="425450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exemplo,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função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base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B-spline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quadrática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tem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3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trechos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(não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nulos)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emendados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continuidade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C</a:t>
            </a:r>
            <a:r>
              <a:rPr sz="1725" spc="-37" baseline="28985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endParaRPr sz="1725" baseline="28985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28900" y="3581400"/>
            <a:ext cx="6362700" cy="2062480"/>
            <a:chOff x="1104900" y="3581400"/>
            <a:chExt cx="6362700" cy="2062480"/>
          </a:xfrm>
        </p:grpSpPr>
        <p:sp>
          <p:nvSpPr>
            <p:cNvPr id="6" name="object 6"/>
            <p:cNvSpPr/>
            <p:nvPr/>
          </p:nvSpPr>
          <p:spPr>
            <a:xfrm>
              <a:off x="1104900" y="3581399"/>
              <a:ext cx="6362700" cy="2019300"/>
            </a:xfrm>
            <a:custGeom>
              <a:avLst/>
              <a:gdLst/>
              <a:ahLst/>
              <a:cxnLst/>
              <a:rect l="l" t="t" r="r" b="b"/>
              <a:pathLst>
                <a:path w="6362700" h="2019300">
                  <a:moveTo>
                    <a:pt x="6362700" y="1981200"/>
                  </a:moveTo>
                  <a:lnTo>
                    <a:pt x="6286500" y="1943100"/>
                  </a:lnTo>
                  <a:lnTo>
                    <a:pt x="6286500" y="1976120"/>
                  </a:lnTo>
                  <a:lnTo>
                    <a:pt x="43180" y="1976120"/>
                  </a:lnTo>
                  <a:lnTo>
                    <a:pt x="43180" y="74930"/>
                  </a:lnTo>
                  <a:lnTo>
                    <a:pt x="76200" y="74930"/>
                  </a:lnTo>
                  <a:lnTo>
                    <a:pt x="38100" y="0"/>
                  </a:lnTo>
                  <a:lnTo>
                    <a:pt x="0" y="74930"/>
                  </a:lnTo>
                  <a:lnTo>
                    <a:pt x="33020" y="74930"/>
                  </a:lnTo>
                  <a:lnTo>
                    <a:pt x="33020" y="1981200"/>
                  </a:lnTo>
                  <a:lnTo>
                    <a:pt x="38100" y="1981200"/>
                  </a:lnTo>
                  <a:lnTo>
                    <a:pt x="38100" y="1986280"/>
                  </a:lnTo>
                  <a:lnTo>
                    <a:pt x="6286500" y="1986280"/>
                  </a:lnTo>
                  <a:lnTo>
                    <a:pt x="6286500" y="2019300"/>
                  </a:lnTo>
                  <a:lnTo>
                    <a:pt x="6362700" y="1981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3000" y="5562600"/>
              <a:ext cx="5867400" cy="76200"/>
            </a:xfrm>
            <a:custGeom>
              <a:avLst/>
              <a:gdLst/>
              <a:ahLst/>
              <a:cxnLst/>
              <a:rect l="l" t="t" r="r" b="b"/>
              <a:pathLst>
                <a:path w="5867400" h="76200">
                  <a:moveTo>
                    <a:pt x="1676400" y="0"/>
                  </a:moveTo>
                  <a:lnTo>
                    <a:pt x="1676400" y="76200"/>
                  </a:lnTo>
                </a:path>
                <a:path w="5867400" h="76200">
                  <a:moveTo>
                    <a:pt x="2514600" y="0"/>
                  </a:moveTo>
                  <a:lnTo>
                    <a:pt x="2514600" y="76200"/>
                  </a:lnTo>
                </a:path>
                <a:path w="5867400" h="76200">
                  <a:moveTo>
                    <a:pt x="3352800" y="0"/>
                  </a:moveTo>
                  <a:lnTo>
                    <a:pt x="3352800" y="76200"/>
                  </a:lnTo>
                </a:path>
                <a:path w="5867400" h="76200">
                  <a:moveTo>
                    <a:pt x="4191000" y="0"/>
                  </a:moveTo>
                  <a:lnTo>
                    <a:pt x="4191000" y="76200"/>
                  </a:lnTo>
                </a:path>
                <a:path w="5867400" h="76200">
                  <a:moveTo>
                    <a:pt x="5029200" y="0"/>
                  </a:moveTo>
                  <a:lnTo>
                    <a:pt x="5029200" y="76200"/>
                  </a:lnTo>
                </a:path>
                <a:path w="5867400" h="76200">
                  <a:moveTo>
                    <a:pt x="5867400" y="0"/>
                  </a:moveTo>
                  <a:lnTo>
                    <a:pt x="5867400" y="76200"/>
                  </a:lnTo>
                </a:path>
                <a:path w="5867400" h="76200">
                  <a:moveTo>
                    <a:pt x="838200" y="0"/>
                  </a:moveTo>
                  <a:lnTo>
                    <a:pt x="838200" y="76200"/>
                  </a:lnTo>
                </a:path>
                <a:path w="5867400" h="76200">
                  <a:moveTo>
                    <a:pt x="1676400" y="0"/>
                  </a:moveTo>
                  <a:lnTo>
                    <a:pt x="1676400" y="76200"/>
                  </a:lnTo>
                </a:path>
                <a:path w="5867400" h="76200">
                  <a:moveTo>
                    <a:pt x="0" y="0"/>
                  </a:moveTo>
                  <a:lnTo>
                    <a:pt x="0" y="76200"/>
                  </a:lnTo>
                </a:path>
                <a:path w="5867400" h="76200">
                  <a:moveTo>
                    <a:pt x="838200" y="0"/>
                  </a:moveTo>
                  <a:lnTo>
                    <a:pt x="838200" y="76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43000" y="4188459"/>
              <a:ext cx="3366770" cy="1388110"/>
            </a:xfrm>
            <a:custGeom>
              <a:avLst/>
              <a:gdLst/>
              <a:ahLst/>
              <a:cxnLst/>
              <a:rect l="l" t="t" r="r" b="b"/>
              <a:pathLst>
                <a:path w="3366770" h="1388110">
                  <a:moveTo>
                    <a:pt x="3366770" y="455930"/>
                  </a:moveTo>
                  <a:lnTo>
                    <a:pt x="3365500" y="453390"/>
                  </a:lnTo>
                  <a:lnTo>
                    <a:pt x="3317240" y="353060"/>
                  </a:lnTo>
                  <a:lnTo>
                    <a:pt x="3317240" y="351790"/>
                  </a:lnTo>
                  <a:lnTo>
                    <a:pt x="3267710" y="264160"/>
                  </a:lnTo>
                  <a:lnTo>
                    <a:pt x="3267710" y="262890"/>
                  </a:lnTo>
                  <a:lnTo>
                    <a:pt x="3216910" y="187960"/>
                  </a:lnTo>
                  <a:lnTo>
                    <a:pt x="3216910" y="186690"/>
                  </a:lnTo>
                  <a:lnTo>
                    <a:pt x="3164840" y="124460"/>
                  </a:lnTo>
                  <a:lnTo>
                    <a:pt x="3163570" y="121920"/>
                  </a:lnTo>
                  <a:lnTo>
                    <a:pt x="3111500" y="72390"/>
                  </a:lnTo>
                  <a:lnTo>
                    <a:pt x="3110230" y="72390"/>
                  </a:lnTo>
                  <a:lnTo>
                    <a:pt x="3084830" y="52070"/>
                  </a:lnTo>
                  <a:lnTo>
                    <a:pt x="3083560" y="50800"/>
                  </a:lnTo>
                  <a:lnTo>
                    <a:pt x="3056890" y="34290"/>
                  </a:lnTo>
                  <a:lnTo>
                    <a:pt x="3055620" y="33020"/>
                  </a:lnTo>
                  <a:lnTo>
                    <a:pt x="3028950" y="20320"/>
                  </a:lnTo>
                  <a:lnTo>
                    <a:pt x="3027680" y="20320"/>
                  </a:lnTo>
                  <a:lnTo>
                    <a:pt x="3001010" y="10160"/>
                  </a:lnTo>
                  <a:lnTo>
                    <a:pt x="2999740" y="8890"/>
                  </a:lnTo>
                  <a:lnTo>
                    <a:pt x="2971800" y="2540"/>
                  </a:lnTo>
                  <a:lnTo>
                    <a:pt x="2970530" y="2540"/>
                  </a:lnTo>
                  <a:lnTo>
                    <a:pt x="2943860" y="0"/>
                  </a:lnTo>
                  <a:lnTo>
                    <a:pt x="2941320" y="0"/>
                  </a:lnTo>
                  <a:lnTo>
                    <a:pt x="2914650" y="0"/>
                  </a:lnTo>
                  <a:lnTo>
                    <a:pt x="2913380" y="0"/>
                  </a:lnTo>
                  <a:lnTo>
                    <a:pt x="2885440" y="3810"/>
                  </a:lnTo>
                  <a:lnTo>
                    <a:pt x="2884170" y="5080"/>
                  </a:lnTo>
                  <a:lnTo>
                    <a:pt x="2857500" y="11430"/>
                  </a:lnTo>
                  <a:lnTo>
                    <a:pt x="2854960" y="12700"/>
                  </a:lnTo>
                  <a:lnTo>
                    <a:pt x="2828290" y="24130"/>
                  </a:lnTo>
                  <a:lnTo>
                    <a:pt x="2827020" y="24130"/>
                  </a:lnTo>
                  <a:lnTo>
                    <a:pt x="2800350" y="39370"/>
                  </a:lnTo>
                  <a:lnTo>
                    <a:pt x="2797810" y="39370"/>
                  </a:lnTo>
                  <a:lnTo>
                    <a:pt x="2771140" y="58420"/>
                  </a:lnTo>
                  <a:lnTo>
                    <a:pt x="2769870" y="59690"/>
                  </a:lnTo>
                  <a:lnTo>
                    <a:pt x="2715260" y="106680"/>
                  </a:lnTo>
                  <a:lnTo>
                    <a:pt x="2715260" y="107950"/>
                  </a:lnTo>
                  <a:lnTo>
                    <a:pt x="2660650" y="170180"/>
                  </a:lnTo>
                  <a:lnTo>
                    <a:pt x="2672423" y="180581"/>
                  </a:lnTo>
                  <a:lnTo>
                    <a:pt x="2672080" y="180340"/>
                  </a:lnTo>
                  <a:lnTo>
                    <a:pt x="2660650" y="170180"/>
                  </a:lnTo>
                  <a:lnTo>
                    <a:pt x="2660650" y="171450"/>
                  </a:lnTo>
                  <a:lnTo>
                    <a:pt x="2607310" y="250190"/>
                  </a:lnTo>
                  <a:lnTo>
                    <a:pt x="2606040" y="250190"/>
                  </a:lnTo>
                  <a:lnTo>
                    <a:pt x="2553970" y="344170"/>
                  </a:lnTo>
                  <a:lnTo>
                    <a:pt x="2502370" y="452412"/>
                  </a:lnTo>
                  <a:lnTo>
                    <a:pt x="2501900" y="452120"/>
                  </a:lnTo>
                  <a:lnTo>
                    <a:pt x="2422410" y="595947"/>
                  </a:lnTo>
                  <a:lnTo>
                    <a:pt x="2421890" y="595630"/>
                  </a:lnTo>
                  <a:lnTo>
                    <a:pt x="2331720" y="742950"/>
                  </a:lnTo>
                  <a:lnTo>
                    <a:pt x="2332621" y="743496"/>
                  </a:lnTo>
                  <a:lnTo>
                    <a:pt x="2218690" y="911860"/>
                  </a:lnTo>
                  <a:lnTo>
                    <a:pt x="2218867" y="911987"/>
                  </a:lnTo>
                  <a:lnTo>
                    <a:pt x="2089734" y="1078750"/>
                  </a:lnTo>
                  <a:lnTo>
                    <a:pt x="2089150" y="1078230"/>
                  </a:lnTo>
                  <a:lnTo>
                    <a:pt x="2019477" y="1155509"/>
                  </a:lnTo>
                  <a:lnTo>
                    <a:pt x="1950720" y="1223035"/>
                  </a:lnTo>
                  <a:lnTo>
                    <a:pt x="1879701" y="1280325"/>
                  </a:lnTo>
                  <a:lnTo>
                    <a:pt x="1879600" y="1280160"/>
                  </a:lnTo>
                  <a:lnTo>
                    <a:pt x="1809915" y="1323721"/>
                  </a:lnTo>
                  <a:lnTo>
                    <a:pt x="1809750" y="1323340"/>
                  </a:lnTo>
                  <a:lnTo>
                    <a:pt x="1774190" y="1339850"/>
                  </a:lnTo>
                  <a:lnTo>
                    <a:pt x="1774355" y="1340205"/>
                  </a:lnTo>
                  <a:lnTo>
                    <a:pt x="1739900" y="1351280"/>
                  </a:lnTo>
                  <a:lnTo>
                    <a:pt x="1740077" y="1351788"/>
                  </a:lnTo>
                  <a:lnTo>
                    <a:pt x="1709483" y="1358353"/>
                  </a:lnTo>
                  <a:lnTo>
                    <a:pt x="1709420" y="1357630"/>
                  </a:lnTo>
                  <a:lnTo>
                    <a:pt x="1675130" y="1360170"/>
                  </a:lnTo>
                  <a:lnTo>
                    <a:pt x="838200" y="1360170"/>
                  </a:lnTo>
                  <a:lnTo>
                    <a:pt x="0" y="1360170"/>
                  </a:lnTo>
                  <a:lnTo>
                    <a:pt x="0" y="1388110"/>
                  </a:lnTo>
                  <a:lnTo>
                    <a:pt x="838200" y="1388110"/>
                  </a:lnTo>
                  <a:lnTo>
                    <a:pt x="1676400" y="1388110"/>
                  </a:lnTo>
                  <a:lnTo>
                    <a:pt x="1710690" y="1386840"/>
                  </a:lnTo>
                  <a:lnTo>
                    <a:pt x="1713230" y="1385570"/>
                  </a:lnTo>
                  <a:lnTo>
                    <a:pt x="1747520" y="1379220"/>
                  </a:lnTo>
                  <a:lnTo>
                    <a:pt x="1750060" y="1377950"/>
                  </a:lnTo>
                  <a:lnTo>
                    <a:pt x="1784350" y="1366520"/>
                  </a:lnTo>
                  <a:lnTo>
                    <a:pt x="1785620" y="1366520"/>
                  </a:lnTo>
                  <a:lnTo>
                    <a:pt x="1821180" y="1350010"/>
                  </a:lnTo>
                  <a:lnTo>
                    <a:pt x="1822450" y="1348740"/>
                  </a:lnTo>
                  <a:lnTo>
                    <a:pt x="1894840" y="1304290"/>
                  </a:lnTo>
                  <a:lnTo>
                    <a:pt x="1896110" y="1303020"/>
                  </a:lnTo>
                  <a:lnTo>
                    <a:pt x="1968500" y="1244600"/>
                  </a:lnTo>
                  <a:lnTo>
                    <a:pt x="1969770" y="1244600"/>
                  </a:lnTo>
                  <a:lnTo>
                    <a:pt x="2039620" y="1174750"/>
                  </a:lnTo>
                  <a:lnTo>
                    <a:pt x="2040890" y="1174750"/>
                  </a:lnTo>
                  <a:lnTo>
                    <a:pt x="2110740" y="1097280"/>
                  </a:lnTo>
                  <a:lnTo>
                    <a:pt x="2099945" y="1087755"/>
                  </a:lnTo>
                  <a:lnTo>
                    <a:pt x="2100503" y="1088199"/>
                  </a:lnTo>
                  <a:lnTo>
                    <a:pt x="2110740" y="1097280"/>
                  </a:lnTo>
                  <a:lnTo>
                    <a:pt x="2110740" y="1096010"/>
                  </a:lnTo>
                  <a:lnTo>
                    <a:pt x="2241550" y="928370"/>
                  </a:lnTo>
                  <a:lnTo>
                    <a:pt x="2242820" y="927100"/>
                  </a:lnTo>
                  <a:lnTo>
                    <a:pt x="2355850" y="758190"/>
                  </a:lnTo>
                  <a:lnTo>
                    <a:pt x="2357120" y="758190"/>
                  </a:lnTo>
                  <a:lnTo>
                    <a:pt x="2446020" y="610870"/>
                  </a:lnTo>
                  <a:lnTo>
                    <a:pt x="2527300" y="466090"/>
                  </a:lnTo>
                  <a:lnTo>
                    <a:pt x="2579370" y="356870"/>
                  </a:lnTo>
                  <a:lnTo>
                    <a:pt x="2578938" y="356666"/>
                  </a:lnTo>
                  <a:lnTo>
                    <a:pt x="2631440" y="264160"/>
                  </a:lnTo>
                  <a:lnTo>
                    <a:pt x="2631135" y="264020"/>
                  </a:lnTo>
                  <a:lnTo>
                    <a:pt x="2683510" y="187960"/>
                  </a:lnTo>
                  <a:lnTo>
                    <a:pt x="2736850" y="127000"/>
                  </a:lnTo>
                  <a:lnTo>
                    <a:pt x="2736253" y="126555"/>
                  </a:lnTo>
                  <a:lnTo>
                    <a:pt x="2787573" y="81203"/>
                  </a:lnTo>
                  <a:lnTo>
                    <a:pt x="2814320" y="63500"/>
                  </a:lnTo>
                  <a:lnTo>
                    <a:pt x="2814015" y="63017"/>
                  </a:lnTo>
                  <a:lnTo>
                    <a:pt x="2840990" y="49530"/>
                  </a:lnTo>
                  <a:lnTo>
                    <a:pt x="2840482" y="48704"/>
                  </a:lnTo>
                  <a:lnTo>
                    <a:pt x="2864878" y="38722"/>
                  </a:lnTo>
                  <a:lnTo>
                    <a:pt x="2865120" y="39370"/>
                  </a:lnTo>
                  <a:lnTo>
                    <a:pt x="2891790" y="31750"/>
                  </a:lnTo>
                  <a:lnTo>
                    <a:pt x="2891688" y="31419"/>
                  </a:lnTo>
                  <a:lnTo>
                    <a:pt x="2917190" y="27940"/>
                  </a:lnTo>
                  <a:lnTo>
                    <a:pt x="2940050" y="27940"/>
                  </a:lnTo>
                  <a:lnTo>
                    <a:pt x="2965475" y="30365"/>
                  </a:lnTo>
                  <a:lnTo>
                    <a:pt x="2990939" y="36563"/>
                  </a:lnTo>
                  <a:lnTo>
                    <a:pt x="2990850" y="36830"/>
                  </a:lnTo>
                  <a:lnTo>
                    <a:pt x="3017520" y="46990"/>
                  </a:lnTo>
                  <a:lnTo>
                    <a:pt x="3017697" y="46482"/>
                  </a:lnTo>
                  <a:lnTo>
                    <a:pt x="3042920" y="59690"/>
                  </a:lnTo>
                  <a:lnTo>
                    <a:pt x="3043097" y="59321"/>
                  </a:lnTo>
                  <a:lnTo>
                    <a:pt x="3067456" y="74409"/>
                  </a:lnTo>
                  <a:lnTo>
                    <a:pt x="3067050" y="74930"/>
                  </a:lnTo>
                  <a:lnTo>
                    <a:pt x="3092932" y="93433"/>
                  </a:lnTo>
                  <a:lnTo>
                    <a:pt x="3092450" y="93980"/>
                  </a:lnTo>
                  <a:lnTo>
                    <a:pt x="3143466" y="142519"/>
                  </a:lnTo>
                  <a:lnTo>
                    <a:pt x="3194050" y="204470"/>
                  </a:lnTo>
                  <a:lnTo>
                    <a:pt x="3194596" y="204050"/>
                  </a:lnTo>
                  <a:lnTo>
                    <a:pt x="3243580" y="279400"/>
                  </a:lnTo>
                  <a:lnTo>
                    <a:pt x="3244113" y="279082"/>
                  </a:lnTo>
                  <a:lnTo>
                    <a:pt x="3292818" y="365277"/>
                  </a:lnTo>
                  <a:lnTo>
                    <a:pt x="3291840" y="365760"/>
                  </a:lnTo>
                  <a:lnTo>
                    <a:pt x="3340100" y="466090"/>
                  </a:lnTo>
                  <a:lnTo>
                    <a:pt x="3352800" y="459740"/>
                  </a:lnTo>
                  <a:lnTo>
                    <a:pt x="3366770" y="461010"/>
                  </a:lnTo>
                  <a:lnTo>
                    <a:pt x="3366770" y="455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81830" y="4641849"/>
              <a:ext cx="2528570" cy="934719"/>
            </a:xfrm>
            <a:custGeom>
              <a:avLst/>
              <a:gdLst/>
              <a:ahLst/>
              <a:cxnLst/>
              <a:rect l="l" t="t" r="r" b="b"/>
              <a:pathLst>
                <a:path w="2528570" h="934720">
                  <a:moveTo>
                    <a:pt x="2528570" y="906780"/>
                  </a:moveTo>
                  <a:lnTo>
                    <a:pt x="1690370" y="906780"/>
                  </a:lnTo>
                  <a:lnTo>
                    <a:pt x="1272540" y="902970"/>
                  </a:lnTo>
                  <a:lnTo>
                    <a:pt x="1272540" y="918210"/>
                  </a:lnTo>
                  <a:lnTo>
                    <a:pt x="1271905" y="925195"/>
                  </a:lnTo>
                  <a:lnTo>
                    <a:pt x="1271905" y="918210"/>
                  </a:lnTo>
                  <a:lnTo>
                    <a:pt x="1272540" y="918210"/>
                  </a:lnTo>
                  <a:lnTo>
                    <a:pt x="1272540" y="902970"/>
                  </a:lnTo>
                  <a:lnTo>
                    <a:pt x="984250" y="902970"/>
                  </a:lnTo>
                  <a:lnTo>
                    <a:pt x="889000" y="904240"/>
                  </a:lnTo>
                  <a:lnTo>
                    <a:pt x="887730" y="904240"/>
                  </a:lnTo>
                  <a:lnTo>
                    <a:pt x="861060" y="905510"/>
                  </a:lnTo>
                  <a:lnTo>
                    <a:pt x="862330" y="919480"/>
                  </a:lnTo>
                  <a:lnTo>
                    <a:pt x="861060" y="905510"/>
                  </a:lnTo>
                  <a:lnTo>
                    <a:pt x="853440" y="905510"/>
                  </a:lnTo>
                  <a:lnTo>
                    <a:pt x="852170" y="905510"/>
                  </a:lnTo>
                  <a:lnTo>
                    <a:pt x="851141" y="906538"/>
                  </a:lnTo>
                  <a:lnTo>
                    <a:pt x="820394" y="903109"/>
                  </a:lnTo>
                  <a:lnTo>
                    <a:pt x="820420" y="902970"/>
                  </a:lnTo>
                  <a:lnTo>
                    <a:pt x="786130" y="895350"/>
                  </a:lnTo>
                  <a:lnTo>
                    <a:pt x="785926" y="896099"/>
                  </a:lnTo>
                  <a:lnTo>
                    <a:pt x="752906" y="884313"/>
                  </a:lnTo>
                  <a:lnTo>
                    <a:pt x="753110" y="883920"/>
                  </a:lnTo>
                  <a:lnTo>
                    <a:pt x="717308" y="867879"/>
                  </a:lnTo>
                  <a:lnTo>
                    <a:pt x="717550" y="867410"/>
                  </a:lnTo>
                  <a:lnTo>
                    <a:pt x="647522" y="824420"/>
                  </a:lnTo>
                  <a:lnTo>
                    <a:pt x="647700" y="824230"/>
                  </a:lnTo>
                  <a:lnTo>
                    <a:pt x="574040" y="765810"/>
                  </a:lnTo>
                  <a:lnTo>
                    <a:pt x="504190" y="698500"/>
                  </a:lnTo>
                  <a:lnTo>
                    <a:pt x="503580" y="699109"/>
                  </a:lnTo>
                  <a:lnTo>
                    <a:pt x="435533" y="624890"/>
                  </a:lnTo>
                  <a:lnTo>
                    <a:pt x="304800" y="458470"/>
                  </a:lnTo>
                  <a:lnTo>
                    <a:pt x="304228" y="458914"/>
                  </a:lnTo>
                  <a:lnTo>
                    <a:pt x="191770" y="293370"/>
                  </a:lnTo>
                  <a:lnTo>
                    <a:pt x="191236" y="293789"/>
                  </a:lnTo>
                  <a:lnTo>
                    <a:pt x="102870" y="148590"/>
                  </a:lnTo>
                  <a:lnTo>
                    <a:pt x="45720" y="44450"/>
                  </a:lnTo>
                  <a:lnTo>
                    <a:pt x="31750" y="12700"/>
                  </a:lnTo>
                  <a:lnTo>
                    <a:pt x="31292" y="12915"/>
                  </a:lnTo>
                  <a:lnTo>
                    <a:pt x="27940" y="5080"/>
                  </a:lnTo>
                  <a:lnTo>
                    <a:pt x="27940" y="3810"/>
                  </a:lnTo>
                  <a:lnTo>
                    <a:pt x="27940" y="2540"/>
                  </a:lnTo>
                  <a:lnTo>
                    <a:pt x="26670" y="0"/>
                  </a:lnTo>
                  <a:lnTo>
                    <a:pt x="13970" y="6350"/>
                  </a:lnTo>
                  <a:lnTo>
                    <a:pt x="0" y="5080"/>
                  </a:lnTo>
                  <a:lnTo>
                    <a:pt x="0" y="8890"/>
                  </a:lnTo>
                  <a:lnTo>
                    <a:pt x="0" y="11430"/>
                  </a:lnTo>
                  <a:lnTo>
                    <a:pt x="1270" y="13970"/>
                  </a:lnTo>
                  <a:lnTo>
                    <a:pt x="1270" y="15240"/>
                  </a:lnTo>
                  <a:lnTo>
                    <a:pt x="5080" y="24130"/>
                  </a:lnTo>
                  <a:lnTo>
                    <a:pt x="5080" y="25400"/>
                  </a:lnTo>
                  <a:lnTo>
                    <a:pt x="20320" y="57150"/>
                  </a:lnTo>
                  <a:lnTo>
                    <a:pt x="78740" y="162560"/>
                  </a:lnTo>
                  <a:lnTo>
                    <a:pt x="78740" y="163830"/>
                  </a:lnTo>
                  <a:lnTo>
                    <a:pt x="167640" y="308610"/>
                  </a:lnTo>
                  <a:lnTo>
                    <a:pt x="167640" y="309880"/>
                  </a:lnTo>
                  <a:lnTo>
                    <a:pt x="281940" y="474980"/>
                  </a:lnTo>
                  <a:lnTo>
                    <a:pt x="281940" y="476250"/>
                  </a:lnTo>
                  <a:lnTo>
                    <a:pt x="412750" y="641350"/>
                  </a:lnTo>
                  <a:lnTo>
                    <a:pt x="414020" y="642620"/>
                  </a:lnTo>
                  <a:lnTo>
                    <a:pt x="483870" y="718820"/>
                  </a:lnTo>
                  <a:lnTo>
                    <a:pt x="556260" y="787400"/>
                  </a:lnTo>
                  <a:lnTo>
                    <a:pt x="556260" y="788670"/>
                  </a:lnTo>
                  <a:lnTo>
                    <a:pt x="629920" y="845820"/>
                  </a:lnTo>
                  <a:lnTo>
                    <a:pt x="629920" y="847090"/>
                  </a:lnTo>
                  <a:lnTo>
                    <a:pt x="703580" y="891540"/>
                  </a:lnTo>
                  <a:lnTo>
                    <a:pt x="704850" y="892810"/>
                  </a:lnTo>
                  <a:lnTo>
                    <a:pt x="740410" y="909320"/>
                  </a:lnTo>
                  <a:lnTo>
                    <a:pt x="741680" y="910590"/>
                  </a:lnTo>
                  <a:lnTo>
                    <a:pt x="777240" y="923290"/>
                  </a:lnTo>
                  <a:lnTo>
                    <a:pt x="779780" y="923290"/>
                  </a:lnTo>
                  <a:lnTo>
                    <a:pt x="814070" y="930910"/>
                  </a:lnTo>
                  <a:lnTo>
                    <a:pt x="816610" y="932180"/>
                  </a:lnTo>
                  <a:lnTo>
                    <a:pt x="850900" y="934720"/>
                  </a:lnTo>
                  <a:lnTo>
                    <a:pt x="855980" y="934720"/>
                  </a:lnTo>
                  <a:lnTo>
                    <a:pt x="857250" y="934720"/>
                  </a:lnTo>
                  <a:lnTo>
                    <a:pt x="857504" y="934466"/>
                  </a:lnTo>
                  <a:lnTo>
                    <a:pt x="863600" y="933450"/>
                  </a:lnTo>
                  <a:lnTo>
                    <a:pt x="889000" y="932180"/>
                  </a:lnTo>
                  <a:lnTo>
                    <a:pt x="984250" y="932180"/>
                  </a:lnTo>
                  <a:lnTo>
                    <a:pt x="1271270" y="932180"/>
                  </a:lnTo>
                  <a:lnTo>
                    <a:pt x="1690370" y="934720"/>
                  </a:lnTo>
                  <a:lnTo>
                    <a:pt x="2528570" y="934720"/>
                  </a:lnTo>
                  <a:lnTo>
                    <a:pt x="2528570" y="9067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57600" y="4343400"/>
              <a:ext cx="838200" cy="1219200"/>
            </a:xfrm>
            <a:custGeom>
              <a:avLst/>
              <a:gdLst/>
              <a:ahLst/>
              <a:cxnLst/>
              <a:rect l="l" t="t" r="r" b="b"/>
              <a:pathLst>
                <a:path w="838200" h="1219200">
                  <a:moveTo>
                    <a:pt x="0" y="1219200"/>
                  </a:moveTo>
                  <a:lnTo>
                    <a:pt x="0" y="0"/>
                  </a:lnTo>
                </a:path>
                <a:path w="838200" h="1219200">
                  <a:moveTo>
                    <a:pt x="838200" y="1219200"/>
                  </a:moveTo>
                  <a:lnTo>
                    <a:pt x="838200" y="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76727" y="4566057"/>
              <a:ext cx="161744" cy="16301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4927" y="4566057"/>
              <a:ext cx="161744" cy="16301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51857" y="5480457"/>
              <a:ext cx="163014" cy="16301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37257" y="5480457"/>
              <a:ext cx="163014" cy="16301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8906510" y="5698490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0" dirty="0">
                <a:latin typeface="Cambria"/>
                <a:cs typeface="Cambria"/>
              </a:rPr>
              <a:t>u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34150" y="3920490"/>
            <a:ext cx="6223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i="1" dirty="0">
                <a:latin typeface="Cambria"/>
                <a:cs typeface="Cambria"/>
              </a:rPr>
              <a:t>B</a:t>
            </a:r>
            <a:r>
              <a:rPr sz="1725" i="1" baseline="-24154" dirty="0">
                <a:latin typeface="Cambria"/>
                <a:cs typeface="Cambria"/>
              </a:rPr>
              <a:t>i</a:t>
            </a:r>
            <a:r>
              <a:rPr sz="1725" i="1" spc="97" baseline="-24154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(</a:t>
            </a:r>
            <a:r>
              <a:rPr sz="2000" i="1" spc="-25" dirty="0">
                <a:latin typeface="Cambria"/>
                <a:cs typeface="Cambria"/>
              </a:rPr>
              <a:t>u</a:t>
            </a:r>
            <a:r>
              <a:rPr sz="2000" spc="-25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87525">
              <a:spcBef>
                <a:spcPts val="100"/>
              </a:spcBef>
            </a:pPr>
            <a:r>
              <a:rPr dirty="0"/>
              <a:t>Curvas</a:t>
            </a:r>
            <a:r>
              <a:rPr spc="-20" dirty="0"/>
              <a:t> B-</a:t>
            </a:r>
            <a:r>
              <a:rPr spc="-10" dirty="0"/>
              <a:t>Spline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69" y="1129029"/>
            <a:ext cx="1193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69" y="1771650"/>
            <a:ext cx="1193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1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1213" y="1241896"/>
            <a:ext cx="7372984" cy="1921039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298450">
              <a:lnSpc>
                <a:spcPts val="2270"/>
              </a:lnSpc>
              <a:spcBef>
                <a:spcPts val="380"/>
              </a:spcBef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Todas</a:t>
            </a:r>
            <a:r>
              <a:rPr sz="21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as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funções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base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têm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mesma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forma,</a:t>
            </a:r>
            <a:r>
              <a:rPr sz="21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mas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são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deslocadas</a:t>
            </a:r>
            <a:r>
              <a:rPr sz="21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entre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si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intervalos</a:t>
            </a:r>
            <a:r>
              <a:rPr sz="21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no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espaço</a:t>
            </a:r>
            <a:r>
              <a:rPr sz="21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1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parâmetros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 marR="230504">
              <a:lnSpc>
                <a:spcPts val="2270"/>
              </a:lnSpc>
              <a:spcBef>
                <a:spcPts val="520"/>
              </a:spcBef>
            </a:pP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Num</a:t>
            </a:r>
            <a:r>
              <a:rPr sz="21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determinado</a:t>
            </a:r>
            <a:r>
              <a:rPr sz="21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intervalo,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apenas</a:t>
            </a:r>
            <a:r>
              <a:rPr sz="21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um</a:t>
            </a:r>
            <a:r>
              <a:rPr sz="21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pequeno</a:t>
            </a:r>
            <a:r>
              <a:rPr sz="21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número</a:t>
            </a:r>
            <a:r>
              <a:rPr sz="21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spc="-25" dirty="0">
                <a:solidFill>
                  <a:srgbClr val="002454"/>
                </a:solidFill>
                <a:latin typeface="Arial MT"/>
                <a:cs typeface="Arial MT"/>
              </a:rPr>
              <a:t>de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funções de</a:t>
            </a:r>
            <a:r>
              <a:rPr sz="21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base</a:t>
            </a:r>
            <a:r>
              <a:rPr sz="2100" spc="-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2100" spc="-10" dirty="0">
                <a:solidFill>
                  <a:srgbClr val="002454"/>
                </a:solidFill>
                <a:latin typeface="Arial MT"/>
                <a:cs typeface="Arial MT"/>
              </a:rPr>
              <a:t> não-nulas</a:t>
            </a:r>
            <a:endParaRPr sz="21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750" marR="5080" indent="-285750">
              <a:lnSpc>
                <a:spcPts val="2160"/>
              </a:lnSpc>
              <a:spcBef>
                <a:spcPts val="500"/>
              </a:spcBef>
              <a:buFont typeface="Wingdings"/>
              <a:buChar char=""/>
              <a:tabLst>
                <a:tab pos="412750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Numa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B-spline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quadrática,</a:t>
            </a:r>
            <a:r>
              <a:rPr sz="2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cada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intervalo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influenciado</a:t>
            </a:r>
            <a:r>
              <a:rPr sz="20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002454"/>
                </a:solidFill>
                <a:latin typeface="Arial MT"/>
                <a:cs typeface="Arial MT"/>
              </a:rPr>
              <a:t>3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funções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base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28900" y="3581400"/>
            <a:ext cx="6362700" cy="2057400"/>
            <a:chOff x="1104900" y="3581400"/>
            <a:chExt cx="6362700" cy="2057400"/>
          </a:xfrm>
        </p:grpSpPr>
        <p:sp>
          <p:nvSpPr>
            <p:cNvPr id="7" name="object 7"/>
            <p:cNvSpPr/>
            <p:nvPr/>
          </p:nvSpPr>
          <p:spPr>
            <a:xfrm>
              <a:off x="1104900" y="3581399"/>
              <a:ext cx="6362700" cy="2019300"/>
            </a:xfrm>
            <a:custGeom>
              <a:avLst/>
              <a:gdLst/>
              <a:ahLst/>
              <a:cxnLst/>
              <a:rect l="l" t="t" r="r" b="b"/>
              <a:pathLst>
                <a:path w="6362700" h="2019300">
                  <a:moveTo>
                    <a:pt x="6362700" y="1981200"/>
                  </a:moveTo>
                  <a:lnTo>
                    <a:pt x="6286500" y="1943100"/>
                  </a:lnTo>
                  <a:lnTo>
                    <a:pt x="6286500" y="1976120"/>
                  </a:lnTo>
                  <a:lnTo>
                    <a:pt x="43180" y="1976120"/>
                  </a:lnTo>
                  <a:lnTo>
                    <a:pt x="43180" y="74930"/>
                  </a:lnTo>
                  <a:lnTo>
                    <a:pt x="76200" y="74930"/>
                  </a:lnTo>
                  <a:lnTo>
                    <a:pt x="38100" y="0"/>
                  </a:lnTo>
                  <a:lnTo>
                    <a:pt x="0" y="74930"/>
                  </a:lnTo>
                  <a:lnTo>
                    <a:pt x="33020" y="74930"/>
                  </a:lnTo>
                  <a:lnTo>
                    <a:pt x="33020" y="1981200"/>
                  </a:lnTo>
                  <a:lnTo>
                    <a:pt x="38100" y="1981200"/>
                  </a:lnTo>
                  <a:lnTo>
                    <a:pt x="38100" y="1986280"/>
                  </a:lnTo>
                  <a:lnTo>
                    <a:pt x="6286500" y="1986280"/>
                  </a:lnTo>
                  <a:lnTo>
                    <a:pt x="6286500" y="2019300"/>
                  </a:lnTo>
                  <a:lnTo>
                    <a:pt x="6362700" y="1981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43000" y="5562600"/>
              <a:ext cx="5867400" cy="76200"/>
            </a:xfrm>
            <a:custGeom>
              <a:avLst/>
              <a:gdLst/>
              <a:ahLst/>
              <a:cxnLst/>
              <a:rect l="l" t="t" r="r" b="b"/>
              <a:pathLst>
                <a:path w="5867400" h="76200">
                  <a:moveTo>
                    <a:pt x="1676400" y="0"/>
                  </a:moveTo>
                  <a:lnTo>
                    <a:pt x="1676400" y="76200"/>
                  </a:lnTo>
                </a:path>
                <a:path w="5867400" h="76200">
                  <a:moveTo>
                    <a:pt x="2514600" y="0"/>
                  </a:moveTo>
                  <a:lnTo>
                    <a:pt x="2514600" y="76200"/>
                  </a:lnTo>
                </a:path>
                <a:path w="5867400" h="76200">
                  <a:moveTo>
                    <a:pt x="3352800" y="0"/>
                  </a:moveTo>
                  <a:lnTo>
                    <a:pt x="3352800" y="76200"/>
                  </a:lnTo>
                </a:path>
                <a:path w="5867400" h="76200">
                  <a:moveTo>
                    <a:pt x="4191000" y="0"/>
                  </a:moveTo>
                  <a:lnTo>
                    <a:pt x="4191000" y="76200"/>
                  </a:lnTo>
                </a:path>
                <a:path w="5867400" h="76200">
                  <a:moveTo>
                    <a:pt x="5029200" y="0"/>
                  </a:moveTo>
                  <a:lnTo>
                    <a:pt x="5029200" y="76200"/>
                  </a:lnTo>
                </a:path>
                <a:path w="5867400" h="76200">
                  <a:moveTo>
                    <a:pt x="5867400" y="0"/>
                  </a:moveTo>
                  <a:lnTo>
                    <a:pt x="5867400" y="76200"/>
                  </a:lnTo>
                </a:path>
                <a:path w="5867400" h="76200">
                  <a:moveTo>
                    <a:pt x="838200" y="0"/>
                  </a:moveTo>
                  <a:lnTo>
                    <a:pt x="838200" y="76200"/>
                  </a:lnTo>
                </a:path>
                <a:path w="5867400" h="76200">
                  <a:moveTo>
                    <a:pt x="1676400" y="0"/>
                  </a:moveTo>
                  <a:lnTo>
                    <a:pt x="1676400" y="76200"/>
                  </a:lnTo>
                </a:path>
                <a:path w="5867400" h="76200">
                  <a:moveTo>
                    <a:pt x="0" y="0"/>
                  </a:moveTo>
                  <a:lnTo>
                    <a:pt x="0" y="76200"/>
                  </a:lnTo>
                </a:path>
                <a:path w="5867400" h="76200">
                  <a:moveTo>
                    <a:pt x="838200" y="0"/>
                  </a:moveTo>
                  <a:lnTo>
                    <a:pt x="838200" y="76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43000" y="4188459"/>
              <a:ext cx="3366770" cy="1388110"/>
            </a:xfrm>
            <a:custGeom>
              <a:avLst/>
              <a:gdLst/>
              <a:ahLst/>
              <a:cxnLst/>
              <a:rect l="l" t="t" r="r" b="b"/>
              <a:pathLst>
                <a:path w="3366770" h="1388110">
                  <a:moveTo>
                    <a:pt x="3366770" y="455930"/>
                  </a:moveTo>
                  <a:lnTo>
                    <a:pt x="3365500" y="453390"/>
                  </a:lnTo>
                  <a:lnTo>
                    <a:pt x="3317240" y="353060"/>
                  </a:lnTo>
                  <a:lnTo>
                    <a:pt x="3317240" y="351790"/>
                  </a:lnTo>
                  <a:lnTo>
                    <a:pt x="3267710" y="264160"/>
                  </a:lnTo>
                  <a:lnTo>
                    <a:pt x="3267710" y="262890"/>
                  </a:lnTo>
                  <a:lnTo>
                    <a:pt x="3216910" y="187960"/>
                  </a:lnTo>
                  <a:lnTo>
                    <a:pt x="3216910" y="186690"/>
                  </a:lnTo>
                  <a:lnTo>
                    <a:pt x="3164840" y="124460"/>
                  </a:lnTo>
                  <a:lnTo>
                    <a:pt x="3163570" y="121920"/>
                  </a:lnTo>
                  <a:lnTo>
                    <a:pt x="3111500" y="72390"/>
                  </a:lnTo>
                  <a:lnTo>
                    <a:pt x="3110230" y="72390"/>
                  </a:lnTo>
                  <a:lnTo>
                    <a:pt x="3084830" y="52070"/>
                  </a:lnTo>
                  <a:lnTo>
                    <a:pt x="3083560" y="50800"/>
                  </a:lnTo>
                  <a:lnTo>
                    <a:pt x="3056890" y="34290"/>
                  </a:lnTo>
                  <a:lnTo>
                    <a:pt x="3055620" y="33020"/>
                  </a:lnTo>
                  <a:lnTo>
                    <a:pt x="3028950" y="20320"/>
                  </a:lnTo>
                  <a:lnTo>
                    <a:pt x="3027680" y="20320"/>
                  </a:lnTo>
                  <a:lnTo>
                    <a:pt x="3001010" y="10160"/>
                  </a:lnTo>
                  <a:lnTo>
                    <a:pt x="2999740" y="8890"/>
                  </a:lnTo>
                  <a:lnTo>
                    <a:pt x="2971800" y="2540"/>
                  </a:lnTo>
                  <a:lnTo>
                    <a:pt x="2970530" y="2540"/>
                  </a:lnTo>
                  <a:lnTo>
                    <a:pt x="2943860" y="0"/>
                  </a:lnTo>
                  <a:lnTo>
                    <a:pt x="2941320" y="0"/>
                  </a:lnTo>
                  <a:lnTo>
                    <a:pt x="2914650" y="0"/>
                  </a:lnTo>
                  <a:lnTo>
                    <a:pt x="2913380" y="0"/>
                  </a:lnTo>
                  <a:lnTo>
                    <a:pt x="2885440" y="3810"/>
                  </a:lnTo>
                  <a:lnTo>
                    <a:pt x="2884170" y="5080"/>
                  </a:lnTo>
                  <a:lnTo>
                    <a:pt x="2857500" y="11430"/>
                  </a:lnTo>
                  <a:lnTo>
                    <a:pt x="2854960" y="12700"/>
                  </a:lnTo>
                  <a:lnTo>
                    <a:pt x="2828290" y="24130"/>
                  </a:lnTo>
                  <a:lnTo>
                    <a:pt x="2827020" y="24130"/>
                  </a:lnTo>
                  <a:lnTo>
                    <a:pt x="2800350" y="39370"/>
                  </a:lnTo>
                  <a:lnTo>
                    <a:pt x="2797810" y="39370"/>
                  </a:lnTo>
                  <a:lnTo>
                    <a:pt x="2771140" y="58420"/>
                  </a:lnTo>
                  <a:lnTo>
                    <a:pt x="2769870" y="59690"/>
                  </a:lnTo>
                  <a:lnTo>
                    <a:pt x="2715260" y="106680"/>
                  </a:lnTo>
                  <a:lnTo>
                    <a:pt x="2715260" y="107950"/>
                  </a:lnTo>
                  <a:lnTo>
                    <a:pt x="2660650" y="170180"/>
                  </a:lnTo>
                  <a:lnTo>
                    <a:pt x="2672423" y="180581"/>
                  </a:lnTo>
                  <a:lnTo>
                    <a:pt x="2672080" y="180340"/>
                  </a:lnTo>
                  <a:lnTo>
                    <a:pt x="2660650" y="170180"/>
                  </a:lnTo>
                  <a:lnTo>
                    <a:pt x="2660650" y="171450"/>
                  </a:lnTo>
                  <a:lnTo>
                    <a:pt x="2607310" y="250190"/>
                  </a:lnTo>
                  <a:lnTo>
                    <a:pt x="2606040" y="250190"/>
                  </a:lnTo>
                  <a:lnTo>
                    <a:pt x="2553970" y="344170"/>
                  </a:lnTo>
                  <a:lnTo>
                    <a:pt x="2502370" y="452412"/>
                  </a:lnTo>
                  <a:lnTo>
                    <a:pt x="2501900" y="452120"/>
                  </a:lnTo>
                  <a:lnTo>
                    <a:pt x="2422410" y="595947"/>
                  </a:lnTo>
                  <a:lnTo>
                    <a:pt x="2421890" y="595630"/>
                  </a:lnTo>
                  <a:lnTo>
                    <a:pt x="2331720" y="742950"/>
                  </a:lnTo>
                  <a:lnTo>
                    <a:pt x="2332621" y="743496"/>
                  </a:lnTo>
                  <a:lnTo>
                    <a:pt x="2218690" y="911860"/>
                  </a:lnTo>
                  <a:lnTo>
                    <a:pt x="2218867" y="911987"/>
                  </a:lnTo>
                  <a:lnTo>
                    <a:pt x="2089734" y="1078750"/>
                  </a:lnTo>
                  <a:lnTo>
                    <a:pt x="2089150" y="1078230"/>
                  </a:lnTo>
                  <a:lnTo>
                    <a:pt x="2019477" y="1155509"/>
                  </a:lnTo>
                  <a:lnTo>
                    <a:pt x="1950720" y="1223035"/>
                  </a:lnTo>
                  <a:lnTo>
                    <a:pt x="1879701" y="1280325"/>
                  </a:lnTo>
                  <a:lnTo>
                    <a:pt x="1879600" y="1280160"/>
                  </a:lnTo>
                  <a:lnTo>
                    <a:pt x="1809915" y="1323721"/>
                  </a:lnTo>
                  <a:lnTo>
                    <a:pt x="1809750" y="1323340"/>
                  </a:lnTo>
                  <a:lnTo>
                    <a:pt x="1774190" y="1339850"/>
                  </a:lnTo>
                  <a:lnTo>
                    <a:pt x="1774355" y="1340205"/>
                  </a:lnTo>
                  <a:lnTo>
                    <a:pt x="1739900" y="1351280"/>
                  </a:lnTo>
                  <a:lnTo>
                    <a:pt x="1740077" y="1351788"/>
                  </a:lnTo>
                  <a:lnTo>
                    <a:pt x="1709483" y="1358353"/>
                  </a:lnTo>
                  <a:lnTo>
                    <a:pt x="1709420" y="1357630"/>
                  </a:lnTo>
                  <a:lnTo>
                    <a:pt x="1675130" y="1360170"/>
                  </a:lnTo>
                  <a:lnTo>
                    <a:pt x="838200" y="1360170"/>
                  </a:lnTo>
                  <a:lnTo>
                    <a:pt x="0" y="1360170"/>
                  </a:lnTo>
                  <a:lnTo>
                    <a:pt x="0" y="1388110"/>
                  </a:lnTo>
                  <a:lnTo>
                    <a:pt x="838200" y="1388110"/>
                  </a:lnTo>
                  <a:lnTo>
                    <a:pt x="1676400" y="1388110"/>
                  </a:lnTo>
                  <a:lnTo>
                    <a:pt x="1710690" y="1386840"/>
                  </a:lnTo>
                  <a:lnTo>
                    <a:pt x="1713230" y="1385570"/>
                  </a:lnTo>
                  <a:lnTo>
                    <a:pt x="1747520" y="1379220"/>
                  </a:lnTo>
                  <a:lnTo>
                    <a:pt x="1750060" y="1377950"/>
                  </a:lnTo>
                  <a:lnTo>
                    <a:pt x="1784350" y="1366520"/>
                  </a:lnTo>
                  <a:lnTo>
                    <a:pt x="1785620" y="1366520"/>
                  </a:lnTo>
                  <a:lnTo>
                    <a:pt x="1821180" y="1350010"/>
                  </a:lnTo>
                  <a:lnTo>
                    <a:pt x="1822450" y="1348740"/>
                  </a:lnTo>
                  <a:lnTo>
                    <a:pt x="1894840" y="1304290"/>
                  </a:lnTo>
                  <a:lnTo>
                    <a:pt x="1896110" y="1303020"/>
                  </a:lnTo>
                  <a:lnTo>
                    <a:pt x="1968500" y="1244600"/>
                  </a:lnTo>
                  <a:lnTo>
                    <a:pt x="1969770" y="1244600"/>
                  </a:lnTo>
                  <a:lnTo>
                    <a:pt x="2039620" y="1174750"/>
                  </a:lnTo>
                  <a:lnTo>
                    <a:pt x="2040890" y="1174750"/>
                  </a:lnTo>
                  <a:lnTo>
                    <a:pt x="2110740" y="1097280"/>
                  </a:lnTo>
                  <a:lnTo>
                    <a:pt x="2099945" y="1087755"/>
                  </a:lnTo>
                  <a:lnTo>
                    <a:pt x="2100503" y="1088199"/>
                  </a:lnTo>
                  <a:lnTo>
                    <a:pt x="2110740" y="1097280"/>
                  </a:lnTo>
                  <a:lnTo>
                    <a:pt x="2110740" y="1096010"/>
                  </a:lnTo>
                  <a:lnTo>
                    <a:pt x="2241550" y="928370"/>
                  </a:lnTo>
                  <a:lnTo>
                    <a:pt x="2242820" y="927100"/>
                  </a:lnTo>
                  <a:lnTo>
                    <a:pt x="2355850" y="758190"/>
                  </a:lnTo>
                  <a:lnTo>
                    <a:pt x="2357120" y="758190"/>
                  </a:lnTo>
                  <a:lnTo>
                    <a:pt x="2446020" y="610870"/>
                  </a:lnTo>
                  <a:lnTo>
                    <a:pt x="2527300" y="466090"/>
                  </a:lnTo>
                  <a:lnTo>
                    <a:pt x="2579370" y="356870"/>
                  </a:lnTo>
                  <a:lnTo>
                    <a:pt x="2578938" y="356666"/>
                  </a:lnTo>
                  <a:lnTo>
                    <a:pt x="2631440" y="264160"/>
                  </a:lnTo>
                  <a:lnTo>
                    <a:pt x="2631135" y="264020"/>
                  </a:lnTo>
                  <a:lnTo>
                    <a:pt x="2683510" y="187960"/>
                  </a:lnTo>
                  <a:lnTo>
                    <a:pt x="2736850" y="127000"/>
                  </a:lnTo>
                  <a:lnTo>
                    <a:pt x="2736253" y="126555"/>
                  </a:lnTo>
                  <a:lnTo>
                    <a:pt x="2787573" y="81203"/>
                  </a:lnTo>
                  <a:lnTo>
                    <a:pt x="2814320" y="63500"/>
                  </a:lnTo>
                  <a:lnTo>
                    <a:pt x="2814015" y="63017"/>
                  </a:lnTo>
                  <a:lnTo>
                    <a:pt x="2840990" y="49530"/>
                  </a:lnTo>
                  <a:lnTo>
                    <a:pt x="2840482" y="48704"/>
                  </a:lnTo>
                  <a:lnTo>
                    <a:pt x="2864878" y="38722"/>
                  </a:lnTo>
                  <a:lnTo>
                    <a:pt x="2865120" y="39370"/>
                  </a:lnTo>
                  <a:lnTo>
                    <a:pt x="2891790" y="31750"/>
                  </a:lnTo>
                  <a:lnTo>
                    <a:pt x="2891688" y="31419"/>
                  </a:lnTo>
                  <a:lnTo>
                    <a:pt x="2917190" y="27940"/>
                  </a:lnTo>
                  <a:lnTo>
                    <a:pt x="2940050" y="27940"/>
                  </a:lnTo>
                  <a:lnTo>
                    <a:pt x="2965475" y="30365"/>
                  </a:lnTo>
                  <a:lnTo>
                    <a:pt x="2990939" y="36563"/>
                  </a:lnTo>
                  <a:lnTo>
                    <a:pt x="2990850" y="36830"/>
                  </a:lnTo>
                  <a:lnTo>
                    <a:pt x="3017520" y="46990"/>
                  </a:lnTo>
                  <a:lnTo>
                    <a:pt x="3017697" y="46482"/>
                  </a:lnTo>
                  <a:lnTo>
                    <a:pt x="3042920" y="59690"/>
                  </a:lnTo>
                  <a:lnTo>
                    <a:pt x="3043097" y="59321"/>
                  </a:lnTo>
                  <a:lnTo>
                    <a:pt x="3067456" y="74409"/>
                  </a:lnTo>
                  <a:lnTo>
                    <a:pt x="3067050" y="74930"/>
                  </a:lnTo>
                  <a:lnTo>
                    <a:pt x="3092932" y="93433"/>
                  </a:lnTo>
                  <a:lnTo>
                    <a:pt x="3092450" y="93980"/>
                  </a:lnTo>
                  <a:lnTo>
                    <a:pt x="3143466" y="142519"/>
                  </a:lnTo>
                  <a:lnTo>
                    <a:pt x="3194050" y="204470"/>
                  </a:lnTo>
                  <a:lnTo>
                    <a:pt x="3194596" y="204050"/>
                  </a:lnTo>
                  <a:lnTo>
                    <a:pt x="3243580" y="279400"/>
                  </a:lnTo>
                  <a:lnTo>
                    <a:pt x="3244113" y="279082"/>
                  </a:lnTo>
                  <a:lnTo>
                    <a:pt x="3292818" y="365277"/>
                  </a:lnTo>
                  <a:lnTo>
                    <a:pt x="3291840" y="365760"/>
                  </a:lnTo>
                  <a:lnTo>
                    <a:pt x="3340100" y="466090"/>
                  </a:lnTo>
                  <a:lnTo>
                    <a:pt x="3352800" y="459740"/>
                  </a:lnTo>
                  <a:lnTo>
                    <a:pt x="3366770" y="461010"/>
                  </a:lnTo>
                  <a:lnTo>
                    <a:pt x="3366770" y="455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81830" y="4641849"/>
              <a:ext cx="2528570" cy="934719"/>
            </a:xfrm>
            <a:custGeom>
              <a:avLst/>
              <a:gdLst/>
              <a:ahLst/>
              <a:cxnLst/>
              <a:rect l="l" t="t" r="r" b="b"/>
              <a:pathLst>
                <a:path w="2528570" h="934720">
                  <a:moveTo>
                    <a:pt x="2528570" y="906780"/>
                  </a:moveTo>
                  <a:lnTo>
                    <a:pt x="1690370" y="906780"/>
                  </a:lnTo>
                  <a:lnTo>
                    <a:pt x="1272540" y="902970"/>
                  </a:lnTo>
                  <a:lnTo>
                    <a:pt x="1272540" y="918210"/>
                  </a:lnTo>
                  <a:lnTo>
                    <a:pt x="1271905" y="925195"/>
                  </a:lnTo>
                  <a:lnTo>
                    <a:pt x="1271905" y="918210"/>
                  </a:lnTo>
                  <a:lnTo>
                    <a:pt x="1272540" y="918210"/>
                  </a:lnTo>
                  <a:lnTo>
                    <a:pt x="1272540" y="902970"/>
                  </a:lnTo>
                  <a:lnTo>
                    <a:pt x="984250" y="902970"/>
                  </a:lnTo>
                  <a:lnTo>
                    <a:pt x="889000" y="904240"/>
                  </a:lnTo>
                  <a:lnTo>
                    <a:pt x="887730" y="904240"/>
                  </a:lnTo>
                  <a:lnTo>
                    <a:pt x="861060" y="905510"/>
                  </a:lnTo>
                  <a:lnTo>
                    <a:pt x="862330" y="919480"/>
                  </a:lnTo>
                  <a:lnTo>
                    <a:pt x="861060" y="905510"/>
                  </a:lnTo>
                  <a:lnTo>
                    <a:pt x="853440" y="905510"/>
                  </a:lnTo>
                  <a:lnTo>
                    <a:pt x="852170" y="905510"/>
                  </a:lnTo>
                  <a:lnTo>
                    <a:pt x="851141" y="906538"/>
                  </a:lnTo>
                  <a:lnTo>
                    <a:pt x="820394" y="903109"/>
                  </a:lnTo>
                  <a:lnTo>
                    <a:pt x="820420" y="902970"/>
                  </a:lnTo>
                  <a:lnTo>
                    <a:pt x="786130" y="895350"/>
                  </a:lnTo>
                  <a:lnTo>
                    <a:pt x="785926" y="896099"/>
                  </a:lnTo>
                  <a:lnTo>
                    <a:pt x="752906" y="884313"/>
                  </a:lnTo>
                  <a:lnTo>
                    <a:pt x="753110" y="883920"/>
                  </a:lnTo>
                  <a:lnTo>
                    <a:pt x="717308" y="867879"/>
                  </a:lnTo>
                  <a:lnTo>
                    <a:pt x="717550" y="867410"/>
                  </a:lnTo>
                  <a:lnTo>
                    <a:pt x="647522" y="824420"/>
                  </a:lnTo>
                  <a:lnTo>
                    <a:pt x="647700" y="824230"/>
                  </a:lnTo>
                  <a:lnTo>
                    <a:pt x="574040" y="765810"/>
                  </a:lnTo>
                  <a:lnTo>
                    <a:pt x="504190" y="698500"/>
                  </a:lnTo>
                  <a:lnTo>
                    <a:pt x="503580" y="699109"/>
                  </a:lnTo>
                  <a:lnTo>
                    <a:pt x="435533" y="624890"/>
                  </a:lnTo>
                  <a:lnTo>
                    <a:pt x="304800" y="458470"/>
                  </a:lnTo>
                  <a:lnTo>
                    <a:pt x="304228" y="458914"/>
                  </a:lnTo>
                  <a:lnTo>
                    <a:pt x="191770" y="293370"/>
                  </a:lnTo>
                  <a:lnTo>
                    <a:pt x="191236" y="293789"/>
                  </a:lnTo>
                  <a:lnTo>
                    <a:pt x="102870" y="148590"/>
                  </a:lnTo>
                  <a:lnTo>
                    <a:pt x="45720" y="44450"/>
                  </a:lnTo>
                  <a:lnTo>
                    <a:pt x="31750" y="12700"/>
                  </a:lnTo>
                  <a:lnTo>
                    <a:pt x="31292" y="12915"/>
                  </a:lnTo>
                  <a:lnTo>
                    <a:pt x="27940" y="5080"/>
                  </a:lnTo>
                  <a:lnTo>
                    <a:pt x="27940" y="3810"/>
                  </a:lnTo>
                  <a:lnTo>
                    <a:pt x="27940" y="2540"/>
                  </a:lnTo>
                  <a:lnTo>
                    <a:pt x="26670" y="0"/>
                  </a:lnTo>
                  <a:lnTo>
                    <a:pt x="13970" y="6350"/>
                  </a:lnTo>
                  <a:lnTo>
                    <a:pt x="0" y="5080"/>
                  </a:lnTo>
                  <a:lnTo>
                    <a:pt x="0" y="8890"/>
                  </a:lnTo>
                  <a:lnTo>
                    <a:pt x="0" y="11430"/>
                  </a:lnTo>
                  <a:lnTo>
                    <a:pt x="1270" y="13970"/>
                  </a:lnTo>
                  <a:lnTo>
                    <a:pt x="1270" y="15240"/>
                  </a:lnTo>
                  <a:lnTo>
                    <a:pt x="5080" y="24130"/>
                  </a:lnTo>
                  <a:lnTo>
                    <a:pt x="5080" y="25400"/>
                  </a:lnTo>
                  <a:lnTo>
                    <a:pt x="20320" y="57150"/>
                  </a:lnTo>
                  <a:lnTo>
                    <a:pt x="78740" y="162560"/>
                  </a:lnTo>
                  <a:lnTo>
                    <a:pt x="78740" y="163830"/>
                  </a:lnTo>
                  <a:lnTo>
                    <a:pt x="167640" y="308610"/>
                  </a:lnTo>
                  <a:lnTo>
                    <a:pt x="167640" y="309880"/>
                  </a:lnTo>
                  <a:lnTo>
                    <a:pt x="281940" y="474980"/>
                  </a:lnTo>
                  <a:lnTo>
                    <a:pt x="281940" y="476250"/>
                  </a:lnTo>
                  <a:lnTo>
                    <a:pt x="412750" y="641350"/>
                  </a:lnTo>
                  <a:lnTo>
                    <a:pt x="414020" y="642620"/>
                  </a:lnTo>
                  <a:lnTo>
                    <a:pt x="483870" y="718820"/>
                  </a:lnTo>
                  <a:lnTo>
                    <a:pt x="556260" y="787400"/>
                  </a:lnTo>
                  <a:lnTo>
                    <a:pt x="556260" y="788670"/>
                  </a:lnTo>
                  <a:lnTo>
                    <a:pt x="629920" y="845820"/>
                  </a:lnTo>
                  <a:lnTo>
                    <a:pt x="629920" y="847090"/>
                  </a:lnTo>
                  <a:lnTo>
                    <a:pt x="703580" y="891540"/>
                  </a:lnTo>
                  <a:lnTo>
                    <a:pt x="704850" y="892810"/>
                  </a:lnTo>
                  <a:lnTo>
                    <a:pt x="740410" y="909320"/>
                  </a:lnTo>
                  <a:lnTo>
                    <a:pt x="741680" y="910590"/>
                  </a:lnTo>
                  <a:lnTo>
                    <a:pt x="777240" y="923290"/>
                  </a:lnTo>
                  <a:lnTo>
                    <a:pt x="779780" y="923290"/>
                  </a:lnTo>
                  <a:lnTo>
                    <a:pt x="814070" y="930910"/>
                  </a:lnTo>
                  <a:lnTo>
                    <a:pt x="816610" y="932180"/>
                  </a:lnTo>
                  <a:lnTo>
                    <a:pt x="850900" y="934720"/>
                  </a:lnTo>
                  <a:lnTo>
                    <a:pt x="855980" y="934720"/>
                  </a:lnTo>
                  <a:lnTo>
                    <a:pt x="857250" y="934720"/>
                  </a:lnTo>
                  <a:lnTo>
                    <a:pt x="857504" y="934466"/>
                  </a:lnTo>
                  <a:lnTo>
                    <a:pt x="863600" y="933450"/>
                  </a:lnTo>
                  <a:lnTo>
                    <a:pt x="889000" y="932180"/>
                  </a:lnTo>
                  <a:lnTo>
                    <a:pt x="984250" y="932180"/>
                  </a:lnTo>
                  <a:lnTo>
                    <a:pt x="1271270" y="932180"/>
                  </a:lnTo>
                  <a:lnTo>
                    <a:pt x="1690370" y="934720"/>
                  </a:lnTo>
                  <a:lnTo>
                    <a:pt x="2528570" y="934720"/>
                  </a:lnTo>
                  <a:lnTo>
                    <a:pt x="2528570" y="9067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57600" y="4343400"/>
              <a:ext cx="838200" cy="1219200"/>
            </a:xfrm>
            <a:custGeom>
              <a:avLst/>
              <a:gdLst/>
              <a:ahLst/>
              <a:cxnLst/>
              <a:rect l="l" t="t" r="r" b="b"/>
              <a:pathLst>
                <a:path w="838200" h="1219200">
                  <a:moveTo>
                    <a:pt x="0" y="1219200"/>
                  </a:moveTo>
                  <a:lnTo>
                    <a:pt x="0" y="0"/>
                  </a:lnTo>
                </a:path>
                <a:path w="838200" h="1219200">
                  <a:moveTo>
                    <a:pt x="838200" y="1219200"/>
                  </a:moveTo>
                  <a:lnTo>
                    <a:pt x="838200" y="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19400" y="4180839"/>
              <a:ext cx="2528570" cy="1389380"/>
            </a:xfrm>
            <a:custGeom>
              <a:avLst/>
              <a:gdLst/>
              <a:ahLst/>
              <a:cxnLst/>
              <a:rect l="l" t="t" r="r" b="b"/>
              <a:pathLst>
                <a:path w="2528570" h="1389379">
                  <a:moveTo>
                    <a:pt x="2528570" y="457200"/>
                  </a:moveTo>
                  <a:lnTo>
                    <a:pt x="2527300" y="454660"/>
                  </a:lnTo>
                  <a:lnTo>
                    <a:pt x="2479040" y="354330"/>
                  </a:lnTo>
                  <a:lnTo>
                    <a:pt x="2479040" y="353060"/>
                  </a:lnTo>
                  <a:lnTo>
                    <a:pt x="2429510" y="265430"/>
                  </a:lnTo>
                  <a:lnTo>
                    <a:pt x="2429510" y="264160"/>
                  </a:lnTo>
                  <a:lnTo>
                    <a:pt x="2378710" y="189230"/>
                  </a:lnTo>
                  <a:lnTo>
                    <a:pt x="2378710" y="187960"/>
                  </a:lnTo>
                  <a:lnTo>
                    <a:pt x="2326640" y="124460"/>
                  </a:lnTo>
                  <a:lnTo>
                    <a:pt x="2325370" y="123190"/>
                  </a:lnTo>
                  <a:lnTo>
                    <a:pt x="2316480" y="133350"/>
                  </a:lnTo>
                  <a:lnTo>
                    <a:pt x="2316238" y="133540"/>
                  </a:lnTo>
                  <a:lnTo>
                    <a:pt x="2325370" y="123190"/>
                  </a:lnTo>
                  <a:lnTo>
                    <a:pt x="2273300" y="73660"/>
                  </a:lnTo>
                  <a:lnTo>
                    <a:pt x="2272030" y="72390"/>
                  </a:lnTo>
                  <a:lnTo>
                    <a:pt x="2245360" y="53340"/>
                  </a:lnTo>
                  <a:lnTo>
                    <a:pt x="2245360" y="52070"/>
                  </a:lnTo>
                  <a:lnTo>
                    <a:pt x="2218690" y="35560"/>
                  </a:lnTo>
                  <a:lnTo>
                    <a:pt x="2217420" y="34290"/>
                  </a:lnTo>
                  <a:lnTo>
                    <a:pt x="2190750" y="21590"/>
                  </a:lnTo>
                  <a:lnTo>
                    <a:pt x="2189480" y="20320"/>
                  </a:lnTo>
                  <a:lnTo>
                    <a:pt x="2162810" y="10160"/>
                  </a:lnTo>
                  <a:lnTo>
                    <a:pt x="2160270" y="10160"/>
                  </a:lnTo>
                  <a:lnTo>
                    <a:pt x="2133600" y="3810"/>
                  </a:lnTo>
                  <a:lnTo>
                    <a:pt x="2132330" y="3810"/>
                  </a:lnTo>
                  <a:lnTo>
                    <a:pt x="2105660" y="0"/>
                  </a:lnTo>
                  <a:lnTo>
                    <a:pt x="2103120" y="0"/>
                  </a:lnTo>
                  <a:lnTo>
                    <a:pt x="2076450" y="1270"/>
                  </a:lnTo>
                  <a:lnTo>
                    <a:pt x="2073910" y="1270"/>
                  </a:lnTo>
                  <a:lnTo>
                    <a:pt x="2047240" y="5080"/>
                  </a:lnTo>
                  <a:lnTo>
                    <a:pt x="2045970" y="5080"/>
                  </a:lnTo>
                  <a:lnTo>
                    <a:pt x="2018030" y="12700"/>
                  </a:lnTo>
                  <a:lnTo>
                    <a:pt x="2016760" y="13970"/>
                  </a:lnTo>
                  <a:lnTo>
                    <a:pt x="1990090" y="24130"/>
                  </a:lnTo>
                  <a:lnTo>
                    <a:pt x="1988820" y="25400"/>
                  </a:lnTo>
                  <a:lnTo>
                    <a:pt x="1960880" y="39370"/>
                  </a:lnTo>
                  <a:lnTo>
                    <a:pt x="1959610" y="40640"/>
                  </a:lnTo>
                  <a:lnTo>
                    <a:pt x="1932940" y="58420"/>
                  </a:lnTo>
                  <a:lnTo>
                    <a:pt x="1931670" y="59690"/>
                  </a:lnTo>
                  <a:lnTo>
                    <a:pt x="1877060" y="107950"/>
                  </a:lnTo>
                  <a:lnTo>
                    <a:pt x="1875790" y="109220"/>
                  </a:lnTo>
                  <a:lnTo>
                    <a:pt x="1822450" y="171450"/>
                  </a:lnTo>
                  <a:lnTo>
                    <a:pt x="1821180" y="172720"/>
                  </a:lnTo>
                  <a:lnTo>
                    <a:pt x="1767840" y="250190"/>
                  </a:lnTo>
                  <a:lnTo>
                    <a:pt x="1767840" y="251460"/>
                  </a:lnTo>
                  <a:lnTo>
                    <a:pt x="1715770" y="344170"/>
                  </a:lnTo>
                  <a:lnTo>
                    <a:pt x="1714500" y="345440"/>
                  </a:lnTo>
                  <a:lnTo>
                    <a:pt x="1662430" y="454660"/>
                  </a:lnTo>
                  <a:lnTo>
                    <a:pt x="1662874" y="454875"/>
                  </a:lnTo>
                  <a:lnTo>
                    <a:pt x="1583690" y="596900"/>
                  </a:lnTo>
                  <a:lnTo>
                    <a:pt x="1493520" y="744220"/>
                  </a:lnTo>
                  <a:lnTo>
                    <a:pt x="1380490" y="911860"/>
                  </a:lnTo>
                  <a:lnTo>
                    <a:pt x="1249680" y="1080770"/>
                  </a:lnTo>
                  <a:lnTo>
                    <a:pt x="1181277" y="1156779"/>
                  </a:lnTo>
                  <a:lnTo>
                    <a:pt x="1111846" y="1224965"/>
                  </a:lnTo>
                  <a:lnTo>
                    <a:pt x="1111250" y="1224280"/>
                  </a:lnTo>
                  <a:lnTo>
                    <a:pt x="1041488" y="1281582"/>
                  </a:lnTo>
                  <a:lnTo>
                    <a:pt x="1041400" y="1281430"/>
                  </a:lnTo>
                  <a:lnTo>
                    <a:pt x="971689" y="1325003"/>
                  </a:lnTo>
                  <a:lnTo>
                    <a:pt x="971550" y="1324610"/>
                  </a:lnTo>
                  <a:lnTo>
                    <a:pt x="935990" y="1341120"/>
                  </a:lnTo>
                  <a:lnTo>
                    <a:pt x="936155" y="1341475"/>
                  </a:lnTo>
                  <a:lnTo>
                    <a:pt x="901700" y="1352550"/>
                  </a:lnTo>
                  <a:lnTo>
                    <a:pt x="901877" y="1353058"/>
                  </a:lnTo>
                  <a:lnTo>
                    <a:pt x="871283" y="1359623"/>
                  </a:lnTo>
                  <a:lnTo>
                    <a:pt x="871220" y="1358900"/>
                  </a:lnTo>
                  <a:lnTo>
                    <a:pt x="836930" y="1361440"/>
                  </a:lnTo>
                  <a:lnTo>
                    <a:pt x="0" y="1361440"/>
                  </a:lnTo>
                  <a:lnTo>
                    <a:pt x="0" y="1389380"/>
                  </a:lnTo>
                  <a:lnTo>
                    <a:pt x="838200" y="1389380"/>
                  </a:lnTo>
                  <a:lnTo>
                    <a:pt x="872490" y="1388110"/>
                  </a:lnTo>
                  <a:lnTo>
                    <a:pt x="875030" y="1386840"/>
                  </a:lnTo>
                  <a:lnTo>
                    <a:pt x="909320" y="1380490"/>
                  </a:lnTo>
                  <a:lnTo>
                    <a:pt x="911860" y="1379220"/>
                  </a:lnTo>
                  <a:lnTo>
                    <a:pt x="946150" y="1367790"/>
                  </a:lnTo>
                  <a:lnTo>
                    <a:pt x="947420" y="1366520"/>
                  </a:lnTo>
                  <a:lnTo>
                    <a:pt x="982980" y="1351280"/>
                  </a:lnTo>
                  <a:lnTo>
                    <a:pt x="984250" y="1350010"/>
                  </a:lnTo>
                  <a:lnTo>
                    <a:pt x="1056640" y="1305560"/>
                  </a:lnTo>
                  <a:lnTo>
                    <a:pt x="1057910" y="1304290"/>
                  </a:lnTo>
                  <a:lnTo>
                    <a:pt x="1130300" y="1245870"/>
                  </a:lnTo>
                  <a:lnTo>
                    <a:pt x="1120775" y="1235075"/>
                  </a:lnTo>
                  <a:lnTo>
                    <a:pt x="1121410" y="1235710"/>
                  </a:lnTo>
                  <a:lnTo>
                    <a:pt x="1130300" y="1245870"/>
                  </a:lnTo>
                  <a:lnTo>
                    <a:pt x="1201420" y="1176020"/>
                  </a:lnTo>
                  <a:lnTo>
                    <a:pt x="1202690" y="1176020"/>
                  </a:lnTo>
                  <a:lnTo>
                    <a:pt x="1272540" y="1098550"/>
                  </a:lnTo>
                  <a:lnTo>
                    <a:pt x="1260754" y="1088161"/>
                  </a:lnTo>
                  <a:lnTo>
                    <a:pt x="1261110" y="1088390"/>
                  </a:lnTo>
                  <a:lnTo>
                    <a:pt x="1272540" y="1098550"/>
                  </a:lnTo>
                  <a:lnTo>
                    <a:pt x="1272540" y="1097280"/>
                  </a:lnTo>
                  <a:lnTo>
                    <a:pt x="1403350" y="928370"/>
                  </a:lnTo>
                  <a:lnTo>
                    <a:pt x="1517650" y="759460"/>
                  </a:lnTo>
                  <a:lnTo>
                    <a:pt x="1607820" y="612140"/>
                  </a:lnTo>
                  <a:lnTo>
                    <a:pt x="1607820" y="610870"/>
                  </a:lnTo>
                  <a:lnTo>
                    <a:pt x="1687830" y="467360"/>
                  </a:lnTo>
                  <a:lnTo>
                    <a:pt x="1689100" y="467360"/>
                  </a:lnTo>
                  <a:lnTo>
                    <a:pt x="1739900" y="358140"/>
                  </a:lnTo>
                  <a:lnTo>
                    <a:pt x="1791449" y="266357"/>
                  </a:lnTo>
                  <a:lnTo>
                    <a:pt x="1791970" y="266700"/>
                  </a:lnTo>
                  <a:lnTo>
                    <a:pt x="1845310" y="189230"/>
                  </a:lnTo>
                  <a:lnTo>
                    <a:pt x="1896846" y="128879"/>
                  </a:lnTo>
                  <a:lnTo>
                    <a:pt x="1950720" y="81280"/>
                  </a:lnTo>
                  <a:lnTo>
                    <a:pt x="1950440" y="81013"/>
                  </a:lnTo>
                  <a:lnTo>
                    <a:pt x="1974697" y="64477"/>
                  </a:lnTo>
                  <a:lnTo>
                    <a:pt x="1974850" y="64770"/>
                  </a:lnTo>
                  <a:lnTo>
                    <a:pt x="2001520" y="50800"/>
                  </a:lnTo>
                  <a:lnTo>
                    <a:pt x="2001304" y="50380"/>
                  </a:lnTo>
                  <a:lnTo>
                    <a:pt x="2025586" y="40436"/>
                  </a:lnTo>
                  <a:lnTo>
                    <a:pt x="2025650" y="40640"/>
                  </a:lnTo>
                  <a:lnTo>
                    <a:pt x="2053590" y="33020"/>
                  </a:lnTo>
                  <a:lnTo>
                    <a:pt x="2053488" y="32689"/>
                  </a:lnTo>
                  <a:lnTo>
                    <a:pt x="2078990" y="29210"/>
                  </a:lnTo>
                  <a:lnTo>
                    <a:pt x="2101850" y="29210"/>
                  </a:lnTo>
                  <a:lnTo>
                    <a:pt x="2127275" y="31635"/>
                  </a:lnTo>
                  <a:lnTo>
                    <a:pt x="2152739" y="37833"/>
                  </a:lnTo>
                  <a:lnTo>
                    <a:pt x="2152650" y="38100"/>
                  </a:lnTo>
                  <a:lnTo>
                    <a:pt x="2178227" y="46634"/>
                  </a:lnTo>
                  <a:lnTo>
                    <a:pt x="2178050" y="46990"/>
                  </a:lnTo>
                  <a:lnTo>
                    <a:pt x="2203729" y="59220"/>
                  </a:lnTo>
                  <a:lnTo>
                    <a:pt x="2203450" y="59690"/>
                  </a:lnTo>
                  <a:lnTo>
                    <a:pt x="2230120" y="76200"/>
                  </a:lnTo>
                  <a:lnTo>
                    <a:pt x="2230234" y="75996"/>
                  </a:lnTo>
                  <a:lnTo>
                    <a:pt x="2255520" y="95250"/>
                  </a:lnTo>
                  <a:lnTo>
                    <a:pt x="2306320" y="144780"/>
                  </a:lnTo>
                  <a:lnTo>
                    <a:pt x="2306713" y="144335"/>
                  </a:lnTo>
                  <a:lnTo>
                    <a:pt x="2355850" y="205740"/>
                  </a:lnTo>
                  <a:lnTo>
                    <a:pt x="2356396" y="205320"/>
                  </a:lnTo>
                  <a:lnTo>
                    <a:pt x="2405380" y="280670"/>
                  </a:lnTo>
                  <a:lnTo>
                    <a:pt x="2405875" y="280327"/>
                  </a:lnTo>
                  <a:lnTo>
                    <a:pt x="2453640" y="367030"/>
                  </a:lnTo>
                  <a:lnTo>
                    <a:pt x="2454122" y="366788"/>
                  </a:lnTo>
                  <a:lnTo>
                    <a:pt x="2501900" y="467360"/>
                  </a:lnTo>
                  <a:lnTo>
                    <a:pt x="2514600" y="461010"/>
                  </a:lnTo>
                  <a:lnTo>
                    <a:pt x="2528570" y="462280"/>
                  </a:lnTo>
                  <a:lnTo>
                    <a:pt x="2528570" y="457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43000" y="4639309"/>
              <a:ext cx="5867400" cy="930910"/>
            </a:xfrm>
            <a:custGeom>
              <a:avLst/>
              <a:gdLst/>
              <a:ahLst/>
              <a:cxnLst/>
              <a:rect l="l" t="t" r="r" b="b"/>
              <a:pathLst>
                <a:path w="5867400" h="930910">
                  <a:moveTo>
                    <a:pt x="1404620" y="469900"/>
                  </a:moveTo>
                  <a:lnTo>
                    <a:pt x="1391920" y="462280"/>
                  </a:lnTo>
                  <a:lnTo>
                    <a:pt x="1381760" y="453390"/>
                  </a:lnTo>
                  <a:lnTo>
                    <a:pt x="1251559" y="621512"/>
                  </a:lnTo>
                  <a:lnTo>
                    <a:pt x="1250950" y="621030"/>
                  </a:lnTo>
                  <a:lnTo>
                    <a:pt x="1181277" y="698309"/>
                  </a:lnTo>
                  <a:lnTo>
                    <a:pt x="1112520" y="765835"/>
                  </a:lnTo>
                  <a:lnTo>
                    <a:pt x="1041501" y="823125"/>
                  </a:lnTo>
                  <a:lnTo>
                    <a:pt x="1041400" y="822960"/>
                  </a:lnTo>
                  <a:lnTo>
                    <a:pt x="971715" y="866521"/>
                  </a:lnTo>
                  <a:lnTo>
                    <a:pt x="971550" y="866140"/>
                  </a:lnTo>
                  <a:lnTo>
                    <a:pt x="935990" y="882650"/>
                  </a:lnTo>
                  <a:lnTo>
                    <a:pt x="936155" y="883005"/>
                  </a:lnTo>
                  <a:lnTo>
                    <a:pt x="901700" y="894080"/>
                  </a:lnTo>
                  <a:lnTo>
                    <a:pt x="901877" y="894613"/>
                  </a:lnTo>
                  <a:lnTo>
                    <a:pt x="871296" y="901407"/>
                  </a:lnTo>
                  <a:lnTo>
                    <a:pt x="871220" y="900430"/>
                  </a:lnTo>
                  <a:lnTo>
                    <a:pt x="836930" y="902970"/>
                  </a:lnTo>
                  <a:lnTo>
                    <a:pt x="0" y="902970"/>
                  </a:lnTo>
                  <a:lnTo>
                    <a:pt x="0" y="930910"/>
                  </a:lnTo>
                  <a:lnTo>
                    <a:pt x="838200" y="930910"/>
                  </a:lnTo>
                  <a:lnTo>
                    <a:pt x="872490" y="929640"/>
                  </a:lnTo>
                  <a:lnTo>
                    <a:pt x="875030" y="928370"/>
                  </a:lnTo>
                  <a:lnTo>
                    <a:pt x="909320" y="922020"/>
                  </a:lnTo>
                  <a:lnTo>
                    <a:pt x="911860" y="920750"/>
                  </a:lnTo>
                  <a:lnTo>
                    <a:pt x="946150" y="909320"/>
                  </a:lnTo>
                  <a:lnTo>
                    <a:pt x="947420" y="908050"/>
                  </a:lnTo>
                  <a:lnTo>
                    <a:pt x="982980" y="892810"/>
                  </a:lnTo>
                  <a:lnTo>
                    <a:pt x="985520" y="891540"/>
                  </a:lnTo>
                  <a:lnTo>
                    <a:pt x="1056640" y="847090"/>
                  </a:lnTo>
                  <a:lnTo>
                    <a:pt x="1057910" y="845820"/>
                  </a:lnTo>
                  <a:lnTo>
                    <a:pt x="1130300" y="787400"/>
                  </a:lnTo>
                  <a:lnTo>
                    <a:pt x="1131570" y="787400"/>
                  </a:lnTo>
                  <a:lnTo>
                    <a:pt x="1201420" y="717550"/>
                  </a:lnTo>
                  <a:lnTo>
                    <a:pt x="1202690" y="717550"/>
                  </a:lnTo>
                  <a:lnTo>
                    <a:pt x="1272540" y="640080"/>
                  </a:lnTo>
                  <a:lnTo>
                    <a:pt x="1272540" y="638810"/>
                  </a:lnTo>
                  <a:lnTo>
                    <a:pt x="1403350" y="469900"/>
                  </a:lnTo>
                  <a:lnTo>
                    <a:pt x="1404620" y="469900"/>
                  </a:lnTo>
                  <a:close/>
                </a:path>
                <a:path w="5867400" h="930910">
                  <a:moveTo>
                    <a:pt x="4611370" y="619760"/>
                  </a:moveTo>
                  <a:lnTo>
                    <a:pt x="4481639" y="456044"/>
                  </a:lnTo>
                  <a:lnTo>
                    <a:pt x="4481830" y="455930"/>
                  </a:lnTo>
                  <a:lnTo>
                    <a:pt x="4368800" y="289560"/>
                  </a:lnTo>
                  <a:lnTo>
                    <a:pt x="4368228" y="289902"/>
                  </a:lnTo>
                  <a:lnTo>
                    <a:pt x="4279900" y="144780"/>
                  </a:lnTo>
                  <a:lnTo>
                    <a:pt x="4222750" y="39370"/>
                  </a:lnTo>
                  <a:lnTo>
                    <a:pt x="4222267" y="39662"/>
                  </a:lnTo>
                  <a:lnTo>
                    <a:pt x="4208208" y="10375"/>
                  </a:lnTo>
                  <a:lnTo>
                    <a:pt x="4208780" y="10160"/>
                  </a:lnTo>
                  <a:lnTo>
                    <a:pt x="4204970" y="1270"/>
                  </a:lnTo>
                  <a:lnTo>
                    <a:pt x="4204970" y="0"/>
                  </a:lnTo>
                  <a:lnTo>
                    <a:pt x="4197985" y="1905"/>
                  </a:lnTo>
                  <a:lnTo>
                    <a:pt x="4191000" y="2540"/>
                  </a:lnTo>
                  <a:lnTo>
                    <a:pt x="4177030" y="1270"/>
                  </a:lnTo>
                  <a:lnTo>
                    <a:pt x="4175760" y="2540"/>
                  </a:lnTo>
                  <a:lnTo>
                    <a:pt x="4177030" y="3810"/>
                  </a:lnTo>
                  <a:lnTo>
                    <a:pt x="4177030" y="5080"/>
                  </a:lnTo>
                  <a:lnTo>
                    <a:pt x="4177030" y="7620"/>
                  </a:lnTo>
                  <a:lnTo>
                    <a:pt x="4178300" y="10160"/>
                  </a:lnTo>
                  <a:lnTo>
                    <a:pt x="4178300" y="11430"/>
                  </a:lnTo>
                  <a:lnTo>
                    <a:pt x="4182110" y="20320"/>
                  </a:lnTo>
                  <a:lnTo>
                    <a:pt x="4182110" y="21590"/>
                  </a:lnTo>
                  <a:lnTo>
                    <a:pt x="4197350" y="52070"/>
                  </a:lnTo>
                  <a:lnTo>
                    <a:pt x="4197350" y="53340"/>
                  </a:lnTo>
                  <a:lnTo>
                    <a:pt x="4254500" y="158750"/>
                  </a:lnTo>
                  <a:lnTo>
                    <a:pt x="4255770" y="160020"/>
                  </a:lnTo>
                  <a:lnTo>
                    <a:pt x="4344670" y="304800"/>
                  </a:lnTo>
                  <a:lnTo>
                    <a:pt x="4344670" y="306070"/>
                  </a:lnTo>
                  <a:lnTo>
                    <a:pt x="4457700" y="471170"/>
                  </a:lnTo>
                  <a:lnTo>
                    <a:pt x="4458970" y="472440"/>
                  </a:lnTo>
                  <a:lnTo>
                    <a:pt x="4589780" y="637540"/>
                  </a:lnTo>
                  <a:lnTo>
                    <a:pt x="4589780" y="638810"/>
                  </a:lnTo>
                  <a:lnTo>
                    <a:pt x="4601210" y="628650"/>
                  </a:lnTo>
                  <a:lnTo>
                    <a:pt x="4611370" y="619760"/>
                  </a:lnTo>
                  <a:close/>
                </a:path>
                <a:path w="5867400" h="930910">
                  <a:moveTo>
                    <a:pt x="5867400" y="902970"/>
                  </a:moveTo>
                  <a:lnTo>
                    <a:pt x="5396230" y="899160"/>
                  </a:lnTo>
                  <a:lnTo>
                    <a:pt x="5140960" y="899160"/>
                  </a:lnTo>
                  <a:lnTo>
                    <a:pt x="5059680" y="900430"/>
                  </a:lnTo>
                  <a:lnTo>
                    <a:pt x="5036820" y="901700"/>
                  </a:lnTo>
                  <a:lnTo>
                    <a:pt x="5035550" y="901700"/>
                  </a:lnTo>
                  <a:lnTo>
                    <a:pt x="5036820" y="915670"/>
                  </a:lnTo>
                  <a:lnTo>
                    <a:pt x="5037340" y="921473"/>
                  </a:lnTo>
                  <a:lnTo>
                    <a:pt x="5035550" y="901700"/>
                  </a:lnTo>
                  <a:lnTo>
                    <a:pt x="5029200" y="901700"/>
                  </a:lnTo>
                  <a:lnTo>
                    <a:pt x="5027930" y="901700"/>
                  </a:lnTo>
                  <a:lnTo>
                    <a:pt x="5027015" y="902614"/>
                  </a:lnTo>
                  <a:lnTo>
                    <a:pt x="4997399" y="899439"/>
                  </a:lnTo>
                  <a:lnTo>
                    <a:pt x="4997450" y="899160"/>
                  </a:lnTo>
                  <a:lnTo>
                    <a:pt x="4963084" y="891806"/>
                  </a:lnTo>
                  <a:lnTo>
                    <a:pt x="4963160" y="891540"/>
                  </a:lnTo>
                  <a:lnTo>
                    <a:pt x="4928717" y="880478"/>
                  </a:lnTo>
                  <a:lnTo>
                    <a:pt x="4928870" y="880110"/>
                  </a:lnTo>
                  <a:lnTo>
                    <a:pt x="4894300" y="864069"/>
                  </a:lnTo>
                  <a:lnTo>
                    <a:pt x="4894580" y="863600"/>
                  </a:lnTo>
                  <a:lnTo>
                    <a:pt x="4822190" y="819150"/>
                  </a:lnTo>
                  <a:lnTo>
                    <a:pt x="4822088" y="819327"/>
                  </a:lnTo>
                  <a:lnTo>
                    <a:pt x="4751070" y="762000"/>
                  </a:lnTo>
                  <a:lnTo>
                    <a:pt x="4680750" y="695452"/>
                  </a:lnTo>
                  <a:lnTo>
                    <a:pt x="4611370" y="619760"/>
                  </a:lnTo>
                  <a:lnTo>
                    <a:pt x="4589780" y="638810"/>
                  </a:lnTo>
                  <a:lnTo>
                    <a:pt x="4659630" y="715010"/>
                  </a:lnTo>
                  <a:lnTo>
                    <a:pt x="4660900" y="715010"/>
                  </a:lnTo>
                  <a:lnTo>
                    <a:pt x="4732020" y="783590"/>
                  </a:lnTo>
                  <a:lnTo>
                    <a:pt x="4733290" y="784860"/>
                  </a:lnTo>
                  <a:lnTo>
                    <a:pt x="4805680" y="842010"/>
                  </a:lnTo>
                  <a:lnTo>
                    <a:pt x="4806950" y="843280"/>
                  </a:lnTo>
                  <a:lnTo>
                    <a:pt x="4879340" y="887730"/>
                  </a:lnTo>
                  <a:lnTo>
                    <a:pt x="4880610" y="889000"/>
                  </a:lnTo>
                  <a:lnTo>
                    <a:pt x="4917440" y="905510"/>
                  </a:lnTo>
                  <a:lnTo>
                    <a:pt x="4918710" y="906780"/>
                  </a:lnTo>
                  <a:lnTo>
                    <a:pt x="4954270" y="919480"/>
                  </a:lnTo>
                  <a:lnTo>
                    <a:pt x="4955540" y="919480"/>
                  </a:lnTo>
                  <a:lnTo>
                    <a:pt x="4991100" y="927100"/>
                  </a:lnTo>
                  <a:lnTo>
                    <a:pt x="4992370" y="927100"/>
                  </a:lnTo>
                  <a:lnTo>
                    <a:pt x="5027930" y="930910"/>
                  </a:lnTo>
                  <a:lnTo>
                    <a:pt x="5031740" y="930910"/>
                  </a:lnTo>
                  <a:lnTo>
                    <a:pt x="5032857" y="930351"/>
                  </a:lnTo>
                  <a:lnTo>
                    <a:pt x="5033010" y="930910"/>
                  </a:lnTo>
                  <a:lnTo>
                    <a:pt x="5034280" y="929640"/>
                  </a:lnTo>
                  <a:lnTo>
                    <a:pt x="5035550" y="929640"/>
                  </a:lnTo>
                  <a:lnTo>
                    <a:pt x="5038090" y="929640"/>
                  </a:lnTo>
                  <a:lnTo>
                    <a:pt x="5059680" y="928370"/>
                  </a:lnTo>
                  <a:lnTo>
                    <a:pt x="5140960" y="927100"/>
                  </a:lnTo>
                  <a:lnTo>
                    <a:pt x="5396230" y="928370"/>
                  </a:lnTo>
                  <a:lnTo>
                    <a:pt x="5867400" y="930910"/>
                  </a:lnTo>
                  <a:lnTo>
                    <a:pt x="5867400" y="9029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23490" y="4180839"/>
              <a:ext cx="1624330" cy="1173480"/>
            </a:xfrm>
            <a:custGeom>
              <a:avLst/>
              <a:gdLst/>
              <a:ahLst/>
              <a:cxnLst/>
              <a:rect l="l" t="t" r="r" b="b"/>
              <a:pathLst>
                <a:path w="1624329" h="1173479">
                  <a:moveTo>
                    <a:pt x="506730" y="118110"/>
                  </a:moveTo>
                  <a:lnTo>
                    <a:pt x="497840" y="107950"/>
                  </a:lnTo>
                  <a:lnTo>
                    <a:pt x="496570" y="109220"/>
                  </a:lnTo>
                  <a:lnTo>
                    <a:pt x="506730" y="118110"/>
                  </a:lnTo>
                  <a:close/>
                </a:path>
                <a:path w="1624329" h="1173479">
                  <a:moveTo>
                    <a:pt x="1624330" y="1154430"/>
                  </a:moveTo>
                  <a:lnTo>
                    <a:pt x="1555000" y="1078814"/>
                  </a:lnTo>
                  <a:lnTo>
                    <a:pt x="1555750" y="1078230"/>
                  </a:lnTo>
                  <a:lnTo>
                    <a:pt x="1424940" y="913130"/>
                  </a:lnTo>
                  <a:lnTo>
                    <a:pt x="1424368" y="913574"/>
                  </a:lnTo>
                  <a:lnTo>
                    <a:pt x="1311910" y="748030"/>
                  </a:lnTo>
                  <a:lnTo>
                    <a:pt x="1311351" y="748398"/>
                  </a:lnTo>
                  <a:lnTo>
                    <a:pt x="1223010" y="603250"/>
                  </a:lnTo>
                  <a:lnTo>
                    <a:pt x="1165860" y="497840"/>
                  </a:lnTo>
                  <a:lnTo>
                    <a:pt x="1165415" y="498106"/>
                  </a:lnTo>
                  <a:lnTo>
                    <a:pt x="1151890" y="467360"/>
                  </a:lnTo>
                  <a:lnTo>
                    <a:pt x="1151432" y="467575"/>
                  </a:lnTo>
                  <a:lnTo>
                    <a:pt x="1148080" y="459740"/>
                  </a:lnTo>
                  <a:lnTo>
                    <a:pt x="1148080" y="458470"/>
                  </a:lnTo>
                  <a:lnTo>
                    <a:pt x="1148080" y="457200"/>
                  </a:lnTo>
                  <a:lnTo>
                    <a:pt x="1146810" y="454660"/>
                  </a:lnTo>
                  <a:lnTo>
                    <a:pt x="1099820" y="354330"/>
                  </a:lnTo>
                  <a:lnTo>
                    <a:pt x="1098550" y="353060"/>
                  </a:lnTo>
                  <a:lnTo>
                    <a:pt x="1049020" y="265430"/>
                  </a:lnTo>
                  <a:lnTo>
                    <a:pt x="1049020" y="264160"/>
                  </a:lnTo>
                  <a:lnTo>
                    <a:pt x="998220" y="189230"/>
                  </a:lnTo>
                  <a:lnTo>
                    <a:pt x="998220" y="187960"/>
                  </a:lnTo>
                  <a:lnTo>
                    <a:pt x="946150" y="124460"/>
                  </a:lnTo>
                  <a:lnTo>
                    <a:pt x="944880" y="123190"/>
                  </a:lnTo>
                  <a:lnTo>
                    <a:pt x="935990" y="133350"/>
                  </a:lnTo>
                  <a:lnTo>
                    <a:pt x="935748" y="133540"/>
                  </a:lnTo>
                  <a:lnTo>
                    <a:pt x="944880" y="123190"/>
                  </a:lnTo>
                  <a:lnTo>
                    <a:pt x="892810" y="73660"/>
                  </a:lnTo>
                  <a:lnTo>
                    <a:pt x="892810" y="72390"/>
                  </a:lnTo>
                  <a:lnTo>
                    <a:pt x="866140" y="53340"/>
                  </a:lnTo>
                  <a:lnTo>
                    <a:pt x="864870" y="52070"/>
                  </a:lnTo>
                  <a:lnTo>
                    <a:pt x="838200" y="35560"/>
                  </a:lnTo>
                  <a:lnTo>
                    <a:pt x="836930" y="34290"/>
                  </a:lnTo>
                  <a:lnTo>
                    <a:pt x="810260" y="21590"/>
                  </a:lnTo>
                  <a:lnTo>
                    <a:pt x="808990" y="20320"/>
                  </a:lnTo>
                  <a:lnTo>
                    <a:pt x="782320" y="10160"/>
                  </a:lnTo>
                  <a:lnTo>
                    <a:pt x="777201" y="24231"/>
                  </a:lnTo>
                  <a:lnTo>
                    <a:pt x="777265" y="24003"/>
                  </a:lnTo>
                  <a:lnTo>
                    <a:pt x="782320" y="10160"/>
                  </a:lnTo>
                  <a:lnTo>
                    <a:pt x="781050" y="10160"/>
                  </a:lnTo>
                  <a:lnTo>
                    <a:pt x="753110" y="3810"/>
                  </a:lnTo>
                  <a:lnTo>
                    <a:pt x="751827" y="3810"/>
                  </a:lnTo>
                  <a:lnTo>
                    <a:pt x="725170" y="0"/>
                  </a:lnTo>
                  <a:lnTo>
                    <a:pt x="722630" y="0"/>
                  </a:lnTo>
                  <a:lnTo>
                    <a:pt x="695960" y="1270"/>
                  </a:lnTo>
                  <a:lnTo>
                    <a:pt x="694690" y="1270"/>
                  </a:lnTo>
                  <a:lnTo>
                    <a:pt x="666750" y="5080"/>
                  </a:lnTo>
                  <a:lnTo>
                    <a:pt x="665480" y="5080"/>
                  </a:lnTo>
                  <a:lnTo>
                    <a:pt x="638810" y="12700"/>
                  </a:lnTo>
                  <a:lnTo>
                    <a:pt x="636270" y="13970"/>
                  </a:lnTo>
                  <a:lnTo>
                    <a:pt x="609600" y="24130"/>
                  </a:lnTo>
                  <a:lnTo>
                    <a:pt x="608330" y="25400"/>
                  </a:lnTo>
                  <a:lnTo>
                    <a:pt x="581660" y="39370"/>
                  </a:lnTo>
                  <a:lnTo>
                    <a:pt x="579120" y="40640"/>
                  </a:lnTo>
                  <a:lnTo>
                    <a:pt x="552450" y="58420"/>
                  </a:lnTo>
                  <a:lnTo>
                    <a:pt x="551180" y="59690"/>
                  </a:lnTo>
                  <a:lnTo>
                    <a:pt x="497840" y="107950"/>
                  </a:lnTo>
                  <a:lnTo>
                    <a:pt x="507365" y="118745"/>
                  </a:lnTo>
                  <a:lnTo>
                    <a:pt x="496570" y="109220"/>
                  </a:lnTo>
                  <a:lnTo>
                    <a:pt x="441960" y="171450"/>
                  </a:lnTo>
                  <a:lnTo>
                    <a:pt x="441960" y="172720"/>
                  </a:lnTo>
                  <a:lnTo>
                    <a:pt x="388620" y="250190"/>
                  </a:lnTo>
                  <a:lnTo>
                    <a:pt x="387350" y="251460"/>
                  </a:lnTo>
                  <a:lnTo>
                    <a:pt x="335280" y="344170"/>
                  </a:lnTo>
                  <a:lnTo>
                    <a:pt x="335280" y="345440"/>
                  </a:lnTo>
                  <a:lnTo>
                    <a:pt x="283679" y="453682"/>
                  </a:lnTo>
                  <a:lnTo>
                    <a:pt x="283210" y="453390"/>
                  </a:lnTo>
                  <a:lnTo>
                    <a:pt x="203200" y="596900"/>
                  </a:lnTo>
                  <a:lnTo>
                    <a:pt x="113030" y="744220"/>
                  </a:lnTo>
                  <a:lnTo>
                    <a:pt x="113919" y="744766"/>
                  </a:lnTo>
                  <a:lnTo>
                    <a:pt x="0" y="911860"/>
                  </a:lnTo>
                  <a:lnTo>
                    <a:pt x="11430" y="920750"/>
                  </a:lnTo>
                  <a:lnTo>
                    <a:pt x="22860" y="928370"/>
                  </a:lnTo>
                  <a:lnTo>
                    <a:pt x="24130" y="928370"/>
                  </a:lnTo>
                  <a:lnTo>
                    <a:pt x="137160" y="759460"/>
                  </a:lnTo>
                  <a:lnTo>
                    <a:pt x="138430" y="759460"/>
                  </a:lnTo>
                  <a:lnTo>
                    <a:pt x="228600" y="612140"/>
                  </a:lnTo>
                  <a:lnTo>
                    <a:pt x="228600" y="610870"/>
                  </a:lnTo>
                  <a:lnTo>
                    <a:pt x="308610" y="467360"/>
                  </a:lnTo>
                  <a:lnTo>
                    <a:pt x="360680" y="358140"/>
                  </a:lnTo>
                  <a:lnTo>
                    <a:pt x="412750" y="265430"/>
                  </a:lnTo>
                  <a:lnTo>
                    <a:pt x="412445" y="265290"/>
                  </a:lnTo>
                  <a:lnTo>
                    <a:pt x="464820" y="189230"/>
                  </a:lnTo>
                  <a:lnTo>
                    <a:pt x="517639" y="128866"/>
                  </a:lnTo>
                  <a:lnTo>
                    <a:pt x="568896" y="82486"/>
                  </a:lnTo>
                  <a:lnTo>
                    <a:pt x="594220" y="64503"/>
                  </a:lnTo>
                  <a:lnTo>
                    <a:pt x="594360" y="64770"/>
                  </a:lnTo>
                  <a:lnTo>
                    <a:pt x="622300" y="50800"/>
                  </a:lnTo>
                  <a:lnTo>
                    <a:pt x="621792" y="49974"/>
                  </a:lnTo>
                  <a:lnTo>
                    <a:pt x="646239" y="39966"/>
                  </a:lnTo>
                  <a:lnTo>
                    <a:pt x="646430" y="40640"/>
                  </a:lnTo>
                  <a:lnTo>
                    <a:pt x="673100" y="33020"/>
                  </a:lnTo>
                  <a:lnTo>
                    <a:pt x="672998" y="32689"/>
                  </a:lnTo>
                  <a:lnTo>
                    <a:pt x="698500" y="29210"/>
                  </a:lnTo>
                  <a:lnTo>
                    <a:pt x="721360" y="29210"/>
                  </a:lnTo>
                  <a:lnTo>
                    <a:pt x="746785" y="31635"/>
                  </a:lnTo>
                  <a:lnTo>
                    <a:pt x="772248" y="37833"/>
                  </a:lnTo>
                  <a:lnTo>
                    <a:pt x="772160" y="38100"/>
                  </a:lnTo>
                  <a:lnTo>
                    <a:pt x="797737" y="46634"/>
                  </a:lnTo>
                  <a:lnTo>
                    <a:pt x="797560" y="46990"/>
                  </a:lnTo>
                  <a:lnTo>
                    <a:pt x="823239" y="59220"/>
                  </a:lnTo>
                  <a:lnTo>
                    <a:pt x="822960" y="59690"/>
                  </a:lnTo>
                  <a:lnTo>
                    <a:pt x="849630" y="76200"/>
                  </a:lnTo>
                  <a:lnTo>
                    <a:pt x="849744" y="75996"/>
                  </a:lnTo>
                  <a:lnTo>
                    <a:pt x="875030" y="95250"/>
                  </a:lnTo>
                  <a:lnTo>
                    <a:pt x="925830" y="144780"/>
                  </a:lnTo>
                  <a:lnTo>
                    <a:pt x="926249" y="144310"/>
                  </a:lnTo>
                  <a:lnTo>
                    <a:pt x="975499" y="204381"/>
                  </a:lnTo>
                  <a:lnTo>
                    <a:pt x="975360" y="204470"/>
                  </a:lnTo>
                  <a:lnTo>
                    <a:pt x="1024890" y="280670"/>
                  </a:lnTo>
                  <a:lnTo>
                    <a:pt x="1025398" y="280314"/>
                  </a:lnTo>
                  <a:lnTo>
                    <a:pt x="1073594" y="365582"/>
                  </a:lnTo>
                  <a:lnTo>
                    <a:pt x="1073150" y="365760"/>
                  </a:lnTo>
                  <a:lnTo>
                    <a:pt x="1120140" y="464693"/>
                  </a:lnTo>
                  <a:lnTo>
                    <a:pt x="1120140" y="466090"/>
                  </a:lnTo>
                  <a:lnTo>
                    <a:pt x="1121410" y="468630"/>
                  </a:lnTo>
                  <a:lnTo>
                    <a:pt x="1121410" y="469900"/>
                  </a:lnTo>
                  <a:lnTo>
                    <a:pt x="1125220" y="478790"/>
                  </a:lnTo>
                  <a:lnTo>
                    <a:pt x="1125220" y="480060"/>
                  </a:lnTo>
                  <a:lnTo>
                    <a:pt x="1140460" y="511810"/>
                  </a:lnTo>
                  <a:lnTo>
                    <a:pt x="1198880" y="617220"/>
                  </a:lnTo>
                  <a:lnTo>
                    <a:pt x="1198880" y="618490"/>
                  </a:lnTo>
                  <a:lnTo>
                    <a:pt x="1287780" y="763270"/>
                  </a:lnTo>
                  <a:lnTo>
                    <a:pt x="1287780" y="764540"/>
                  </a:lnTo>
                  <a:lnTo>
                    <a:pt x="1402080" y="929640"/>
                  </a:lnTo>
                  <a:lnTo>
                    <a:pt x="1402080" y="930910"/>
                  </a:lnTo>
                  <a:lnTo>
                    <a:pt x="1532890" y="1096010"/>
                  </a:lnTo>
                  <a:lnTo>
                    <a:pt x="1534160" y="1097280"/>
                  </a:lnTo>
                  <a:lnTo>
                    <a:pt x="1604010" y="1173480"/>
                  </a:lnTo>
                  <a:lnTo>
                    <a:pt x="1614170" y="1163320"/>
                  </a:lnTo>
                  <a:lnTo>
                    <a:pt x="1624330" y="11544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27500" y="5334000"/>
              <a:ext cx="1206500" cy="236220"/>
            </a:xfrm>
            <a:custGeom>
              <a:avLst/>
              <a:gdLst/>
              <a:ahLst/>
              <a:cxnLst/>
              <a:rect l="l" t="t" r="r" b="b"/>
              <a:pathLst>
                <a:path w="1206500" h="236220">
                  <a:moveTo>
                    <a:pt x="1206500" y="208280"/>
                  </a:moveTo>
                  <a:lnTo>
                    <a:pt x="735330" y="204470"/>
                  </a:lnTo>
                  <a:lnTo>
                    <a:pt x="480060" y="204470"/>
                  </a:lnTo>
                  <a:lnTo>
                    <a:pt x="398780" y="205740"/>
                  </a:lnTo>
                  <a:lnTo>
                    <a:pt x="375920" y="207010"/>
                  </a:lnTo>
                  <a:lnTo>
                    <a:pt x="377190" y="220980"/>
                  </a:lnTo>
                  <a:lnTo>
                    <a:pt x="375920" y="207010"/>
                  </a:lnTo>
                  <a:lnTo>
                    <a:pt x="370840" y="207010"/>
                  </a:lnTo>
                  <a:lnTo>
                    <a:pt x="370840" y="220980"/>
                  </a:lnTo>
                  <a:lnTo>
                    <a:pt x="369214" y="212077"/>
                  </a:lnTo>
                  <a:lnTo>
                    <a:pt x="370840" y="220980"/>
                  </a:lnTo>
                  <a:lnTo>
                    <a:pt x="370840" y="207010"/>
                  </a:lnTo>
                  <a:lnTo>
                    <a:pt x="369570" y="207010"/>
                  </a:lnTo>
                  <a:lnTo>
                    <a:pt x="368300" y="207010"/>
                  </a:lnTo>
                  <a:lnTo>
                    <a:pt x="366445" y="207937"/>
                  </a:lnTo>
                  <a:lnTo>
                    <a:pt x="336524" y="204609"/>
                  </a:lnTo>
                  <a:lnTo>
                    <a:pt x="336550" y="204470"/>
                  </a:lnTo>
                  <a:lnTo>
                    <a:pt x="303428" y="197116"/>
                  </a:lnTo>
                  <a:lnTo>
                    <a:pt x="303530" y="196850"/>
                  </a:lnTo>
                  <a:lnTo>
                    <a:pt x="269062" y="185775"/>
                  </a:lnTo>
                  <a:lnTo>
                    <a:pt x="269240" y="185420"/>
                  </a:lnTo>
                  <a:lnTo>
                    <a:pt x="233438" y="169379"/>
                  </a:lnTo>
                  <a:lnTo>
                    <a:pt x="233680" y="168910"/>
                  </a:lnTo>
                  <a:lnTo>
                    <a:pt x="163664" y="125933"/>
                  </a:lnTo>
                  <a:lnTo>
                    <a:pt x="163830" y="125730"/>
                  </a:lnTo>
                  <a:lnTo>
                    <a:pt x="90170" y="67310"/>
                  </a:lnTo>
                  <a:lnTo>
                    <a:pt x="20320" y="0"/>
                  </a:lnTo>
                  <a:lnTo>
                    <a:pt x="10160" y="10160"/>
                  </a:lnTo>
                  <a:lnTo>
                    <a:pt x="0" y="20320"/>
                  </a:lnTo>
                  <a:lnTo>
                    <a:pt x="72390" y="88900"/>
                  </a:lnTo>
                  <a:lnTo>
                    <a:pt x="72390" y="90170"/>
                  </a:lnTo>
                  <a:lnTo>
                    <a:pt x="146050" y="147320"/>
                  </a:lnTo>
                  <a:lnTo>
                    <a:pt x="147320" y="148590"/>
                  </a:lnTo>
                  <a:lnTo>
                    <a:pt x="219710" y="193040"/>
                  </a:lnTo>
                  <a:lnTo>
                    <a:pt x="220980" y="194310"/>
                  </a:lnTo>
                  <a:lnTo>
                    <a:pt x="256540" y="210820"/>
                  </a:lnTo>
                  <a:lnTo>
                    <a:pt x="257810" y="212090"/>
                  </a:lnTo>
                  <a:lnTo>
                    <a:pt x="294640" y="224790"/>
                  </a:lnTo>
                  <a:lnTo>
                    <a:pt x="295910" y="224790"/>
                  </a:lnTo>
                  <a:lnTo>
                    <a:pt x="330200" y="232410"/>
                  </a:lnTo>
                  <a:lnTo>
                    <a:pt x="332740" y="232410"/>
                  </a:lnTo>
                  <a:lnTo>
                    <a:pt x="367030" y="236220"/>
                  </a:lnTo>
                  <a:lnTo>
                    <a:pt x="370840" y="236220"/>
                  </a:lnTo>
                  <a:lnTo>
                    <a:pt x="371995" y="235648"/>
                  </a:lnTo>
                  <a:lnTo>
                    <a:pt x="372110" y="236220"/>
                  </a:lnTo>
                  <a:lnTo>
                    <a:pt x="373380" y="234950"/>
                  </a:lnTo>
                  <a:lnTo>
                    <a:pt x="374650" y="234950"/>
                  </a:lnTo>
                  <a:lnTo>
                    <a:pt x="377190" y="234950"/>
                  </a:lnTo>
                  <a:lnTo>
                    <a:pt x="378460" y="234950"/>
                  </a:lnTo>
                  <a:lnTo>
                    <a:pt x="400050" y="233680"/>
                  </a:lnTo>
                  <a:lnTo>
                    <a:pt x="480060" y="232410"/>
                  </a:lnTo>
                  <a:lnTo>
                    <a:pt x="735330" y="233680"/>
                  </a:lnTo>
                  <a:lnTo>
                    <a:pt x="1206500" y="236220"/>
                  </a:lnTo>
                  <a:lnTo>
                    <a:pt x="1206500" y="2082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906510" y="5698490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0" dirty="0">
                <a:latin typeface="Cambria"/>
                <a:cs typeface="Cambria"/>
              </a:rPr>
              <a:t>u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91150" y="3691890"/>
            <a:ext cx="6223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i="1" dirty="0">
                <a:latin typeface="Cambria"/>
                <a:cs typeface="Cambria"/>
              </a:rPr>
              <a:t>B</a:t>
            </a:r>
            <a:r>
              <a:rPr sz="1725" i="1" baseline="-24154" dirty="0">
                <a:latin typeface="Cambria"/>
                <a:cs typeface="Cambria"/>
              </a:rPr>
              <a:t>i</a:t>
            </a:r>
            <a:r>
              <a:rPr sz="1725" i="1" spc="97" baseline="-24154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(</a:t>
            </a:r>
            <a:r>
              <a:rPr sz="2000" i="1" spc="-25" dirty="0">
                <a:latin typeface="Cambria"/>
                <a:cs typeface="Cambria"/>
              </a:rPr>
              <a:t>u</a:t>
            </a:r>
            <a:r>
              <a:rPr sz="2000" spc="-25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43040" y="3615690"/>
            <a:ext cx="7861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i="1" dirty="0">
                <a:latin typeface="Cambria"/>
                <a:cs typeface="Cambria"/>
              </a:rPr>
              <a:t>B</a:t>
            </a:r>
            <a:r>
              <a:rPr sz="1725" i="1" baseline="-24154" dirty="0">
                <a:latin typeface="Cambria"/>
                <a:cs typeface="Cambria"/>
              </a:rPr>
              <a:t>i+</a:t>
            </a:r>
            <a:r>
              <a:rPr sz="1725" baseline="-24154" dirty="0">
                <a:latin typeface="Cambria"/>
                <a:cs typeface="Cambria"/>
              </a:rPr>
              <a:t>1</a:t>
            </a:r>
            <a:r>
              <a:rPr sz="1725" spc="150" baseline="-24154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(</a:t>
            </a:r>
            <a:r>
              <a:rPr sz="2000" i="1" spc="-25" dirty="0">
                <a:latin typeface="Cambria"/>
                <a:cs typeface="Cambria"/>
              </a:rPr>
              <a:t>u</a:t>
            </a:r>
            <a:r>
              <a:rPr sz="2000" spc="-25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12260" y="3691890"/>
            <a:ext cx="7708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i="1" dirty="0">
                <a:latin typeface="Cambria"/>
                <a:cs typeface="Cambria"/>
              </a:rPr>
              <a:t>B</a:t>
            </a:r>
            <a:r>
              <a:rPr sz="1725" i="1" baseline="-24154" dirty="0">
                <a:latin typeface="Cambria"/>
                <a:cs typeface="Cambria"/>
              </a:rPr>
              <a:t>i–</a:t>
            </a:r>
            <a:r>
              <a:rPr sz="1725" baseline="-24154" dirty="0">
                <a:latin typeface="Cambria"/>
                <a:cs typeface="Cambria"/>
              </a:rPr>
              <a:t>1</a:t>
            </a:r>
            <a:r>
              <a:rPr sz="1725" spc="15" baseline="-24154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(</a:t>
            </a:r>
            <a:r>
              <a:rPr sz="2000" i="1" spc="-25" dirty="0">
                <a:latin typeface="Cambria"/>
                <a:cs typeface="Cambria"/>
              </a:rPr>
              <a:t>u</a:t>
            </a:r>
            <a:r>
              <a:rPr sz="2000" spc="-25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87525">
              <a:spcBef>
                <a:spcPts val="100"/>
              </a:spcBef>
            </a:pPr>
            <a:r>
              <a:rPr dirty="0"/>
              <a:t>Curvas</a:t>
            </a:r>
            <a:r>
              <a:rPr spc="-20" dirty="0"/>
              <a:t> B-</a:t>
            </a:r>
            <a:r>
              <a:rPr spc="-10" dirty="0"/>
              <a:t>Spline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242060"/>
            <a:ext cx="8097520" cy="2056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7665" marR="17780" indent="-342900">
              <a:lnSpc>
                <a:spcPct val="111700"/>
              </a:lnSpc>
              <a:spcBef>
                <a:spcPts val="95"/>
              </a:spcBef>
              <a:buChar char="•"/>
              <a:tabLst>
                <a:tab pos="367665" algn="l"/>
              </a:tabLst>
            </a:pP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valores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625" i="1" baseline="-22222" dirty="0">
                <a:solidFill>
                  <a:srgbClr val="002454"/>
                </a:solidFill>
                <a:latin typeface="Arial"/>
                <a:cs typeface="Arial"/>
              </a:rPr>
              <a:t>i</a:t>
            </a:r>
            <a:r>
              <a:rPr sz="2625" i="1" spc="472" baseline="-22222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do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espaço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parâmetro</a:t>
            </a:r>
            <a:r>
              <a:rPr sz="3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que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delimitam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intervalos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chamados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i="1" spc="-25" dirty="0">
                <a:solidFill>
                  <a:srgbClr val="002454"/>
                </a:solidFill>
                <a:latin typeface="Arial"/>
                <a:cs typeface="Arial"/>
              </a:rPr>
              <a:t>nós</a:t>
            </a:r>
            <a:endParaRPr sz="3000" dirty="0">
              <a:solidFill>
                <a:srgbClr val="002454"/>
              </a:solidFill>
              <a:latin typeface="Arial"/>
              <a:cs typeface="Arial"/>
            </a:endParaRPr>
          </a:p>
          <a:p>
            <a:pPr marL="367665" marR="123825" indent="-342900">
              <a:spcBef>
                <a:spcPts val="750"/>
              </a:spcBef>
              <a:buChar char="•"/>
              <a:tabLst>
                <a:tab pos="367665" algn="l"/>
              </a:tabLst>
            </a:pP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Podemos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pensar</a:t>
            </a:r>
            <a:r>
              <a:rPr sz="3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intervalos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regulares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por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enquanto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(B-Splines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uniformes)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isto</a:t>
            </a:r>
            <a:r>
              <a:rPr sz="30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é,</a:t>
            </a:r>
            <a:r>
              <a:rPr sz="3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625" i="1" baseline="-23809" dirty="0">
                <a:solidFill>
                  <a:srgbClr val="002454"/>
                </a:solidFill>
                <a:latin typeface="Arial"/>
                <a:cs typeface="Arial"/>
              </a:rPr>
              <a:t>i</a:t>
            </a:r>
            <a:r>
              <a:rPr sz="2625" i="1" spc="-30" baseline="-23809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3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3000" spc="-5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endParaRPr sz="30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28900" y="3581400"/>
            <a:ext cx="6362700" cy="2057400"/>
            <a:chOff x="1104900" y="3581400"/>
            <a:chExt cx="6362700" cy="2057400"/>
          </a:xfrm>
        </p:grpSpPr>
        <p:sp>
          <p:nvSpPr>
            <p:cNvPr id="5" name="object 5"/>
            <p:cNvSpPr/>
            <p:nvPr/>
          </p:nvSpPr>
          <p:spPr>
            <a:xfrm>
              <a:off x="1104900" y="3581399"/>
              <a:ext cx="6362700" cy="2019300"/>
            </a:xfrm>
            <a:custGeom>
              <a:avLst/>
              <a:gdLst/>
              <a:ahLst/>
              <a:cxnLst/>
              <a:rect l="l" t="t" r="r" b="b"/>
              <a:pathLst>
                <a:path w="6362700" h="2019300">
                  <a:moveTo>
                    <a:pt x="6362700" y="1981200"/>
                  </a:moveTo>
                  <a:lnTo>
                    <a:pt x="6286500" y="1943100"/>
                  </a:lnTo>
                  <a:lnTo>
                    <a:pt x="6286500" y="1976120"/>
                  </a:lnTo>
                  <a:lnTo>
                    <a:pt x="43180" y="1976120"/>
                  </a:lnTo>
                  <a:lnTo>
                    <a:pt x="43180" y="74930"/>
                  </a:lnTo>
                  <a:lnTo>
                    <a:pt x="76200" y="74930"/>
                  </a:lnTo>
                  <a:lnTo>
                    <a:pt x="38100" y="0"/>
                  </a:lnTo>
                  <a:lnTo>
                    <a:pt x="0" y="74930"/>
                  </a:lnTo>
                  <a:lnTo>
                    <a:pt x="33020" y="74930"/>
                  </a:lnTo>
                  <a:lnTo>
                    <a:pt x="33020" y="1981200"/>
                  </a:lnTo>
                  <a:lnTo>
                    <a:pt x="38100" y="1981200"/>
                  </a:lnTo>
                  <a:lnTo>
                    <a:pt x="38100" y="1986280"/>
                  </a:lnTo>
                  <a:lnTo>
                    <a:pt x="6286500" y="1986280"/>
                  </a:lnTo>
                  <a:lnTo>
                    <a:pt x="6286500" y="2019300"/>
                  </a:lnTo>
                  <a:lnTo>
                    <a:pt x="6362700" y="1981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3000" y="5562600"/>
              <a:ext cx="5867400" cy="76200"/>
            </a:xfrm>
            <a:custGeom>
              <a:avLst/>
              <a:gdLst/>
              <a:ahLst/>
              <a:cxnLst/>
              <a:rect l="l" t="t" r="r" b="b"/>
              <a:pathLst>
                <a:path w="5867400" h="76200">
                  <a:moveTo>
                    <a:pt x="1676400" y="0"/>
                  </a:moveTo>
                  <a:lnTo>
                    <a:pt x="1676400" y="76200"/>
                  </a:lnTo>
                </a:path>
                <a:path w="5867400" h="76200">
                  <a:moveTo>
                    <a:pt x="2514600" y="0"/>
                  </a:moveTo>
                  <a:lnTo>
                    <a:pt x="2514600" y="76200"/>
                  </a:lnTo>
                </a:path>
                <a:path w="5867400" h="76200">
                  <a:moveTo>
                    <a:pt x="3352800" y="0"/>
                  </a:moveTo>
                  <a:lnTo>
                    <a:pt x="3352800" y="76200"/>
                  </a:lnTo>
                </a:path>
                <a:path w="5867400" h="76200">
                  <a:moveTo>
                    <a:pt x="4191000" y="0"/>
                  </a:moveTo>
                  <a:lnTo>
                    <a:pt x="4191000" y="76200"/>
                  </a:lnTo>
                </a:path>
                <a:path w="5867400" h="76200">
                  <a:moveTo>
                    <a:pt x="5029200" y="0"/>
                  </a:moveTo>
                  <a:lnTo>
                    <a:pt x="5029200" y="76200"/>
                  </a:lnTo>
                </a:path>
                <a:path w="5867400" h="76200">
                  <a:moveTo>
                    <a:pt x="5867400" y="0"/>
                  </a:moveTo>
                  <a:lnTo>
                    <a:pt x="5867400" y="76200"/>
                  </a:lnTo>
                </a:path>
                <a:path w="5867400" h="76200">
                  <a:moveTo>
                    <a:pt x="838200" y="0"/>
                  </a:moveTo>
                  <a:lnTo>
                    <a:pt x="838200" y="76200"/>
                  </a:lnTo>
                </a:path>
                <a:path w="5867400" h="76200">
                  <a:moveTo>
                    <a:pt x="1676400" y="0"/>
                  </a:moveTo>
                  <a:lnTo>
                    <a:pt x="1676400" y="76200"/>
                  </a:lnTo>
                </a:path>
                <a:path w="5867400" h="76200">
                  <a:moveTo>
                    <a:pt x="0" y="0"/>
                  </a:moveTo>
                  <a:lnTo>
                    <a:pt x="0" y="76200"/>
                  </a:lnTo>
                </a:path>
                <a:path w="5867400" h="76200">
                  <a:moveTo>
                    <a:pt x="838200" y="0"/>
                  </a:moveTo>
                  <a:lnTo>
                    <a:pt x="838200" y="76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3000" y="4188459"/>
              <a:ext cx="3366770" cy="1388110"/>
            </a:xfrm>
            <a:custGeom>
              <a:avLst/>
              <a:gdLst/>
              <a:ahLst/>
              <a:cxnLst/>
              <a:rect l="l" t="t" r="r" b="b"/>
              <a:pathLst>
                <a:path w="3366770" h="1388110">
                  <a:moveTo>
                    <a:pt x="3366770" y="455930"/>
                  </a:moveTo>
                  <a:lnTo>
                    <a:pt x="3365500" y="453390"/>
                  </a:lnTo>
                  <a:lnTo>
                    <a:pt x="3317240" y="353060"/>
                  </a:lnTo>
                  <a:lnTo>
                    <a:pt x="3317240" y="351790"/>
                  </a:lnTo>
                  <a:lnTo>
                    <a:pt x="3267710" y="264160"/>
                  </a:lnTo>
                  <a:lnTo>
                    <a:pt x="3267710" y="262890"/>
                  </a:lnTo>
                  <a:lnTo>
                    <a:pt x="3216910" y="187960"/>
                  </a:lnTo>
                  <a:lnTo>
                    <a:pt x="3216910" y="186690"/>
                  </a:lnTo>
                  <a:lnTo>
                    <a:pt x="3164840" y="124460"/>
                  </a:lnTo>
                  <a:lnTo>
                    <a:pt x="3163570" y="121920"/>
                  </a:lnTo>
                  <a:lnTo>
                    <a:pt x="3111500" y="72390"/>
                  </a:lnTo>
                  <a:lnTo>
                    <a:pt x="3110230" y="72390"/>
                  </a:lnTo>
                  <a:lnTo>
                    <a:pt x="3084830" y="52070"/>
                  </a:lnTo>
                  <a:lnTo>
                    <a:pt x="3083560" y="50800"/>
                  </a:lnTo>
                  <a:lnTo>
                    <a:pt x="3056890" y="34290"/>
                  </a:lnTo>
                  <a:lnTo>
                    <a:pt x="3055620" y="33020"/>
                  </a:lnTo>
                  <a:lnTo>
                    <a:pt x="3028950" y="20320"/>
                  </a:lnTo>
                  <a:lnTo>
                    <a:pt x="3027680" y="20320"/>
                  </a:lnTo>
                  <a:lnTo>
                    <a:pt x="3001010" y="10160"/>
                  </a:lnTo>
                  <a:lnTo>
                    <a:pt x="2999740" y="8890"/>
                  </a:lnTo>
                  <a:lnTo>
                    <a:pt x="2971800" y="2540"/>
                  </a:lnTo>
                  <a:lnTo>
                    <a:pt x="2970530" y="2540"/>
                  </a:lnTo>
                  <a:lnTo>
                    <a:pt x="2943860" y="0"/>
                  </a:lnTo>
                  <a:lnTo>
                    <a:pt x="2941320" y="0"/>
                  </a:lnTo>
                  <a:lnTo>
                    <a:pt x="2914650" y="0"/>
                  </a:lnTo>
                  <a:lnTo>
                    <a:pt x="2913380" y="0"/>
                  </a:lnTo>
                  <a:lnTo>
                    <a:pt x="2885440" y="3810"/>
                  </a:lnTo>
                  <a:lnTo>
                    <a:pt x="2884170" y="5080"/>
                  </a:lnTo>
                  <a:lnTo>
                    <a:pt x="2857500" y="11430"/>
                  </a:lnTo>
                  <a:lnTo>
                    <a:pt x="2854960" y="12700"/>
                  </a:lnTo>
                  <a:lnTo>
                    <a:pt x="2828290" y="24130"/>
                  </a:lnTo>
                  <a:lnTo>
                    <a:pt x="2827020" y="24130"/>
                  </a:lnTo>
                  <a:lnTo>
                    <a:pt x="2800350" y="39370"/>
                  </a:lnTo>
                  <a:lnTo>
                    <a:pt x="2797810" y="39370"/>
                  </a:lnTo>
                  <a:lnTo>
                    <a:pt x="2771140" y="58420"/>
                  </a:lnTo>
                  <a:lnTo>
                    <a:pt x="2769870" y="59690"/>
                  </a:lnTo>
                  <a:lnTo>
                    <a:pt x="2715260" y="106680"/>
                  </a:lnTo>
                  <a:lnTo>
                    <a:pt x="2715260" y="107950"/>
                  </a:lnTo>
                  <a:lnTo>
                    <a:pt x="2660650" y="170180"/>
                  </a:lnTo>
                  <a:lnTo>
                    <a:pt x="2672423" y="180581"/>
                  </a:lnTo>
                  <a:lnTo>
                    <a:pt x="2672080" y="180340"/>
                  </a:lnTo>
                  <a:lnTo>
                    <a:pt x="2660650" y="170180"/>
                  </a:lnTo>
                  <a:lnTo>
                    <a:pt x="2660650" y="171450"/>
                  </a:lnTo>
                  <a:lnTo>
                    <a:pt x="2607310" y="250190"/>
                  </a:lnTo>
                  <a:lnTo>
                    <a:pt x="2606040" y="250190"/>
                  </a:lnTo>
                  <a:lnTo>
                    <a:pt x="2553970" y="344170"/>
                  </a:lnTo>
                  <a:lnTo>
                    <a:pt x="2502370" y="452412"/>
                  </a:lnTo>
                  <a:lnTo>
                    <a:pt x="2501900" y="452120"/>
                  </a:lnTo>
                  <a:lnTo>
                    <a:pt x="2422410" y="595947"/>
                  </a:lnTo>
                  <a:lnTo>
                    <a:pt x="2421890" y="595630"/>
                  </a:lnTo>
                  <a:lnTo>
                    <a:pt x="2331720" y="742950"/>
                  </a:lnTo>
                  <a:lnTo>
                    <a:pt x="2332621" y="743496"/>
                  </a:lnTo>
                  <a:lnTo>
                    <a:pt x="2218690" y="911860"/>
                  </a:lnTo>
                  <a:lnTo>
                    <a:pt x="2218867" y="911987"/>
                  </a:lnTo>
                  <a:lnTo>
                    <a:pt x="2089734" y="1078750"/>
                  </a:lnTo>
                  <a:lnTo>
                    <a:pt x="2089150" y="1078230"/>
                  </a:lnTo>
                  <a:lnTo>
                    <a:pt x="2019477" y="1155509"/>
                  </a:lnTo>
                  <a:lnTo>
                    <a:pt x="1950720" y="1223035"/>
                  </a:lnTo>
                  <a:lnTo>
                    <a:pt x="1879701" y="1280325"/>
                  </a:lnTo>
                  <a:lnTo>
                    <a:pt x="1879600" y="1280160"/>
                  </a:lnTo>
                  <a:lnTo>
                    <a:pt x="1809915" y="1323721"/>
                  </a:lnTo>
                  <a:lnTo>
                    <a:pt x="1809750" y="1323340"/>
                  </a:lnTo>
                  <a:lnTo>
                    <a:pt x="1774190" y="1339850"/>
                  </a:lnTo>
                  <a:lnTo>
                    <a:pt x="1774355" y="1340205"/>
                  </a:lnTo>
                  <a:lnTo>
                    <a:pt x="1739900" y="1351280"/>
                  </a:lnTo>
                  <a:lnTo>
                    <a:pt x="1740077" y="1351788"/>
                  </a:lnTo>
                  <a:lnTo>
                    <a:pt x="1709483" y="1358353"/>
                  </a:lnTo>
                  <a:lnTo>
                    <a:pt x="1709420" y="1357630"/>
                  </a:lnTo>
                  <a:lnTo>
                    <a:pt x="1675130" y="1360170"/>
                  </a:lnTo>
                  <a:lnTo>
                    <a:pt x="838200" y="1360170"/>
                  </a:lnTo>
                  <a:lnTo>
                    <a:pt x="0" y="1360170"/>
                  </a:lnTo>
                  <a:lnTo>
                    <a:pt x="0" y="1388110"/>
                  </a:lnTo>
                  <a:lnTo>
                    <a:pt x="838200" y="1388110"/>
                  </a:lnTo>
                  <a:lnTo>
                    <a:pt x="1676400" y="1388110"/>
                  </a:lnTo>
                  <a:lnTo>
                    <a:pt x="1710690" y="1386840"/>
                  </a:lnTo>
                  <a:lnTo>
                    <a:pt x="1713230" y="1385570"/>
                  </a:lnTo>
                  <a:lnTo>
                    <a:pt x="1747520" y="1379220"/>
                  </a:lnTo>
                  <a:lnTo>
                    <a:pt x="1750060" y="1377950"/>
                  </a:lnTo>
                  <a:lnTo>
                    <a:pt x="1784350" y="1366520"/>
                  </a:lnTo>
                  <a:lnTo>
                    <a:pt x="1785620" y="1366520"/>
                  </a:lnTo>
                  <a:lnTo>
                    <a:pt x="1821180" y="1350010"/>
                  </a:lnTo>
                  <a:lnTo>
                    <a:pt x="1822450" y="1348740"/>
                  </a:lnTo>
                  <a:lnTo>
                    <a:pt x="1894840" y="1304290"/>
                  </a:lnTo>
                  <a:lnTo>
                    <a:pt x="1896110" y="1303020"/>
                  </a:lnTo>
                  <a:lnTo>
                    <a:pt x="1968500" y="1244600"/>
                  </a:lnTo>
                  <a:lnTo>
                    <a:pt x="1969770" y="1244600"/>
                  </a:lnTo>
                  <a:lnTo>
                    <a:pt x="2039620" y="1174750"/>
                  </a:lnTo>
                  <a:lnTo>
                    <a:pt x="2040890" y="1174750"/>
                  </a:lnTo>
                  <a:lnTo>
                    <a:pt x="2110740" y="1097280"/>
                  </a:lnTo>
                  <a:lnTo>
                    <a:pt x="2099945" y="1087755"/>
                  </a:lnTo>
                  <a:lnTo>
                    <a:pt x="2100503" y="1088199"/>
                  </a:lnTo>
                  <a:lnTo>
                    <a:pt x="2110740" y="1097280"/>
                  </a:lnTo>
                  <a:lnTo>
                    <a:pt x="2110740" y="1096010"/>
                  </a:lnTo>
                  <a:lnTo>
                    <a:pt x="2241550" y="928370"/>
                  </a:lnTo>
                  <a:lnTo>
                    <a:pt x="2242820" y="927100"/>
                  </a:lnTo>
                  <a:lnTo>
                    <a:pt x="2355850" y="758190"/>
                  </a:lnTo>
                  <a:lnTo>
                    <a:pt x="2357120" y="758190"/>
                  </a:lnTo>
                  <a:lnTo>
                    <a:pt x="2446020" y="610870"/>
                  </a:lnTo>
                  <a:lnTo>
                    <a:pt x="2527300" y="466090"/>
                  </a:lnTo>
                  <a:lnTo>
                    <a:pt x="2579370" y="356870"/>
                  </a:lnTo>
                  <a:lnTo>
                    <a:pt x="2578938" y="356666"/>
                  </a:lnTo>
                  <a:lnTo>
                    <a:pt x="2631440" y="264160"/>
                  </a:lnTo>
                  <a:lnTo>
                    <a:pt x="2631135" y="264020"/>
                  </a:lnTo>
                  <a:lnTo>
                    <a:pt x="2683510" y="187960"/>
                  </a:lnTo>
                  <a:lnTo>
                    <a:pt x="2736850" y="127000"/>
                  </a:lnTo>
                  <a:lnTo>
                    <a:pt x="2736253" y="126555"/>
                  </a:lnTo>
                  <a:lnTo>
                    <a:pt x="2787573" y="81203"/>
                  </a:lnTo>
                  <a:lnTo>
                    <a:pt x="2814320" y="63500"/>
                  </a:lnTo>
                  <a:lnTo>
                    <a:pt x="2814015" y="63017"/>
                  </a:lnTo>
                  <a:lnTo>
                    <a:pt x="2840990" y="49530"/>
                  </a:lnTo>
                  <a:lnTo>
                    <a:pt x="2840482" y="48704"/>
                  </a:lnTo>
                  <a:lnTo>
                    <a:pt x="2864878" y="38722"/>
                  </a:lnTo>
                  <a:lnTo>
                    <a:pt x="2865120" y="39370"/>
                  </a:lnTo>
                  <a:lnTo>
                    <a:pt x="2891790" y="31750"/>
                  </a:lnTo>
                  <a:lnTo>
                    <a:pt x="2891688" y="31419"/>
                  </a:lnTo>
                  <a:lnTo>
                    <a:pt x="2917190" y="27940"/>
                  </a:lnTo>
                  <a:lnTo>
                    <a:pt x="2940050" y="27940"/>
                  </a:lnTo>
                  <a:lnTo>
                    <a:pt x="2965475" y="30365"/>
                  </a:lnTo>
                  <a:lnTo>
                    <a:pt x="2990939" y="36563"/>
                  </a:lnTo>
                  <a:lnTo>
                    <a:pt x="2990850" y="36830"/>
                  </a:lnTo>
                  <a:lnTo>
                    <a:pt x="3017520" y="46990"/>
                  </a:lnTo>
                  <a:lnTo>
                    <a:pt x="3017697" y="46482"/>
                  </a:lnTo>
                  <a:lnTo>
                    <a:pt x="3042920" y="59690"/>
                  </a:lnTo>
                  <a:lnTo>
                    <a:pt x="3043097" y="59321"/>
                  </a:lnTo>
                  <a:lnTo>
                    <a:pt x="3067456" y="74409"/>
                  </a:lnTo>
                  <a:lnTo>
                    <a:pt x="3067050" y="74930"/>
                  </a:lnTo>
                  <a:lnTo>
                    <a:pt x="3092932" y="93433"/>
                  </a:lnTo>
                  <a:lnTo>
                    <a:pt x="3092450" y="93980"/>
                  </a:lnTo>
                  <a:lnTo>
                    <a:pt x="3143466" y="142519"/>
                  </a:lnTo>
                  <a:lnTo>
                    <a:pt x="3194050" y="204470"/>
                  </a:lnTo>
                  <a:lnTo>
                    <a:pt x="3194596" y="204050"/>
                  </a:lnTo>
                  <a:lnTo>
                    <a:pt x="3243580" y="279400"/>
                  </a:lnTo>
                  <a:lnTo>
                    <a:pt x="3244113" y="279082"/>
                  </a:lnTo>
                  <a:lnTo>
                    <a:pt x="3292818" y="365277"/>
                  </a:lnTo>
                  <a:lnTo>
                    <a:pt x="3291840" y="365760"/>
                  </a:lnTo>
                  <a:lnTo>
                    <a:pt x="3340100" y="466090"/>
                  </a:lnTo>
                  <a:lnTo>
                    <a:pt x="3352800" y="459740"/>
                  </a:lnTo>
                  <a:lnTo>
                    <a:pt x="3366770" y="461010"/>
                  </a:lnTo>
                  <a:lnTo>
                    <a:pt x="3366770" y="455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1830" y="4641849"/>
              <a:ext cx="2528570" cy="934719"/>
            </a:xfrm>
            <a:custGeom>
              <a:avLst/>
              <a:gdLst/>
              <a:ahLst/>
              <a:cxnLst/>
              <a:rect l="l" t="t" r="r" b="b"/>
              <a:pathLst>
                <a:path w="2528570" h="934720">
                  <a:moveTo>
                    <a:pt x="2528570" y="906780"/>
                  </a:moveTo>
                  <a:lnTo>
                    <a:pt x="1690370" y="906780"/>
                  </a:lnTo>
                  <a:lnTo>
                    <a:pt x="1272540" y="902970"/>
                  </a:lnTo>
                  <a:lnTo>
                    <a:pt x="1272540" y="918210"/>
                  </a:lnTo>
                  <a:lnTo>
                    <a:pt x="1271905" y="925195"/>
                  </a:lnTo>
                  <a:lnTo>
                    <a:pt x="1271905" y="918210"/>
                  </a:lnTo>
                  <a:lnTo>
                    <a:pt x="1272540" y="918210"/>
                  </a:lnTo>
                  <a:lnTo>
                    <a:pt x="1272540" y="902970"/>
                  </a:lnTo>
                  <a:lnTo>
                    <a:pt x="984250" y="902970"/>
                  </a:lnTo>
                  <a:lnTo>
                    <a:pt x="889000" y="904240"/>
                  </a:lnTo>
                  <a:lnTo>
                    <a:pt x="887730" y="904240"/>
                  </a:lnTo>
                  <a:lnTo>
                    <a:pt x="861060" y="905510"/>
                  </a:lnTo>
                  <a:lnTo>
                    <a:pt x="862330" y="919480"/>
                  </a:lnTo>
                  <a:lnTo>
                    <a:pt x="861060" y="905510"/>
                  </a:lnTo>
                  <a:lnTo>
                    <a:pt x="853440" y="905510"/>
                  </a:lnTo>
                  <a:lnTo>
                    <a:pt x="852170" y="905510"/>
                  </a:lnTo>
                  <a:lnTo>
                    <a:pt x="851141" y="906538"/>
                  </a:lnTo>
                  <a:lnTo>
                    <a:pt x="820394" y="903109"/>
                  </a:lnTo>
                  <a:lnTo>
                    <a:pt x="820420" y="902970"/>
                  </a:lnTo>
                  <a:lnTo>
                    <a:pt x="786130" y="895350"/>
                  </a:lnTo>
                  <a:lnTo>
                    <a:pt x="785926" y="896099"/>
                  </a:lnTo>
                  <a:lnTo>
                    <a:pt x="752906" y="884313"/>
                  </a:lnTo>
                  <a:lnTo>
                    <a:pt x="753110" y="883920"/>
                  </a:lnTo>
                  <a:lnTo>
                    <a:pt x="717308" y="867879"/>
                  </a:lnTo>
                  <a:lnTo>
                    <a:pt x="717550" y="867410"/>
                  </a:lnTo>
                  <a:lnTo>
                    <a:pt x="647522" y="824420"/>
                  </a:lnTo>
                  <a:lnTo>
                    <a:pt x="647700" y="824230"/>
                  </a:lnTo>
                  <a:lnTo>
                    <a:pt x="574040" y="765810"/>
                  </a:lnTo>
                  <a:lnTo>
                    <a:pt x="504190" y="698500"/>
                  </a:lnTo>
                  <a:lnTo>
                    <a:pt x="503580" y="699109"/>
                  </a:lnTo>
                  <a:lnTo>
                    <a:pt x="435533" y="624890"/>
                  </a:lnTo>
                  <a:lnTo>
                    <a:pt x="304800" y="458470"/>
                  </a:lnTo>
                  <a:lnTo>
                    <a:pt x="304228" y="458914"/>
                  </a:lnTo>
                  <a:lnTo>
                    <a:pt x="191770" y="293370"/>
                  </a:lnTo>
                  <a:lnTo>
                    <a:pt x="191236" y="293789"/>
                  </a:lnTo>
                  <a:lnTo>
                    <a:pt x="102870" y="148590"/>
                  </a:lnTo>
                  <a:lnTo>
                    <a:pt x="45720" y="44450"/>
                  </a:lnTo>
                  <a:lnTo>
                    <a:pt x="31750" y="12700"/>
                  </a:lnTo>
                  <a:lnTo>
                    <a:pt x="31292" y="12915"/>
                  </a:lnTo>
                  <a:lnTo>
                    <a:pt x="27940" y="5080"/>
                  </a:lnTo>
                  <a:lnTo>
                    <a:pt x="27940" y="3810"/>
                  </a:lnTo>
                  <a:lnTo>
                    <a:pt x="27940" y="2540"/>
                  </a:lnTo>
                  <a:lnTo>
                    <a:pt x="26670" y="0"/>
                  </a:lnTo>
                  <a:lnTo>
                    <a:pt x="13970" y="6350"/>
                  </a:lnTo>
                  <a:lnTo>
                    <a:pt x="0" y="5080"/>
                  </a:lnTo>
                  <a:lnTo>
                    <a:pt x="0" y="8890"/>
                  </a:lnTo>
                  <a:lnTo>
                    <a:pt x="0" y="11430"/>
                  </a:lnTo>
                  <a:lnTo>
                    <a:pt x="1270" y="13970"/>
                  </a:lnTo>
                  <a:lnTo>
                    <a:pt x="1270" y="15240"/>
                  </a:lnTo>
                  <a:lnTo>
                    <a:pt x="5080" y="24130"/>
                  </a:lnTo>
                  <a:lnTo>
                    <a:pt x="5080" y="25400"/>
                  </a:lnTo>
                  <a:lnTo>
                    <a:pt x="20320" y="57150"/>
                  </a:lnTo>
                  <a:lnTo>
                    <a:pt x="78740" y="162560"/>
                  </a:lnTo>
                  <a:lnTo>
                    <a:pt x="78740" y="163830"/>
                  </a:lnTo>
                  <a:lnTo>
                    <a:pt x="167640" y="308610"/>
                  </a:lnTo>
                  <a:lnTo>
                    <a:pt x="167640" y="309880"/>
                  </a:lnTo>
                  <a:lnTo>
                    <a:pt x="281940" y="474980"/>
                  </a:lnTo>
                  <a:lnTo>
                    <a:pt x="281940" y="476250"/>
                  </a:lnTo>
                  <a:lnTo>
                    <a:pt x="412750" y="641350"/>
                  </a:lnTo>
                  <a:lnTo>
                    <a:pt x="414020" y="642620"/>
                  </a:lnTo>
                  <a:lnTo>
                    <a:pt x="483870" y="718820"/>
                  </a:lnTo>
                  <a:lnTo>
                    <a:pt x="556260" y="787400"/>
                  </a:lnTo>
                  <a:lnTo>
                    <a:pt x="556260" y="788670"/>
                  </a:lnTo>
                  <a:lnTo>
                    <a:pt x="629920" y="845820"/>
                  </a:lnTo>
                  <a:lnTo>
                    <a:pt x="629920" y="847090"/>
                  </a:lnTo>
                  <a:lnTo>
                    <a:pt x="703580" y="891540"/>
                  </a:lnTo>
                  <a:lnTo>
                    <a:pt x="704850" y="892810"/>
                  </a:lnTo>
                  <a:lnTo>
                    <a:pt x="740410" y="909320"/>
                  </a:lnTo>
                  <a:lnTo>
                    <a:pt x="741680" y="910590"/>
                  </a:lnTo>
                  <a:lnTo>
                    <a:pt x="777240" y="923290"/>
                  </a:lnTo>
                  <a:lnTo>
                    <a:pt x="779780" y="923290"/>
                  </a:lnTo>
                  <a:lnTo>
                    <a:pt x="814070" y="930910"/>
                  </a:lnTo>
                  <a:lnTo>
                    <a:pt x="816610" y="932180"/>
                  </a:lnTo>
                  <a:lnTo>
                    <a:pt x="850900" y="934720"/>
                  </a:lnTo>
                  <a:lnTo>
                    <a:pt x="855980" y="934720"/>
                  </a:lnTo>
                  <a:lnTo>
                    <a:pt x="857250" y="934720"/>
                  </a:lnTo>
                  <a:lnTo>
                    <a:pt x="857504" y="934466"/>
                  </a:lnTo>
                  <a:lnTo>
                    <a:pt x="863600" y="933450"/>
                  </a:lnTo>
                  <a:lnTo>
                    <a:pt x="889000" y="932180"/>
                  </a:lnTo>
                  <a:lnTo>
                    <a:pt x="984250" y="932180"/>
                  </a:lnTo>
                  <a:lnTo>
                    <a:pt x="1271270" y="932180"/>
                  </a:lnTo>
                  <a:lnTo>
                    <a:pt x="1690370" y="934720"/>
                  </a:lnTo>
                  <a:lnTo>
                    <a:pt x="2528570" y="934720"/>
                  </a:lnTo>
                  <a:lnTo>
                    <a:pt x="2528570" y="9067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57600" y="4343400"/>
              <a:ext cx="838200" cy="1219200"/>
            </a:xfrm>
            <a:custGeom>
              <a:avLst/>
              <a:gdLst/>
              <a:ahLst/>
              <a:cxnLst/>
              <a:rect l="l" t="t" r="r" b="b"/>
              <a:pathLst>
                <a:path w="838200" h="1219200">
                  <a:moveTo>
                    <a:pt x="0" y="1219200"/>
                  </a:moveTo>
                  <a:lnTo>
                    <a:pt x="0" y="0"/>
                  </a:lnTo>
                </a:path>
                <a:path w="838200" h="1219200">
                  <a:moveTo>
                    <a:pt x="838200" y="1219200"/>
                  </a:moveTo>
                  <a:lnTo>
                    <a:pt x="838200" y="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19400" y="4180839"/>
              <a:ext cx="2528570" cy="1389380"/>
            </a:xfrm>
            <a:custGeom>
              <a:avLst/>
              <a:gdLst/>
              <a:ahLst/>
              <a:cxnLst/>
              <a:rect l="l" t="t" r="r" b="b"/>
              <a:pathLst>
                <a:path w="2528570" h="1389379">
                  <a:moveTo>
                    <a:pt x="2528570" y="457200"/>
                  </a:moveTo>
                  <a:lnTo>
                    <a:pt x="2527300" y="454660"/>
                  </a:lnTo>
                  <a:lnTo>
                    <a:pt x="2479040" y="354330"/>
                  </a:lnTo>
                  <a:lnTo>
                    <a:pt x="2479040" y="353060"/>
                  </a:lnTo>
                  <a:lnTo>
                    <a:pt x="2429510" y="265430"/>
                  </a:lnTo>
                  <a:lnTo>
                    <a:pt x="2429510" y="264160"/>
                  </a:lnTo>
                  <a:lnTo>
                    <a:pt x="2378710" y="189230"/>
                  </a:lnTo>
                  <a:lnTo>
                    <a:pt x="2378710" y="187960"/>
                  </a:lnTo>
                  <a:lnTo>
                    <a:pt x="2326640" y="124460"/>
                  </a:lnTo>
                  <a:lnTo>
                    <a:pt x="2325370" y="123190"/>
                  </a:lnTo>
                  <a:lnTo>
                    <a:pt x="2316480" y="133350"/>
                  </a:lnTo>
                  <a:lnTo>
                    <a:pt x="2316238" y="133540"/>
                  </a:lnTo>
                  <a:lnTo>
                    <a:pt x="2325370" y="123190"/>
                  </a:lnTo>
                  <a:lnTo>
                    <a:pt x="2273300" y="73660"/>
                  </a:lnTo>
                  <a:lnTo>
                    <a:pt x="2272030" y="72390"/>
                  </a:lnTo>
                  <a:lnTo>
                    <a:pt x="2245360" y="53340"/>
                  </a:lnTo>
                  <a:lnTo>
                    <a:pt x="2245360" y="52070"/>
                  </a:lnTo>
                  <a:lnTo>
                    <a:pt x="2218690" y="35560"/>
                  </a:lnTo>
                  <a:lnTo>
                    <a:pt x="2217420" y="34290"/>
                  </a:lnTo>
                  <a:lnTo>
                    <a:pt x="2190750" y="21590"/>
                  </a:lnTo>
                  <a:lnTo>
                    <a:pt x="2189480" y="20320"/>
                  </a:lnTo>
                  <a:lnTo>
                    <a:pt x="2162810" y="10160"/>
                  </a:lnTo>
                  <a:lnTo>
                    <a:pt x="2160270" y="10160"/>
                  </a:lnTo>
                  <a:lnTo>
                    <a:pt x="2133600" y="3810"/>
                  </a:lnTo>
                  <a:lnTo>
                    <a:pt x="2132330" y="3810"/>
                  </a:lnTo>
                  <a:lnTo>
                    <a:pt x="2105660" y="0"/>
                  </a:lnTo>
                  <a:lnTo>
                    <a:pt x="2103120" y="0"/>
                  </a:lnTo>
                  <a:lnTo>
                    <a:pt x="2076450" y="1270"/>
                  </a:lnTo>
                  <a:lnTo>
                    <a:pt x="2073910" y="1270"/>
                  </a:lnTo>
                  <a:lnTo>
                    <a:pt x="2047240" y="5080"/>
                  </a:lnTo>
                  <a:lnTo>
                    <a:pt x="2045970" y="5080"/>
                  </a:lnTo>
                  <a:lnTo>
                    <a:pt x="2018030" y="12700"/>
                  </a:lnTo>
                  <a:lnTo>
                    <a:pt x="2016760" y="13970"/>
                  </a:lnTo>
                  <a:lnTo>
                    <a:pt x="1990090" y="24130"/>
                  </a:lnTo>
                  <a:lnTo>
                    <a:pt x="1988820" y="25400"/>
                  </a:lnTo>
                  <a:lnTo>
                    <a:pt x="1960880" y="39370"/>
                  </a:lnTo>
                  <a:lnTo>
                    <a:pt x="1959610" y="40640"/>
                  </a:lnTo>
                  <a:lnTo>
                    <a:pt x="1932940" y="58420"/>
                  </a:lnTo>
                  <a:lnTo>
                    <a:pt x="1931670" y="59690"/>
                  </a:lnTo>
                  <a:lnTo>
                    <a:pt x="1877060" y="107950"/>
                  </a:lnTo>
                  <a:lnTo>
                    <a:pt x="1875790" y="109220"/>
                  </a:lnTo>
                  <a:lnTo>
                    <a:pt x="1822450" y="171450"/>
                  </a:lnTo>
                  <a:lnTo>
                    <a:pt x="1821180" y="172720"/>
                  </a:lnTo>
                  <a:lnTo>
                    <a:pt x="1767840" y="250190"/>
                  </a:lnTo>
                  <a:lnTo>
                    <a:pt x="1767840" y="251460"/>
                  </a:lnTo>
                  <a:lnTo>
                    <a:pt x="1715770" y="344170"/>
                  </a:lnTo>
                  <a:lnTo>
                    <a:pt x="1714500" y="345440"/>
                  </a:lnTo>
                  <a:lnTo>
                    <a:pt x="1662430" y="454660"/>
                  </a:lnTo>
                  <a:lnTo>
                    <a:pt x="1662874" y="454875"/>
                  </a:lnTo>
                  <a:lnTo>
                    <a:pt x="1583690" y="596900"/>
                  </a:lnTo>
                  <a:lnTo>
                    <a:pt x="1493520" y="744220"/>
                  </a:lnTo>
                  <a:lnTo>
                    <a:pt x="1380490" y="911860"/>
                  </a:lnTo>
                  <a:lnTo>
                    <a:pt x="1249680" y="1080770"/>
                  </a:lnTo>
                  <a:lnTo>
                    <a:pt x="1181277" y="1156779"/>
                  </a:lnTo>
                  <a:lnTo>
                    <a:pt x="1111846" y="1224965"/>
                  </a:lnTo>
                  <a:lnTo>
                    <a:pt x="1111250" y="1224280"/>
                  </a:lnTo>
                  <a:lnTo>
                    <a:pt x="1041488" y="1281582"/>
                  </a:lnTo>
                  <a:lnTo>
                    <a:pt x="1041400" y="1281430"/>
                  </a:lnTo>
                  <a:lnTo>
                    <a:pt x="971689" y="1325003"/>
                  </a:lnTo>
                  <a:lnTo>
                    <a:pt x="971550" y="1324610"/>
                  </a:lnTo>
                  <a:lnTo>
                    <a:pt x="935990" y="1341120"/>
                  </a:lnTo>
                  <a:lnTo>
                    <a:pt x="936155" y="1341475"/>
                  </a:lnTo>
                  <a:lnTo>
                    <a:pt x="901700" y="1352550"/>
                  </a:lnTo>
                  <a:lnTo>
                    <a:pt x="901877" y="1353058"/>
                  </a:lnTo>
                  <a:lnTo>
                    <a:pt x="871283" y="1359623"/>
                  </a:lnTo>
                  <a:lnTo>
                    <a:pt x="871220" y="1358900"/>
                  </a:lnTo>
                  <a:lnTo>
                    <a:pt x="836930" y="1361440"/>
                  </a:lnTo>
                  <a:lnTo>
                    <a:pt x="0" y="1361440"/>
                  </a:lnTo>
                  <a:lnTo>
                    <a:pt x="0" y="1389380"/>
                  </a:lnTo>
                  <a:lnTo>
                    <a:pt x="838200" y="1389380"/>
                  </a:lnTo>
                  <a:lnTo>
                    <a:pt x="872490" y="1388110"/>
                  </a:lnTo>
                  <a:lnTo>
                    <a:pt x="875030" y="1386840"/>
                  </a:lnTo>
                  <a:lnTo>
                    <a:pt x="909320" y="1380490"/>
                  </a:lnTo>
                  <a:lnTo>
                    <a:pt x="911860" y="1379220"/>
                  </a:lnTo>
                  <a:lnTo>
                    <a:pt x="946150" y="1367790"/>
                  </a:lnTo>
                  <a:lnTo>
                    <a:pt x="947420" y="1366520"/>
                  </a:lnTo>
                  <a:lnTo>
                    <a:pt x="982980" y="1351280"/>
                  </a:lnTo>
                  <a:lnTo>
                    <a:pt x="984250" y="1350010"/>
                  </a:lnTo>
                  <a:lnTo>
                    <a:pt x="1056640" y="1305560"/>
                  </a:lnTo>
                  <a:lnTo>
                    <a:pt x="1057910" y="1304290"/>
                  </a:lnTo>
                  <a:lnTo>
                    <a:pt x="1130300" y="1245870"/>
                  </a:lnTo>
                  <a:lnTo>
                    <a:pt x="1120775" y="1235075"/>
                  </a:lnTo>
                  <a:lnTo>
                    <a:pt x="1121410" y="1235710"/>
                  </a:lnTo>
                  <a:lnTo>
                    <a:pt x="1130300" y="1245870"/>
                  </a:lnTo>
                  <a:lnTo>
                    <a:pt x="1201420" y="1176020"/>
                  </a:lnTo>
                  <a:lnTo>
                    <a:pt x="1202690" y="1176020"/>
                  </a:lnTo>
                  <a:lnTo>
                    <a:pt x="1272540" y="1098550"/>
                  </a:lnTo>
                  <a:lnTo>
                    <a:pt x="1260754" y="1088161"/>
                  </a:lnTo>
                  <a:lnTo>
                    <a:pt x="1261110" y="1088390"/>
                  </a:lnTo>
                  <a:lnTo>
                    <a:pt x="1272540" y="1098550"/>
                  </a:lnTo>
                  <a:lnTo>
                    <a:pt x="1272540" y="1097280"/>
                  </a:lnTo>
                  <a:lnTo>
                    <a:pt x="1403350" y="928370"/>
                  </a:lnTo>
                  <a:lnTo>
                    <a:pt x="1517650" y="759460"/>
                  </a:lnTo>
                  <a:lnTo>
                    <a:pt x="1607820" y="612140"/>
                  </a:lnTo>
                  <a:lnTo>
                    <a:pt x="1607820" y="610870"/>
                  </a:lnTo>
                  <a:lnTo>
                    <a:pt x="1687830" y="467360"/>
                  </a:lnTo>
                  <a:lnTo>
                    <a:pt x="1689100" y="467360"/>
                  </a:lnTo>
                  <a:lnTo>
                    <a:pt x="1739900" y="358140"/>
                  </a:lnTo>
                  <a:lnTo>
                    <a:pt x="1791449" y="266357"/>
                  </a:lnTo>
                  <a:lnTo>
                    <a:pt x="1791970" y="266700"/>
                  </a:lnTo>
                  <a:lnTo>
                    <a:pt x="1845310" y="189230"/>
                  </a:lnTo>
                  <a:lnTo>
                    <a:pt x="1896846" y="128879"/>
                  </a:lnTo>
                  <a:lnTo>
                    <a:pt x="1950720" y="81280"/>
                  </a:lnTo>
                  <a:lnTo>
                    <a:pt x="1950440" y="81013"/>
                  </a:lnTo>
                  <a:lnTo>
                    <a:pt x="1974697" y="64477"/>
                  </a:lnTo>
                  <a:lnTo>
                    <a:pt x="1974850" y="64770"/>
                  </a:lnTo>
                  <a:lnTo>
                    <a:pt x="2001520" y="50800"/>
                  </a:lnTo>
                  <a:lnTo>
                    <a:pt x="2001304" y="50380"/>
                  </a:lnTo>
                  <a:lnTo>
                    <a:pt x="2025586" y="40436"/>
                  </a:lnTo>
                  <a:lnTo>
                    <a:pt x="2025650" y="40640"/>
                  </a:lnTo>
                  <a:lnTo>
                    <a:pt x="2053590" y="33020"/>
                  </a:lnTo>
                  <a:lnTo>
                    <a:pt x="2053488" y="32689"/>
                  </a:lnTo>
                  <a:lnTo>
                    <a:pt x="2078990" y="29210"/>
                  </a:lnTo>
                  <a:lnTo>
                    <a:pt x="2101850" y="29210"/>
                  </a:lnTo>
                  <a:lnTo>
                    <a:pt x="2127275" y="31635"/>
                  </a:lnTo>
                  <a:lnTo>
                    <a:pt x="2152739" y="37833"/>
                  </a:lnTo>
                  <a:lnTo>
                    <a:pt x="2152650" y="38100"/>
                  </a:lnTo>
                  <a:lnTo>
                    <a:pt x="2178227" y="46634"/>
                  </a:lnTo>
                  <a:lnTo>
                    <a:pt x="2178050" y="46990"/>
                  </a:lnTo>
                  <a:lnTo>
                    <a:pt x="2203729" y="59220"/>
                  </a:lnTo>
                  <a:lnTo>
                    <a:pt x="2203450" y="59690"/>
                  </a:lnTo>
                  <a:lnTo>
                    <a:pt x="2230120" y="76200"/>
                  </a:lnTo>
                  <a:lnTo>
                    <a:pt x="2230234" y="75996"/>
                  </a:lnTo>
                  <a:lnTo>
                    <a:pt x="2255520" y="95250"/>
                  </a:lnTo>
                  <a:lnTo>
                    <a:pt x="2306320" y="144780"/>
                  </a:lnTo>
                  <a:lnTo>
                    <a:pt x="2306713" y="144335"/>
                  </a:lnTo>
                  <a:lnTo>
                    <a:pt x="2355850" y="205740"/>
                  </a:lnTo>
                  <a:lnTo>
                    <a:pt x="2356396" y="205320"/>
                  </a:lnTo>
                  <a:lnTo>
                    <a:pt x="2405380" y="280670"/>
                  </a:lnTo>
                  <a:lnTo>
                    <a:pt x="2405875" y="280327"/>
                  </a:lnTo>
                  <a:lnTo>
                    <a:pt x="2453640" y="367030"/>
                  </a:lnTo>
                  <a:lnTo>
                    <a:pt x="2454122" y="366788"/>
                  </a:lnTo>
                  <a:lnTo>
                    <a:pt x="2501900" y="467360"/>
                  </a:lnTo>
                  <a:lnTo>
                    <a:pt x="2514600" y="461010"/>
                  </a:lnTo>
                  <a:lnTo>
                    <a:pt x="2528570" y="462280"/>
                  </a:lnTo>
                  <a:lnTo>
                    <a:pt x="2528570" y="457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43000" y="4639309"/>
              <a:ext cx="5867400" cy="930910"/>
            </a:xfrm>
            <a:custGeom>
              <a:avLst/>
              <a:gdLst/>
              <a:ahLst/>
              <a:cxnLst/>
              <a:rect l="l" t="t" r="r" b="b"/>
              <a:pathLst>
                <a:path w="5867400" h="930910">
                  <a:moveTo>
                    <a:pt x="1404620" y="469900"/>
                  </a:moveTo>
                  <a:lnTo>
                    <a:pt x="1391920" y="462280"/>
                  </a:lnTo>
                  <a:lnTo>
                    <a:pt x="1381760" y="453390"/>
                  </a:lnTo>
                  <a:lnTo>
                    <a:pt x="1251559" y="621512"/>
                  </a:lnTo>
                  <a:lnTo>
                    <a:pt x="1250950" y="621030"/>
                  </a:lnTo>
                  <a:lnTo>
                    <a:pt x="1181277" y="698309"/>
                  </a:lnTo>
                  <a:lnTo>
                    <a:pt x="1112520" y="765835"/>
                  </a:lnTo>
                  <a:lnTo>
                    <a:pt x="1041501" y="823125"/>
                  </a:lnTo>
                  <a:lnTo>
                    <a:pt x="1041400" y="822960"/>
                  </a:lnTo>
                  <a:lnTo>
                    <a:pt x="971715" y="866521"/>
                  </a:lnTo>
                  <a:lnTo>
                    <a:pt x="971550" y="866140"/>
                  </a:lnTo>
                  <a:lnTo>
                    <a:pt x="935990" y="882650"/>
                  </a:lnTo>
                  <a:lnTo>
                    <a:pt x="936155" y="883005"/>
                  </a:lnTo>
                  <a:lnTo>
                    <a:pt x="901700" y="894080"/>
                  </a:lnTo>
                  <a:lnTo>
                    <a:pt x="901877" y="894613"/>
                  </a:lnTo>
                  <a:lnTo>
                    <a:pt x="871296" y="901407"/>
                  </a:lnTo>
                  <a:lnTo>
                    <a:pt x="871220" y="900430"/>
                  </a:lnTo>
                  <a:lnTo>
                    <a:pt x="836930" y="902970"/>
                  </a:lnTo>
                  <a:lnTo>
                    <a:pt x="0" y="902970"/>
                  </a:lnTo>
                  <a:lnTo>
                    <a:pt x="0" y="930910"/>
                  </a:lnTo>
                  <a:lnTo>
                    <a:pt x="838200" y="930910"/>
                  </a:lnTo>
                  <a:lnTo>
                    <a:pt x="872490" y="929640"/>
                  </a:lnTo>
                  <a:lnTo>
                    <a:pt x="875030" y="928370"/>
                  </a:lnTo>
                  <a:lnTo>
                    <a:pt x="909320" y="922020"/>
                  </a:lnTo>
                  <a:lnTo>
                    <a:pt x="911860" y="920750"/>
                  </a:lnTo>
                  <a:lnTo>
                    <a:pt x="946150" y="909320"/>
                  </a:lnTo>
                  <a:lnTo>
                    <a:pt x="947420" y="908050"/>
                  </a:lnTo>
                  <a:lnTo>
                    <a:pt x="982980" y="892810"/>
                  </a:lnTo>
                  <a:lnTo>
                    <a:pt x="985520" y="891540"/>
                  </a:lnTo>
                  <a:lnTo>
                    <a:pt x="1056640" y="847090"/>
                  </a:lnTo>
                  <a:lnTo>
                    <a:pt x="1057910" y="845820"/>
                  </a:lnTo>
                  <a:lnTo>
                    <a:pt x="1130300" y="787400"/>
                  </a:lnTo>
                  <a:lnTo>
                    <a:pt x="1131570" y="787400"/>
                  </a:lnTo>
                  <a:lnTo>
                    <a:pt x="1201420" y="717550"/>
                  </a:lnTo>
                  <a:lnTo>
                    <a:pt x="1202690" y="717550"/>
                  </a:lnTo>
                  <a:lnTo>
                    <a:pt x="1272540" y="640080"/>
                  </a:lnTo>
                  <a:lnTo>
                    <a:pt x="1272540" y="638810"/>
                  </a:lnTo>
                  <a:lnTo>
                    <a:pt x="1403350" y="469900"/>
                  </a:lnTo>
                  <a:lnTo>
                    <a:pt x="1404620" y="469900"/>
                  </a:lnTo>
                  <a:close/>
                </a:path>
                <a:path w="5867400" h="930910">
                  <a:moveTo>
                    <a:pt x="4611370" y="619760"/>
                  </a:moveTo>
                  <a:lnTo>
                    <a:pt x="4481639" y="456044"/>
                  </a:lnTo>
                  <a:lnTo>
                    <a:pt x="4481830" y="455930"/>
                  </a:lnTo>
                  <a:lnTo>
                    <a:pt x="4368800" y="289560"/>
                  </a:lnTo>
                  <a:lnTo>
                    <a:pt x="4368228" y="289902"/>
                  </a:lnTo>
                  <a:lnTo>
                    <a:pt x="4279900" y="144780"/>
                  </a:lnTo>
                  <a:lnTo>
                    <a:pt x="4222750" y="39370"/>
                  </a:lnTo>
                  <a:lnTo>
                    <a:pt x="4222267" y="39662"/>
                  </a:lnTo>
                  <a:lnTo>
                    <a:pt x="4208208" y="10375"/>
                  </a:lnTo>
                  <a:lnTo>
                    <a:pt x="4208780" y="10160"/>
                  </a:lnTo>
                  <a:lnTo>
                    <a:pt x="4204970" y="1270"/>
                  </a:lnTo>
                  <a:lnTo>
                    <a:pt x="4204970" y="0"/>
                  </a:lnTo>
                  <a:lnTo>
                    <a:pt x="4197985" y="1905"/>
                  </a:lnTo>
                  <a:lnTo>
                    <a:pt x="4191000" y="2540"/>
                  </a:lnTo>
                  <a:lnTo>
                    <a:pt x="4177030" y="1270"/>
                  </a:lnTo>
                  <a:lnTo>
                    <a:pt x="4175760" y="2540"/>
                  </a:lnTo>
                  <a:lnTo>
                    <a:pt x="4177030" y="3810"/>
                  </a:lnTo>
                  <a:lnTo>
                    <a:pt x="4177030" y="5080"/>
                  </a:lnTo>
                  <a:lnTo>
                    <a:pt x="4177030" y="7620"/>
                  </a:lnTo>
                  <a:lnTo>
                    <a:pt x="4178300" y="10160"/>
                  </a:lnTo>
                  <a:lnTo>
                    <a:pt x="4178300" y="11430"/>
                  </a:lnTo>
                  <a:lnTo>
                    <a:pt x="4182110" y="20320"/>
                  </a:lnTo>
                  <a:lnTo>
                    <a:pt x="4182110" y="21590"/>
                  </a:lnTo>
                  <a:lnTo>
                    <a:pt x="4197350" y="52070"/>
                  </a:lnTo>
                  <a:lnTo>
                    <a:pt x="4197350" y="53340"/>
                  </a:lnTo>
                  <a:lnTo>
                    <a:pt x="4254500" y="158750"/>
                  </a:lnTo>
                  <a:lnTo>
                    <a:pt x="4255770" y="160020"/>
                  </a:lnTo>
                  <a:lnTo>
                    <a:pt x="4344670" y="304800"/>
                  </a:lnTo>
                  <a:lnTo>
                    <a:pt x="4344670" y="306070"/>
                  </a:lnTo>
                  <a:lnTo>
                    <a:pt x="4457700" y="471170"/>
                  </a:lnTo>
                  <a:lnTo>
                    <a:pt x="4458970" y="472440"/>
                  </a:lnTo>
                  <a:lnTo>
                    <a:pt x="4589780" y="637540"/>
                  </a:lnTo>
                  <a:lnTo>
                    <a:pt x="4589780" y="638810"/>
                  </a:lnTo>
                  <a:lnTo>
                    <a:pt x="4601210" y="628650"/>
                  </a:lnTo>
                  <a:lnTo>
                    <a:pt x="4611370" y="619760"/>
                  </a:lnTo>
                  <a:close/>
                </a:path>
                <a:path w="5867400" h="930910">
                  <a:moveTo>
                    <a:pt x="5867400" y="902970"/>
                  </a:moveTo>
                  <a:lnTo>
                    <a:pt x="5396230" y="899160"/>
                  </a:lnTo>
                  <a:lnTo>
                    <a:pt x="5140960" y="899160"/>
                  </a:lnTo>
                  <a:lnTo>
                    <a:pt x="5059680" y="900430"/>
                  </a:lnTo>
                  <a:lnTo>
                    <a:pt x="5036820" y="901700"/>
                  </a:lnTo>
                  <a:lnTo>
                    <a:pt x="5035550" y="901700"/>
                  </a:lnTo>
                  <a:lnTo>
                    <a:pt x="5036820" y="915670"/>
                  </a:lnTo>
                  <a:lnTo>
                    <a:pt x="5037340" y="921473"/>
                  </a:lnTo>
                  <a:lnTo>
                    <a:pt x="5035550" y="901700"/>
                  </a:lnTo>
                  <a:lnTo>
                    <a:pt x="5029200" y="901700"/>
                  </a:lnTo>
                  <a:lnTo>
                    <a:pt x="5027930" y="901700"/>
                  </a:lnTo>
                  <a:lnTo>
                    <a:pt x="5027015" y="902614"/>
                  </a:lnTo>
                  <a:lnTo>
                    <a:pt x="4997399" y="899439"/>
                  </a:lnTo>
                  <a:lnTo>
                    <a:pt x="4997450" y="899160"/>
                  </a:lnTo>
                  <a:lnTo>
                    <a:pt x="4963084" y="891806"/>
                  </a:lnTo>
                  <a:lnTo>
                    <a:pt x="4963160" y="891540"/>
                  </a:lnTo>
                  <a:lnTo>
                    <a:pt x="4928717" y="880478"/>
                  </a:lnTo>
                  <a:lnTo>
                    <a:pt x="4928870" y="880110"/>
                  </a:lnTo>
                  <a:lnTo>
                    <a:pt x="4894300" y="864069"/>
                  </a:lnTo>
                  <a:lnTo>
                    <a:pt x="4894580" y="863600"/>
                  </a:lnTo>
                  <a:lnTo>
                    <a:pt x="4822190" y="819150"/>
                  </a:lnTo>
                  <a:lnTo>
                    <a:pt x="4822088" y="819327"/>
                  </a:lnTo>
                  <a:lnTo>
                    <a:pt x="4751070" y="762000"/>
                  </a:lnTo>
                  <a:lnTo>
                    <a:pt x="4680750" y="695452"/>
                  </a:lnTo>
                  <a:lnTo>
                    <a:pt x="4611370" y="619760"/>
                  </a:lnTo>
                  <a:lnTo>
                    <a:pt x="4589780" y="638810"/>
                  </a:lnTo>
                  <a:lnTo>
                    <a:pt x="4659630" y="715010"/>
                  </a:lnTo>
                  <a:lnTo>
                    <a:pt x="4660900" y="715010"/>
                  </a:lnTo>
                  <a:lnTo>
                    <a:pt x="4732020" y="783590"/>
                  </a:lnTo>
                  <a:lnTo>
                    <a:pt x="4733290" y="784860"/>
                  </a:lnTo>
                  <a:lnTo>
                    <a:pt x="4805680" y="842010"/>
                  </a:lnTo>
                  <a:lnTo>
                    <a:pt x="4806950" y="843280"/>
                  </a:lnTo>
                  <a:lnTo>
                    <a:pt x="4879340" y="887730"/>
                  </a:lnTo>
                  <a:lnTo>
                    <a:pt x="4880610" y="889000"/>
                  </a:lnTo>
                  <a:lnTo>
                    <a:pt x="4917440" y="905510"/>
                  </a:lnTo>
                  <a:lnTo>
                    <a:pt x="4918710" y="906780"/>
                  </a:lnTo>
                  <a:lnTo>
                    <a:pt x="4954270" y="919480"/>
                  </a:lnTo>
                  <a:lnTo>
                    <a:pt x="4955540" y="919480"/>
                  </a:lnTo>
                  <a:lnTo>
                    <a:pt x="4991100" y="927100"/>
                  </a:lnTo>
                  <a:lnTo>
                    <a:pt x="4992370" y="927100"/>
                  </a:lnTo>
                  <a:lnTo>
                    <a:pt x="5027930" y="930910"/>
                  </a:lnTo>
                  <a:lnTo>
                    <a:pt x="5031740" y="930910"/>
                  </a:lnTo>
                  <a:lnTo>
                    <a:pt x="5032857" y="930351"/>
                  </a:lnTo>
                  <a:lnTo>
                    <a:pt x="5033010" y="930910"/>
                  </a:lnTo>
                  <a:lnTo>
                    <a:pt x="5034280" y="929640"/>
                  </a:lnTo>
                  <a:lnTo>
                    <a:pt x="5035550" y="929640"/>
                  </a:lnTo>
                  <a:lnTo>
                    <a:pt x="5038090" y="929640"/>
                  </a:lnTo>
                  <a:lnTo>
                    <a:pt x="5059680" y="928370"/>
                  </a:lnTo>
                  <a:lnTo>
                    <a:pt x="5140960" y="927100"/>
                  </a:lnTo>
                  <a:lnTo>
                    <a:pt x="5396230" y="928370"/>
                  </a:lnTo>
                  <a:lnTo>
                    <a:pt x="5867400" y="930910"/>
                  </a:lnTo>
                  <a:lnTo>
                    <a:pt x="5867400" y="9029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23490" y="4180839"/>
              <a:ext cx="1624330" cy="1173480"/>
            </a:xfrm>
            <a:custGeom>
              <a:avLst/>
              <a:gdLst/>
              <a:ahLst/>
              <a:cxnLst/>
              <a:rect l="l" t="t" r="r" b="b"/>
              <a:pathLst>
                <a:path w="1624329" h="1173479">
                  <a:moveTo>
                    <a:pt x="506730" y="118110"/>
                  </a:moveTo>
                  <a:lnTo>
                    <a:pt x="497840" y="107950"/>
                  </a:lnTo>
                  <a:lnTo>
                    <a:pt x="496570" y="109220"/>
                  </a:lnTo>
                  <a:lnTo>
                    <a:pt x="506730" y="118110"/>
                  </a:lnTo>
                  <a:close/>
                </a:path>
                <a:path w="1624329" h="1173479">
                  <a:moveTo>
                    <a:pt x="1624330" y="1154430"/>
                  </a:moveTo>
                  <a:lnTo>
                    <a:pt x="1555000" y="1078814"/>
                  </a:lnTo>
                  <a:lnTo>
                    <a:pt x="1555750" y="1078230"/>
                  </a:lnTo>
                  <a:lnTo>
                    <a:pt x="1424940" y="913130"/>
                  </a:lnTo>
                  <a:lnTo>
                    <a:pt x="1424368" y="913574"/>
                  </a:lnTo>
                  <a:lnTo>
                    <a:pt x="1311910" y="748030"/>
                  </a:lnTo>
                  <a:lnTo>
                    <a:pt x="1311351" y="748398"/>
                  </a:lnTo>
                  <a:lnTo>
                    <a:pt x="1223010" y="603250"/>
                  </a:lnTo>
                  <a:lnTo>
                    <a:pt x="1165860" y="497840"/>
                  </a:lnTo>
                  <a:lnTo>
                    <a:pt x="1165415" y="498106"/>
                  </a:lnTo>
                  <a:lnTo>
                    <a:pt x="1151890" y="467360"/>
                  </a:lnTo>
                  <a:lnTo>
                    <a:pt x="1151432" y="467575"/>
                  </a:lnTo>
                  <a:lnTo>
                    <a:pt x="1148080" y="459740"/>
                  </a:lnTo>
                  <a:lnTo>
                    <a:pt x="1148080" y="458470"/>
                  </a:lnTo>
                  <a:lnTo>
                    <a:pt x="1148080" y="457200"/>
                  </a:lnTo>
                  <a:lnTo>
                    <a:pt x="1146810" y="454660"/>
                  </a:lnTo>
                  <a:lnTo>
                    <a:pt x="1099820" y="354330"/>
                  </a:lnTo>
                  <a:lnTo>
                    <a:pt x="1098550" y="353060"/>
                  </a:lnTo>
                  <a:lnTo>
                    <a:pt x="1049020" y="265430"/>
                  </a:lnTo>
                  <a:lnTo>
                    <a:pt x="1049020" y="264160"/>
                  </a:lnTo>
                  <a:lnTo>
                    <a:pt x="998220" y="189230"/>
                  </a:lnTo>
                  <a:lnTo>
                    <a:pt x="998220" y="187960"/>
                  </a:lnTo>
                  <a:lnTo>
                    <a:pt x="946150" y="124460"/>
                  </a:lnTo>
                  <a:lnTo>
                    <a:pt x="944880" y="123190"/>
                  </a:lnTo>
                  <a:lnTo>
                    <a:pt x="935990" y="133350"/>
                  </a:lnTo>
                  <a:lnTo>
                    <a:pt x="935748" y="133540"/>
                  </a:lnTo>
                  <a:lnTo>
                    <a:pt x="944880" y="123190"/>
                  </a:lnTo>
                  <a:lnTo>
                    <a:pt x="892810" y="73660"/>
                  </a:lnTo>
                  <a:lnTo>
                    <a:pt x="892810" y="72390"/>
                  </a:lnTo>
                  <a:lnTo>
                    <a:pt x="866140" y="53340"/>
                  </a:lnTo>
                  <a:lnTo>
                    <a:pt x="864870" y="52070"/>
                  </a:lnTo>
                  <a:lnTo>
                    <a:pt x="838200" y="35560"/>
                  </a:lnTo>
                  <a:lnTo>
                    <a:pt x="836930" y="34290"/>
                  </a:lnTo>
                  <a:lnTo>
                    <a:pt x="810260" y="21590"/>
                  </a:lnTo>
                  <a:lnTo>
                    <a:pt x="808990" y="20320"/>
                  </a:lnTo>
                  <a:lnTo>
                    <a:pt x="782320" y="10160"/>
                  </a:lnTo>
                  <a:lnTo>
                    <a:pt x="777201" y="24231"/>
                  </a:lnTo>
                  <a:lnTo>
                    <a:pt x="777265" y="24003"/>
                  </a:lnTo>
                  <a:lnTo>
                    <a:pt x="782320" y="10160"/>
                  </a:lnTo>
                  <a:lnTo>
                    <a:pt x="781050" y="10160"/>
                  </a:lnTo>
                  <a:lnTo>
                    <a:pt x="753110" y="3810"/>
                  </a:lnTo>
                  <a:lnTo>
                    <a:pt x="751827" y="3810"/>
                  </a:lnTo>
                  <a:lnTo>
                    <a:pt x="725170" y="0"/>
                  </a:lnTo>
                  <a:lnTo>
                    <a:pt x="722630" y="0"/>
                  </a:lnTo>
                  <a:lnTo>
                    <a:pt x="695960" y="1270"/>
                  </a:lnTo>
                  <a:lnTo>
                    <a:pt x="694690" y="1270"/>
                  </a:lnTo>
                  <a:lnTo>
                    <a:pt x="666750" y="5080"/>
                  </a:lnTo>
                  <a:lnTo>
                    <a:pt x="665480" y="5080"/>
                  </a:lnTo>
                  <a:lnTo>
                    <a:pt x="638810" y="12700"/>
                  </a:lnTo>
                  <a:lnTo>
                    <a:pt x="636270" y="13970"/>
                  </a:lnTo>
                  <a:lnTo>
                    <a:pt x="609600" y="24130"/>
                  </a:lnTo>
                  <a:lnTo>
                    <a:pt x="608330" y="25400"/>
                  </a:lnTo>
                  <a:lnTo>
                    <a:pt x="581660" y="39370"/>
                  </a:lnTo>
                  <a:lnTo>
                    <a:pt x="579120" y="40640"/>
                  </a:lnTo>
                  <a:lnTo>
                    <a:pt x="552450" y="58420"/>
                  </a:lnTo>
                  <a:lnTo>
                    <a:pt x="551180" y="59690"/>
                  </a:lnTo>
                  <a:lnTo>
                    <a:pt x="497840" y="107950"/>
                  </a:lnTo>
                  <a:lnTo>
                    <a:pt x="507365" y="118745"/>
                  </a:lnTo>
                  <a:lnTo>
                    <a:pt x="496570" y="109220"/>
                  </a:lnTo>
                  <a:lnTo>
                    <a:pt x="441960" y="171450"/>
                  </a:lnTo>
                  <a:lnTo>
                    <a:pt x="441960" y="172720"/>
                  </a:lnTo>
                  <a:lnTo>
                    <a:pt x="388620" y="250190"/>
                  </a:lnTo>
                  <a:lnTo>
                    <a:pt x="387350" y="251460"/>
                  </a:lnTo>
                  <a:lnTo>
                    <a:pt x="335280" y="344170"/>
                  </a:lnTo>
                  <a:lnTo>
                    <a:pt x="335280" y="345440"/>
                  </a:lnTo>
                  <a:lnTo>
                    <a:pt x="283679" y="453682"/>
                  </a:lnTo>
                  <a:lnTo>
                    <a:pt x="283210" y="453390"/>
                  </a:lnTo>
                  <a:lnTo>
                    <a:pt x="203200" y="596900"/>
                  </a:lnTo>
                  <a:lnTo>
                    <a:pt x="113030" y="744220"/>
                  </a:lnTo>
                  <a:lnTo>
                    <a:pt x="113919" y="744766"/>
                  </a:lnTo>
                  <a:lnTo>
                    <a:pt x="0" y="911860"/>
                  </a:lnTo>
                  <a:lnTo>
                    <a:pt x="11430" y="920750"/>
                  </a:lnTo>
                  <a:lnTo>
                    <a:pt x="22860" y="928370"/>
                  </a:lnTo>
                  <a:lnTo>
                    <a:pt x="24130" y="928370"/>
                  </a:lnTo>
                  <a:lnTo>
                    <a:pt x="137160" y="759460"/>
                  </a:lnTo>
                  <a:lnTo>
                    <a:pt x="138430" y="759460"/>
                  </a:lnTo>
                  <a:lnTo>
                    <a:pt x="228600" y="612140"/>
                  </a:lnTo>
                  <a:lnTo>
                    <a:pt x="228600" y="610870"/>
                  </a:lnTo>
                  <a:lnTo>
                    <a:pt x="308610" y="467360"/>
                  </a:lnTo>
                  <a:lnTo>
                    <a:pt x="360680" y="358140"/>
                  </a:lnTo>
                  <a:lnTo>
                    <a:pt x="412750" y="265430"/>
                  </a:lnTo>
                  <a:lnTo>
                    <a:pt x="412445" y="265290"/>
                  </a:lnTo>
                  <a:lnTo>
                    <a:pt x="464820" y="189230"/>
                  </a:lnTo>
                  <a:lnTo>
                    <a:pt x="517639" y="128866"/>
                  </a:lnTo>
                  <a:lnTo>
                    <a:pt x="568896" y="82486"/>
                  </a:lnTo>
                  <a:lnTo>
                    <a:pt x="594220" y="64503"/>
                  </a:lnTo>
                  <a:lnTo>
                    <a:pt x="594360" y="64770"/>
                  </a:lnTo>
                  <a:lnTo>
                    <a:pt x="622300" y="50800"/>
                  </a:lnTo>
                  <a:lnTo>
                    <a:pt x="621792" y="49974"/>
                  </a:lnTo>
                  <a:lnTo>
                    <a:pt x="646239" y="39966"/>
                  </a:lnTo>
                  <a:lnTo>
                    <a:pt x="646430" y="40640"/>
                  </a:lnTo>
                  <a:lnTo>
                    <a:pt x="673100" y="33020"/>
                  </a:lnTo>
                  <a:lnTo>
                    <a:pt x="672998" y="32689"/>
                  </a:lnTo>
                  <a:lnTo>
                    <a:pt x="698500" y="29210"/>
                  </a:lnTo>
                  <a:lnTo>
                    <a:pt x="721360" y="29210"/>
                  </a:lnTo>
                  <a:lnTo>
                    <a:pt x="746785" y="31635"/>
                  </a:lnTo>
                  <a:lnTo>
                    <a:pt x="772248" y="37833"/>
                  </a:lnTo>
                  <a:lnTo>
                    <a:pt x="772160" y="38100"/>
                  </a:lnTo>
                  <a:lnTo>
                    <a:pt x="797737" y="46634"/>
                  </a:lnTo>
                  <a:lnTo>
                    <a:pt x="797560" y="46990"/>
                  </a:lnTo>
                  <a:lnTo>
                    <a:pt x="823239" y="59220"/>
                  </a:lnTo>
                  <a:lnTo>
                    <a:pt x="822960" y="59690"/>
                  </a:lnTo>
                  <a:lnTo>
                    <a:pt x="849630" y="76200"/>
                  </a:lnTo>
                  <a:lnTo>
                    <a:pt x="849744" y="75996"/>
                  </a:lnTo>
                  <a:lnTo>
                    <a:pt x="875030" y="95250"/>
                  </a:lnTo>
                  <a:lnTo>
                    <a:pt x="925830" y="144780"/>
                  </a:lnTo>
                  <a:lnTo>
                    <a:pt x="926249" y="144310"/>
                  </a:lnTo>
                  <a:lnTo>
                    <a:pt x="975499" y="204381"/>
                  </a:lnTo>
                  <a:lnTo>
                    <a:pt x="975360" y="204470"/>
                  </a:lnTo>
                  <a:lnTo>
                    <a:pt x="1024890" y="280670"/>
                  </a:lnTo>
                  <a:lnTo>
                    <a:pt x="1025398" y="280314"/>
                  </a:lnTo>
                  <a:lnTo>
                    <a:pt x="1073594" y="365582"/>
                  </a:lnTo>
                  <a:lnTo>
                    <a:pt x="1073150" y="365760"/>
                  </a:lnTo>
                  <a:lnTo>
                    <a:pt x="1120140" y="464693"/>
                  </a:lnTo>
                  <a:lnTo>
                    <a:pt x="1120140" y="466090"/>
                  </a:lnTo>
                  <a:lnTo>
                    <a:pt x="1121410" y="468630"/>
                  </a:lnTo>
                  <a:lnTo>
                    <a:pt x="1121410" y="469900"/>
                  </a:lnTo>
                  <a:lnTo>
                    <a:pt x="1125220" y="478790"/>
                  </a:lnTo>
                  <a:lnTo>
                    <a:pt x="1125220" y="480060"/>
                  </a:lnTo>
                  <a:lnTo>
                    <a:pt x="1140460" y="511810"/>
                  </a:lnTo>
                  <a:lnTo>
                    <a:pt x="1198880" y="617220"/>
                  </a:lnTo>
                  <a:lnTo>
                    <a:pt x="1198880" y="618490"/>
                  </a:lnTo>
                  <a:lnTo>
                    <a:pt x="1287780" y="763270"/>
                  </a:lnTo>
                  <a:lnTo>
                    <a:pt x="1287780" y="764540"/>
                  </a:lnTo>
                  <a:lnTo>
                    <a:pt x="1402080" y="929640"/>
                  </a:lnTo>
                  <a:lnTo>
                    <a:pt x="1402080" y="930910"/>
                  </a:lnTo>
                  <a:lnTo>
                    <a:pt x="1532890" y="1096010"/>
                  </a:lnTo>
                  <a:lnTo>
                    <a:pt x="1534160" y="1097280"/>
                  </a:lnTo>
                  <a:lnTo>
                    <a:pt x="1604010" y="1173480"/>
                  </a:lnTo>
                  <a:lnTo>
                    <a:pt x="1614170" y="1163320"/>
                  </a:lnTo>
                  <a:lnTo>
                    <a:pt x="1624330" y="11544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27500" y="5334000"/>
              <a:ext cx="1206500" cy="236220"/>
            </a:xfrm>
            <a:custGeom>
              <a:avLst/>
              <a:gdLst/>
              <a:ahLst/>
              <a:cxnLst/>
              <a:rect l="l" t="t" r="r" b="b"/>
              <a:pathLst>
                <a:path w="1206500" h="236220">
                  <a:moveTo>
                    <a:pt x="1206500" y="208280"/>
                  </a:moveTo>
                  <a:lnTo>
                    <a:pt x="735330" y="204470"/>
                  </a:lnTo>
                  <a:lnTo>
                    <a:pt x="480060" y="204470"/>
                  </a:lnTo>
                  <a:lnTo>
                    <a:pt x="398780" y="205740"/>
                  </a:lnTo>
                  <a:lnTo>
                    <a:pt x="375920" y="207010"/>
                  </a:lnTo>
                  <a:lnTo>
                    <a:pt x="377190" y="220980"/>
                  </a:lnTo>
                  <a:lnTo>
                    <a:pt x="375920" y="207010"/>
                  </a:lnTo>
                  <a:lnTo>
                    <a:pt x="370840" y="207010"/>
                  </a:lnTo>
                  <a:lnTo>
                    <a:pt x="370840" y="220980"/>
                  </a:lnTo>
                  <a:lnTo>
                    <a:pt x="369214" y="212077"/>
                  </a:lnTo>
                  <a:lnTo>
                    <a:pt x="370840" y="220980"/>
                  </a:lnTo>
                  <a:lnTo>
                    <a:pt x="370840" y="207010"/>
                  </a:lnTo>
                  <a:lnTo>
                    <a:pt x="369570" y="207010"/>
                  </a:lnTo>
                  <a:lnTo>
                    <a:pt x="368300" y="207010"/>
                  </a:lnTo>
                  <a:lnTo>
                    <a:pt x="366445" y="207937"/>
                  </a:lnTo>
                  <a:lnTo>
                    <a:pt x="336524" y="204609"/>
                  </a:lnTo>
                  <a:lnTo>
                    <a:pt x="336550" y="204470"/>
                  </a:lnTo>
                  <a:lnTo>
                    <a:pt x="303428" y="197116"/>
                  </a:lnTo>
                  <a:lnTo>
                    <a:pt x="303530" y="196850"/>
                  </a:lnTo>
                  <a:lnTo>
                    <a:pt x="269062" y="185775"/>
                  </a:lnTo>
                  <a:lnTo>
                    <a:pt x="269240" y="185420"/>
                  </a:lnTo>
                  <a:lnTo>
                    <a:pt x="233438" y="169379"/>
                  </a:lnTo>
                  <a:lnTo>
                    <a:pt x="233680" y="168910"/>
                  </a:lnTo>
                  <a:lnTo>
                    <a:pt x="163664" y="125933"/>
                  </a:lnTo>
                  <a:lnTo>
                    <a:pt x="163830" y="125730"/>
                  </a:lnTo>
                  <a:lnTo>
                    <a:pt x="90170" y="67310"/>
                  </a:lnTo>
                  <a:lnTo>
                    <a:pt x="20320" y="0"/>
                  </a:lnTo>
                  <a:lnTo>
                    <a:pt x="10160" y="10160"/>
                  </a:lnTo>
                  <a:lnTo>
                    <a:pt x="0" y="20320"/>
                  </a:lnTo>
                  <a:lnTo>
                    <a:pt x="72390" y="88900"/>
                  </a:lnTo>
                  <a:lnTo>
                    <a:pt x="72390" y="90170"/>
                  </a:lnTo>
                  <a:lnTo>
                    <a:pt x="146050" y="147320"/>
                  </a:lnTo>
                  <a:lnTo>
                    <a:pt x="147320" y="148590"/>
                  </a:lnTo>
                  <a:lnTo>
                    <a:pt x="219710" y="193040"/>
                  </a:lnTo>
                  <a:lnTo>
                    <a:pt x="220980" y="194310"/>
                  </a:lnTo>
                  <a:lnTo>
                    <a:pt x="256540" y="210820"/>
                  </a:lnTo>
                  <a:lnTo>
                    <a:pt x="257810" y="212090"/>
                  </a:lnTo>
                  <a:lnTo>
                    <a:pt x="294640" y="224790"/>
                  </a:lnTo>
                  <a:lnTo>
                    <a:pt x="295910" y="224790"/>
                  </a:lnTo>
                  <a:lnTo>
                    <a:pt x="330200" y="232410"/>
                  </a:lnTo>
                  <a:lnTo>
                    <a:pt x="332740" y="232410"/>
                  </a:lnTo>
                  <a:lnTo>
                    <a:pt x="367030" y="236220"/>
                  </a:lnTo>
                  <a:lnTo>
                    <a:pt x="370840" y="236220"/>
                  </a:lnTo>
                  <a:lnTo>
                    <a:pt x="371995" y="235648"/>
                  </a:lnTo>
                  <a:lnTo>
                    <a:pt x="372110" y="236220"/>
                  </a:lnTo>
                  <a:lnTo>
                    <a:pt x="373380" y="234950"/>
                  </a:lnTo>
                  <a:lnTo>
                    <a:pt x="374650" y="234950"/>
                  </a:lnTo>
                  <a:lnTo>
                    <a:pt x="377190" y="234950"/>
                  </a:lnTo>
                  <a:lnTo>
                    <a:pt x="378460" y="234950"/>
                  </a:lnTo>
                  <a:lnTo>
                    <a:pt x="400050" y="233680"/>
                  </a:lnTo>
                  <a:lnTo>
                    <a:pt x="480060" y="232410"/>
                  </a:lnTo>
                  <a:lnTo>
                    <a:pt x="735330" y="233680"/>
                  </a:lnTo>
                  <a:lnTo>
                    <a:pt x="1206500" y="236220"/>
                  </a:lnTo>
                  <a:lnTo>
                    <a:pt x="1206500" y="2082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906510" y="5698490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0" dirty="0">
                <a:latin typeface="Cambria"/>
                <a:cs typeface="Cambria"/>
              </a:rPr>
              <a:t>u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91150" y="3691890"/>
            <a:ext cx="6223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i="1" dirty="0">
                <a:latin typeface="Cambria"/>
                <a:cs typeface="Cambria"/>
              </a:rPr>
              <a:t>B</a:t>
            </a:r>
            <a:r>
              <a:rPr sz="1725" i="1" baseline="-24154" dirty="0">
                <a:latin typeface="Cambria"/>
                <a:cs typeface="Cambria"/>
              </a:rPr>
              <a:t>i</a:t>
            </a:r>
            <a:r>
              <a:rPr sz="1725" i="1" spc="97" baseline="-24154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(</a:t>
            </a:r>
            <a:r>
              <a:rPr sz="2000" i="1" spc="-25" dirty="0">
                <a:latin typeface="Cambria"/>
                <a:cs typeface="Cambria"/>
              </a:rPr>
              <a:t>u</a:t>
            </a:r>
            <a:r>
              <a:rPr sz="2000" spc="-25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43040" y="3615690"/>
            <a:ext cx="7861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i="1" dirty="0">
                <a:latin typeface="Cambria"/>
                <a:cs typeface="Cambria"/>
              </a:rPr>
              <a:t>B</a:t>
            </a:r>
            <a:r>
              <a:rPr sz="1725" i="1" baseline="-24154" dirty="0">
                <a:latin typeface="Cambria"/>
                <a:cs typeface="Cambria"/>
              </a:rPr>
              <a:t>i+</a:t>
            </a:r>
            <a:r>
              <a:rPr sz="1725" baseline="-24154" dirty="0">
                <a:latin typeface="Cambria"/>
                <a:cs typeface="Cambria"/>
              </a:rPr>
              <a:t>1</a:t>
            </a:r>
            <a:r>
              <a:rPr sz="1725" spc="150" baseline="-24154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(</a:t>
            </a:r>
            <a:r>
              <a:rPr sz="2000" i="1" spc="-25" dirty="0">
                <a:latin typeface="Cambria"/>
                <a:cs typeface="Cambria"/>
              </a:rPr>
              <a:t>u</a:t>
            </a:r>
            <a:r>
              <a:rPr sz="2000" spc="-25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12260" y="3691890"/>
            <a:ext cx="7708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i="1" dirty="0">
                <a:latin typeface="Cambria"/>
                <a:cs typeface="Cambria"/>
              </a:rPr>
              <a:t>B</a:t>
            </a:r>
            <a:r>
              <a:rPr sz="1725" i="1" baseline="-24154" dirty="0">
                <a:latin typeface="Cambria"/>
                <a:cs typeface="Cambria"/>
              </a:rPr>
              <a:t>i–</a:t>
            </a:r>
            <a:r>
              <a:rPr sz="1725" baseline="-24154" dirty="0">
                <a:latin typeface="Cambria"/>
                <a:cs typeface="Cambria"/>
              </a:rPr>
              <a:t>1</a:t>
            </a:r>
            <a:r>
              <a:rPr sz="1725" spc="15" baseline="-24154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(</a:t>
            </a:r>
            <a:r>
              <a:rPr sz="2000" i="1" spc="-25" dirty="0">
                <a:latin typeface="Cambria"/>
                <a:cs typeface="Cambria"/>
              </a:rPr>
              <a:t>u</a:t>
            </a:r>
            <a:r>
              <a:rPr sz="2000" spc="-25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57550" y="5736590"/>
            <a:ext cx="4076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i="1" spc="-30" baseline="13888" dirty="0">
                <a:latin typeface="Cambria"/>
                <a:cs typeface="Cambria"/>
              </a:rPr>
              <a:t>u</a:t>
            </a:r>
            <a:r>
              <a:rPr sz="1150" i="1" spc="-20" dirty="0">
                <a:latin typeface="Cambria"/>
                <a:cs typeface="Cambria"/>
              </a:rPr>
              <a:t>i–1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77030" y="5673090"/>
            <a:ext cx="2597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i="1" spc="-25" dirty="0">
                <a:latin typeface="Cambria"/>
                <a:cs typeface="Cambria"/>
              </a:rPr>
              <a:t>u</a:t>
            </a:r>
            <a:r>
              <a:rPr sz="1725" i="1" spc="-37" baseline="-24154" dirty="0">
                <a:latin typeface="Cambria"/>
                <a:cs typeface="Cambria"/>
              </a:rPr>
              <a:t>i</a:t>
            </a:r>
            <a:endParaRPr sz="1725" baseline="-24154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41571" y="5736590"/>
            <a:ext cx="42290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i="1" spc="-30" baseline="13888" dirty="0">
                <a:latin typeface="Cambria"/>
                <a:cs typeface="Cambria"/>
              </a:rPr>
              <a:t>u</a:t>
            </a:r>
            <a:r>
              <a:rPr sz="1150" i="1" spc="-20" dirty="0">
                <a:latin typeface="Cambria"/>
                <a:cs typeface="Cambria"/>
              </a:rPr>
              <a:t>i+1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79771" y="5736590"/>
            <a:ext cx="42290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i="1" spc="-30" baseline="13888" dirty="0">
                <a:latin typeface="Cambria"/>
                <a:cs typeface="Cambria"/>
              </a:rPr>
              <a:t>u</a:t>
            </a:r>
            <a:r>
              <a:rPr sz="1150" i="1" spc="-20" dirty="0">
                <a:latin typeface="Cambria"/>
                <a:cs typeface="Cambria"/>
              </a:rPr>
              <a:t>i+2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17971" y="5736590"/>
            <a:ext cx="42290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i="1" spc="-30" baseline="13888" dirty="0">
                <a:latin typeface="Cambria"/>
                <a:cs typeface="Cambria"/>
              </a:rPr>
              <a:t>u</a:t>
            </a:r>
            <a:r>
              <a:rPr sz="1150" i="1" spc="-20" dirty="0">
                <a:latin typeface="Cambria"/>
                <a:cs typeface="Cambria"/>
              </a:rPr>
              <a:t>i+3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56171" y="5736590"/>
            <a:ext cx="42290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i="1" spc="-30" baseline="13888" dirty="0">
                <a:latin typeface="Cambria"/>
                <a:cs typeface="Cambria"/>
              </a:rPr>
              <a:t>u</a:t>
            </a:r>
            <a:r>
              <a:rPr sz="1150" i="1" spc="-20" dirty="0">
                <a:latin typeface="Cambria"/>
                <a:cs typeface="Cambria"/>
              </a:rPr>
              <a:t>i+4</a:t>
            </a:r>
            <a:endParaRPr sz="1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2480">
              <a:spcBef>
                <a:spcPts val="100"/>
              </a:spcBef>
            </a:pPr>
            <a:r>
              <a:rPr dirty="0"/>
              <a:t>Funções</a:t>
            </a:r>
            <a:r>
              <a:rPr spc="-20" dirty="0"/>
              <a:t> </a:t>
            </a:r>
            <a:r>
              <a:rPr dirty="0"/>
              <a:t>da</a:t>
            </a:r>
            <a:r>
              <a:rPr spc="-20" dirty="0"/>
              <a:t> </a:t>
            </a:r>
            <a:r>
              <a:rPr dirty="0"/>
              <a:t>Base</a:t>
            </a:r>
            <a:r>
              <a:rPr spc="-20" dirty="0"/>
              <a:t> B-</a:t>
            </a:r>
            <a:r>
              <a:rPr spc="-10" dirty="0"/>
              <a:t>Spline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70" y="1617979"/>
            <a:ext cx="1238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70" y="3804920"/>
            <a:ext cx="1238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8670" y="5218429"/>
            <a:ext cx="1238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38190" y="2298701"/>
            <a:ext cx="152400" cy="226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400" i="1" spc="-50" dirty="0">
                <a:latin typeface="Times New Roman"/>
                <a:cs typeface="Times New Roman"/>
              </a:rPr>
              <a:t>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6170" y="1634491"/>
            <a:ext cx="7814945" cy="46833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921385">
              <a:spcBef>
                <a:spcPts val="100"/>
              </a:spcBef>
            </a:pP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Queremos</a:t>
            </a:r>
            <a:r>
              <a:rPr sz="22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exprimir</a:t>
            </a:r>
            <a:r>
              <a:rPr sz="22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curvas</a:t>
            </a:r>
            <a:r>
              <a:rPr sz="22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como</a:t>
            </a:r>
            <a:r>
              <a:rPr sz="22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2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mesclados</a:t>
            </a:r>
            <a:r>
              <a:rPr sz="22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por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intermédio</a:t>
            </a:r>
            <a:r>
              <a:rPr sz="22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2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funções</a:t>
            </a:r>
            <a:r>
              <a:rPr sz="22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2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base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002454"/>
                </a:solidFill>
                <a:latin typeface="Arial MT"/>
                <a:cs typeface="Arial MT"/>
              </a:rPr>
              <a:t>B-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Spline</a:t>
            </a:r>
            <a:endParaRPr sz="22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R="499745" algn="ctr">
              <a:spcBef>
                <a:spcPts val="200"/>
              </a:spcBef>
              <a:tabLst>
                <a:tab pos="841375" algn="l"/>
                <a:tab pos="1213485" algn="l"/>
              </a:tabLst>
            </a:pPr>
            <a:r>
              <a:rPr sz="2350" b="1" dirty="0">
                <a:solidFill>
                  <a:srgbClr val="002454"/>
                </a:solidFill>
                <a:latin typeface="Times New Roman"/>
                <a:cs typeface="Times New Roman"/>
              </a:rPr>
              <a:t>p</a:t>
            </a:r>
            <a:r>
              <a:rPr sz="2350" dirty="0">
                <a:solidFill>
                  <a:srgbClr val="002454"/>
                </a:solidFill>
                <a:latin typeface="Times New Roman"/>
                <a:cs typeface="Times New Roman"/>
              </a:rPr>
              <a:t>(</a:t>
            </a:r>
            <a:r>
              <a:rPr sz="2350" i="1" dirty="0">
                <a:solidFill>
                  <a:srgbClr val="002454"/>
                </a:solidFill>
                <a:latin typeface="Times New Roman"/>
                <a:cs typeface="Times New Roman"/>
              </a:rPr>
              <a:t>u</a:t>
            </a:r>
            <a:r>
              <a:rPr sz="2350" dirty="0">
                <a:solidFill>
                  <a:srgbClr val="002454"/>
                </a:solidFill>
                <a:latin typeface="Times New Roman"/>
                <a:cs typeface="Times New Roman"/>
              </a:rPr>
              <a:t>)</a:t>
            </a:r>
            <a:r>
              <a:rPr sz="2350" spc="100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2350" spc="-565" dirty="0">
                <a:solidFill>
                  <a:srgbClr val="002454"/>
                </a:solidFill>
                <a:latin typeface="Symbol"/>
                <a:cs typeface="Symbol"/>
              </a:rPr>
              <a:t></a:t>
            </a:r>
            <a:r>
              <a:rPr sz="2350" dirty="0">
                <a:solidFill>
                  <a:srgbClr val="002454"/>
                </a:solidFill>
                <a:latin typeface="Times New Roman"/>
                <a:cs typeface="Times New Roman"/>
              </a:rPr>
              <a:t>	</a:t>
            </a:r>
            <a:r>
              <a:rPr sz="5325" spc="-1589" baseline="-8607" dirty="0">
                <a:solidFill>
                  <a:srgbClr val="002454"/>
                </a:solidFill>
                <a:latin typeface="Symbol"/>
                <a:cs typeface="Symbol"/>
              </a:rPr>
              <a:t></a:t>
            </a:r>
            <a:r>
              <a:rPr sz="5325" baseline="-8607" dirty="0">
                <a:solidFill>
                  <a:srgbClr val="002454"/>
                </a:solidFill>
                <a:latin typeface="Times New Roman"/>
                <a:cs typeface="Times New Roman"/>
              </a:rPr>
              <a:t>	</a:t>
            </a:r>
            <a:r>
              <a:rPr sz="2350" i="1" dirty="0">
                <a:solidFill>
                  <a:srgbClr val="002454"/>
                </a:solidFill>
                <a:latin typeface="Times New Roman"/>
                <a:cs typeface="Times New Roman"/>
              </a:rPr>
              <a:t>B</a:t>
            </a:r>
            <a:r>
              <a:rPr sz="2100" i="1" baseline="-23809" dirty="0">
                <a:solidFill>
                  <a:srgbClr val="002454"/>
                </a:solidFill>
                <a:latin typeface="Times New Roman"/>
                <a:cs typeface="Times New Roman"/>
              </a:rPr>
              <a:t>i</a:t>
            </a:r>
            <a:r>
              <a:rPr sz="2100" baseline="-23809" dirty="0">
                <a:solidFill>
                  <a:srgbClr val="002454"/>
                </a:solidFill>
                <a:latin typeface="Times New Roman"/>
                <a:cs typeface="Times New Roman"/>
              </a:rPr>
              <a:t>,</a:t>
            </a:r>
            <a:r>
              <a:rPr sz="2100" i="1" baseline="-23809" dirty="0">
                <a:solidFill>
                  <a:srgbClr val="002454"/>
                </a:solidFill>
                <a:latin typeface="Times New Roman"/>
                <a:cs typeface="Times New Roman"/>
              </a:rPr>
              <a:t>d</a:t>
            </a:r>
            <a:r>
              <a:rPr sz="2100" i="1" spc="179" baseline="-23809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2350" spc="-20" dirty="0">
                <a:solidFill>
                  <a:srgbClr val="002454"/>
                </a:solidFill>
                <a:latin typeface="Times New Roman"/>
                <a:cs typeface="Times New Roman"/>
              </a:rPr>
              <a:t>(</a:t>
            </a:r>
            <a:r>
              <a:rPr sz="2350" i="1" spc="-20" dirty="0">
                <a:solidFill>
                  <a:srgbClr val="002454"/>
                </a:solidFill>
                <a:latin typeface="Times New Roman"/>
                <a:cs typeface="Times New Roman"/>
              </a:rPr>
              <a:t>u</a:t>
            </a:r>
            <a:r>
              <a:rPr sz="2350" spc="-20" dirty="0">
                <a:solidFill>
                  <a:srgbClr val="002454"/>
                </a:solidFill>
                <a:latin typeface="Times New Roman"/>
                <a:cs typeface="Times New Roman"/>
              </a:rPr>
              <a:t>)</a:t>
            </a:r>
            <a:r>
              <a:rPr sz="2350" b="1" spc="-20" dirty="0">
                <a:solidFill>
                  <a:srgbClr val="002454"/>
                </a:solidFill>
                <a:latin typeface="Times New Roman"/>
                <a:cs typeface="Times New Roman"/>
              </a:rPr>
              <a:t>p</a:t>
            </a:r>
            <a:r>
              <a:rPr sz="2100" i="1" spc="-30" baseline="-23809" dirty="0">
                <a:solidFill>
                  <a:srgbClr val="002454"/>
                </a:solidFill>
                <a:latin typeface="Times New Roman"/>
                <a:cs typeface="Times New Roman"/>
              </a:rPr>
              <a:t>i</a:t>
            </a:r>
            <a:endParaRPr sz="2100" baseline="-23809" dirty="0">
              <a:solidFill>
                <a:srgbClr val="002454"/>
              </a:solidFill>
              <a:latin typeface="Times New Roman"/>
              <a:cs typeface="Times New Roman"/>
            </a:endParaRPr>
          </a:p>
          <a:p>
            <a:pPr marR="732790" algn="ctr">
              <a:spcBef>
                <a:spcPts val="160"/>
              </a:spcBef>
            </a:pPr>
            <a:r>
              <a:rPr sz="1400" i="1" spc="-110" dirty="0">
                <a:solidFill>
                  <a:srgbClr val="002454"/>
                </a:solidFill>
                <a:latin typeface="Times New Roman"/>
                <a:cs typeface="Times New Roman"/>
              </a:rPr>
              <a:t>i</a:t>
            </a:r>
            <a:r>
              <a:rPr sz="1400" spc="-110" dirty="0">
                <a:solidFill>
                  <a:srgbClr val="002454"/>
                </a:solidFill>
                <a:latin typeface="Symbol"/>
                <a:cs typeface="Symbol"/>
              </a:rPr>
              <a:t></a:t>
            </a:r>
            <a:r>
              <a:rPr sz="1400" spc="20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1400" spc="-50" dirty="0">
                <a:solidFill>
                  <a:srgbClr val="002454"/>
                </a:solidFill>
                <a:latin typeface="Times New Roman"/>
                <a:cs typeface="Times New Roman"/>
              </a:rPr>
              <a:t>0</a:t>
            </a:r>
            <a:endParaRPr sz="1400" dirty="0">
              <a:solidFill>
                <a:srgbClr val="002454"/>
              </a:solidFill>
              <a:latin typeface="Times New Roman"/>
              <a:cs typeface="Times New Roman"/>
            </a:endParaRPr>
          </a:p>
          <a:p>
            <a:pPr marL="438150" marR="332740" indent="64769">
              <a:spcBef>
                <a:spcPts val="290"/>
              </a:spcBef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onde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002454"/>
                </a:solidFill>
                <a:latin typeface="Arial"/>
                <a:cs typeface="Arial"/>
              </a:rPr>
              <a:t>m</a:t>
            </a:r>
            <a:r>
              <a:rPr sz="2000" i="1" spc="-4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número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do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polígono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controle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002454"/>
                </a:solidFill>
                <a:latin typeface="Arial"/>
                <a:cs typeface="Arial"/>
              </a:rPr>
              <a:t>d</a:t>
            </a:r>
            <a:r>
              <a:rPr sz="2000" i="1" spc="-3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002454"/>
                </a:solidFill>
                <a:latin typeface="Arial MT"/>
                <a:cs typeface="Arial MT"/>
              </a:rPr>
              <a:t>o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grau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B-spline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quer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usar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8100" marR="30480">
              <a:spcBef>
                <a:spcPts val="550"/>
              </a:spcBef>
            </a:pP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derivar</a:t>
            </a: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as</a:t>
            </a:r>
            <a:r>
              <a:rPr sz="22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funções</a:t>
            </a: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base</a:t>
            </a:r>
            <a:r>
              <a:rPr sz="22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B-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spline</a:t>
            </a:r>
            <a:r>
              <a:rPr sz="22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002454"/>
                </a:solidFill>
                <a:latin typeface="Arial MT"/>
                <a:cs typeface="Arial MT"/>
              </a:rPr>
              <a:t>pode-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2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resolver</a:t>
            </a: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um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sistema</a:t>
            </a: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2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equações</a:t>
            </a:r>
            <a:endParaRPr sz="22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38150" marR="335280" indent="-285750">
              <a:spcBef>
                <a:spcPts val="500"/>
              </a:spcBef>
              <a:buFont typeface="Wingdings"/>
              <a:buChar char=""/>
              <a:tabLst>
                <a:tab pos="438150" algn="l"/>
              </a:tabLst>
            </a:pP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B-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splines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cúbicas,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Arial MT"/>
                <a:cs typeface="Arial MT"/>
              </a:rPr>
              <a:t>requere-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continuidade</a:t>
            </a:r>
            <a:r>
              <a:rPr sz="20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</a:t>
            </a:r>
            <a:r>
              <a:rPr sz="1725" baseline="28985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r>
              <a:rPr sz="1725" spc="7" baseline="289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nos</a:t>
            </a:r>
            <a:r>
              <a:rPr sz="20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nós,</a:t>
            </a:r>
            <a:r>
              <a:rPr sz="20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002454"/>
                </a:solidFill>
                <a:latin typeface="Arial MT"/>
                <a:cs typeface="Arial MT"/>
              </a:rPr>
              <a:t>a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propriedade</a:t>
            </a:r>
            <a:r>
              <a:rPr sz="20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do</a:t>
            </a:r>
            <a:r>
              <a:rPr sz="20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fecho</a:t>
            </a:r>
            <a:r>
              <a:rPr sz="20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2454"/>
                </a:solidFill>
                <a:latin typeface="Arial MT"/>
                <a:cs typeface="Arial MT"/>
              </a:rPr>
              <a:t>convexo,</a:t>
            </a:r>
            <a:r>
              <a:rPr sz="20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2454"/>
                </a:solidFill>
                <a:latin typeface="Arial MT"/>
                <a:cs typeface="Arial MT"/>
              </a:rPr>
              <a:t>etc</a:t>
            </a:r>
            <a:endParaRPr sz="20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8100" marR="297815">
              <a:spcBef>
                <a:spcPts val="550"/>
              </a:spcBef>
            </a:pP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maneira</a:t>
            </a: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mais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natural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utilizar</a:t>
            </a: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recorrência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Cox-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de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Boor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exprime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as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funções</a:t>
            </a: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base</a:t>
            </a:r>
            <a:r>
              <a:rPr sz="22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B-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Spline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2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grau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i="1" spc="-50" dirty="0">
                <a:solidFill>
                  <a:srgbClr val="002454"/>
                </a:solidFill>
                <a:latin typeface="Arial"/>
                <a:cs typeface="Arial"/>
              </a:rPr>
              <a:t>k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como</a:t>
            </a:r>
            <a:r>
              <a:rPr sz="22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intepolação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linear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das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funções</a:t>
            </a:r>
            <a:r>
              <a:rPr sz="22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grau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i="1" spc="-20" dirty="0">
                <a:solidFill>
                  <a:srgbClr val="002454"/>
                </a:solidFill>
                <a:latin typeface="Arial"/>
                <a:cs typeface="Arial"/>
              </a:rPr>
              <a:t>k-</a:t>
            </a:r>
            <a:r>
              <a:rPr sz="2200" i="1" spc="-50" dirty="0">
                <a:solidFill>
                  <a:srgbClr val="002454"/>
                </a:solidFill>
                <a:latin typeface="Arial"/>
                <a:cs typeface="Arial"/>
              </a:rPr>
              <a:t>1</a:t>
            </a:r>
            <a:endParaRPr sz="2200" dirty="0">
              <a:solidFill>
                <a:srgbClr val="002454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2521" y="360679"/>
            <a:ext cx="488759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Recorrência</a:t>
            </a:r>
            <a:r>
              <a:rPr spc="-40" dirty="0"/>
              <a:t> </a:t>
            </a:r>
            <a:r>
              <a:rPr spc="-20" dirty="0"/>
              <a:t>Cox-</a:t>
            </a:r>
            <a:r>
              <a:rPr dirty="0"/>
              <a:t>de</a:t>
            </a:r>
            <a:r>
              <a:rPr spc="-35" dirty="0"/>
              <a:t> </a:t>
            </a:r>
            <a:r>
              <a:rPr spc="-20" dirty="0"/>
              <a:t>Boor</a:t>
            </a:r>
          </a:p>
        </p:txBody>
      </p:sp>
      <p:sp>
        <p:nvSpPr>
          <p:cNvPr id="3" name="object 3"/>
          <p:cNvSpPr/>
          <p:nvPr/>
        </p:nvSpPr>
        <p:spPr>
          <a:xfrm>
            <a:off x="2948939" y="2296160"/>
            <a:ext cx="867410" cy="0"/>
          </a:xfrm>
          <a:custGeom>
            <a:avLst/>
            <a:gdLst/>
            <a:ahLst/>
            <a:cxnLst/>
            <a:rect l="l" t="t" r="r" b="b"/>
            <a:pathLst>
              <a:path w="867410">
                <a:moveTo>
                  <a:pt x="0" y="0"/>
                </a:moveTo>
                <a:lnTo>
                  <a:pt x="867410" y="0"/>
                </a:lnTo>
              </a:path>
            </a:pathLst>
          </a:custGeom>
          <a:ln w="8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3750" y="2296160"/>
            <a:ext cx="1144270" cy="0"/>
          </a:xfrm>
          <a:custGeom>
            <a:avLst/>
            <a:gdLst/>
            <a:ahLst/>
            <a:cxnLst/>
            <a:rect l="l" t="t" r="r" b="b"/>
            <a:pathLst>
              <a:path w="1144270">
                <a:moveTo>
                  <a:pt x="0" y="0"/>
                </a:moveTo>
                <a:lnTo>
                  <a:pt x="1144270" y="0"/>
                </a:lnTo>
              </a:path>
            </a:pathLst>
          </a:custGeom>
          <a:ln w="8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18461" y="1668780"/>
            <a:ext cx="10350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750" spc="-310" dirty="0">
                <a:latin typeface="Symbol"/>
                <a:cs typeface="Symbol"/>
              </a:rPr>
              <a:t>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3060" y="1480819"/>
            <a:ext cx="31623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1750" spc="-260" dirty="0">
                <a:latin typeface="Symbol"/>
                <a:cs typeface="Symbol"/>
              </a:rPr>
              <a:t></a:t>
            </a:r>
            <a:r>
              <a:rPr sz="1750" spc="-120" dirty="0">
                <a:latin typeface="Times New Roman"/>
                <a:cs typeface="Times New Roman"/>
              </a:rPr>
              <a:t> </a:t>
            </a:r>
            <a:r>
              <a:rPr sz="2625" spc="37" baseline="-33333" dirty="0">
                <a:latin typeface="Times New Roman"/>
                <a:cs typeface="Times New Roman"/>
              </a:rPr>
              <a:t>0</a:t>
            </a:r>
            <a:endParaRPr sz="2625" baseline="-33333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28359" y="2264410"/>
            <a:ext cx="52197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8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-5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1,</a:t>
            </a:r>
            <a:r>
              <a:rPr sz="1050" i="1" dirty="0">
                <a:latin typeface="Times New Roman"/>
                <a:cs typeface="Times New Roman"/>
              </a:rPr>
              <a:t>d</a:t>
            </a:r>
            <a:r>
              <a:rPr sz="1050" i="1" spc="-6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</a:t>
            </a:r>
            <a:r>
              <a:rPr sz="1050" spc="-80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8210" y="2439670"/>
            <a:ext cx="100711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  <a:tabLst>
                <a:tab pos="768985" algn="l"/>
              </a:tabLst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1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70" dirty="0">
                <a:latin typeface="Times New Roman"/>
                <a:cs typeface="Times New Roman"/>
              </a:rPr>
              <a:t> </a:t>
            </a:r>
            <a:r>
              <a:rPr sz="1050" i="1" dirty="0">
                <a:latin typeface="Times New Roman"/>
                <a:cs typeface="Times New Roman"/>
              </a:rPr>
              <a:t>d</a:t>
            </a:r>
            <a:r>
              <a:rPr sz="1050" i="1" spc="-8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-70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Times New Roman"/>
                <a:cs typeface="Times New Roman"/>
              </a:rPr>
              <a:t>1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05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-70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91889" y="2439670"/>
            <a:ext cx="8890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spc="-50" dirty="0">
                <a:latin typeface="Times New Roman"/>
                <a:cs typeface="Times New Roman"/>
              </a:rPr>
              <a:t>k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74669" y="2439670"/>
            <a:ext cx="26670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1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65" dirty="0">
                <a:latin typeface="Times New Roman"/>
                <a:cs typeface="Times New Roman"/>
              </a:rPr>
              <a:t> </a:t>
            </a:r>
            <a:r>
              <a:rPr sz="1050" i="1" spc="-50" dirty="0">
                <a:latin typeface="Times New Roman"/>
                <a:cs typeface="Times New Roman"/>
              </a:rPr>
              <a:t>d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57730" y="2264410"/>
            <a:ext cx="21844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00" dirty="0">
                <a:latin typeface="Times New Roman"/>
                <a:cs typeface="Times New Roman"/>
              </a:rPr>
              <a:t> </a:t>
            </a:r>
            <a:r>
              <a:rPr sz="1050" spc="-25" dirty="0">
                <a:latin typeface="Times New Roman"/>
                <a:cs typeface="Times New Roman"/>
              </a:rPr>
              <a:t>,</a:t>
            </a:r>
            <a:r>
              <a:rPr sz="1050" i="1" spc="-25" dirty="0">
                <a:latin typeface="Times New Roman"/>
                <a:cs typeface="Times New Roman"/>
              </a:rPr>
              <a:t>d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57730" y="1592579"/>
            <a:ext cx="21971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00" dirty="0">
                <a:latin typeface="Times New Roman"/>
                <a:cs typeface="Times New Roman"/>
              </a:rPr>
              <a:t> </a:t>
            </a:r>
            <a:r>
              <a:rPr sz="1050" spc="25" dirty="0">
                <a:latin typeface="Times New Roman"/>
                <a:cs typeface="Times New Roman"/>
              </a:rPr>
              <a:t>,0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84851" y="2113280"/>
            <a:ext cx="17208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750" i="1" spc="25" dirty="0">
                <a:latin typeface="Times New Roman"/>
                <a:cs typeface="Times New Roman"/>
              </a:rPr>
              <a:t>B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98671" y="2289810"/>
            <a:ext cx="90233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602615" algn="l"/>
              </a:tabLst>
            </a:pPr>
            <a:r>
              <a:rPr sz="1750" i="1" spc="10" dirty="0">
                <a:latin typeface="Times New Roman"/>
                <a:cs typeface="Times New Roman"/>
              </a:rPr>
              <a:t>u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-290" dirty="0">
                <a:latin typeface="Symbol"/>
                <a:cs typeface="Symbol"/>
              </a:rPr>
              <a:t></a:t>
            </a:r>
            <a:r>
              <a:rPr sz="1750" spc="190" dirty="0">
                <a:latin typeface="Times New Roman"/>
                <a:cs typeface="Times New Roman"/>
              </a:rPr>
              <a:t> </a:t>
            </a:r>
            <a:r>
              <a:rPr sz="1750" i="1" spc="10" dirty="0">
                <a:latin typeface="Times New Roman"/>
                <a:cs typeface="Times New Roman"/>
              </a:rPr>
              <a:t>u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92651" y="2026919"/>
            <a:ext cx="95313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2625" i="1" spc="112" baseline="14285" dirty="0">
                <a:latin typeface="Times New Roman"/>
                <a:cs typeface="Times New Roman"/>
              </a:rPr>
              <a:t>u</a:t>
            </a:r>
            <a:r>
              <a:rPr sz="1050" i="1" spc="75" dirty="0">
                <a:latin typeface="Times New Roman"/>
                <a:cs typeface="Times New Roman"/>
              </a:rPr>
              <a:t>k</a:t>
            </a:r>
            <a:r>
              <a:rPr sz="1050" i="1" spc="-114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55" dirty="0">
                <a:latin typeface="Times New Roman"/>
                <a:cs typeface="Times New Roman"/>
              </a:rPr>
              <a:t> </a:t>
            </a:r>
            <a:r>
              <a:rPr sz="1050" i="1" dirty="0">
                <a:latin typeface="Times New Roman"/>
                <a:cs typeface="Times New Roman"/>
              </a:rPr>
              <a:t>d</a:t>
            </a:r>
            <a:r>
              <a:rPr sz="1050" i="1" spc="-9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-8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1</a:t>
            </a:r>
            <a:r>
              <a:rPr sz="1050" spc="185" dirty="0">
                <a:latin typeface="Times New Roman"/>
                <a:cs typeface="Times New Roman"/>
              </a:rPr>
              <a:t> </a:t>
            </a:r>
            <a:r>
              <a:rPr sz="2625" spc="-434" baseline="14285" dirty="0">
                <a:latin typeface="Symbol"/>
                <a:cs typeface="Symbol"/>
              </a:rPr>
              <a:t></a:t>
            </a:r>
            <a:r>
              <a:rPr sz="2625" spc="337" baseline="14285" dirty="0">
                <a:latin typeface="Times New Roman"/>
                <a:cs typeface="Times New Roman"/>
              </a:rPr>
              <a:t> </a:t>
            </a:r>
            <a:r>
              <a:rPr sz="2625" i="1" spc="15" baseline="14285" dirty="0">
                <a:latin typeface="Times New Roman"/>
                <a:cs typeface="Times New Roman"/>
              </a:rPr>
              <a:t>u</a:t>
            </a:r>
            <a:endParaRPr sz="2625" baseline="14285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26510" y="2170430"/>
            <a:ext cx="71882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2625" i="1" baseline="14285" dirty="0">
                <a:latin typeface="Times New Roman"/>
                <a:cs typeface="Times New Roman"/>
              </a:rPr>
              <a:t>B</a:t>
            </a: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8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,</a:t>
            </a:r>
            <a:r>
              <a:rPr sz="1050" i="1" dirty="0">
                <a:latin typeface="Times New Roman"/>
                <a:cs typeface="Times New Roman"/>
              </a:rPr>
              <a:t>d</a:t>
            </a:r>
            <a:r>
              <a:rPr sz="1050" i="1" spc="-55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</a:t>
            </a:r>
            <a:r>
              <a:rPr sz="1050" spc="-7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1</a:t>
            </a:r>
            <a:r>
              <a:rPr sz="1050" spc="275" dirty="0">
                <a:latin typeface="Times New Roman"/>
                <a:cs typeface="Times New Roman"/>
              </a:rPr>
              <a:t> </a:t>
            </a:r>
            <a:r>
              <a:rPr sz="2625" spc="-509" baseline="14285" dirty="0">
                <a:latin typeface="Symbol"/>
                <a:cs typeface="Symbol"/>
              </a:rPr>
              <a:t></a:t>
            </a:r>
            <a:endParaRPr sz="2625" baseline="14285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45131" y="2289810"/>
            <a:ext cx="76390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462915" algn="l"/>
              </a:tabLst>
            </a:pPr>
            <a:r>
              <a:rPr sz="1750" i="1" spc="10" dirty="0">
                <a:latin typeface="Times New Roman"/>
                <a:cs typeface="Times New Roman"/>
              </a:rPr>
              <a:t>u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-290" dirty="0">
                <a:latin typeface="Symbol"/>
                <a:cs typeface="Symbol"/>
              </a:rPr>
              <a:t>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u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60700" y="1971039"/>
            <a:ext cx="60579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1750" i="1" spc="60" dirty="0">
                <a:latin typeface="Times New Roman"/>
                <a:cs typeface="Times New Roman"/>
              </a:rPr>
              <a:t>u</a:t>
            </a:r>
            <a:r>
              <a:rPr sz="1750" i="1" spc="-45" dirty="0">
                <a:latin typeface="Times New Roman"/>
                <a:cs typeface="Times New Roman"/>
              </a:rPr>
              <a:t> </a:t>
            </a:r>
            <a:r>
              <a:rPr sz="1750" spc="-290" dirty="0">
                <a:latin typeface="Symbol"/>
                <a:cs typeface="Symbol"/>
              </a:rPr>
              <a:t>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i="1" spc="50" dirty="0">
                <a:latin typeface="Times New Roman"/>
                <a:cs typeface="Times New Roman"/>
              </a:rPr>
              <a:t>u</a:t>
            </a:r>
            <a:r>
              <a:rPr sz="1575" i="1" spc="75" baseline="-23809" dirty="0">
                <a:latin typeface="Times New Roman"/>
                <a:cs typeface="Times New Roman"/>
              </a:rPr>
              <a:t>k</a:t>
            </a:r>
            <a:endParaRPr sz="1575" baseline="-23809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12950" y="2113280"/>
            <a:ext cx="84201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393065" algn="l"/>
              </a:tabLst>
            </a:pPr>
            <a:r>
              <a:rPr sz="1750" i="1" spc="25" dirty="0">
                <a:latin typeface="Times New Roman"/>
                <a:cs typeface="Times New Roman"/>
              </a:rPr>
              <a:t>B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80" dirty="0">
                <a:latin typeface="Times New Roman"/>
                <a:cs typeface="Times New Roman"/>
              </a:rPr>
              <a:t>(</a:t>
            </a:r>
            <a:r>
              <a:rPr sz="1750" i="1" spc="80" dirty="0">
                <a:latin typeface="Times New Roman"/>
                <a:cs typeface="Times New Roman"/>
              </a:rPr>
              <a:t>u</a:t>
            </a:r>
            <a:r>
              <a:rPr sz="1750" spc="80" dirty="0">
                <a:latin typeface="Times New Roman"/>
                <a:cs typeface="Times New Roman"/>
              </a:rPr>
              <a:t>)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spc="-340" dirty="0">
                <a:latin typeface="Symbol"/>
                <a:cs typeface="Symbol"/>
              </a:rPr>
              <a:t>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56610" y="1209801"/>
            <a:ext cx="1800860" cy="66268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 indent="3810">
              <a:lnSpc>
                <a:spcPct val="126699"/>
              </a:lnSpc>
              <a:spcBef>
                <a:spcPts val="90"/>
              </a:spcBef>
            </a:pPr>
            <a:r>
              <a:rPr sz="1750" spc="60" dirty="0">
                <a:latin typeface="Times New Roman"/>
                <a:cs typeface="Times New Roman"/>
              </a:rPr>
              <a:t>para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i="1" spc="80" dirty="0">
                <a:latin typeface="Times New Roman"/>
                <a:cs typeface="Times New Roman"/>
              </a:rPr>
              <a:t>u</a:t>
            </a:r>
            <a:r>
              <a:rPr sz="1575" i="1" spc="120" baseline="-23809" dirty="0">
                <a:latin typeface="Times New Roman"/>
                <a:cs typeface="Times New Roman"/>
              </a:rPr>
              <a:t>k</a:t>
            </a:r>
            <a:r>
              <a:rPr sz="1575" i="1" spc="660" baseline="-23809" dirty="0">
                <a:latin typeface="Times New Roman"/>
                <a:cs typeface="Times New Roman"/>
              </a:rPr>
              <a:t> </a:t>
            </a:r>
            <a:r>
              <a:rPr sz="1750" spc="-290" dirty="0">
                <a:latin typeface="Symbol"/>
                <a:cs typeface="Symbol"/>
              </a:rPr>
              <a:t></a:t>
            </a:r>
            <a:r>
              <a:rPr sz="1750" spc="330" dirty="0">
                <a:latin typeface="Times New Roman"/>
                <a:cs typeface="Times New Roman"/>
              </a:rPr>
              <a:t> </a:t>
            </a:r>
            <a:r>
              <a:rPr sz="1750" i="1" spc="60" dirty="0">
                <a:latin typeface="Times New Roman"/>
                <a:cs typeface="Times New Roman"/>
              </a:rPr>
              <a:t>u</a:t>
            </a:r>
            <a:r>
              <a:rPr sz="1750" i="1" spc="50" dirty="0">
                <a:latin typeface="Times New Roman"/>
                <a:cs typeface="Times New Roman"/>
              </a:rPr>
              <a:t> </a:t>
            </a:r>
            <a:r>
              <a:rPr sz="1750" spc="-290" dirty="0">
                <a:latin typeface="Symbol"/>
                <a:cs typeface="Symbol"/>
              </a:rPr>
              <a:t></a:t>
            </a:r>
            <a:r>
              <a:rPr sz="1750" spc="325" dirty="0">
                <a:latin typeface="Times New Roman"/>
                <a:cs typeface="Times New Roman"/>
              </a:rPr>
              <a:t> </a:t>
            </a:r>
            <a:r>
              <a:rPr sz="1750" i="1" spc="75" dirty="0">
                <a:latin typeface="Times New Roman"/>
                <a:cs typeface="Times New Roman"/>
              </a:rPr>
              <a:t>u</a:t>
            </a:r>
            <a:r>
              <a:rPr sz="1575" i="1" spc="112" baseline="-23809" dirty="0">
                <a:latin typeface="Times New Roman"/>
                <a:cs typeface="Times New Roman"/>
              </a:rPr>
              <a:t>k</a:t>
            </a:r>
            <a:r>
              <a:rPr sz="1575" i="1" spc="-172" baseline="-23809" dirty="0">
                <a:latin typeface="Times New Roman"/>
                <a:cs typeface="Times New Roman"/>
              </a:rPr>
              <a:t> </a:t>
            </a:r>
            <a:r>
              <a:rPr sz="1575" spc="-284" baseline="-23809" dirty="0">
                <a:latin typeface="Symbol"/>
                <a:cs typeface="Symbol"/>
              </a:rPr>
              <a:t></a:t>
            </a:r>
            <a:r>
              <a:rPr sz="1575" spc="-120" baseline="-23809" dirty="0">
                <a:latin typeface="Times New Roman"/>
                <a:cs typeface="Times New Roman"/>
              </a:rPr>
              <a:t> </a:t>
            </a:r>
            <a:r>
              <a:rPr sz="1575" spc="82" baseline="-23809" dirty="0">
                <a:latin typeface="Times New Roman"/>
                <a:cs typeface="Times New Roman"/>
              </a:rPr>
              <a:t>1</a:t>
            </a:r>
            <a:r>
              <a:rPr sz="1750" spc="55" dirty="0">
                <a:latin typeface="Times New Roman"/>
                <a:cs typeface="Times New Roman"/>
              </a:rPr>
              <a:t>, </a:t>
            </a:r>
            <a:r>
              <a:rPr sz="1750" spc="60" dirty="0">
                <a:latin typeface="Times New Roman"/>
                <a:cs typeface="Times New Roman"/>
              </a:rPr>
              <a:t>caso</a:t>
            </a:r>
            <a:r>
              <a:rPr sz="1750" spc="-80" dirty="0">
                <a:latin typeface="Times New Roman"/>
                <a:cs typeface="Times New Roman"/>
              </a:rPr>
              <a:t> </a:t>
            </a:r>
            <a:r>
              <a:rPr sz="1750" spc="45" dirty="0">
                <a:latin typeface="Times New Roman"/>
                <a:cs typeface="Times New Roman"/>
              </a:rPr>
              <a:t>contrário.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87550" y="1441449"/>
            <a:ext cx="119888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  <a:tabLst>
                <a:tab pos="403225" algn="l"/>
              </a:tabLst>
            </a:pPr>
            <a:r>
              <a:rPr sz="1750" i="1" spc="25" dirty="0">
                <a:latin typeface="Times New Roman"/>
                <a:cs typeface="Times New Roman"/>
              </a:rPr>
              <a:t>B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80" dirty="0">
                <a:latin typeface="Times New Roman"/>
                <a:cs typeface="Times New Roman"/>
              </a:rPr>
              <a:t>(</a:t>
            </a:r>
            <a:r>
              <a:rPr sz="1750" i="1" spc="80" dirty="0">
                <a:latin typeface="Times New Roman"/>
                <a:cs typeface="Times New Roman"/>
              </a:rPr>
              <a:t>u</a:t>
            </a:r>
            <a:r>
              <a:rPr sz="1750" spc="80" dirty="0">
                <a:latin typeface="Times New Roman"/>
                <a:cs typeface="Times New Roman"/>
              </a:rPr>
              <a:t>)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spc="-290" dirty="0">
                <a:latin typeface="Symbol"/>
                <a:cs typeface="Symbol"/>
              </a:rPr>
              <a:t></a:t>
            </a:r>
            <a:r>
              <a:rPr sz="1750" spc="390" dirty="0">
                <a:latin typeface="Times New Roman"/>
                <a:cs typeface="Times New Roman"/>
              </a:rPr>
              <a:t> </a:t>
            </a:r>
            <a:r>
              <a:rPr sz="2625" spc="-37" baseline="36507" dirty="0">
                <a:latin typeface="Symbol"/>
                <a:cs typeface="Symbol"/>
              </a:rPr>
              <a:t></a:t>
            </a:r>
            <a:r>
              <a:rPr sz="2625" spc="-37" baseline="41269" dirty="0">
                <a:latin typeface="Times New Roman"/>
                <a:cs typeface="Times New Roman"/>
              </a:rPr>
              <a:t>1</a:t>
            </a:r>
            <a:endParaRPr sz="2625" baseline="41269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628900" y="3581400"/>
            <a:ext cx="6362700" cy="2062480"/>
            <a:chOff x="1104900" y="3581400"/>
            <a:chExt cx="6362700" cy="2062480"/>
          </a:xfrm>
        </p:grpSpPr>
        <p:sp>
          <p:nvSpPr>
            <p:cNvPr id="23" name="object 23"/>
            <p:cNvSpPr/>
            <p:nvPr/>
          </p:nvSpPr>
          <p:spPr>
            <a:xfrm>
              <a:off x="1104900" y="3581399"/>
              <a:ext cx="6362700" cy="2019300"/>
            </a:xfrm>
            <a:custGeom>
              <a:avLst/>
              <a:gdLst/>
              <a:ahLst/>
              <a:cxnLst/>
              <a:rect l="l" t="t" r="r" b="b"/>
              <a:pathLst>
                <a:path w="6362700" h="2019300">
                  <a:moveTo>
                    <a:pt x="6362700" y="1981200"/>
                  </a:moveTo>
                  <a:lnTo>
                    <a:pt x="6286500" y="1943100"/>
                  </a:lnTo>
                  <a:lnTo>
                    <a:pt x="6286500" y="1976120"/>
                  </a:lnTo>
                  <a:lnTo>
                    <a:pt x="43180" y="1976120"/>
                  </a:lnTo>
                  <a:lnTo>
                    <a:pt x="43180" y="74930"/>
                  </a:lnTo>
                  <a:lnTo>
                    <a:pt x="76200" y="74930"/>
                  </a:lnTo>
                  <a:lnTo>
                    <a:pt x="38100" y="0"/>
                  </a:lnTo>
                  <a:lnTo>
                    <a:pt x="0" y="74930"/>
                  </a:lnTo>
                  <a:lnTo>
                    <a:pt x="33020" y="74930"/>
                  </a:lnTo>
                  <a:lnTo>
                    <a:pt x="33020" y="1981200"/>
                  </a:lnTo>
                  <a:lnTo>
                    <a:pt x="38100" y="1981200"/>
                  </a:lnTo>
                  <a:lnTo>
                    <a:pt x="38100" y="1986280"/>
                  </a:lnTo>
                  <a:lnTo>
                    <a:pt x="6286500" y="1986280"/>
                  </a:lnTo>
                  <a:lnTo>
                    <a:pt x="6286500" y="2019300"/>
                  </a:lnTo>
                  <a:lnTo>
                    <a:pt x="6362700" y="1981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43000" y="5562600"/>
              <a:ext cx="5867400" cy="76200"/>
            </a:xfrm>
            <a:custGeom>
              <a:avLst/>
              <a:gdLst/>
              <a:ahLst/>
              <a:cxnLst/>
              <a:rect l="l" t="t" r="r" b="b"/>
              <a:pathLst>
                <a:path w="5867400" h="76200">
                  <a:moveTo>
                    <a:pt x="1676400" y="0"/>
                  </a:moveTo>
                  <a:lnTo>
                    <a:pt x="1676400" y="76200"/>
                  </a:lnTo>
                </a:path>
                <a:path w="5867400" h="76200">
                  <a:moveTo>
                    <a:pt x="2514600" y="0"/>
                  </a:moveTo>
                  <a:lnTo>
                    <a:pt x="2514600" y="76200"/>
                  </a:lnTo>
                </a:path>
                <a:path w="5867400" h="76200">
                  <a:moveTo>
                    <a:pt x="3352800" y="0"/>
                  </a:moveTo>
                  <a:lnTo>
                    <a:pt x="3352800" y="76200"/>
                  </a:lnTo>
                </a:path>
                <a:path w="5867400" h="76200">
                  <a:moveTo>
                    <a:pt x="4191000" y="0"/>
                  </a:moveTo>
                  <a:lnTo>
                    <a:pt x="4191000" y="76200"/>
                  </a:lnTo>
                </a:path>
                <a:path w="5867400" h="76200">
                  <a:moveTo>
                    <a:pt x="5029200" y="0"/>
                  </a:moveTo>
                  <a:lnTo>
                    <a:pt x="5029200" y="76200"/>
                  </a:lnTo>
                </a:path>
                <a:path w="5867400" h="76200">
                  <a:moveTo>
                    <a:pt x="5867400" y="0"/>
                  </a:moveTo>
                  <a:lnTo>
                    <a:pt x="5867400" y="76200"/>
                  </a:lnTo>
                </a:path>
                <a:path w="5867400" h="76200">
                  <a:moveTo>
                    <a:pt x="838200" y="0"/>
                  </a:moveTo>
                  <a:lnTo>
                    <a:pt x="838200" y="76200"/>
                  </a:lnTo>
                </a:path>
                <a:path w="5867400" h="76200">
                  <a:moveTo>
                    <a:pt x="1676400" y="0"/>
                  </a:moveTo>
                  <a:lnTo>
                    <a:pt x="1676400" y="76200"/>
                  </a:lnTo>
                </a:path>
                <a:path w="5867400" h="76200">
                  <a:moveTo>
                    <a:pt x="0" y="0"/>
                  </a:moveTo>
                  <a:lnTo>
                    <a:pt x="0" y="76200"/>
                  </a:lnTo>
                </a:path>
                <a:path w="5867400" h="76200">
                  <a:moveTo>
                    <a:pt x="838200" y="0"/>
                  </a:moveTo>
                  <a:lnTo>
                    <a:pt x="838200" y="76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906510" y="5698490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0" dirty="0">
                <a:latin typeface="Cambria"/>
                <a:cs typeface="Cambria"/>
              </a:rPr>
              <a:t>u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57550" y="5736590"/>
            <a:ext cx="4076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i="1" spc="-30" baseline="13888" dirty="0">
                <a:latin typeface="Cambria"/>
                <a:cs typeface="Cambria"/>
              </a:rPr>
              <a:t>u</a:t>
            </a:r>
            <a:r>
              <a:rPr sz="1150" i="1" spc="-20" dirty="0">
                <a:latin typeface="Cambria"/>
                <a:cs typeface="Cambria"/>
              </a:rPr>
              <a:t>i–1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77030" y="5673090"/>
            <a:ext cx="2597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i="1" spc="-25" dirty="0">
                <a:latin typeface="Cambria"/>
                <a:cs typeface="Cambria"/>
              </a:rPr>
              <a:t>u</a:t>
            </a:r>
            <a:r>
              <a:rPr sz="1725" i="1" spc="-37" baseline="-24154" dirty="0">
                <a:latin typeface="Cambria"/>
                <a:cs typeface="Cambria"/>
              </a:rPr>
              <a:t>i</a:t>
            </a:r>
            <a:endParaRPr sz="1725" baseline="-24154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41571" y="5736590"/>
            <a:ext cx="42290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i="1" spc="-30" baseline="13888" dirty="0">
                <a:latin typeface="Cambria"/>
                <a:cs typeface="Cambria"/>
              </a:rPr>
              <a:t>u</a:t>
            </a:r>
            <a:r>
              <a:rPr sz="1150" i="1" spc="-20" dirty="0">
                <a:latin typeface="Cambria"/>
                <a:cs typeface="Cambria"/>
              </a:rPr>
              <a:t>i+1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79771" y="5736590"/>
            <a:ext cx="42290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i="1" spc="-30" baseline="13888" dirty="0">
                <a:latin typeface="Cambria"/>
                <a:cs typeface="Cambria"/>
              </a:rPr>
              <a:t>u</a:t>
            </a:r>
            <a:r>
              <a:rPr sz="1150" i="1" spc="-20" dirty="0">
                <a:latin typeface="Cambria"/>
                <a:cs typeface="Cambria"/>
              </a:rPr>
              <a:t>i+2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17971" y="5736590"/>
            <a:ext cx="42290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i="1" spc="-30" baseline="13888" dirty="0">
                <a:latin typeface="Cambria"/>
                <a:cs typeface="Cambria"/>
              </a:rPr>
              <a:t>u</a:t>
            </a:r>
            <a:r>
              <a:rPr sz="1150" i="1" spc="-20" dirty="0">
                <a:latin typeface="Cambria"/>
                <a:cs typeface="Cambria"/>
              </a:rPr>
              <a:t>i+3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56171" y="5736590"/>
            <a:ext cx="42290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i="1" spc="-30" baseline="13888" dirty="0">
                <a:latin typeface="Cambria"/>
                <a:cs typeface="Cambria"/>
              </a:rPr>
              <a:t>u</a:t>
            </a:r>
            <a:r>
              <a:rPr sz="1150" i="1" spc="-20" dirty="0">
                <a:latin typeface="Cambria"/>
                <a:cs typeface="Cambria"/>
              </a:rPr>
              <a:t>i+4</a:t>
            </a:r>
            <a:endParaRPr sz="1150">
              <a:latin typeface="Cambria"/>
              <a:cs typeface="Cambri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667001" y="4376828"/>
            <a:ext cx="6186805" cy="1241425"/>
            <a:chOff x="1143000" y="4376827"/>
            <a:chExt cx="6186805" cy="1241425"/>
          </a:xfrm>
        </p:grpSpPr>
        <p:sp>
          <p:nvSpPr>
            <p:cNvPr id="33" name="object 33"/>
            <p:cNvSpPr/>
            <p:nvPr/>
          </p:nvSpPr>
          <p:spPr>
            <a:xfrm>
              <a:off x="1143000" y="4419600"/>
              <a:ext cx="6019800" cy="1143000"/>
            </a:xfrm>
            <a:custGeom>
              <a:avLst/>
              <a:gdLst/>
              <a:ahLst/>
              <a:cxnLst/>
              <a:rect l="l" t="t" r="r" b="b"/>
              <a:pathLst>
                <a:path w="6019800" h="1143000">
                  <a:moveTo>
                    <a:pt x="0" y="1143000"/>
                  </a:moveTo>
                  <a:lnTo>
                    <a:pt x="1676400" y="1143000"/>
                  </a:lnTo>
                </a:path>
                <a:path w="6019800" h="1143000">
                  <a:moveTo>
                    <a:pt x="2514600" y="1143000"/>
                  </a:moveTo>
                  <a:lnTo>
                    <a:pt x="6019800" y="1143000"/>
                  </a:lnTo>
                </a:path>
                <a:path w="6019800" h="1143000">
                  <a:moveTo>
                    <a:pt x="1676400" y="0"/>
                  </a:moveTo>
                  <a:lnTo>
                    <a:pt x="2514600" y="0"/>
                  </a:lnTo>
                </a:path>
              </a:pathLst>
            </a:custGeom>
            <a:ln w="283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19400" y="4419600"/>
              <a:ext cx="838200" cy="1143000"/>
            </a:xfrm>
            <a:custGeom>
              <a:avLst/>
              <a:gdLst/>
              <a:ahLst/>
              <a:cxnLst/>
              <a:rect l="l" t="t" r="r" b="b"/>
              <a:pathLst>
                <a:path w="838200" h="1143000">
                  <a:moveTo>
                    <a:pt x="0" y="1143000"/>
                  </a:moveTo>
                  <a:lnTo>
                    <a:pt x="0" y="0"/>
                  </a:lnTo>
                </a:path>
                <a:path w="838200" h="1143000">
                  <a:moveTo>
                    <a:pt x="838200" y="1143000"/>
                  </a:moveTo>
                  <a:lnTo>
                    <a:pt x="838200" y="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9327" y="5519827"/>
              <a:ext cx="85544" cy="8554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7527" y="4389527"/>
              <a:ext cx="85544" cy="8554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76627" y="4376827"/>
              <a:ext cx="85544" cy="8554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27527" y="5519827"/>
              <a:ext cx="85544" cy="8554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143000" y="4419600"/>
              <a:ext cx="5943600" cy="1143000"/>
            </a:xfrm>
            <a:custGeom>
              <a:avLst/>
              <a:gdLst/>
              <a:ahLst/>
              <a:cxnLst/>
              <a:rect l="l" t="t" r="r" b="b"/>
              <a:pathLst>
                <a:path w="5943600" h="1143000">
                  <a:moveTo>
                    <a:pt x="0" y="1143000"/>
                  </a:moveTo>
                  <a:lnTo>
                    <a:pt x="2514600" y="1143000"/>
                  </a:lnTo>
                </a:path>
                <a:path w="5943600" h="1143000">
                  <a:moveTo>
                    <a:pt x="3352800" y="1143000"/>
                  </a:moveTo>
                  <a:lnTo>
                    <a:pt x="5943600" y="1143000"/>
                  </a:lnTo>
                </a:path>
                <a:path w="5943600" h="1143000">
                  <a:moveTo>
                    <a:pt x="2514600" y="0"/>
                  </a:moveTo>
                  <a:lnTo>
                    <a:pt x="3352800" y="0"/>
                  </a:lnTo>
                </a:path>
              </a:pathLst>
            </a:custGeom>
            <a:ln w="28393">
              <a:solidFill>
                <a:srgbClr val="99C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95800" y="4419600"/>
              <a:ext cx="0" cy="1143000"/>
            </a:xfrm>
            <a:custGeom>
              <a:avLst/>
              <a:gdLst/>
              <a:ahLst/>
              <a:cxnLst/>
              <a:rect l="l" t="t" r="r" b="b"/>
              <a:pathLst>
                <a:path h="1143000">
                  <a:moveTo>
                    <a:pt x="0" y="1143000"/>
                  </a:moveTo>
                  <a:lnTo>
                    <a:pt x="0" y="0"/>
                  </a:lnTo>
                </a:path>
              </a:pathLst>
            </a:custGeom>
            <a:ln w="9344">
              <a:solidFill>
                <a:srgbClr val="99C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27527" y="5519827"/>
              <a:ext cx="85544" cy="8554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64457" y="4389527"/>
              <a:ext cx="86814" cy="8554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14827" y="4376827"/>
              <a:ext cx="85544" cy="8554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64457" y="5519827"/>
              <a:ext cx="86814" cy="85544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155700" y="4432300"/>
              <a:ext cx="6172200" cy="1143000"/>
            </a:xfrm>
            <a:custGeom>
              <a:avLst/>
              <a:gdLst/>
              <a:ahLst/>
              <a:cxnLst/>
              <a:rect l="l" t="t" r="r" b="b"/>
              <a:pathLst>
                <a:path w="6172200" h="1143000">
                  <a:moveTo>
                    <a:pt x="0" y="1143000"/>
                  </a:moveTo>
                  <a:lnTo>
                    <a:pt x="3352800" y="1143000"/>
                  </a:lnTo>
                </a:path>
                <a:path w="6172200" h="1143000">
                  <a:moveTo>
                    <a:pt x="4191000" y="1143000"/>
                  </a:moveTo>
                  <a:lnTo>
                    <a:pt x="6172200" y="1143000"/>
                  </a:lnTo>
                </a:path>
                <a:path w="6172200" h="1143000">
                  <a:moveTo>
                    <a:pt x="3352800" y="0"/>
                  </a:moveTo>
                  <a:lnTo>
                    <a:pt x="4191000" y="0"/>
                  </a:lnTo>
                </a:path>
              </a:pathLst>
            </a:custGeom>
            <a:ln w="28393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346700" y="4432300"/>
              <a:ext cx="0" cy="1143000"/>
            </a:xfrm>
            <a:custGeom>
              <a:avLst/>
              <a:gdLst/>
              <a:ahLst/>
              <a:cxnLst/>
              <a:rect l="l" t="t" r="r" b="b"/>
              <a:pathLst>
                <a:path h="1143000">
                  <a:moveTo>
                    <a:pt x="0" y="1143000"/>
                  </a:moveTo>
                  <a:lnTo>
                    <a:pt x="0" y="0"/>
                  </a:lnTo>
                </a:path>
              </a:pathLst>
            </a:custGeom>
            <a:ln w="9344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78427" y="5532527"/>
              <a:ext cx="85544" cy="8554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16627" y="4402227"/>
              <a:ext cx="85544" cy="8554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64457" y="4389527"/>
              <a:ext cx="86814" cy="8554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16627" y="5532527"/>
              <a:ext cx="85544" cy="85544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143000" y="4419600"/>
              <a:ext cx="6019800" cy="1143000"/>
            </a:xfrm>
            <a:custGeom>
              <a:avLst/>
              <a:gdLst/>
              <a:ahLst/>
              <a:cxnLst/>
              <a:rect l="l" t="t" r="r" b="b"/>
              <a:pathLst>
                <a:path w="6019800" h="1143000">
                  <a:moveTo>
                    <a:pt x="0" y="1143000"/>
                  </a:moveTo>
                  <a:lnTo>
                    <a:pt x="1676400" y="1143000"/>
                  </a:lnTo>
                </a:path>
                <a:path w="6019800" h="1143000">
                  <a:moveTo>
                    <a:pt x="3352800" y="1143000"/>
                  </a:moveTo>
                  <a:lnTo>
                    <a:pt x="6019800" y="1143000"/>
                  </a:lnTo>
                </a:path>
                <a:path w="6019800" h="1143000">
                  <a:moveTo>
                    <a:pt x="1676400" y="1143000"/>
                  </a:moveTo>
                  <a:lnTo>
                    <a:pt x="2514600" y="0"/>
                  </a:lnTo>
                </a:path>
                <a:path w="6019800" h="1143000">
                  <a:moveTo>
                    <a:pt x="3352800" y="1143000"/>
                  </a:moveTo>
                  <a:lnTo>
                    <a:pt x="2514600" y="0"/>
                  </a:lnTo>
                </a:path>
              </a:pathLst>
            </a:custGeom>
            <a:ln w="283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143000" y="4419600"/>
              <a:ext cx="5943600" cy="1143000"/>
            </a:xfrm>
            <a:custGeom>
              <a:avLst/>
              <a:gdLst/>
              <a:ahLst/>
              <a:cxnLst/>
              <a:rect l="l" t="t" r="r" b="b"/>
              <a:pathLst>
                <a:path w="5943600" h="1143000">
                  <a:moveTo>
                    <a:pt x="0" y="1143000"/>
                  </a:moveTo>
                  <a:lnTo>
                    <a:pt x="2514600" y="1143000"/>
                  </a:lnTo>
                </a:path>
                <a:path w="5943600" h="1143000">
                  <a:moveTo>
                    <a:pt x="4191000" y="1143000"/>
                  </a:moveTo>
                  <a:lnTo>
                    <a:pt x="5943600" y="1143000"/>
                  </a:lnTo>
                </a:path>
                <a:path w="5943600" h="1143000">
                  <a:moveTo>
                    <a:pt x="2514600" y="1143000"/>
                  </a:moveTo>
                  <a:lnTo>
                    <a:pt x="3352800" y="0"/>
                  </a:lnTo>
                </a:path>
                <a:path w="5943600" h="1143000">
                  <a:moveTo>
                    <a:pt x="4191000" y="1143000"/>
                  </a:moveTo>
                  <a:lnTo>
                    <a:pt x="3352800" y="0"/>
                  </a:lnTo>
                </a:path>
              </a:pathLst>
            </a:custGeom>
            <a:ln w="28393">
              <a:solidFill>
                <a:srgbClr val="99C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143000" y="4432300"/>
              <a:ext cx="6172200" cy="1143000"/>
            </a:xfrm>
            <a:custGeom>
              <a:avLst/>
              <a:gdLst/>
              <a:ahLst/>
              <a:cxnLst/>
              <a:rect l="l" t="t" r="r" b="b"/>
              <a:pathLst>
                <a:path w="6172200" h="1143000">
                  <a:moveTo>
                    <a:pt x="0" y="1143000"/>
                  </a:moveTo>
                  <a:lnTo>
                    <a:pt x="3352800" y="1143000"/>
                  </a:lnTo>
                </a:path>
                <a:path w="6172200" h="1143000">
                  <a:moveTo>
                    <a:pt x="5029200" y="1130300"/>
                  </a:moveTo>
                  <a:lnTo>
                    <a:pt x="6172200" y="1143000"/>
                  </a:lnTo>
                </a:path>
                <a:path w="6172200" h="1143000">
                  <a:moveTo>
                    <a:pt x="3352800" y="1130300"/>
                  </a:moveTo>
                  <a:lnTo>
                    <a:pt x="4191000" y="0"/>
                  </a:lnTo>
                </a:path>
                <a:path w="6172200" h="1143000">
                  <a:moveTo>
                    <a:pt x="5010150" y="1130300"/>
                  </a:moveTo>
                  <a:lnTo>
                    <a:pt x="4171950" y="0"/>
                  </a:lnTo>
                </a:path>
              </a:pathLst>
            </a:custGeom>
            <a:ln w="28393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143000" y="5562600"/>
              <a:ext cx="6019800" cy="0"/>
            </a:xfrm>
            <a:custGeom>
              <a:avLst/>
              <a:gdLst/>
              <a:ahLst/>
              <a:cxnLst/>
              <a:rect l="l" t="t" r="r" b="b"/>
              <a:pathLst>
                <a:path w="6019800">
                  <a:moveTo>
                    <a:pt x="0" y="0"/>
                  </a:moveTo>
                  <a:lnTo>
                    <a:pt x="1676400" y="0"/>
                  </a:lnTo>
                </a:path>
                <a:path w="6019800">
                  <a:moveTo>
                    <a:pt x="4191000" y="0"/>
                  </a:moveTo>
                  <a:lnTo>
                    <a:pt x="6019800" y="0"/>
                  </a:lnTo>
                </a:path>
              </a:pathLst>
            </a:custGeom>
            <a:ln w="283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816860" y="4434840"/>
              <a:ext cx="2518410" cy="1141730"/>
            </a:xfrm>
            <a:custGeom>
              <a:avLst/>
              <a:gdLst/>
              <a:ahLst/>
              <a:cxnLst/>
              <a:rect l="l" t="t" r="r" b="b"/>
              <a:pathLst>
                <a:path w="2518410" h="1141729">
                  <a:moveTo>
                    <a:pt x="1240790" y="25400"/>
                  </a:moveTo>
                  <a:lnTo>
                    <a:pt x="1228090" y="0"/>
                  </a:lnTo>
                  <a:lnTo>
                    <a:pt x="1214120" y="6350"/>
                  </a:lnTo>
                  <a:lnTo>
                    <a:pt x="1212850" y="6350"/>
                  </a:lnTo>
                  <a:lnTo>
                    <a:pt x="1197610" y="15240"/>
                  </a:lnTo>
                  <a:lnTo>
                    <a:pt x="1196340" y="17780"/>
                  </a:lnTo>
                  <a:lnTo>
                    <a:pt x="1167130" y="41910"/>
                  </a:lnTo>
                  <a:lnTo>
                    <a:pt x="1165860" y="43180"/>
                  </a:lnTo>
                  <a:lnTo>
                    <a:pt x="1135380" y="74930"/>
                  </a:lnTo>
                  <a:lnTo>
                    <a:pt x="1135380" y="76200"/>
                  </a:lnTo>
                  <a:lnTo>
                    <a:pt x="1104900" y="114300"/>
                  </a:lnTo>
                  <a:lnTo>
                    <a:pt x="1103630" y="115570"/>
                  </a:lnTo>
                  <a:lnTo>
                    <a:pt x="1073150" y="158750"/>
                  </a:lnTo>
                  <a:lnTo>
                    <a:pt x="1012190" y="256540"/>
                  </a:lnTo>
                  <a:lnTo>
                    <a:pt x="904240" y="453390"/>
                  </a:lnTo>
                  <a:lnTo>
                    <a:pt x="904240" y="454660"/>
                  </a:lnTo>
                  <a:lnTo>
                    <a:pt x="861060" y="533400"/>
                  </a:lnTo>
                  <a:lnTo>
                    <a:pt x="843280" y="563880"/>
                  </a:lnTo>
                  <a:lnTo>
                    <a:pt x="829310" y="586740"/>
                  </a:lnTo>
                  <a:lnTo>
                    <a:pt x="777798" y="662114"/>
                  </a:lnTo>
                  <a:lnTo>
                    <a:pt x="777240" y="661670"/>
                  </a:lnTo>
                  <a:lnTo>
                    <a:pt x="713740" y="745490"/>
                  </a:lnTo>
                  <a:lnTo>
                    <a:pt x="638136" y="829919"/>
                  </a:lnTo>
                  <a:lnTo>
                    <a:pt x="637540" y="829310"/>
                  </a:lnTo>
                  <a:lnTo>
                    <a:pt x="594360" y="871220"/>
                  </a:lnTo>
                  <a:lnTo>
                    <a:pt x="547446" y="910717"/>
                  </a:lnTo>
                  <a:lnTo>
                    <a:pt x="547370" y="910590"/>
                  </a:lnTo>
                  <a:lnTo>
                    <a:pt x="495300" y="949960"/>
                  </a:lnTo>
                  <a:lnTo>
                    <a:pt x="439407" y="985520"/>
                  </a:lnTo>
                  <a:lnTo>
                    <a:pt x="439712" y="986040"/>
                  </a:lnTo>
                  <a:lnTo>
                    <a:pt x="378460" y="1018540"/>
                  </a:lnTo>
                  <a:lnTo>
                    <a:pt x="378688" y="1019009"/>
                  </a:lnTo>
                  <a:lnTo>
                    <a:pt x="313690" y="1047750"/>
                  </a:lnTo>
                  <a:lnTo>
                    <a:pt x="313829" y="1048131"/>
                  </a:lnTo>
                  <a:lnTo>
                    <a:pt x="242570" y="1071880"/>
                  </a:lnTo>
                  <a:lnTo>
                    <a:pt x="242671" y="1072197"/>
                  </a:lnTo>
                  <a:lnTo>
                    <a:pt x="167640" y="1092200"/>
                  </a:lnTo>
                  <a:lnTo>
                    <a:pt x="167690" y="1092415"/>
                  </a:lnTo>
                  <a:lnTo>
                    <a:pt x="87630" y="1106170"/>
                  </a:lnTo>
                  <a:lnTo>
                    <a:pt x="0" y="1113790"/>
                  </a:lnTo>
                  <a:lnTo>
                    <a:pt x="2540" y="1127760"/>
                  </a:lnTo>
                  <a:lnTo>
                    <a:pt x="3810" y="1141730"/>
                  </a:lnTo>
                  <a:lnTo>
                    <a:pt x="91440" y="1134110"/>
                  </a:lnTo>
                  <a:lnTo>
                    <a:pt x="173990" y="1120140"/>
                  </a:lnTo>
                  <a:lnTo>
                    <a:pt x="175260" y="1120140"/>
                  </a:lnTo>
                  <a:lnTo>
                    <a:pt x="251460" y="1099820"/>
                  </a:lnTo>
                  <a:lnTo>
                    <a:pt x="252730" y="1098550"/>
                  </a:lnTo>
                  <a:lnTo>
                    <a:pt x="323850" y="1074420"/>
                  </a:lnTo>
                  <a:lnTo>
                    <a:pt x="325120" y="1073150"/>
                  </a:lnTo>
                  <a:lnTo>
                    <a:pt x="391160" y="1043940"/>
                  </a:lnTo>
                  <a:lnTo>
                    <a:pt x="392430" y="1043940"/>
                  </a:lnTo>
                  <a:lnTo>
                    <a:pt x="453390" y="1010920"/>
                  </a:lnTo>
                  <a:lnTo>
                    <a:pt x="454660" y="1009650"/>
                  </a:lnTo>
                  <a:lnTo>
                    <a:pt x="510540" y="972820"/>
                  </a:lnTo>
                  <a:lnTo>
                    <a:pt x="511810" y="972820"/>
                  </a:lnTo>
                  <a:lnTo>
                    <a:pt x="563880" y="933450"/>
                  </a:lnTo>
                  <a:lnTo>
                    <a:pt x="565150" y="933450"/>
                  </a:lnTo>
                  <a:lnTo>
                    <a:pt x="613410" y="892810"/>
                  </a:lnTo>
                  <a:lnTo>
                    <a:pt x="613410" y="891540"/>
                  </a:lnTo>
                  <a:lnTo>
                    <a:pt x="657860" y="849630"/>
                  </a:lnTo>
                  <a:lnTo>
                    <a:pt x="659130" y="849630"/>
                  </a:lnTo>
                  <a:lnTo>
                    <a:pt x="735330" y="763282"/>
                  </a:lnTo>
                  <a:lnTo>
                    <a:pt x="736600" y="762000"/>
                  </a:lnTo>
                  <a:lnTo>
                    <a:pt x="800100" y="679450"/>
                  </a:lnTo>
                  <a:lnTo>
                    <a:pt x="800100" y="678180"/>
                  </a:lnTo>
                  <a:lnTo>
                    <a:pt x="852170" y="601980"/>
                  </a:lnTo>
                  <a:lnTo>
                    <a:pt x="867410" y="579120"/>
                  </a:lnTo>
                  <a:lnTo>
                    <a:pt x="885190" y="547370"/>
                  </a:lnTo>
                  <a:lnTo>
                    <a:pt x="928370" y="467360"/>
                  </a:lnTo>
                  <a:lnTo>
                    <a:pt x="1037590" y="270510"/>
                  </a:lnTo>
                  <a:lnTo>
                    <a:pt x="1036662" y="269963"/>
                  </a:lnTo>
                  <a:lnTo>
                    <a:pt x="1096721" y="174879"/>
                  </a:lnTo>
                  <a:lnTo>
                    <a:pt x="1097280" y="175260"/>
                  </a:lnTo>
                  <a:lnTo>
                    <a:pt x="1127760" y="130810"/>
                  </a:lnTo>
                  <a:lnTo>
                    <a:pt x="1127582" y="130708"/>
                  </a:lnTo>
                  <a:lnTo>
                    <a:pt x="1156970" y="93980"/>
                  </a:lnTo>
                  <a:lnTo>
                    <a:pt x="1186421" y="63309"/>
                  </a:lnTo>
                  <a:lnTo>
                    <a:pt x="1215390" y="39370"/>
                  </a:lnTo>
                  <a:lnTo>
                    <a:pt x="1214513" y="38404"/>
                  </a:lnTo>
                  <a:lnTo>
                    <a:pt x="1226604" y="31343"/>
                  </a:lnTo>
                  <a:lnTo>
                    <a:pt x="1226820" y="31750"/>
                  </a:lnTo>
                  <a:lnTo>
                    <a:pt x="1240790" y="25400"/>
                  </a:lnTo>
                  <a:close/>
                </a:path>
                <a:path w="2518410" h="1141729">
                  <a:moveTo>
                    <a:pt x="2518410" y="1113790"/>
                  </a:moveTo>
                  <a:lnTo>
                    <a:pt x="2432024" y="1106284"/>
                  </a:lnTo>
                  <a:lnTo>
                    <a:pt x="2350706" y="1092415"/>
                  </a:lnTo>
                  <a:lnTo>
                    <a:pt x="2350770" y="1092200"/>
                  </a:lnTo>
                  <a:lnTo>
                    <a:pt x="2275725" y="1072197"/>
                  </a:lnTo>
                  <a:lnTo>
                    <a:pt x="2275840" y="1071880"/>
                  </a:lnTo>
                  <a:lnTo>
                    <a:pt x="2205799" y="1048131"/>
                  </a:lnTo>
                  <a:lnTo>
                    <a:pt x="2205990" y="1047750"/>
                  </a:lnTo>
                  <a:lnTo>
                    <a:pt x="2139950" y="1018540"/>
                  </a:lnTo>
                  <a:lnTo>
                    <a:pt x="2079942" y="986040"/>
                  </a:lnTo>
                  <a:lnTo>
                    <a:pt x="2080260" y="985520"/>
                  </a:lnTo>
                  <a:lnTo>
                    <a:pt x="2023960" y="950493"/>
                  </a:lnTo>
                  <a:lnTo>
                    <a:pt x="2024380" y="949960"/>
                  </a:lnTo>
                  <a:lnTo>
                    <a:pt x="1972310" y="910590"/>
                  </a:lnTo>
                  <a:lnTo>
                    <a:pt x="1971738" y="911390"/>
                  </a:lnTo>
                  <a:lnTo>
                    <a:pt x="1924735" y="871804"/>
                  </a:lnTo>
                  <a:lnTo>
                    <a:pt x="1925320" y="871220"/>
                  </a:lnTo>
                  <a:lnTo>
                    <a:pt x="1881708" y="830110"/>
                  </a:lnTo>
                  <a:lnTo>
                    <a:pt x="1804670" y="744220"/>
                  </a:lnTo>
                  <a:lnTo>
                    <a:pt x="1804123" y="744766"/>
                  </a:lnTo>
                  <a:lnTo>
                    <a:pt x="1742440" y="661670"/>
                  </a:lnTo>
                  <a:lnTo>
                    <a:pt x="1741843" y="662089"/>
                  </a:lnTo>
                  <a:lnTo>
                    <a:pt x="1690370" y="586740"/>
                  </a:lnTo>
                  <a:lnTo>
                    <a:pt x="1678940" y="594360"/>
                  </a:lnTo>
                  <a:lnTo>
                    <a:pt x="1666240" y="601980"/>
                  </a:lnTo>
                  <a:lnTo>
                    <a:pt x="1718310" y="678180"/>
                  </a:lnTo>
                  <a:lnTo>
                    <a:pt x="1719580" y="679450"/>
                  </a:lnTo>
                  <a:lnTo>
                    <a:pt x="1783080" y="762000"/>
                  </a:lnTo>
                  <a:lnTo>
                    <a:pt x="1783080" y="763282"/>
                  </a:lnTo>
                  <a:lnTo>
                    <a:pt x="1860550" y="849630"/>
                  </a:lnTo>
                  <a:lnTo>
                    <a:pt x="1861820" y="849630"/>
                  </a:lnTo>
                  <a:lnTo>
                    <a:pt x="1905000" y="891540"/>
                  </a:lnTo>
                  <a:lnTo>
                    <a:pt x="1906270" y="892810"/>
                  </a:lnTo>
                  <a:lnTo>
                    <a:pt x="1954530" y="933450"/>
                  </a:lnTo>
                  <a:lnTo>
                    <a:pt x="2006600" y="972820"/>
                  </a:lnTo>
                  <a:lnTo>
                    <a:pt x="2007870" y="972820"/>
                  </a:lnTo>
                  <a:lnTo>
                    <a:pt x="2065020" y="1009650"/>
                  </a:lnTo>
                  <a:lnTo>
                    <a:pt x="2065020" y="1010920"/>
                  </a:lnTo>
                  <a:lnTo>
                    <a:pt x="2127250" y="1043940"/>
                  </a:lnTo>
                  <a:lnTo>
                    <a:pt x="2194560" y="1073150"/>
                  </a:lnTo>
                  <a:lnTo>
                    <a:pt x="2194560" y="1074420"/>
                  </a:lnTo>
                  <a:lnTo>
                    <a:pt x="2266950" y="1098550"/>
                  </a:lnTo>
                  <a:lnTo>
                    <a:pt x="2266950" y="1099820"/>
                  </a:lnTo>
                  <a:lnTo>
                    <a:pt x="2343150" y="1120140"/>
                  </a:lnTo>
                  <a:lnTo>
                    <a:pt x="2345690" y="1120140"/>
                  </a:lnTo>
                  <a:lnTo>
                    <a:pt x="2426970" y="1134110"/>
                  </a:lnTo>
                  <a:lnTo>
                    <a:pt x="2428240" y="1134110"/>
                  </a:lnTo>
                  <a:lnTo>
                    <a:pt x="2515870" y="1141730"/>
                  </a:lnTo>
                  <a:lnTo>
                    <a:pt x="2518410" y="11137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030980" y="4427220"/>
              <a:ext cx="477520" cy="609600"/>
            </a:xfrm>
            <a:custGeom>
              <a:avLst/>
              <a:gdLst/>
              <a:ahLst/>
              <a:cxnLst/>
              <a:rect l="l" t="t" r="r" b="b"/>
              <a:pathLst>
                <a:path w="477520" h="609600">
                  <a:moveTo>
                    <a:pt x="477520" y="594360"/>
                  </a:moveTo>
                  <a:lnTo>
                    <a:pt x="459740" y="567690"/>
                  </a:lnTo>
                  <a:lnTo>
                    <a:pt x="439712" y="535165"/>
                  </a:lnTo>
                  <a:lnTo>
                    <a:pt x="440690" y="534670"/>
                  </a:lnTo>
                  <a:lnTo>
                    <a:pt x="394970" y="452120"/>
                  </a:lnTo>
                  <a:lnTo>
                    <a:pt x="288290" y="255270"/>
                  </a:lnTo>
                  <a:lnTo>
                    <a:pt x="229870" y="160020"/>
                  </a:lnTo>
                  <a:lnTo>
                    <a:pt x="200660" y="118110"/>
                  </a:lnTo>
                  <a:lnTo>
                    <a:pt x="199390" y="116840"/>
                  </a:lnTo>
                  <a:lnTo>
                    <a:pt x="170180" y="80010"/>
                  </a:lnTo>
                  <a:lnTo>
                    <a:pt x="168910" y="78740"/>
                  </a:lnTo>
                  <a:lnTo>
                    <a:pt x="140970" y="48260"/>
                  </a:lnTo>
                  <a:lnTo>
                    <a:pt x="139700" y="46990"/>
                  </a:lnTo>
                  <a:lnTo>
                    <a:pt x="110490" y="24130"/>
                  </a:lnTo>
                  <a:lnTo>
                    <a:pt x="109220" y="22860"/>
                  </a:lnTo>
                  <a:lnTo>
                    <a:pt x="95250" y="13970"/>
                  </a:lnTo>
                  <a:lnTo>
                    <a:pt x="93980" y="12700"/>
                  </a:lnTo>
                  <a:lnTo>
                    <a:pt x="80010" y="6350"/>
                  </a:lnTo>
                  <a:lnTo>
                    <a:pt x="77470" y="6350"/>
                  </a:lnTo>
                  <a:lnTo>
                    <a:pt x="64770" y="2540"/>
                  </a:lnTo>
                  <a:lnTo>
                    <a:pt x="62230" y="1270"/>
                  </a:lnTo>
                  <a:lnTo>
                    <a:pt x="48260" y="0"/>
                  </a:lnTo>
                  <a:lnTo>
                    <a:pt x="45720" y="0"/>
                  </a:lnTo>
                  <a:lnTo>
                    <a:pt x="31750" y="1270"/>
                  </a:lnTo>
                  <a:lnTo>
                    <a:pt x="29210" y="2540"/>
                  </a:lnTo>
                  <a:lnTo>
                    <a:pt x="16510" y="6350"/>
                  </a:lnTo>
                  <a:lnTo>
                    <a:pt x="13970" y="7620"/>
                  </a:lnTo>
                  <a:lnTo>
                    <a:pt x="0" y="13970"/>
                  </a:lnTo>
                  <a:lnTo>
                    <a:pt x="12700" y="39370"/>
                  </a:lnTo>
                  <a:lnTo>
                    <a:pt x="26670" y="33020"/>
                  </a:lnTo>
                  <a:lnTo>
                    <a:pt x="26365" y="32410"/>
                  </a:lnTo>
                  <a:lnTo>
                    <a:pt x="35496" y="29921"/>
                  </a:lnTo>
                  <a:lnTo>
                    <a:pt x="35560" y="30480"/>
                  </a:lnTo>
                  <a:lnTo>
                    <a:pt x="46990" y="28194"/>
                  </a:lnTo>
                  <a:lnTo>
                    <a:pt x="58420" y="30480"/>
                  </a:lnTo>
                  <a:lnTo>
                    <a:pt x="58508" y="29933"/>
                  </a:lnTo>
                  <a:lnTo>
                    <a:pt x="68694" y="32715"/>
                  </a:lnTo>
                  <a:lnTo>
                    <a:pt x="68580" y="33020"/>
                  </a:lnTo>
                  <a:lnTo>
                    <a:pt x="81280" y="39370"/>
                  </a:lnTo>
                  <a:lnTo>
                    <a:pt x="81432" y="39014"/>
                  </a:lnTo>
                  <a:lnTo>
                    <a:pt x="93980" y="46990"/>
                  </a:lnTo>
                  <a:lnTo>
                    <a:pt x="94068" y="46837"/>
                  </a:lnTo>
                  <a:lnTo>
                    <a:pt x="119976" y="68046"/>
                  </a:lnTo>
                  <a:lnTo>
                    <a:pt x="119380" y="68580"/>
                  </a:lnTo>
                  <a:lnTo>
                    <a:pt x="147345" y="97777"/>
                  </a:lnTo>
                  <a:lnTo>
                    <a:pt x="177292" y="134023"/>
                  </a:lnTo>
                  <a:lnTo>
                    <a:pt x="176530" y="134620"/>
                  </a:lnTo>
                  <a:lnTo>
                    <a:pt x="205740" y="176530"/>
                  </a:lnTo>
                  <a:lnTo>
                    <a:pt x="206260" y="176123"/>
                  </a:lnTo>
                  <a:lnTo>
                    <a:pt x="263855" y="268757"/>
                  </a:lnTo>
                  <a:lnTo>
                    <a:pt x="262890" y="269240"/>
                  </a:lnTo>
                  <a:lnTo>
                    <a:pt x="369570" y="464820"/>
                  </a:lnTo>
                  <a:lnTo>
                    <a:pt x="415290" y="548640"/>
                  </a:lnTo>
                  <a:lnTo>
                    <a:pt x="435610" y="582930"/>
                  </a:lnTo>
                  <a:lnTo>
                    <a:pt x="453390" y="609600"/>
                  </a:lnTo>
                  <a:lnTo>
                    <a:pt x="464820" y="601980"/>
                  </a:lnTo>
                  <a:lnTo>
                    <a:pt x="477520" y="5943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219200" y="5562600"/>
              <a:ext cx="2438400" cy="0"/>
            </a:xfrm>
            <a:custGeom>
              <a:avLst/>
              <a:gdLst/>
              <a:ahLst/>
              <a:cxnLst/>
              <a:rect l="l" t="t" r="r" b="b"/>
              <a:pathLst>
                <a:path w="2438400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ln w="28393">
              <a:solidFill>
                <a:srgbClr val="99C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43000" y="4427220"/>
              <a:ext cx="6096000" cy="1149576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4328160" y="3983990"/>
            <a:ext cx="29603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i="1" spc="-15" baseline="13888" dirty="0">
                <a:latin typeface="Cambria"/>
                <a:cs typeface="Cambria"/>
              </a:rPr>
              <a:t>B</a:t>
            </a:r>
            <a:r>
              <a:rPr sz="1150" i="1" spc="-20" dirty="0">
                <a:latin typeface="Cambria"/>
                <a:cs typeface="Cambria"/>
              </a:rPr>
              <a:t>i</a:t>
            </a:r>
            <a:r>
              <a:rPr sz="1150" spc="-15" dirty="0">
                <a:latin typeface="Cambria"/>
                <a:cs typeface="Cambria"/>
              </a:rPr>
              <a:t>,</a:t>
            </a:r>
            <a:r>
              <a:rPr sz="1150" spc="-5" dirty="0">
                <a:latin typeface="Cambria"/>
                <a:cs typeface="Cambria"/>
              </a:rPr>
              <a:t>0</a:t>
            </a:r>
            <a:r>
              <a:rPr sz="3000" spc="-195" baseline="13888" dirty="0">
                <a:latin typeface="Cambria"/>
                <a:cs typeface="Cambria"/>
              </a:rPr>
              <a:t>(</a:t>
            </a:r>
            <a:r>
              <a:rPr sz="3000" i="1" spc="-1679" baseline="13888" dirty="0">
                <a:latin typeface="Cambria"/>
                <a:cs typeface="Cambria"/>
              </a:rPr>
              <a:t>B</a:t>
            </a:r>
            <a:r>
              <a:rPr sz="3000" i="1" spc="-30" baseline="13888" dirty="0">
                <a:latin typeface="Cambria"/>
                <a:cs typeface="Cambria"/>
              </a:rPr>
              <a:t>u</a:t>
            </a:r>
            <a:r>
              <a:rPr sz="3000" spc="-1147" baseline="13888" dirty="0">
                <a:latin typeface="Cambria"/>
                <a:cs typeface="Cambria"/>
              </a:rPr>
              <a:t>)</a:t>
            </a:r>
            <a:r>
              <a:rPr sz="1150" i="1" spc="-20" dirty="0">
                <a:latin typeface="Cambria"/>
                <a:cs typeface="Cambria"/>
              </a:rPr>
              <a:t>i</a:t>
            </a:r>
            <a:r>
              <a:rPr sz="1150" spc="-15" dirty="0">
                <a:latin typeface="Cambria"/>
                <a:cs typeface="Cambria"/>
              </a:rPr>
              <a:t>,</a:t>
            </a:r>
            <a:r>
              <a:rPr sz="1150" spc="-5" dirty="0">
                <a:latin typeface="Cambria"/>
                <a:cs typeface="Cambria"/>
              </a:rPr>
              <a:t>1</a:t>
            </a:r>
            <a:r>
              <a:rPr sz="3000" spc="-22" baseline="13888" dirty="0">
                <a:latin typeface="Cambria"/>
                <a:cs typeface="Cambria"/>
              </a:rPr>
              <a:t>(</a:t>
            </a:r>
            <a:r>
              <a:rPr sz="3000" i="1" spc="-922" baseline="13888" dirty="0">
                <a:latin typeface="Cambria"/>
                <a:cs typeface="Cambria"/>
              </a:rPr>
              <a:t>u</a:t>
            </a:r>
            <a:r>
              <a:rPr sz="3000" i="1" spc="-1342" baseline="13888" dirty="0">
                <a:latin typeface="Cambria"/>
                <a:cs typeface="Cambria"/>
              </a:rPr>
              <a:t>B</a:t>
            </a:r>
            <a:r>
              <a:rPr sz="3000" i="1" spc="-1402" baseline="13888" dirty="0">
                <a:latin typeface="Cambria"/>
                <a:cs typeface="Cambria"/>
              </a:rPr>
              <a:t>B</a:t>
            </a:r>
            <a:r>
              <a:rPr sz="3000" spc="-127" baseline="13888" dirty="0">
                <a:latin typeface="Cambria"/>
                <a:cs typeface="Cambria"/>
              </a:rPr>
              <a:t>)</a:t>
            </a:r>
            <a:r>
              <a:rPr sz="1150" i="1" spc="-20" dirty="0">
                <a:latin typeface="Cambria"/>
                <a:cs typeface="Cambria"/>
              </a:rPr>
              <a:t>i</a:t>
            </a:r>
            <a:r>
              <a:rPr sz="1150" spc="-245" dirty="0">
                <a:latin typeface="Cambria"/>
                <a:cs typeface="Cambria"/>
              </a:rPr>
              <a:t>,</a:t>
            </a:r>
            <a:r>
              <a:rPr sz="1150" i="1" spc="-70" dirty="0">
                <a:latin typeface="Cambria"/>
                <a:cs typeface="Cambria"/>
              </a:rPr>
              <a:t>i</a:t>
            </a:r>
            <a:r>
              <a:rPr sz="1150" spc="-650" dirty="0">
                <a:latin typeface="Cambria"/>
                <a:cs typeface="Cambria"/>
              </a:rPr>
              <a:t>2</a:t>
            </a:r>
            <a:r>
              <a:rPr sz="1150" spc="-615" dirty="0">
                <a:latin typeface="Cambria"/>
                <a:cs typeface="Cambria"/>
              </a:rPr>
              <a:t>3</a:t>
            </a:r>
            <a:r>
              <a:rPr sz="1150" i="1" spc="-155" dirty="0">
                <a:latin typeface="Cambria"/>
                <a:cs typeface="Cambria"/>
              </a:rPr>
              <a:t>+</a:t>
            </a:r>
            <a:r>
              <a:rPr sz="3000" spc="-907" baseline="13888" dirty="0">
                <a:latin typeface="Cambria"/>
                <a:cs typeface="Cambria"/>
              </a:rPr>
              <a:t>(</a:t>
            </a:r>
            <a:r>
              <a:rPr sz="1150" spc="-95" dirty="0">
                <a:latin typeface="Cambria"/>
                <a:cs typeface="Cambria"/>
              </a:rPr>
              <a:t>1</a:t>
            </a:r>
            <a:r>
              <a:rPr sz="3000" i="1" spc="-1530" baseline="13888" dirty="0">
                <a:latin typeface="Cambria"/>
                <a:cs typeface="Cambria"/>
              </a:rPr>
              <a:t>u</a:t>
            </a:r>
            <a:r>
              <a:rPr sz="1150" spc="-130" dirty="0">
                <a:latin typeface="Cambria"/>
                <a:cs typeface="Cambria"/>
              </a:rPr>
              <a:t>,</a:t>
            </a:r>
            <a:r>
              <a:rPr sz="3000" i="1" spc="-1620" baseline="13888" dirty="0">
                <a:latin typeface="Cambria"/>
                <a:cs typeface="Cambria"/>
              </a:rPr>
              <a:t>B</a:t>
            </a:r>
            <a:r>
              <a:rPr sz="1150" spc="-15" dirty="0">
                <a:latin typeface="Cambria"/>
                <a:cs typeface="Cambria"/>
              </a:rPr>
              <a:t>0</a:t>
            </a:r>
            <a:r>
              <a:rPr sz="3000" spc="-885" baseline="13888" dirty="0">
                <a:latin typeface="Cambria"/>
                <a:cs typeface="Cambria"/>
              </a:rPr>
              <a:t>(</a:t>
            </a:r>
            <a:r>
              <a:rPr sz="3000" spc="-592" baseline="13888" dirty="0">
                <a:latin typeface="Cambria"/>
                <a:cs typeface="Cambria"/>
              </a:rPr>
              <a:t>)</a:t>
            </a:r>
            <a:r>
              <a:rPr sz="1150" i="1" spc="-180" dirty="0">
                <a:latin typeface="Cambria"/>
                <a:cs typeface="Cambria"/>
              </a:rPr>
              <a:t>i</a:t>
            </a:r>
            <a:r>
              <a:rPr sz="3000" i="1" spc="-1417" baseline="13888" dirty="0">
                <a:latin typeface="Cambria"/>
                <a:cs typeface="Cambria"/>
              </a:rPr>
              <a:t>u</a:t>
            </a:r>
            <a:r>
              <a:rPr sz="1150" i="1" spc="-10" dirty="0">
                <a:latin typeface="Cambria"/>
                <a:cs typeface="Cambria"/>
              </a:rPr>
              <a:t>+</a:t>
            </a:r>
            <a:r>
              <a:rPr sz="1150" spc="-385" dirty="0">
                <a:latin typeface="Cambria"/>
                <a:cs typeface="Cambria"/>
              </a:rPr>
              <a:t>1</a:t>
            </a:r>
            <a:r>
              <a:rPr sz="3000" spc="-592" baseline="13888" dirty="0">
                <a:latin typeface="Cambria"/>
                <a:cs typeface="Cambria"/>
              </a:rPr>
              <a:t>)</a:t>
            </a:r>
            <a:r>
              <a:rPr sz="1150" spc="-25" dirty="0">
                <a:latin typeface="Cambria"/>
                <a:cs typeface="Cambria"/>
              </a:rPr>
              <a:t>,</a:t>
            </a:r>
            <a:r>
              <a:rPr sz="1150" spc="-484" dirty="0">
                <a:latin typeface="Cambria"/>
                <a:cs typeface="Cambria"/>
              </a:rPr>
              <a:t>1</a:t>
            </a:r>
            <a:r>
              <a:rPr sz="3000" i="1" spc="-1192" baseline="13888" dirty="0">
                <a:latin typeface="Cambria"/>
                <a:cs typeface="Cambria"/>
              </a:rPr>
              <a:t>B</a:t>
            </a:r>
            <a:r>
              <a:rPr sz="3000" spc="-352" baseline="13888" dirty="0">
                <a:latin typeface="Cambria"/>
                <a:cs typeface="Cambria"/>
              </a:rPr>
              <a:t>(</a:t>
            </a:r>
            <a:r>
              <a:rPr sz="3000" i="1" spc="-1545" baseline="13888" dirty="0">
                <a:latin typeface="Cambria"/>
                <a:cs typeface="Cambria"/>
              </a:rPr>
              <a:t>B</a:t>
            </a:r>
            <a:r>
              <a:rPr sz="3000" i="1" spc="-1477" baseline="13888" dirty="0">
                <a:latin typeface="Cambria"/>
                <a:cs typeface="Cambria"/>
              </a:rPr>
              <a:t>u</a:t>
            </a:r>
            <a:r>
              <a:rPr sz="1150" i="1" spc="-10" dirty="0">
                <a:latin typeface="Cambria"/>
                <a:cs typeface="Cambria"/>
              </a:rPr>
              <a:t>i</a:t>
            </a:r>
            <a:r>
              <a:rPr sz="1150" i="1" spc="-120" dirty="0">
                <a:latin typeface="Cambria"/>
                <a:cs typeface="Cambria"/>
              </a:rPr>
              <a:t>+</a:t>
            </a:r>
            <a:r>
              <a:rPr sz="1150" i="1" spc="-254" dirty="0">
                <a:latin typeface="Cambria"/>
                <a:cs typeface="Cambria"/>
              </a:rPr>
              <a:t>i</a:t>
            </a:r>
            <a:r>
              <a:rPr sz="3000" spc="-1117" baseline="13888" dirty="0">
                <a:latin typeface="Cambria"/>
                <a:cs typeface="Cambria"/>
              </a:rPr>
              <a:t>)</a:t>
            </a:r>
            <a:r>
              <a:rPr sz="1150" i="1" spc="-415" dirty="0">
                <a:latin typeface="Cambria"/>
                <a:cs typeface="Cambria"/>
              </a:rPr>
              <a:t>1</a:t>
            </a:r>
            <a:r>
              <a:rPr sz="1150" i="1" spc="-305" dirty="0">
                <a:latin typeface="Cambria"/>
                <a:cs typeface="Cambria"/>
              </a:rPr>
              <a:t>+</a:t>
            </a:r>
            <a:r>
              <a:rPr sz="1150" spc="-15" dirty="0">
                <a:latin typeface="Cambria"/>
                <a:cs typeface="Cambria"/>
              </a:rPr>
              <a:t>,</a:t>
            </a:r>
            <a:r>
              <a:rPr sz="1150" b="1" spc="-490" dirty="0">
                <a:latin typeface="Cambria"/>
                <a:cs typeface="Cambria"/>
              </a:rPr>
              <a:t>2</a:t>
            </a:r>
            <a:r>
              <a:rPr sz="3000" i="1" spc="-1222" baseline="13888" dirty="0">
                <a:latin typeface="Cambria"/>
                <a:cs typeface="Cambria"/>
              </a:rPr>
              <a:t>B</a:t>
            </a:r>
            <a:r>
              <a:rPr sz="3000" spc="-1110" baseline="13888" dirty="0">
                <a:latin typeface="Cambria"/>
                <a:cs typeface="Cambria"/>
              </a:rPr>
              <a:t>(</a:t>
            </a:r>
            <a:r>
              <a:rPr sz="1150" spc="-15" dirty="0">
                <a:latin typeface="Cambria"/>
                <a:cs typeface="Cambria"/>
              </a:rPr>
              <a:t>,</a:t>
            </a:r>
            <a:r>
              <a:rPr sz="1150" spc="-285" dirty="0">
                <a:latin typeface="Cambria"/>
                <a:cs typeface="Cambria"/>
              </a:rPr>
              <a:t>0</a:t>
            </a:r>
            <a:r>
              <a:rPr sz="3000" i="1" spc="-1432" baseline="13888" dirty="0">
                <a:latin typeface="Cambria"/>
                <a:cs typeface="Cambria"/>
              </a:rPr>
              <a:t>u</a:t>
            </a:r>
            <a:r>
              <a:rPr sz="1150" i="1" spc="-245" dirty="0">
                <a:latin typeface="Cambria"/>
                <a:cs typeface="Cambria"/>
              </a:rPr>
              <a:t>i</a:t>
            </a:r>
            <a:r>
              <a:rPr sz="3000" spc="-772" baseline="13888" dirty="0">
                <a:latin typeface="Cambria"/>
                <a:cs typeface="Cambria"/>
              </a:rPr>
              <a:t>(</a:t>
            </a:r>
            <a:r>
              <a:rPr sz="1150" i="1" spc="-250" dirty="0">
                <a:latin typeface="Cambria"/>
                <a:cs typeface="Cambria"/>
              </a:rPr>
              <a:t>+</a:t>
            </a:r>
            <a:r>
              <a:rPr sz="3000" i="1" spc="-1342" baseline="13888" dirty="0">
                <a:latin typeface="Cambria"/>
                <a:cs typeface="Cambria"/>
              </a:rPr>
              <a:t>u</a:t>
            </a:r>
            <a:r>
              <a:rPr sz="3000" spc="-1080" baseline="13888" dirty="0">
                <a:latin typeface="Cambria"/>
                <a:cs typeface="Cambria"/>
              </a:rPr>
              <a:t>)</a:t>
            </a:r>
            <a:r>
              <a:rPr sz="1150" spc="-15" dirty="0">
                <a:latin typeface="Cambria"/>
                <a:cs typeface="Cambria"/>
              </a:rPr>
              <a:t>2</a:t>
            </a:r>
            <a:r>
              <a:rPr sz="1150" spc="-35" dirty="0">
                <a:latin typeface="Cambria"/>
                <a:cs typeface="Cambria"/>
              </a:rPr>
              <a:t>,</a:t>
            </a:r>
            <a:r>
              <a:rPr sz="3000" spc="-1147" baseline="13888" dirty="0">
                <a:latin typeface="Cambria"/>
                <a:cs typeface="Cambria"/>
              </a:rPr>
              <a:t>)</a:t>
            </a:r>
            <a:r>
              <a:rPr sz="1150" spc="-5" dirty="0">
                <a:latin typeface="Cambria"/>
                <a:cs typeface="Cambria"/>
              </a:rPr>
              <a:t>0</a:t>
            </a:r>
            <a:r>
              <a:rPr sz="3000" spc="-22" baseline="13888" dirty="0">
                <a:latin typeface="Cambria"/>
                <a:cs typeface="Cambria"/>
              </a:rPr>
              <a:t>(</a:t>
            </a:r>
            <a:r>
              <a:rPr sz="3000" i="1" spc="-15" baseline="13888" dirty="0">
                <a:latin typeface="Cambria"/>
                <a:cs typeface="Cambria"/>
              </a:rPr>
              <a:t>u</a:t>
            </a:r>
            <a:r>
              <a:rPr sz="3000" spc="-22" baseline="13888" dirty="0">
                <a:latin typeface="Cambria"/>
                <a:cs typeface="Cambria"/>
              </a:rPr>
              <a:t>)</a:t>
            </a:r>
            <a:endParaRPr sz="3000" baseline="13888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2521" y="360679"/>
            <a:ext cx="488759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Recorrência</a:t>
            </a:r>
            <a:r>
              <a:rPr spc="-40" dirty="0"/>
              <a:t> </a:t>
            </a:r>
            <a:r>
              <a:rPr spc="-20" dirty="0"/>
              <a:t>Cox-</a:t>
            </a:r>
            <a:r>
              <a:rPr dirty="0"/>
              <a:t>de</a:t>
            </a:r>
            <a:r>
              <a:rPr spc="-35" dirty="0"/>
              <a:t> </a:t>
            </a:r>
            <a:r>
              <a:rPr spc="-20" dirty="0"/>
              <a:t>Boor</a:t>
            </a:r>
          </a:p>
        </p:txBody>
      </p:sp>
      <p:sp>
        <p:nvSpPr>
          <p:cNvPr id="3" name="object 3"/>
          <p:cNvSpPr/>
          <p:nvPr/>
        </p:nvSpPr>
        <p:spPr>
          <a:xfrm>
            <a:off x="2948939" y="2296160"/>
            <a:ext cx="867410" cy="0"/>
          </a:xfrm>
          <a:custGeom>
            <a:avLst/>
            <a:gdLst/>
            <a:ahLst/>
            <a:cxnLst/>
            <a:rect l="l" t="t" r="r" b="b"/>
            <a:pathLst>
              <a:path w="867410">
                <a:moveTo>
                  <a:pt x="0" y="0"/>
                </a:moveTo>
                <a:lnTo>
                  <a:pt x="867410" y="0"/>
                </a:lnTo>
              </a:path>
            </a:pathLst>
          </a:custGeom>
          <a:ln w="8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3750" y="2296160"/>
            <a:ext cx="1144270" cy="0"/>
          </a:xfrm>
          <a:custGeom>
            <a:avLst/>
            <a:gdLst/>
            <a:ahLst/>
            <a:cxnLst/>
            <a:rect l="l" t="t" r="r" b="b"/>
            <a:pathLst>
              <a:path w="1144270">
                <a:moveTo>
                  <a:pt x="0" y="0"/>
                </a:moveTo>
                <a:lnTo>
                  <a:pt x="1144270" y="0"/>
                </a:lnTo>
              </a:path>
            </a:pathLst>
          </a:custGeom>
          <a:ln w="8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18461" y="1668780"/>
            <a:ext cx="10350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750" spc="-310" dirty="0">
                <a:latin typeface="Symbol"/>
                <a:cs typeface="Symbol"/>
              </a:rPr>
              <a:t>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3060" y="1480819"/>
            <a:ext cx="31623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1750" spc="-260" dirty="0">
                <a:latin typeface="Symbol"/>
                <a:cs typeface="Symbol"/>
              </a:rPr>
              <a:t></a:t>
            </a:r>
            <a:r>
              <a:rPr sz="1750" spc="-120" dirty="0">
                <a:latin typeface="Times New Roman"/>
                <a:cs typeface="Times New Roman"/>
              </a:rPr>
              <a:t> </a:t>
            </a:r>
            <a:r>
              <a:rPr sz="2625" spc="37" baseline="-33333" dirty="0">
                <a:latin typeface="Times New Roman"/>
                <a:cs typeface="Times New Roman"/>
              </a:rPr>
              <a:t>0</a:t>
            </a:r>
            <a:endParaRPr sz="2625" baseline="-33333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28359" y="2264410"/>
            <a:ext cx="52197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8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-5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1,</a:t>
            </a:r>
            <a:r>
              <a:rPr sz="1050" i="1" dirty="0">
                <a:latin typeface="Times New Roman"/>
                <a:cs typeface="Times New Roman"/>
              </a:rPr>
              <a:t>d</a:t>
            </a:r>
            <a:r>
              <a:rPr sz="1050" i="1" spc="-6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</a:t>
            </a:r>
            <a:r>
              <a:rPr sz="1050" spc="-80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8210" y="2439670"/>
            <a:ext cx="100711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  <a:tabLst>
                <a:tab pos="768985" algn="l"/>
              </a:tabLst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1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70" dirty="0">
                <a:latin typeface="Times New Roman"/>
                <a:cs typeface="Times New Roman"/>
              </a:rPr>
              <a:t> </a:t>
            </a:r>
            <a:r>
              <a:rPr sz="1050" i="1" dirty="0">
                <a:latin typeface="Times New Roman"/>
                <a:cs typeface="Times New Roman"/>
              </a:rPr>
              <a:t>d</a:t>
            </a:r>
            <a:r>
              <a:rPr sz="1050" i="1" spc="-8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-70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Times New Roman"/>
                <a:cs typeface="Times New Roman"/>
              </a:rPr>
              <a:t>1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05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-70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91889" y="2439670"/>
            <a:ext cx="8890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spc="-50" dirty="0">
                <a:latin typeface="Times New Roman"/>
                <a:cs typeface="Times New Roman"/>
              </a:rPr>
              <a:t>k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74669" y="2439670"/>
            <a:ext cx="26670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1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65" dirty="0">
                <a:latin typeface="Times New Roman"/>
                <a:cs typeface="Times New Roman"/>
              </a:rPr>
              <a:t> </a:t>
            </a:r>
            <a:r>
              <a:rPr sz="1050" i="1" spc="-50" dirty="0">
                <a:latin typeface="Times New Roman"/>
                <a:cs typeface="Times New Roman"/>
              </a:rPr>
              <a:t>d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57730" y="2264410"/>
            <a:ext cx="21844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00" dirty="0">
                <a:latin typeface="Times New Roman"/>
                <a:cs typeface="Times New Roman"/>
              </a:rPr>
              <a:t> </a:t>
            </a:r>
            <a:r>
              <a:rPr sz="1050" spc="-25" dirty="0">
                <a:latin typeface="Times New Roman"/>
                <a:cs typeface="Times New Roman"/>
              </a:rPr>
              <a:t>,</a:t>
            </a:r>
            <a:r>
              <a:rPr sz="1050" i="1" spc="-25" dirty="0">
                <a:latin typeface="Times New Roman"/>
                <a:cs typeface="Times New Roman"/>
              </a:rPr>
              <a:t>d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57730" y="1592579"/>
            <a:ext cx="21971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00" dirty="0">
                <a:latin typeface="Times New Roman"/>
                <a:cs typeface="Times New Roman"/>
              </a:rPr>
              <a:t> </a:t>
            </a:r>
            <a:r>
              <a:rPr sz="1050" spc="25" dirty="0">
                <a:latin typeface="Times New Roman"/>
                <a:cs typeface="Times New Roman"/>
              </a:rPr>
              <a:t>,0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84851" y="2113280"/>
            <a:ext cx="17208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750" i="1" spc="25" dirty="0">
                <a:latin typeface="Times New Roman"/>
                <a:cs typeface="Times New Roman"/>
              </a:rPr>
              <a:t>B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98671" y="2289810"/>
            <a:ext cx="90233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602615" algn="l"/>
              </a:tabLst>
            </a:pPr>
            <a:r>
              <a:rPr sz="1750" i="1" spc="10" dirty="0">
                <a:latin typeface="Times New Roman"/>
                <a:cs typeface="Times New Roman"/>
              </a:rPr>
              <a:t>u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-290" dirty="0">
                <a:latin typeface="Symbol"/>
                <a:cs typeface="Symbol"/>
              </a:rPr>
              <a:t></a:t>
            </a:r>
            <a:r>
              <a:rPr sz="1750" spc="190" dirty="0">
                <a:latin typeface="Times New Roman"/>
                <a:cs typeface="Times New Roman"/>
              </a:rPr>
              <a:t> </a:t>
            </a:r>
            <a:r>
              <a:rPr sz="1750" i="1" spc="10" dirty="0">
                <a:latin typeface="Times New Roman"/>
                <a:cs typeface="Times New Roman"/>
              </a:rPr>
              <a:t>u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92651" y="2026919"/>
            <a:ext cx="95313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2625" i="1" spc="112" baseline="14285" dirty="0">
                <a:latin typeface="Times New Roman"/>
                <a:cs typeface="Times New Roman"/>
              </a:rPr>
              <a:t>u</a:t>
            </a:r>
            <a:r>
              <a:rPr sz="1050" i="1" spc="75" dirty="0">
                <a:latin typeface="Times New Roman"/>
                <a:cs typeface="Times New Roman"/>
              </a:rPr>
              <a:t>k</a:t>
            </a:r>
            <a:r>
              <a:rPr sz="1050" i="1" spc="-114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55" dirty="0">
                <a:latin typeface="Times New Roman"/>
                <a:cs typeface="Times New Roman"/>
              </a:rPr>
              <a:t> </a:t>
            </a:r>
            <a:r>
              <a:rPr sz="1050" i="1" dirty="0">
                <a:latin typeface="Times New Roman"/>
                <a:cs typeface="Times New Roman"/>
              </a:rPr>
              <a:t>d</a:t>
            </a:r>
            <a:r>
              <a:rPr sz="1050" i="1" spc="-9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-8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1</a:t>
            </a:r>
            <a:r>
              <a:rPr sz="1050" spc="185" dirty="0">
                <a:latin typeface="Times New Roman"/>
                <a:cs typeface="Times New Roman"/>
              </a:rPr>
              <a:t> </a:t>
            </a:r>
            <a:r>
              <a:rPr sz="2625" spc="-434" baseline="14285" dirty="0">
                <a:latin typeface="Symbol"/>
                <a:cs typeface="Symbol"/>
              </a:rPr>
              <a:t></a:t>
            </a:r>
            <a:r>
              <a:rPr sz="2625" spc="337" baseline="14285" dirty="0">
                <a:latin typeface="Times New Roman"/>
                <a:cs typeface="Times New Roman"/>
              </a:rPr>
              <a:t> </a:t>
            </a:r>
            <a:r>
              <a:rPr sz="2625" i="1" spc="15" baseline="14285" dirty="0">
                <a:latin typeface="Times New Roman"/>
                <a:cs typeface="Times New Roman"/>
              </a:rPr>
              <a:t>u</a:t>
            </a:r>
            <a:endParaRPr sz="2625" baseline="14285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26510" y="2170430"/>
            <a:ext cx="71882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2625" i="1" baseline="14285" dirty="0">
                <a:latin typeface="Times New Roman"/>
                <a:cs typeface="Times New Roman"/>
              </a:rPr>
              <a:t>B</a:t>
            </a: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8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,</a:t>
            </a:r>
            <a:r>
              <a:rPr sz="1050" i="1" dirty="0">
                <a:latin typeface="Times New Roman"/>
                <a:cs typeface="Times New Roman"/>
              </a:rPr>
              <a:t>d</a:t>
            </a:r>
            <a:r>
              <a:rPr sz="1050" i="1" spc="-55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</a:t>
            </a:r>
            <a:r>
              <a:rPr sz="1050" spc="-7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1</a:t>
            </a:r>
            <a:r>
              <a:rPr sz="1050" spc="275" dirty="0">
                <a:latin typeface="Times New Roman"/>
                <a:cs typeface="Times New Roman"/>
              </a:rPr>
              <a:t> </a:t>
            </a:r>
            <a:r>
              <a:rPr sz="2625" spc="-509" baseline="14285" dirty="0">
                <a:latin typeface="Symbol"/>
                <a:cs typeface="Symbol"/>
              </a:rPr>
              <a:t></a:t>
            </a:r>
            <a:endParaRPr sz="2625" baseline="14285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45131" y="2289810"/>
            <a:ext cx="76390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462915" algn="l"/>
              </a:tabLst>
            </a:pPr>
            <a:r>
              <a:rPr sz="1750" i="1" spc="10" dirty="0">
                <a:latin typeface="Times New Roman"/>
                <a:cs typeface="Times New Roman"/>
              </a:rPr>
              <a:t>u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-290" dirty="0">
                <a:latin typeface="Symbol"/>
                <a:cs typeface="Symbol"/>
              </a:rPr>
              <a:t>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u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60700" y="1971039"/>
            <a:ext cx="60579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1750" i="1" spc="60" dirty="0">
                <a:latin typeface="Times New Roman"/>
                <a:cs typeface="Times New Roman"/>
              </a:rPr>
              <a:t>u</a:t>
            </a:r>
            <a:r>
              <a:rPr sz="1750" i="1" spc="-45" dirty="0">
                <a:latin typeface="Times New Roman"/>
                <a:cs typeface="Times New Roman"/>
              </a:rPr>
              <a:t> </a:t>
            </a:r>
            <a:r>
              <a:rPr sz="1750" spc="-290" dirty="0">
                <a:latin typeface="Symbol"/>
                <a:cs typeface="Symbol"/>
              </a:rPr>
              <a:t>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i="1" spc="50" dirty="0">
                <a:latin typeface="Times New Roman"/>
                <a:cs typeface="Times New Roman"/>
              </a:rPr>
              <a:t>u</a:t>
            </a:r>
            <a:r>
              <a:rPr sz="1575" i="1" spc="75" baseline="-23809" dirty="0">
                <a:latin typeface="Times New Roman"/>
                <a:cs typeface="Times New Roman"/>
              </a:rPr>
              <a:t>k</a:t>
            </a:r>
            <a:endParaRPr sz="1575" baseline="-23809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12950" y="2113280"/>
            <a:ext cx="84201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393065" algn="l"/>
              </a:tabLst>
            </a:pPr>
            <a:r>
              <a:rPr sz="1750" i="1" spc="25" dirty="0">
                <a:latin typeface="Times New Roman"/>
                <a:cs typeface="Times New Roman"/>
              </a:rPr>
              <a:t>B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80" dirty="0">
                <a:latin typeface="Times New Roman"/>
                <a:cs typeface="Times New Roman"/>
              </a:rPr>
              <a:t>(</a:t>
            </a:r>
            <a:r>
              <a:rPr sz="1750" i="1" spc="80" dirty="0">
                <a:latin typeface="Times New Roman"/>
                <a:cs typeface="Times New Roman"/>
              </a:rPr>
              <a:t>u</a:t>
            </a:r>
            <a:r>
              <a:rPr sz="1750" spc="80" dirty="0">
                <a:latin typeface="Times New Roman"/>
                <a:cs typeface="Times New Roman"/>
              </a:rPr>
              <a:t>)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spc="-340" dirty="0">
                <a:latin typeface="Symbol"/>
                <a:cs typeface="Symbol"/>
              </a:rPr>
              <a:t>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87550" y="1441449"/>
            <a:ext cx="119888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  <a:tabLst>
                <a:tab pos="403225" algn="l"/>
              </a:tabLst>
            </a:pPr>
            <a:r>
              <a:rPr sz="1750" i="1" spc="25" dirty="0">
                <a:latin typeface="Times New Roman"/>
                <a:cs typeface="Times New Roman"/>
              </a:rPr>
              <a:t>B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80" dirty="0">
                <a:latin typeface="Times New Roman"/>
                <a:cs typeface="Times New Roman"/>
              </a:rPr>
              <a:t>(</a:t>
            </a:r>
            <a:r>
              <a:rPr sz="1750" i="1" spc="80" dirty="0">
                <a:latin typeface="Times New Roman"/>
                <a:cs typeface="Times New Roman"/>
              </a:rPr>
              <a:t>u</a:t>
            </a:r>
            <a:r>
              <a:rPr sz="1750" spc="80" dirty="0">
                <a:latin typeface="Times New Roman"/>
                <a:cs typeface="Times New Roman"/>
              </a:rPr>
              <a:t>)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spc="-290" dirty="0">
                <a:latin typeface="Symbol"/>
                <a:cs typeface="Symbol"/>
              </a:rPr>
              <a:t></a:t>
            </a:r>
            <a:r>
              <a:rPr sz="1750" spc="390" dirty="0">
                <a:latin typeface="Times New Roman"/>
                <a:cs typeface="Times New Roman"/>
              </a:rPr>
              <a:t> </a:t>
            </a:r>
            <a:r>
              <a:rPr sz="2625" spc="-37" baseline="36507" dirty="0">
                <a:latin typeface="Symbol"/>
                <a:cs typeface="Symbol"/>
              </a:rPr>
              <a:t></a:t>
            </a:r>
            <a:r>
              <a:rPr sz="2625" spc="-37" baseline="41269" dirty="0">
                <a:latin typeface="Times New Roman"/>
                <a:cs typeface="Times New Roman"/>
              </a:rPr>
              <a:t>1</a:t>
            </a:r>
            <a:endParaRPr sz="2625" baseline="41269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56610" y="1209801"/>
            <a:ext cx="1854200" cy="70104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8100">
              <a:spcBef>
                <a:spcPts val="655"/>
              </a:spcBef>
            </a:pPr>
            <a:r>
              <a:rPr sz="1750" spc="105" dirty="0">
                <a:latin typeface="Cambria"/>
                <a:cs typeface="Cambria"/>
              </a:rPr>
              <a:t>para</a:t>
            </a:r>
            <a:r>
              <a:rPr sz="1750" spc="-95" dirty="0">
                <a:latin typeface="Cambria"/>
                <a:cs typeface="Cambria"/>
              </a:rPr>
              <a:t> </a:t>
            </a:r>
            <a:r>
              <a:rPr sz="1750" i="1" spc="75" dirty="0">
                <a:latin typeface="Times New Roman"/>
                <a:cs typeface="Times New Roman"/>
              </a:rPr>
              <a:t>u</a:t>
            </a:r>
            <a:r>
              <a:rPr sz="1575" i="1" spc="112" baseline="-23809" dirty="0">
                <a:latin typeface="Times New Roman"/>
                <a:cs typeface="Times New Roman"/>
              </a:rPr>
              <a:t>k</a:t>
            </a:r>
            <a:r>
              <a:rPr sz="1575" i="1" spc="675" baseline="-23809" dirty="0">
                <a:latin typeface="Times New Roman"/>
                <a:cs typeface="Times New Roman"/>
              </a:rPr>
              <a:t> </a:t>
            </a:r>
            <a:r>
              <a:rPr sz="1750" spc="-290" dirty="0">
                <a:latin typeface="Symbol"/>
                <a:cs typeface="Symbol"/>
              </a:rPr>
              <a:t></a:t>
            </a:r>
            <a:r>
              <a:rPr sz="1750" spc="335" dirty="0">
                <a:latin typeface="Times New Roman"/>
                <a:cs typeface="Times New Roman"/>
              </a:rPr>
              <a:t> </a:t>
            </a:r>
            <a:r>
              <a:rPr sz="1750" i="1" spc="60" dirty="0">
                <a:latin typeface="Times New Roman"/>
                <a:cs typeface="Times New Roman"/>
              </a:rPr>
              <a:t>u</a:t>
            </a:r>
            <a:r>
              <a:rPr sz="1750" i="1" spc="55" dirty="0">
                <a:latin typeface="Times New Roman"/>
                <a:cs typeface="Times New Roman"/>
              </a:rPr>
              <a:t> </a:t>
            </a:r>
            <a:r>
              <a:rPr sz="1750" spc="-290" dirty="0">
                <a:latin typeface="Symbol"/>
                <a:cs typeface="Symbol"/>
              </a:rPr>
              <a:t></a:t>
            </a:r>
            <a:r>
              <a:rPr sz="1750" spc="330" dirty="0">
                <a:latin typeface="Times New Roman"/>
                <a:cs typeface="Times New Roman"/>
              </a:rPr>
              <a:t> </a:t>
            </a:r>
            <a:r>
              <a:rPr sz="1750" i="1" spc="75" dirty="0">
                <a:latin typeface="Times New Roman"/>
                <a:cs typeface="Times New Roman"/>
              </a:rPr>
              <a:t>u</a:t>
            </a:r>
            <a:r>
              <a:rPr sz="1575" i="1" spc="112" baseline="-23809" dirty="0">
                <a:latin typeface="Times New Roman"/>
                <a:cs typeface="Times New Roman"/>
              </a:rPr>
              <a:t>k</a:t>
            </a:r>
            <a:r>
              <a:rPr sz="1575" i="1" spc="-172" baseline="-23809" dirty="0">
                <a:latin typeface="Times New Roman"/>
                <a:cs typeface="Times New Roman"/>
              </a:rPr>
              <a:t> </a:t>
            </a:r>
            <a:r>
              <a:rPr sz="1575" spc="-284" baseline="-23809" dirty="0">
                <a:latin typeface="Symbol"/>
                <a:cs typeface="Symbol"/>
              </a:rPr>
              <a:t></a:t>
            </a:r>
            <a:r>
              <a:rPr sz="1575" spc="-127" baseline="-23809" dirty="0">
                <a:latin typeface="Times New Roman"/>
                <a:cs typeface="Times New Roman"/>
              </a:rPr>
              <a:t> </a:t>
            </a:r>
            <a:r>
              <a:rPr sz="1575" baseline="-23809" dirty="0">
                <a:latin typeface="Times New Roman"/>
                <a:cs typeface="Times New Roman"/>
              </a:rPr>
              <a:t>1</a:t>
            </a:r>
            <a:r>
              <a:rPr sz="1575" spc="-247" baseline="-23809" dirty="0">
                <a:latin typeface="Times New Roman"/>
                <a:cs typeface="Times New Roman"/>
              </a:rPr>
              <a:t> </a:t>
            </a:r>
            <a:r>
              <a:rPr sz="1750" spc="-50" dirty="0">
                <a:latin typeface="Times New Roman"/>
                <a:cs typeface="Times New Roman"/>
              </a:rPr>
              <a:t>,</a:t>
            </a:r>
            <a:endParaRPr sz="1750">
              <a:latin typeface="Times New Roman"/>
              <a:cs typeface="Times New Roman"/>
            </a:endParaRPr>
          </a:p>
          <a:p>
            <a:pPr marL="41275">
              <a:spcBef>
                <a:spcPts val="560"/>
              </a:spcBef>
            </a:pPr>
            <a:r>
              <a:rPr sz="1750" spc="85" dirty="0">
                <a:latin typeface="Cambria"/>
                <a:cs typeface="Cambria"/>
              </a:rPr>
              <a:t>caso</a:t>
            </a:r>
            <a:r>
              <a:rPr sz="1750" spc="-15" dirty="0">
                <a:latin typeface="Cambria"/>
                <a:cs typeface="Cambria"/>
              </a:rPr>
              <a:t> </a:t>
            </a:r>
            <a:r>
              <a:rPr sz="1750" spc="65" dirty="0">
                <a:latin typeface="Cambria"/>
                <a:cs typeface="Cambria"/>
              </a:rPr>
              <a:t>contrário.</a:t>
            </a:r>
            <a:endParaRPr sz="1750">
              <a:latin typeface="Cambria"/>
              <a:cs typeface="Cambr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909695" y="4300855"/>
            <a:ext cx="171450" cy="172720"/>
            <a:chOff x="2385695" y="4300855"/>
            <a:chExt cx="171450" cy="17272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3727" y="4338727"/>
              <a:ext cx="85544" cy="8554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5695" y="4300855"/>
              <a:ext cx="171448" cy="172718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5208905" y="5292725"/>
            <a:ext cx="172720" cy="171450"/>
            <a:chOff x="3684905" y="5292725"/>
            <a:chExt cx="172720" cy="171450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29127" y="5329327"/>
              <a:ext cx="85544" cy="8554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84905" y="5292725"/>
              <a:ext cx="172718" cy="171448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8703945" y="3310255"/>
            <a:ext cx="171450" cy="172720"/>
            <a:chOff x="7179945" y="3310255"/>
            <a:chExt cx="171450" cy="172720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4327" y="3348127"/>
              <a:ext cx="85544" cy="8554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9945" y="3310255"/>
              <a:ext cx="171448" cy="172718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019040" y="5584190"/>
            <a:ext cx="436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0" baseline="13888" dirty="0">
                <a:latin typeface="Palatino Linotype"/>
                <a:cs typeface="Palatino Linotype"/>
              </a:rPr>
              <a:t>p</a:t>
            </a:r>
            <a:r>
              <a:rPr sz="1150" i="1" spc="-20" dirty="0">
                <a:latin typeface="Cambria"/>
                <a:cs typeface="Cambria"/>
              </a:rPr>
              <a:t>i+</a:t>
            </a:r>
            <a:r>
              <a:rPr sz="1150" spc="-20" dirty="0">
                <a:latin typeface="Cambria"/>
                <a:cs typeface="Cambria"/>
              </a:rPr>
              <a:t>1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00241" y="5279390"/>
            <a:ext cx="43560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0" baseline="13888" dirty="0">
                <a:latin typeface="Palatino Linotype"/>
                <a:cs typeface="Palatino Linotype"/>
              </a:rPr>
              <a:t>p</a:t>
            </a:r>
            <a:r>
              <a:rPr sz="1150" i="1" spc="-20" dirty="0">
                <a:latin typeface="Cambria"/>
                <a:cs typeface="Cambria"/>
              </a:rPr>
              <a:t>i+</a:t>
            </a:r>
            <a:r>
              <a:rPr sz="1150" spc="-20" dirty="0">
                <a:latin typeface="Cambria"/>
                <a:cs typeface="Cambria"/>
              </a:rPr>
              <a:t>2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00441" y="3679190"/>
            <a:ext cx="43560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0" baseline="13888" dirty="0">
                <a:latin typeface="Palatino Linotype"/>
                <a:cs typeface="Palatino Linotype"/>
              </a:rPr>
              <a:t>p</a:t>
            </a:r>
            <a:r>
              <a:rPr sz="1150" i="1" spc="-20" dirty="0">
                <a:latin typeface="Cambria"/>
                <a:cs typeface="Cambria"/>
              </a:rPr>
              <a:t>i+</a:t>
            </a:r>
            <a:r>
              <a:rPr sz="1150" spc="-20" dirty="0">
                <a:latin typeface="Cambria"/>
                <a:cs typeface="Cambria"/>
              </a:rPr>
              <a:t>3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860029" y="1379219"/>
            <a:ext cx="128270" cy="18466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100" i="1" spc="-50" dirty="0">
                <a:latin typeface="Times New Roman"/>
                <a:cs typeface="Times New Roman"/>
              </a:rPr>
              <a:t>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77709" y="1355836"/>
            <a:ext cx="1878330" cy="69977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8100">
              <a:spcBef>
                <a:spcPts val="495"/>
              </a:spcBef>
              <a:tabLst>
                <a:tab pos="1015365" algn="l"/>
              </a:tabLst>
            </a:pPr>
            <a:r>
              <a:rPr sz="1900" b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u</a:t>
            </a:r>
            <a:r>
              <a:rPr sz="1900" dirty="0">
                <a:latin typeface="Times New Roman"/>
                <a:cs typeface="Times New Roman"/>
              </a:rPr>
              <a:t>)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415" dirty="0">
                <a:latin typeface="Symbol"/>
                <a:cs typeface="Symbol"/>
              </a:rPr>
              <a:t></a:t>
            </a:r>
            <a:r>
              <a:rPr sz="1900" spc="445" dirty="0">
                <a:latin typeface="Times New Roman"/>
                <a:cs typeface="Times New Roman"/>
              </a:rPr>
              <a:t> </a:t>
            </a:r>
            <a:r>
              <a:rPr sz="4275" spc="-1297" baseline="-8771" dirty="0">
                <a:latin typeface="Symbol"/>
                <a:cs typeface="Symbol"/>
              </a:rPr>
              <a:t></a:t>
            </a:r>
            <a:r>
              <a:rPr sz="4275" baseline="-8771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B</a:t>
            </a:r>
            <a:r>
              <a:rPr sz="1650" i="1" baseline="-25252" dirty="0">
                <a:latin typeface="Times New Roman"/>
                <a:cs typeface="Times New Roman"/>
              </a:rPr>
              <a:t>i</a:t>
            </a:r>
            <a:r>
              <a:rPr sz="1650" baseline="-25252" dirty="0">
                <a:latin typeface="Times New Roman"/>
                <a:cs typeface="Times New Roman"/>
              </a:rPr>
              <a:t>,</a:t>
            </a:r>
            <a:r>
              <a:rPr sz="1650" i="1" baseline="-25252" dirty="0">
                <a:latin typeface="Times New Roman"/>
                <a:cs typeface="Times New Roman"/>
              </a:rPr>
              <a:t>d</a:t>
            </a:r>
            <a:r>
              <a:rPr sz="1650" i="1" spc="225" baseline="-25252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(</a:t>
            </a:r>
            <a:r>
              <a:rPr sz="1900" i="1" spc="-20" dirty="0">
                <a:latin typeface="Times New Roman"/>
                <a:cs typeface="Times New Roman"/>
              </a:rPr>
              <a:t>u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r>
              <a:rPr sz="1900" b="1" spc="-20" dirty="0">
                <a:latin typeface="Times New Roman"/>
                <a:cs typeface="Times New Roman"/>
              </a:rPr>
              <a:t>p</a:t>
            </a:r>
            <a:r>
              <a:rPr sz="1650" i="1" spc="-30" baseline="-25252" dirty="0">
                <a:latin typeface="Times New Roman"/>
                <a:cs typeface="Times New Roman"/>
              </a:rPr>
              <a:t>i</a:t>
            </a:r>
            <a:endParaRPr sz="1650" baseline="-25252">
              <a:latin typeface="Times New Roman"/>
              <a:cs typeface="Times New Roman"/>
            </a:endParaRPr>
          </a:p>
          <a:p>
            <a:pPr marR="181610" algn="ctr">
              <a:spcBef>
                <a:spcPts val="170"/>
              </a:spcBef>
            </a:pPr>
            <a:r>
              <a:rPr sz="1100" i="1" spc="-55" dirty="0">
                <a:latin typeface="Times New Roman"/>
                <a:cs typeface="Times New Roman"/>
              </a:rPr>
              <a:t>i</a:t>
            </a:r>
            <a:r>
              <a:rPr sz="1100" spc="-55" dirty="0">
                <a:latin typeface="Symbol"/>
                <a:cs typeface="Symbol"/>
              </a:rPr>
              <a:t>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448800" y="5334000"/>
            <a:ext cx="718820" cy="398780"/>
          </a:xfrm>
          <a:custGeom>
            <a:avLst/>
            <a:gdLst/>
            <a:ahLst/>
            <a:cxnLst/>
            <a:rect l="l" t="t" r="r" b="b"/>
            <a:pathLst>
              <a:path w="718820" h="398779">
                <a:moveTo>
                  <a:pt x="0" y="0"/>
                </a:moveTo>
                <a:lnTo>
                  <a:pt x="718820" y="0"/>
                </a:lnTo>
                <a:lnTo>
                  <a:pt x="718820" y="398780"/>
                </a:lnTo>
                <a:lnTo>
                  <a:pt x="0" y="3987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9527540" y="5368290"/>
            <a:ext cx="5613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dirty="0">
                <a:latin typeface="Cambria"/>
                <a:cs typeface="Cambria"/>
              </a:rPr>
              <a:t>d</a:t>
            </a:r>
            <a:r>
              <a:rPr sz="2000" i="1" spc="4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=</a:t>
            </a:r>
            <a:r>
              <a:rPr sz="2000" spc="30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0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371079" y="5863589"/>
            <a:ext cx="3056890" cy="6477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635" algn="ctr">
              <a:spcBef>
                <a:spcPts val="390"/>
              </a:spcBef>
            </a:pPr>
            <a:r>
              <a:rPr dirty="0">
                <a:latin typeface="Cambria"/>
                <a:cs typeface="Cambria"/>
              </a:rPr>
              <a:t>(assumir</a:t>
            </a:r>
            <a:r>
              <a:rPr spc="9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que</a:t>
            </a:r>
            <a:r>
              <a:rPr spc="10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para</a:t>
            </a:r>
            <a:r>
              <a:rPr spc="100" dirty="0">
                <a:latin typeface="Cambria"/>
                <a:cs typeface="Cambria"/>
              </a:rPr>
              <a:t> </a:t>
            </a:r>
            <a:r>
              <a:rPr i="1" dirty="0">
                <a:latin typeface="Cambria"/>
                <a:cs typeface="Cambria"/>
              </a:rPr>
              <a:t>u</a:t>
            </a:r>
            <a:r>
              <a:rPr i="1" spc="85" dirty="0">
                <a:latin typeface="Cambria"/>
                <a:cs typeface="Cambria"/>
              </a:rPr>
              <a:t> </a:t>
            </a:r>
            <a:r>
              <a:rPr i="1" spc="130" dirty="0">
                <a:latin typeface="Cambria"/>
                <a:cs typeface="Cambria"/>
              </a:rPr>
              <a:t>=</a:t>
            </a:r>
            <a:r>
              <a:rPr i="1" spc="100" dirty="0">
                <a:latin typeface="Cambria"/>
                <a:cs typeface="Cambria"/>
              </a:rPr>
              <a:t> </a:t>
            </a:r>
            <a:r>
              <a:rPr i="1" spc="-25" dirty="0">
                <a:latin typeface="Cambria"/>
                <a:cs typeface="Cambria"/>
              </a:rPr>
              <a:t>u</a:t>
            </a:r>
            <a:r>
              <a:rPr sz="1575" i="1" spc="-37" baseline="-23809" dirty="0">
                <a:latin typeface="Cambria"/>
                <a:cs typeface="Cambria"/>
              </a:rPr>
              <a:t>i</a:t>
            </a:r>
            <a:endParaRPr sz="1575" baseline="-23809">
              <a:latin typeface="Cambria"/>
              <a:cs typeface="Cambria"/>
            </a:endParaRPr>
          </a:p>
          <a:p>
            <a:pPr algn="ctr">
              <a:spcBef>
                <a:spcPts val="290"/>
              </a:spcBef>
            </a:pPr>
            <a:r>
              <a:rPr dirty="0">
                <a:latin typeface="Cambria"/>
                <a:cs typeface="Cambria"/>
              </a:rPr>
              <a:t>Spline</a:t>
            </a:r>
            <a:r>
              <a:rPr spc="1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de</a:t>
            </a:r>
            <a:r>
              <a:rPr spc="1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grau</a:t>
            </a:r>
            <a:r>
              <a:rPr spc="1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0</a:t>
            </a:r>
            <a:r>
              <a:rPr spc="12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passa</a:t>
            </a:r>
            <a:r>
              <a:rPr spc="12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por</a:t>
            </a:r>
            <a:r>
              <a:rPr spc="125" dirty="0">
                <a:latin typeface="Cambria"/>
                <a:cs typeface="Cambria"/>
              </a:rPr>
              <a:t> </a:t>
            </a:r>
            <a:r>
              <a:rPr b="1" spc="-25" dirty="0">
                <a:latin typeface="Palatino Linotype"/>
                <a:cs typeface="Palatino Linotype"/>
              </a:rPr>
              <a:t>p</a:t>
            </a:r>
            <a:r>
              <a:rPr sz="1575" spc="-37" baseline="-23809" dirty="0">
                <a:latin typeface="Cambria"/>
                <a:cs typeface="Cambria"/>
              </a:rPr>
              <a:t>i</a:t>
            </a:r>
            <a:r>
              <a:rPr spc="-25" dirty="0">
                <a:latin typeface="Cambria"/>
                <a:cs typeface="Cambria"/>
              </a:rPr>
              <a:t>)</a:t>
            </a:r>
            <a:endParaRPr>
              <a:latin typeface="Cambria"/>
              <a:cs typeface="Cambria"/>
            </a:endParaRPr>
          </a:p>
        </p:txBody>
      </p:sp>
      <p:pic>
        <p:nvPicPr>
          <p:cNvPr id="39" name="object 3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16445" y="4990465"/>
            <a:ext cx="171448" cy="171448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3164839" y="3796029"/>
            <a:ext cx="1441450" cy="911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0" dirty="0">
                <a:latin typeface="Palatino Linotype"/>
                <a:cs typeface="Palatino Linotype"/>
              </a:rPr>
              <a:t>p</a:t>
            </a:r>
            <a:r>
              <a:rPr sz="2000" b="1" spc="-204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Cambria"/>
                <a:cs typeface="Cambria"/>
              </a:rPr>
              <a:t>(</a:t>
            </a:r>
            <a:r>
              <a:rPr sz="2000" i="1" dirty="0">
                <a:latin typeface="Cambria"/>
                <a:cs typeface="Cambria"/>
              </a:rPr>
              <a:t>u</a:t>
            </a:r>
            <a:r>
              <a:rPr sz="1725" i="1" baseline="-24154" dirty="0">
                <a:latin typeface="Cambria"/>
                <a:cs typeface="Cambria"/>
              </a:rPr>
              <a:t>i</a:t>
            </a:r>
            <a:r>
              <a:rPr sz="1725" i="1" spc="-22" baseline="-24154" dirty="0">
                <a:latin typeface="Cambria"/>
                <a:cs typeface="Cambria"/>
              </a:rPr>
              <a:t> </a:t>
            </a:r>
            <a:r>
              <a:rPr sz="2000" i="1" spc="-10" dirty="0">
                <a:latin typeface="Cambria"/>
                <a:cs typeface="Cambria"/>
              </a:rPr>
              <a:t>≤u&lt;u</a:t>
            </a:r>
            <a:r>
              <a:rPr sz="1725" i="1" spc="-15" baseline="-24154" dirty="0">
                <a:latin typeface="Cambria"/>
                <a:cs typeface="Cambria"/>
              </a:rPr>
              <a:t>i+</a:t>
            </a:r>
            <a:r>
              <a:rPr sz="1725" spc="-15" baseline="-24154" dirty="0">
                <a:latin typeface="Cambria"/>
                <a:cs typeface="Cambria"/>
              </a:rPr>
              <a:t>1</a:t>
            </a:r>
            <a:r>
              <a:rPr sz="2000" spc="-10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360680">
              <a:spcBef>
                <a:spcPts val="218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i="1" spc="-37" baseline="-24154" dirty="0">
                <a:latin typeface="Cambria"/>
                <a:cs typeface="Cambria"/>
              </a:rPr>
              <a:t>i</a:t>
            </a:r>
            <a:endParaRPr sz="1725" baseline="-24154">
              <a:latin typeface="Cambria"/>
              <a:cs typeface="Cambr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60570" y="4682490"/>
            <a:ext cx="16065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0" dirty="0">
                <a:latin typeface="Palatino Linotype"/>
                <a:cs typeface="Palatino Linotype"/>
              </a:rPr>
              <a:t>p</a:t>
            </a:r>
            <a:r>
              <a:rPr sz="2000" b="1" spc="-204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Cambria"/>
                <a:cs typeface="Cambria"/>
              </a:rPr>
              <a:t>(</a:t>
            </a:r>
            <a:r>
              <a:rPr sz="2000" i="1" dirty="0">
                <a:latin typeface="Cambria"/>
                <a:cs typeface="Cambria"/>
              </a:rPr>
              <a:t>u</a:t>
            </a:r>
            <a:r>
              <a:rPr sz="1725" i="1" baseline="-24154" dirty="0">
                <a:latin typeface="Cambria"/>
                <a:cs typeface="Cambria"/>
              </a:rPr>
              <a:t>i</a:t>
            </a:r>
            <a:r>
              <a:rPr sz="1725" baseline="-24154" dirty="0">
                <a:latin typeface="Cambria"/>
                <a:cs typeface="Cambria"/>
              </a:rPr>
              <a:t>+1</a:t>
            </a:r>
            <a:r>
              <a:rPr sz="1725" spc="-15" baseline="-24154" dirty="0">
                <a:latin typeface="Cambria"/>
                <a:cs typeface="Cambria"/>
              </a:rPr>
              <a:t> </a:t>
            </a:r>
            <a:r>
              <a:rPr sz="2000" i="1" spc="-10" dirty="0">
                <a:latin typeface="Cambria"/>
                <a:cs typeface="Cambria"/>
              </a:rPr>
              <a:t>≤u&lt;u</a:t>
            </a:r>
            <a:r>
              <a:rPr sz="1725" i="1" spc="-15" baseline="-24154" dirty="0">
                <a:latin typeface="Cambria"/>
                <a:cs typeface="Cambria"/>
              </a:rPr>
              <a:t>i+</a:t>
            </a:r>
            <a:r>
              <a:rPr sz="1725" spc="-15" baseline="-24154" dirty="0">
                <a:latin typeface="Cambria"/>
                <a:cs typeface="Cambria"/>
              </a:rPr>
              <a:t>2</a:t>
            </a:r>
            <a:r>
              <a:rPr sz="2000" spc="-10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479540" y="4377690"/>
            <a:ext cx="16065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0" dirty="0">
                <a:latin typeface="Palatino Linotype"/>
                <a:cs typeface="Palatino Linotype"/>
              </a:rPr>
              <a:t>p</a:t>
            </a:r>
            <a:r>
              <a:rPr sz="2000" b="1" spc="-204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Cambria"/>
                <a:cs typeface="Cambria"/>
              </a:rPr>
              <a:t>(</a:t>
            </a:r>
            <a:r>
              <a:rPr sz="2000" i="1" dirty="0">
                <a:latin typeface="Cambria"/>
                <a:cs typeface="Cambria"/>
              </a:rPr>
              <a:t>u</a:t>
            </a:r>
            <a:r>
              <a:rPr sz="1725" i="1" baseline="-24154" dirty="0">
                <a:latin typeface="Cambria"/>
                <a:cs typeface="Cambria"/>
              </a:rPr>
              <a:t>i</a:t>
            </a:r>
            <a:r>
              <a:rPr sz="1725" baseline="-24154" dirty="0">
                <a:latin typeface="Cambria"/>
                <a:cs typeface="Cambria"/>
              </a:rPr>
              <a:t>+2</a:t>
            </a:r>
            <a:r>
              <a:rPr sz="1725" spc="-15" baseline="-24154" dirty="0">
                <a:latin typeface="Cambria"/>
                <a:cs typeface="Cambria"/>
              </a:rPr>
              <a:t> </a:t>
            </a:r>
            <a:r>
              <a:rPr sz="2000" i="1" spc="-10" dirty="0">
                <a:latin typeface="Cambria"/>
                <a:cs typeface="Cambria"/>
              </a:rPr>
              <a:t>≤u&lt;u</a:t>
            </a:r>
            <a:r>
              <a:rPr sz="1725" i="1" spc="-15" baseline="-24154" dirty="0">
                <a:latin typeface="Cambria"/>
                <a:cs typeface="Cambria"/>
              </a:rPr>
              <a:t>i+</a:t>
            </a:r>
            <a:r>
              <a:rPr sz="1725" spc="-15" baseline="-24154" dirty="0">
                <a:latin typeface="Cambria"/>
                <a:cs typeface="Cambria"/>
              </a:rPr>
              <a:t>3</a:t>
            </a:r>
            <a:r>
              <a:rPr sz="2000" spc="-10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079740" y="2777490"/>
            <a:ext cx="16065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0" dirty="0">
                <a:latin typeface="Palatino Linotype"/>
                <a:cs typeface="Palatino Linotype"/>
              </a:rPr>
              <a:t>p</a:t>
            </a:r>
            <a:r>
              <a:rPr sz="2000" b="1" spc="-204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Cambria"/>
                <a:cs typeface="Cambria"/>
              </a:rPr>
              <a:t>(</a:t>
            </a:r>
            <a:r>
              <a:rPr sz="2000" i="1" dirty="0">
                <a:latin typeface="Cambria"/>
                <a:cs typeface="Cambria"/>
              </a:rPr>
              <a:t>u</a:t>
            </a:r>
            <a:r>
              <a:rPr sz="1725" i="1" baseline="-24154" dirty="0">
                <a:latin typeface="Cambria"/>
                <a:cs typeface="Cambria"/>
              </a:rPr>
              <a:t>i</a:t>
            </a:r>
            <a:r>
              <a:rPr sz="1725" baseline="-24154" dirty="0">
                <a:latin typeface="Cambria"/>
                <a:cs typeface="Cambria"/>
              </a:rPr>
              <a:t>+2</a:t>
            </a:r>
            <a:r>
              <a:rPr sz="1725" spc="-15" baseline="-24154" dirty="0">
                <a:latin typeface="Cambria"/>
                <a:cs typeface="Cambria"/>
              </a:rPr>
              <a:t> </a:t>
            </a:r>
            <a:r>
              <a:rPr sz="2000" i="1" spc="-10" dirty="0">
                <a:latin typeface="Cambria"/>
                <a:cs typeface="Cambria"/>
              </a:rPr>
              <a:t>≤u&lt;u</a:t>
            </a:r>
            <a:r>
              <a:rPr sz="1725" i="1" spc="-15" baseline="-24154" dirty="0">
                <a:latin typeface="Cambria"/>
                <a:cs typeface="Cambria"/>
              </a:rPr>
              <a:t>i+</a:t>
            </a:r>
            <a:r>
              <a:rPr sz="1725" spc="-15" baseline="-24154" dirty="0">
                <a:latin typeface="Cambria"/>
                <a:cs typeface="Cambria"/>
              </a:rPr>
              <a:t>4</a:t>
            </a:r>
            <a:r>
              <a:rPr sz="2000" spc="-10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2521" y="360679"/>
            <a:ext cx="488759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Recorrência</a:t>
            </a:r>
            <a:r>
              <a:rPr spc="-40" dirty="0"/>
              <a:t> </a:t>
            </a:r>
            <a:r>
              <a:rPr spc="-20" dirty="0"/>
              <a:t>Cox-</a:t>
            </a:r>
            <a:r>
              <a:rPr dirty="0"/>
              <a:t>de</a:t>
            </a:r>
            <a:r>
              <a:rPr spc="-35" dirty="0"/>
              <a:t> </a:t>
            </a:r>
            <a:r>
              <a:rPr spc="-20" dirty="0"/>
              <a:t>Boor</a:t>
            </a:r>
          </a:p>
        </p:txBody>
      </p:sp>
      <p:sp>
        <p:nvSpPr>
          <p:cNvPr id="3" name="object 3"/>
          <p:cNvSpPr/>
          <p:nvPr/>
        </p:nvSpPr>
        <p:spPr>
          <a:xfrm>
            <a:off x="2948939" y="2296160"/>
            <a:ext cx="867410" cy="0"/>
          </a:xfrm>
          <a:custGeom>
            <a:avLst/>
            <a:gdLst/>
            <a:ahLst/>
            <a:cxnLst/>
            <a:rect l="l" t="t" r="r" b="b"/>
            <a:pathLst>
              <a:path w="867410">
                <a:moveTo>
                  <a:pt x="0" y="0"/>
                </a:moveTo>
                <a:lnTo>
                  <a:pt x="867410" y="0"/>
                </a:lnTo>
              </a:path>
            </a:pathLst>
          </a:custGeom>
          <a:ln w="8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3750" y="2296160"/>
            <a:ext cx="1144270" cy="0"/>
          </a:xfrm>
          <a:custGeom>
            <a:avLst/>
            <a:gdLst/>
            <a:ahLst/>
            <a:cxnLst/>
            <a:rect l="l" t="t" r="r" b="b"/>
            <a:pathLst>
              <a:path w="1144270">
                <a:moveTo>
                  <a:pt x="0" y="0"/>
                </a:moveTo>
                <a:lnTo>
                  <a:pt x="1144270" y="0"/>
                </a:lnTo>
              </a:path>
            </a:pathLst>
          </a:custGeom>
          <a:ln w="8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18461" y="1668780"/>
            <a:ext cx="10350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750" spc="-310" dirty="0">
                <a:latin typeface="Symbol"/>
                <a:cs typeface="Symbol"/>
              </a:rPr>
              <a:t>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3060" y="1480819"/>
            <a:ext cx="31623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1750" spc="-260" dirty="0">
                <a:latin typeface="Symbol"/>
                <a:cs typeface="Symbol"/>
              </a:rPr>
              <a:t></a:t>
            </a:r>
            <a:r>
              <a:rPr sz="1750" spc="-120" dirty="0">
                <a:latin typeface="Times New Roman"/>
                <a:cs typeface="Times New Roman"/>
              </a:rPr>
              <a:t> </a:t>
            </a:r>
            <a:r>
              <a:rPr sz="2625" spc="37" baseline="-33333" dirty="0">
                <a:latin typeface="Times New Roman"/>
                <a:cs typeface="Times New Roman"/>
              </a:rPr>
              <a:t>0</a:t>
            </a:r>
            <a:endParaRPr sz="2625" baseline="-33333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28359" y="2264410"/>
            <a:ext cx="52197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8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-5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1,</a:t>
            </a:r>
            <a:r>
              <a:rPr sz="1050" i="1" dirty="0">
                <a:latin typeface="Times New Roman"/>
                <a:cs typeface="Times New Roman"/>
              </a:rPr>
              <a:t>d</a:t>
            </a:r>
            <a:r>
              <a:rPr sz="1050" i="1" spc="-6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</a:t>
            </a:r>
            <a:r>
              <a:rPr sz="1050" spc="-80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8210" y="2439670"/>
            <a:ext cx="100711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  <a:tabLst>
                <a:tab pos="768985" algn="l"/>
              </a:tabLst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1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70" dirty="0">
                <a:latin typeface="Times New Roman"/>
                <a:cs typeface="Times New Roman"/>
              </a:rPr>
              <a:t> </a:t>
            </a:r>
            <a:r>
              <a:rPr sz="1050" i="1" dirty="0">
                <a:latin typeface="Times New Roman"/>
                <a:cs typeface="Times New Roman"/>
              </a:rPr>
              <a:t>d</a:t>
            </a:r>
            <a:r>
              <a:rPr sz="1050" i="1" spc="-8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-70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Times New Roman"/>
                <a:cs typeface="Times New Roman"/>
              </a:rPr>
              <a:t>1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05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-70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91889" y="2439670"/>
            <a:ext cx="8890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spc="-50" dirty="0">
                <a:latin typeface="Times New Roman"/>
                <a:cs typeface="Times New Roman"/>
              </a:rPr>
              <a:t>k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74669" y="2439670"/>
            <a:ext cx="26670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1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65" dirty="0">
                <a:latin typeface="Times New Roman"/>
                <a:cs typeface="Times New Roman"/>
              </a:rPr>
              <a:t> </a:t>
            </a:r>
            <a:r>
              <a:rPr sz="1050" i="1" spc="-50" dirty="0">
                <a:latin typeface="Times New Roman"/>
                <a:cs typeface="Times New Roman"/>
              </a:rPr>
              <a:t>d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57730" y="2264410"/>
            <a:ext cx="21844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00" dirty="0">
                <a:latin typeface="Times New Roman"/>
                <a:cs typeface="Times New Roman"/>
              </a:rPr>
              <a:t> </a:t>
            </a:r>
            <a:r>
              <a:rPr sz="1050" spc="-25" dirty="0">
                <a:latin typeface="Times New Roman"/>
                <a:cs typeface="Times New Roman"/>
              </a:rPr>
              <a:t>,</a:t>
            </a:r>
            <a:r>
              <a:rPr sz="1050" i="1" spc="-25" dirty="0">
                <a:latin typeface="Times New Roman"/>
                <a:cs typeface="Times New Roman"/>
              </a:rPr>
              <a:t>d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57730" y="1592579"/>
            <a:ext cx="21971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00" dirty="0">
                <a:latin typeface="Times New Roman"/>
                <a:cs typeface="Times New Roman"/>
              </a:rPr>
              <a:t> </a:t>
            </a:r>
            <a:r>
              <a:rPr sz="1050" spc="25" dirty="0">
                <a:latin typeface="Times New Roman"/>
                <a:cs typeface="Times New Roman"/>
              </a:rPr>
              <a:t>,0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84851" y="2113280"/>
            <a:ext cx="17208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750" i="1" spc="25" dirty="0">
                <a:latin typeface="Times New Roman"/>
                <a:cs typeface="Times New Roman"/>
              </a:rPr>
              <a:t>B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98671" y="2289810"/>
            <a:ext cx="90233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602615" algn="l"/>
              </a:tabLst>
            </a:pPr>
            <a:r>
              <a:rPr sz="1750" i="1" spc="10" dirty="0">
                <a:latin typeface="Times New Roman"/>
                <a:cs typeface="Times New Roman"/>
              </a:rPr>
              <a:t>u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-290" dirty="0">
                <a:latin typeface="Symbol"/>
                <a:cs typeface="Symbol"/>
              </a:rPr>
              <a:t></a:t>
            </a:r>
            <a:r>
              <a:rPr sz="1750" spc="190" dirty="0">
                <a:latin typeface="Times New Roman"/>
                <a:cs typeface="Times New Roman"/>
              </a:rPr>
              <a:t> </a:t>
            </a:r>
            <a:r>
              <a:rPr sz="1750" i="1" spc="10" dirty="0">
                <a:latin typeface="Times New Roman"/>
                <a:cs typeface="Times New Roman"/>
              </a:rPr>
              <a:t>u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92651" y="2026919"/>
            <a:ext cx="95313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2625" i="1" spc="112" baseline="14285" dirty="0">
                <a:latin typeface="Times New Roman"/>
                <a:cs typeface="Times New Roman"/>
              </a:rPr>
              <a:t>u</a:t>
            </a:r>
            <a:r>
              <a:rPr sz="1050" i="1" spc="75" dirty="0">
                <a:latin typeface="Times New Roman"/>
                <a:cs typeface="Times New Roman"/>
              </a:rPr>
              <a:t>k</a:t>
            </a:r>
            <a:r>
              <a:rPr sz="1050" i="1" spc="-114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55" dirty="0">
                <a:latin typeface="Times New Roman"/>
                <a:cs typeface="Times New Roman"/>
              </a:rPr>
              <a:t> </a:t>
            </a:r>
            <a:r>
              <a:rPr sz="1050" i="1" dirty="0">
                <a:latin typeface="Times New Roman"/>
                <a:cs typeface="Times New Roman"/>
              </a:rPr>
              <a:t>d</a:t>
            </a:r>
            <a:r>
              <a:rPr sz="1050" i="1" spc="-9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-8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1</a:t>
            </a:r>
            <a:r>
              <a:rPr sz="1050" spc="185" dirty="0">
                <a:latin typeface="Times New Roman"/>
                <a:cs typeface="Times New Roman"/>
              </a:rPr>
              <a:t> </a:t>
            </a:r>
            <a:r>
              <a:rPr sz="2625" spc="-434" baseline="14285" dirty="0">
                <a:latin typeface="Symbol"/>
                <a:cs typeface="Symbol"/>
              </a:rPr>
              <a:t></a:t>
            </a:r>
            <a:r>
              <a:rPr sz="2625" spc="337" baseline="14285" dirty="0">
                <a:latin typeface="Times New Roman"/>
                <a:cs typeface="Times New Roman"/>
              </a:rPr>
              <a:t> </a:t>
            </a:r>
            <a:r>
              <a:rPr sz="2625" i="1" spc="15" baseline="14285" dirty="0">
                <a:latin typeface="Times New Roman"/>
                <a:cs typeface="Times New Roman"/>
              </a:rPr>
              <a:t>u</a:t>
            </a:r>
            <a:endParaRPr sz="2625" baseline="14285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26510" y="2170430"/>
            <a:ext cx="71882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2625" i="1" baseline="14285" dirty="0">
                <a:latin typeface="Times New Roman"/>
                <a:cs typeface="Times New Roman"/>
              </a:rPr>
              <a:t>B</a:t>
            </a: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8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,</a:t>
            </a:r>
            <a:r>
              <a:rPr sz="1050" i="1" dirty="0">
                <a:latin typeface="Times New Roman"/>
                <a:cs typeface="Times New Roman"/>
              </a:rPr>
              <a:t>d</a:t>
            </a:r>
            <a:r>
              <a:rPr sz="1050" i="1" spc="-55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</a:t>
            </a:r>
            <a:r>
              <a:rPr sz="1050" spc="-7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1</a:t>
            </a:r>
            <a:r>
              <a:rPr sz="1050" spc="275" dirty="0">
                <a:latin typeface="Times New Roman"/>
                <a:cs typeface="Times New Roman"/>
              </a:rPr>
              <a:t> </a:t>
            </a:r>
            <a:r>
              <a:rPr sz="2625" spc="-509" baseline="14285" dirty="0">
                <a:latin typeface="Symbol"/>
                <a:cs typeface="Symbol"/>
              </a:rPr>
              <a:t></a:t>
            </a:r>
            <a:endParaRPr sz="2625" baseline="14285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45131" y="2289810"/>
            <a:ext cx="76390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462915" algn="l"/>
              </a:tabLst>
            </a:pPr>
            <a:r>
              <a:rPr sz="1750" i="1" spc="10" dirty="0">
                <a:latin typeface="Times New Roman"/>
                <a:cs typeface="Times New Roman"/>
              </a:rPr>
              <a:t>u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-290" dirty="0">
                <a:latin typeface="Symbol"/>
                <a:cs typeface="Symbol"/>
              </a:rPr>
              <a:t>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u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60700" y="1971039"/>
            <a:ext cx="60579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1750" i="1" spc="60" dirty="0">
                <a:latin typeface="Times New Roman"/>
                <a:cs typeface="Times New Roman"/>
              </a:rPr>
              <a:t>u</a:t>
            </a:r>
            <a:r>
              <a:rPr sz="1750" i="1" spc="-45" dirty="0">
                <a:latin typeface="Times New Roman"/>
                <a:cs typeface="Times New Roman"/>
              </a:rPr>
              <a:t> </a:t>
            </a:r>
            <a:r>
              <a:rPr sz="1750" spc="-290" dirty="0">
                <a:latin typeface="Symbol"/>
                <a:cs typeface="Symbol"/>
              </a:rPr>
              <a:t>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i="1" spc="50" dirty="0">
                <a:latin typeface="Times New Roman"/>
                <a:cs typeface="Times New Roman"/>
              </a:rPr>
              <a:t>u</a:t>
            </a:r>
            <a:r>
              <a:rPr sz="1575" i="1" spc="75" baseline="-23809" dirty="0">
                <a:latin typeface="Times New Roman"/>
                <a:cs typeface="Times New Roman"/>
              </a:rPr>
              <a:t>k</a:t>
            </a:r>
            <a:endParaRPr sz="1575" baseline="-23809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12950" y="2113280"/>
            <a:ext cx="84201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393065" algn="l"/>
              </a:tabLst>
            </a:pPr>
            <a:r>
              <a:rPr sz="1750" i="1" spc="25" dirty="0">
                <a:latin typeface="Times New Roman"/>
                <a:cs typeface="Times New Roman"/>
              </a:rPr>
              <a:t>B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80" dirty="0">
                <a:latin typeface="Times New Roman"/>
                <a:cs typeface="Times New Roman"/>
              </a:rPr>
              <a:t>(</a:t>
            </a:r>
            <a:r>
              <a:rPr sz="1750" i="1" spc="80" dirty="0">
                <a:latin typeface="Times New Roman"/>
                <a:cs typeface="Times New Roman"/>
              </a:rPr>
              <a:t>u</a:t>
            </a:r>
            <a:r>
              <a:rPr sz="1750" spc="80" dirty="0">
                <a:latin typeface="Times New Roman"/>
                <a:cs typeface="Times New Roman"/>
              </a:rPr>
              <a:t>)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spc="-340" dirty="0">
                <a:latin typeface="Symbol"/>
                <a:cs typeface="Symbol"/>
              </a:rPr>
              <a:t>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87550" y="1441449"/>
            <a:ext cx="119888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  <a:tabLst>
                <a:tab pos="403225" algn="l"/>
              </a:tabLst>
            </a:pPr>
            <a:r>
              <a:rPr sz="1750" i="1" spc="25" dirty="0">
                <a:latin typeface="Times New Roman"/>
                <a:cs typeface="Times New Roman"/>
              </a:rPr>
              <a:t>B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80" dirty="0">
                <a:latin typeface="Times New Roman"/>
                <a:cs typeface="Times New Roman"/>
              </a:rPr>
              <a:t>(</a:t>
            </a:r>
            <a:r>
              <a:rPr sz="1750" i="1" spc="80" dirty="0">
                <a:latin typeface="Times New Roman"/>
                <a:cs typeface="Times New Roman"/>
              </a:rPr>
              <a:t>u</a:t>
            </a:r>
            <a:r>
              <a:rPr sz="1750" spc="80" dirty="0">
                <a:latin typeface="Times New Roman"/>
                <a:cs typeface="Times New Roman"/>
              </a:rPr>
              <a:t>)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spc="-290" dirty="0">
                <a:latin typeface="Symbol"/>
                <a:cs typeface="Symbol"/>
              </a:rPr>
              <a:t></a:t>
            </a:r>
            <a:r>
              <a:rPr sz="1750" spc="390" dirty="0">
                <a:latin typeface="Times New Roman"/>
                <a:cs typeface="Times New Roman"/>
              </a:rPr>
              <a:t> </a:t>
            </a:r>
            <a:r>
              <a:rPr sz="2625" spc="-37" baseline="36507" dirty="0">
                <a:latin typeface="Symbol"/>
                <a:cs typeface="Symbol"/>
              </a:rPr>
              <a:t></a:t>
            </a:r>
            <a:r>
              <a:rPr sz="2625" spc="-37" baseline="41269" dirty="0">
                <a:latin typeface="Times New Roman"/>
                <a:cs typeface="Times New Roman"/>
              </a:rPr>
              <a:t>1</a:t>
            </a:r>
            <a:endParaRPr sz="2625" baseline="41269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56610" y="1209801"/>
            <a:ext cx="1854200" cy="70104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8100">
              <a:spcBef>
                <a:spcPts val="655"/>
              </a:spcBef>
            </a:pPr>
            <a:r>
              <a:rPr sz="1750" spc="105" dirty="0">
                <a:latin typeface="Cambria"/>
                <a:cs typeface="Cambria"/>
              </a:rPr>
              <a:t>para</a:t>
            </a:r>
            <a:r>
              <a:rPr sz="1750" spc="-95" dirty="0">
                <a:latin typeface="Cambria"/>
                <a:cs typeface="Cambria"/>
              </a:rPr>
              <a:t> </a:t>
            </a:r>
            <a:r>
              <a:rPr sz="1750" i="1" spc="75" dirty="0">
                <a:latin typeface="Times New Roman"/>
                <a:cs typeface="Times New Roman"/>
              </a:rPr>
              <a:t>u</a:t>
            </a:r>
            <a:r>
              <a:rPr sz="1575" i="1" spc="112" baseline="-23809" dirty="0">
                <a:latin typeface="Times New Roman"/>
                <a:cs typeface="Times New Roman"/>
              </a:rPr>
              <a:t>k</a:t>
            </a:r>
            <a:r>
              <a:rPr sz="1575" i="1" spc="675" baseline="-23809" dirty="0">
                <a:latin typeface="Times New Roman"/>
                <a:cs typeface="Times New Roman"/>
              </a:rPr>
              <a:t> </a:t>
            </a:r>
            <a:r>
              <a:rPr sz="1750" spc="-290" dirty="0">
                <a:latin typeface="Symbol"/>
                <a:cs typeface="Symbol"/>
              </a:rPr>
              <a:t></a:t>
            </a:r>
            <a:r>
              <a:rPr sz="1750" spc="335" dirty="0">
                <a:latin typeface="Times New Roman"/>
                <a:cs typeface="Times New Roman"/>
              </a:rPr>
              <a:t> </a:t>
            </a:r>
            <a:r>
              <a:rPr sz="1750" i="1" spc="60" dirty="0">
                <a:latin typeface="Times New Roman"/>
                <a:cs typeface="Times New Roman"/>
              </a:rPr>
              <a:t>u</a:t>
            </a:r>
            <a:r>
              <a:rPr sz="1750" i="1" spc="55" dirty="0">
                <a:latin typeface="Times New Roman"/>
                <a:cs typeface="Times New Roman"/>
              </a:rPr>
              <a:t> </a:t>
            </a:r>
            <a:r>
              <a:rPr sz="1750" spc="-290" dirty="0">
                <a:latin typeface="Symbol"/>
                <a:cs typeface="Symbol"/>
              </a:rPr>
              <a:t></a:t>
            </a:r>
            <a:r>
              <a:rPr sz="1750" spc="330" dirty="0">
                <a:latin typeface="Times New Roman"/>
                <a:cs typeface="Times New Roman"/>
              </a:rPr>
              <a:t> </a:t>
            </a:r>
            <a:r>
              <a:rPr sz="1750" i="1" spc="75" dirty="0">
                <a:latin typeface="Times New Roman"/>
                <a:cs typeface="Times New Roman"/>
              </a:rPr>
              <a:t>u</a:t>
            </a:r>
            <a:r>
              <a:rPr sz="1575" i="1" spc="112" baseline="-23809" dirty="0">
                <a:latin typeface="Times New Roman"/>
                <a:cs typeface="Times New Roman"/>
              </a:rPr>
              <a:t>k</a:t>
            </a:r>
            <a:r>
              <a:rPr sz="1575" i="1" spc="-172" baseline="-23809" dirty="0">
                <a:latin typeface="Times New Roman"/>
                <a:cs typeface="Times New Roman"/>
              </a:rPr>
              <a:t> </a:t>
            </a:r>
            <a:r>
              <a:rPr sz="1575" spc="-284" baseline="-23809" dirty="0">
                <a:latin typeface="Symbol"/>
                <a:cs typeface="Symbol"/>
              </a:rPr>
              <a:t></a:t>
            </a:r>
            <a:r>
              <a:rPr sz="1575" spc="-127" baseline="-23809" dirty="0">
                <a:latin typeface="Times New Roman"/>
                <a:cs typeface="Times New Roman"/>
              </a:rPr>
              <a:t> </a:t>
            </a:r>
            <a:r>
              <a:rPr sz="1575" baseline="-23809" dirty="0">
                <a:latin typeface="Times New Roman"/>
                <a:cs typeface="Times New Roman"/>
              </a:rPr>
              <a:t>1</a:t>
            </a:r>
            <a:r>
              <a:rPr sz="1575" spc="-247" baseline="-23809" dirty="0">
                <a:latin typeface="Times New Roman"/>
                <a:cs typeface="Times New Roman"/>
              </a:rPr>
              <a:t> </a:t>
            </a:r>
            <a:r>
              <a:rPr sz="1750" spc="-50" dirty="0">
                <a:latin typeface="Times New Roman"/>
                <a:cs typeface="Times New Roman"/>
              </a:rPr>
              <a:t>,</a:t>
            </a:r>
            <a:endParaRPr sz="1750">
              <a:latin typeface="Times New Roman"/>
              <a:cs typeface="Times New Roman"/>
            </a:endParaRPr>
          </a:p>
          <a:p>
            <a:pPr marL="41275">
              <a:spcBef>
                <a:spcPts val="560"/>
              </a:spcBef>
            </a:pPr>
            <a:r>
              <a:rPr sz="1750" spc="85" dirty="0">
                <a:latin typeface="Cambria"/>
                <a:cs typeface="Cambria"/>
              </a:rPr>
              <a:t>caso</a:t>
            </a:r>
            <a:r>
              <a:rPr sz="1750" spc="-15" dirty="0">
                <a:latin typeface="Cambria"/>
                <a:cs typeface="Cambria"/>
              </a:rPr>
              <a:t> </a:t>
            </a:r>
            <a:r>
              <a:rPr sz="1750" spc="65" dirty="0">
                <a:latin typeface="Cambria"/>
                <a:cs typeface="Cambria"/>
              </a:rPr>
              <a:t>contrário.</a:t>
            </a:r>
            <a:endParaRPr sz="1750">
              <a:latin typeface="Cambria"/>
              <a:cs typeface="Cambr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957728" y="3348128"/>
            <a:ext cx="4886325" cy="2066925"/>
            <a:chOff x="2433727" y="3348127"/>
            <a:chExt cx="4886325" cy="2066925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3727" y="4338727"/>
              <a:ext cx="85544" cy="8554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29127" y="5329327"/>
              <a:ext cx="85544" cy="855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4127" y="5024527"/>
              <a:ext cx="85544" cy="8554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4327" y="3348127"/>
              <a:ext cx="85544" cy="8554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3487421" y="4377690"/>
            <a:ext cx="2724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i="1" spc="-37" baseline="-24154" dirty="0">
                <a:latin typeface="Cambria"/>
                <a:cs typeface="Cambria"/>
              </a:rPr>
              <a:t>i</a:t>
            </a:r>
            <a:endParaRPr sz="1725" baseline="-24154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19040" y="5584190"/>
            <a:ext cx="436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0" baseline="13888" dirty="0">
                <a:latin typeface="Palatino Linotype"/>
                <a:cs typeface="Palatino Linotype"/>
              </a:rPr>
              <a:t>p</a:t>
            </a:r>
            <a:r>
              <a:rPr sz="1150" i="1" spc="-20" dirty="0">
                <a:latin typeface="Cambria"/>
                <a:cs typeface="Cambria"/>
              </a:rPr>
              <a:t>i+</a:t>
            </a:r>
            <a:r>
              <a:rPr sz="1150" spc="-20" dirty="0">
                <a:latin typeface="Cambria"/>
                <a:cs typeface="Cambria"/>
              </a:rPr>
              <a:t>1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00441" y="3679190"/>
            <a:ext cx="43560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0" baseline="13888" dirty="0">
                <a:latin typeface="Palatino Linotype"/>
                <a:cs typeface="Palatino Linotype"/>
              </a:rPr>
              <a:t>p</a:t>
            </a:r>
            <a:r>
              <a:rPr sz="1150" i="1" spc="-20" dirty="0">
                <a:latin typeface="Cambria"/>
                <a:cs typeface="Cambria"/>
              </a:rPr>
              <a:t>i+</a:t>
            </a:r>
            <a:r>
              <a:rPr sz="1150" spc="-20" dirty="0">
                <a:latin typeface="Cambria"/>
                <a:cs typeface="Cambria"/>
              </a:rPr>
              <a:t>3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860029" y="1379219"/>
            <a:ext cx="128270" cy="18466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100" i="1" spc="-50" dirty="0">
                <a:latin typeface="Times New Roman"/>
                <a:cs typeface="Times New Roman"/>
              </a:rPr>
              <a:t>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077709" y="1355836"/>
            <a:ext cx="1878330" cy="69977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8100">
              <a:spcBef>
                <a:spcPts val="495"/>
              </a:spcBef>
              <a:tabLst>
                <a:tab pos="1015365" algn="l"/>
              </a:tabLst>
            </a:pPr>
            <a:r>
              <a:rPr sz="1900" b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u</a:t>
            </a:r>
            <a:r>
              <a:rPr sz="1900" dirty="0">
                <a:latin typeface="Times New Roman"/>
                <a:cs typeface="Times New Roman"/>
              </a:rPr>
              <a:t>)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415" dirty="0">
                <a:latin typeface="Symbol"/>
                <a:cs typeface="Symbol"/>
              </a:rPr>
              <a:t></a:t>
            </a:r>
            <a:r>
              <a:rPr sz="1900" spc="445" dirty="0">
                <a:latin typeface="Times New Roman"/>
                <a:cs typeface="Times New Roman"/>
              </a:rPr>
              <a:t> </a:t>
            </a:r>
            <a:r>
              <a:rPr sz="4275" spc="-1297" baseline="-8771" dirty="0">
                <a:latin typeface="Symbol"/>
                <a:cs typeface="Symbol"/>
              </a:rPr>
              <a:t></a:t>
            </a:r>
            <a:r>
              <a:rPr sz="4275" baseline="-8771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B</a:t>
            </a:r>
            <a:r>
              <a:rPr sz="1650" i="1" baseline="-25252" dirty="0">
                <a:latin typeface="Times New Roman"/>
                <a:cs typeface="Times New Roman"/>
              </a:rPr>
              <a:t>i</a:t>
            </a:r>
            <a:r>
              <a:rPr sz="1650" baseline="-25252" dirty="0">
                <a:latin typeface="Times New Roman"/>
                <a:cs typeface="Times New Roman"/>
              </a:rPr>
              <a:t>,</a:t>
            </a:r>
            <a:r>
              <a:rPr sz="1650" i="1" baseline="-25252" dirty="0">
                <a:latin typeface="Times New Roman"/>
                <a:cs typeface="Times New Roman"/>
              </a:rPr>
              <a:t>d</a:t>
            </a:r>
            <a:r>
              <a:rPr sz="1650" i="1" spc="225" baseline="-25252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(</a:t>
            </a:r>
            <a:r>
              <a:rPr sz="1900" i="1" spc="-20" dirty="0">
                <a:latin typeface="Times New Roman"/>
                <a:cs typeface="Times New Roman"/>
              </a:rPr>
              <a:t>u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r>
              <a:rPr sz="1900" b="1" spc="-20" dirty="0">
                <a:latin typeface="Times New Roman"/>
                <a:cs typeface="Times New Roman"/>
              </a:rPr>
              <a:t>p</a:t>
            </a:r>
            <a:r>
              <a:rPr sz="1650" i="1" spc="-30" baseline="-25252" dirty="0">
                <a:latin typeface="Times New Roman"/>
                <a:cs typeface="Times New Roman"/>
              </a:rPr>
              <a:t>i</a:t>
            </a:r>
            <a:endParaRPr sz="1650" baseline="-25252">
              <a:latin typeface="Times New Roman"/>
              <a:cs typeface="Times New Roman"/>
            </a:endParaRPr>
          </a:p>
          <a:p>
            <a:pPr marR="181610" algn="ctr">
              <a:spcBef>
                <a:spcPts val="170"/>
              </a:spcBef>
            </a:pPr>
            <a:r>
              <a:rPr sz="1100" i="1" spc="-55" dirty="0">
                <a:latin typeface="Times New Roman"/>
                <a:cs typeface="Times New Roman"/>
              </a:rPr>
              <a:t>i</a:t>
            </a:r>
            <a:r>
              <a:rPr sz="1100" spc="-55" dirty="0">
                <a:latin typeface="Symbol"/>
                <a:cs typeface="Symbol"/>
              </a:rPr>
              <a:t>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448800" y="5334000"/>
            <a:ext cx="718820" cy="398780"/>
          </a:xfrm>
          <a:custGeom>
            <a:avLst/>
            <a:gdLst/>
            <a:ahLst/>
            <a:cxnLst/>
            <a:rect l="l" t="t" r="r" b="b"/>
            <a:pathLst>
              <a:path w="718820" h="398779">
                <a:moveTo>
                  <a:pt x="0" y="0"/>
                </a:moveTo>
                <a:lnTo>
                  <a:pt x="718820" y="0"/>
                </a:lnTo>
                <a:lnTo>
                  <a:pt x="718820" y="398780"/>
                </a:lnTo>
                <a:lnTo>
                  <a:pt x="0" y="3987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527540" y="5368290"/>
            <a:ext cx="5613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dirty="0">
                <a:latin typeface="Cambria"/>
                <a:cs typeface="Cambria"/>
              </a:rPr>
              <a:t>d</a:t>
            </a:r>
            <a:r>
              <a:rPr sz="2000" i="1" spc="4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=</a:t>
            </a:r>
            <a:r>
              <a:rPr sz="2000" spc="30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909695" y="3310256"/>
            <a:ext cx="4965700" cy="2406015"/>
            <a:chOff x="2385695" y="3310255"/>
            <a:chExt cx="4965700" cy="2406015"/>
          </a:xfrm>
        </p:grpSpPr>
        <p:sp>
          <p:nvSpPr>
            <p:cNvPr id="35" name="object 35"/>
            <p:cNvSpPr/>
            <p:nvPr/>
          </p:nvSpPr>
          <p:spPr>
            <a:xfrm>
              <a:off x="2465070" y="3379469"/>
              <a:ext cx="4820920" cy="2005330"/>
            </a:xfrm>
            <a:custGeom>
              <a:avLst/>
              <a:gdLst/>
              <a:ahLst/>
              <a:cxnLst/>
              <a:rect l="l" t="t" r="r" b="b"/>
              <a:pathLst>
                <a:path w="4820920" h="2005329">
                  <a:moveTo>
                    <a:pt x="4820920" y="12700"/>
                  </a:moveTo>
                  <a:lnTo>
                    <a:pt x="4813300" y="6350"/>
                  </a:lnTo>
                  <a:lnTo>
                    <a:pt x="4806950" y="0"/>
                  </a:lnTo>
                  <a:lnTo>
                    <a:pt x="3203765" y="1676679"/>
                  </a:lnTo>
                  <a:lnTo>
                    <a:pt x="1306652" y="1985492"/>
                  </a:lnTo>
                  <a:lnTo>
                    <a:pt x="12700" y="998220"/>
                  </a:lnTo>
                  <a:lnTo>
                    <a:pt x="0" y="1013460"/>
                  </a:lnTo>
                  <a:lnTo>
                    <a:pt x="1297940" y="2002790"/>
                  </a:lnTo>
                  <a:lnTo>
                    <a:pt x="1297940" y="2004060"/>
                  </a:lnTo>
                  <a:lnTo>
                    <a:pt x="1300480" y="2004060"/>
                  </a:lnTo>
                  <a:lnTo>
                    <a:pt x="1301750" y="2005330"/>
                  </a:lnTo>
                  <a:lnTo>
                    <a:pt x="1304290" y="2005330"/>
                  </a:lnTo>
                  <a:lnTo>
                    <a:pt x="3208020" y="1695450"/>
                  </a:lnTo>
                  <a:lnTo>
                    <a:pt x="3209290" y="1695450"/>
                  </a:lnTo>
                  <a:lnTo>
                    <a:pt x="3210560" y="1694180"/>
                  </a:lnTo>
                  <a:lnTo>
                    <a:pt x="3213100" y="1694180"/>
                  </a:lnTo>
                  <a:lnTo>
                    <a:pt x="3213100" y="1692910"/>
                  </a:lnTo>
                  <a:lnTo>
                    <a:pt x="4820920" y="127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5590" y="4876800"/>
              <a:ext cx="232410" cy="30733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72330" y="5257800"/>
              <a:ext cx="148590" cy="15748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739639" y="5375910"/>
              <a:ext cx="66040" cy="340360"/>
            </a:xfrm>
            <a:custGeom>
              <a:avLst/>
              <a:gdLst/>
              <a:ahLst/>
              <a:cxnLst/>
              <a:rect l="l" t="t" r="r" b="b"/>
              <a:pathLst>
                <a:path w="66039" h="340360">
                  <a:moveTo>
                    <a:pt x="8889" y="0"/>
                  </a:moveTo>
                  <a:lnTo>
                    <a:pt x="0" y="2539"/>
                  </a:lnTo>
                  <a:lnTo>
                    <a:pt x="55880" y="340359"/>
                  </a:lnTo>
                  <a:lnTo>
                    <a:pt x="66039" y="337819"/>
                  </a:lnTo>
                  <a:lnTo>
                    <a:pt x="8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29400" y="4114800"/>
              <a:ext cx="232409" cy="3048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92445" y="4990465"/>
              <a:ext cx="171448" cy="17144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85695" y="4300855"/>
              <a:ext cx="171448" cy="17271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84905" y="5292725"/>
              <a:ext cx="172718" cy="17144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79945" y="3310255"/>
              <a:ext cx="171448" cy="172718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3194050" y="5368290"/>
            <a:ext cx="14414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0" dirty="0">
                <a:latin typeface="Palatino Linotype"/>
                <a:cs typeface="Palatino Linotype"/>
              </a:rPr>
              <a:t>p</a:t>
            </a:r>
            <a:r>
              <a:rPr sz="2000" b="1" spc="-204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Cambria"/>
                <a:cs typeface="Cambria"/>
              </a:rPr>
              <a:t>(</a:t>
            </a:r>
            <a:r>
              <a:rPr sz="2000" i="1" dirty="0">
                <a:latin typeface="Cambria"/>
                <a:cs typeface="Cambria"/>
              </a:rPr>
              <a:t>u</a:t>
            </a:r>
            <a:r>
              <a:rPr sz="1725" i="1" baseline="-24154" dirty="0">
                <a:latin typeface="Cambria"/>
                <a:cs typeface="Cambria"/>
              </a:rPr>
              <a:t>i</a:t>
            </a:r>
            <a:r>
              <a:rPr sz="1725" i="1" spc="-22" baseline="-24154" dirty="0">
                <a:latin typeface="Cambria"/>
                <a:cs typeface="Cambria"/>
              </a:rPr>
              <a:t> </a:t>
            </a:r>
            <a:r>
              <a:rPr sz="2000" i="1" spc="-10" dirty="0">
                <a:latin typeface="Cambria"/>
                <a:cs typeface="Cambria"/>
              </a:rPr>
              <a:t>≤u&lt;u</a:t>
            </a:r>
            <a:r>
              <a:rPr sz="1725" i="1" spc="-15" baseline="-24154" dirty="0">
                <a:latin typeface="Cambria"/>
                <a:cs typeface="Cambria"/>
              </a:rPr>
              <a:t>i+</a:t>
            </a:r>
            <a:r>
              <a:rPr sz="1725" spc="-15" baseline="-24154" dirty="0">
                <a:latin typeface="Cambria"/>
                <a:cs typeface="Cambria"/>
              </a:rPr>
              <a:t>1</a:t>
            </a:r>
            <a:r>
              <a:rPr sz="2000" spc="-10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717540" y="5279390"/>
            <a:ext cx="1718310" cy="876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0480" algn="r">
              <a:spcBef>
                <a:spcPts val="100"/>
              </a:spcBef>
            </a:pPr>
            <a:r>
              <a:rPr sz="3000" b="1" spc="-30" baseline="13888" dirty="0">
                <a:latin typeface="Palatino Linotype"/>
                <a:cs typeface="Palatino Linotype"/>
              </a:rPr>
              <a:t>p</a:t>
            </a:r>
            <a:r>
              <a:rPr sz="1150" i="1" spc="-20" dirty="0">
                <a:latin typeface="Cambria"/>
                <a:cs typeface="Cambria"/>
              </a:rPr>
              <a:t>i+</a:t>
            </a:r>
            <a:r>
              <a:rPr sz="1150" spc="-20" dirty="0">
                <a:latin typeface="Cambria"/>
                <a:cs typeface="Cambria"/>
              </a:rPr>
              <a:t>2</a:t>
            </a:r>
            <a:endParaRPr sz="1150">
              <a:latin typeface="Cambria"/>
              <a:cs typeface="Cambria"/>
            </a:endParaRPr>
          </a:p>
          <a:p>
            <a:pPr>
              <a:spcBef>
                <a:spcPts val="550"/>
              </a:spcBef>
            </a:pPr>
            <a:endParaRPr sz="1150">
              <a:latin typeface="Cambria"/>
              <a:cs typeface="Cambria"/>
            </a:endParaRPr>
          </a:p>
          <a:p>
            <a:pPr marL="38100"/>
            <a:r>
              <a:rPr sz="2000" b="1" spc="-20" dirty="0">
                <a:latin typeface="Palatino Linotype"/>
                <a:cs typeface="Palatino Linotype"/>
              </a:rPr>
              <a:t>p</a:t>
            </a:r>
            <a:r>
              <a:rPr sz="2000" b="1" spc="-204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Cambria"/>
                <a:cs typeface="Cambria"/>
              </a:rPr>
              <a:t>(</a:t>
            </a:r>
            <a:r>
              <a:rPr sz="2000" i="1" dirty="0">
                <a:latin typeface="Cambria"/>
                <a:cs typeface="Cambria"/>
              </a:rPr>
              <a:t>u</a:t>
            </a:r>
            <a:r>
              <a:rPr sz="1725" i="1" baseline="-24154" dirty="0">
                <a:latin typeface="Cambria"/>
                <a:cs typeface="Cambria"/>
              </a:rPr>
              <a:t>i</a:t>
            </a:r>
            <a:r>
              <a:rPr sz="1725" baseline="-24154" dirty="0">
                <a:latin typeface="Cambria"/>
                <a:cs typeface="Cambria"/>
              </a:rPr>
              <a:t>+1</a:t>
            </a:r>
            <a:r>
              <a:rPr sz="1725" spc="-15" baseline="-24154" dirty="0">
                <a:latin typeface="Cambria"/>
                <a:cs typeface="Cambria"/>
              </a:rPr>
              <a:t> </a:t>
            </a:r>
            <a:r>
              <a:rPr sz="2000" i="1" spc="-10" dirty="0">
                <a:latin typeface="Cambria"/>
                <a:cs typeface="Cambria"/>
              </a:rPr>
              <a:t>≤u&lt;u</a:t>
            </a:r>
            <a:r>
              <a:rPr sz="1725" i="1" spc="-15" baseline="-24154" dirty="0">
                <a:latin typeface="Cambria"/>
                <a:cs typeface="Cambria"/>
              </a:rPr>
              <a:t>i+</a:t>
            </a:r>
            <a:r>
              <a:rPr sz="1725" spc="-15" baseline="-24154" dirty="0">
                <a:latin typeface="Cambria"/>
                <a:cs typeface="Cambria"/>
              </a:rPr>
              <a:t>2</a:t>
            </a:r>
            <a:r>
              <a:rPr sz="2000" spc="-10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003540" y="4606290"/>
            <a:ext cx="16065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0" dirty="0">
                <a:latin typeface="Palatino Linotype"/>
                <a:cs typeface="Palatino Linotype"/>
              </a:rPr>
              <a:t>p</a:t>
            </a:r>
            <a:r>
              <a:rPr sz="2000" b="1" spc="-204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Cambria"/>
                <a:cs typeface="Cambria"/>
              </a:rPr>
              <a:t>(</a:t>
            </a:r>
            <a:r>
              <a:rPr sz="2000" i="1" dirty="0">
                <a:latin typeface="Cambria"/>
                <a:cs typeface="Cambria"/>
              </a:rPr>
              <a:t>u</a:t>
            </a:r>
            <a:r>
              <a:rPr sz="1725" i="1" baseline="-24154" dirty="0">
                <a:latin typeface="Cambria"/>
                <a:cs typeface="Cambria"/>
              </a:rPr>
              <a:t>i</a:t>
            </a:r>
            <a:r>
              <a:rPr sz="1725" baseline="-24154" dirty="0">
                <a:latin typeface="Cambria"/>
                <a:cs typeface="Cambria"/>
              </a:rPr>
              <a:t>+2</a:t>
            </a:r>
            <a:r>
              <a:rPr sz="1725" spc="-15" baseline="-24154" dirty="0">
                <a:latin typeface="Cambria"/>
                <a:cs typeface="Cambria"/>
              </a:rPr>
              <a:t> </a:t>
            </a:r>
            <a:r>
              <a:rPr sz="2000" i="1" spc="-10" dirty="0">
                <a:latin typeface="Cambria"/>
                <a:cs typeface="Cambria"/>
              </a:rPr>
              <a:t>≤u&lt;u</a:t>
            </a:r>
            <a:r>
              <a:rPr sz="1725" i="1" spc="-15" baseline="-24154" dirty="0">
                <a:latin typeface="Cambria"/>
                <a:cs typeface="Cambria"/>
              </a:rPr>
              <a:t>i+</a:t>
            </a:r>
            <a:r>
              <a:rPr sz="1725" spc="-15" baseline="-24154" dirty="0">
                <a:latin typeface="Cambria"/>
                <a:cs typeface="Cambria"/>
              </a:rPr>
              <a:t>3</a:t>
            </a:r>
            <a:r>
              <a:rPr sz="2000" spc="-10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48800" y="5257800"/>
            <a:ext cx="718820" cy="398780"/>
          </a:xfrm>
          <a:custGeom>
            <a:avLst/>
            <a:gdLst/>
            <a:ahLst/>
            <a:cxnLst/>
            <a:rect l="l" t="t" r="r" b="b"/>
            <a:pathLst>
              <a:path w="718820" h="398779">
                <a:moveTo>
                  <a:pt x="0" y="0"/>
                </a:moveTo>
                <a:lnTo>
                  <a:pt x="718820" y="0"/>
                </a:lnTo>
                <a:lnTo>
                  <a:pt x="718820" y="398780"/>
                </a:lnTo>
                <a:lnTo>
                  <a:pt x="0" y="3987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7540" y="5292090"/>
            <a:ext cx="5613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dirty="0">
                <a:latin typeface="Cambria"/>
                <a:cs typeface="Cambria"/>
              </a:rPr>
              <a:t>d</a:t>
            </a:r>
            <a:r>
              <a:rPr sz="2000" i="1" spc="4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=</a:t>
            </a:r>
            <a:r>
              <a:rPr sz="2000" spc="30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52521" y="360679"/>
            <a:ext cx="488759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Recorrência</a:t>
            </a:r>
            <a:r>
              <a:rPr spc="-40" dirty="0"/>
              <a:t> </a:t>
            </a:r>
            <a:r>
              <a:rPr spc="-20" dirty="0"/>
              <a:t>Cox-</a:t>
            </a:r>
            <a:r>
              <a:rPr dirty="0"/>
              <a:t>de</a:t>
            </a:r>
            <a:r>
              <a:rPr spc="-35" dirty="0"/>
              <a:t> </a:t>
            </a:r>
            <a:r>
              <a:rPr spc="-20" dirty="0"/>
              <a:t>Boor</a:t>
            </a:r>
          </a:p>
        </p:txBody>
      </p:sp>
      <p:sp>
        <p:nvSpPr>
          <p:cNvPr id="5" name="object 5"/>
          <p:cNvSpPr/>
          <p:nvPr/>
        </p:nvSpPr>
        <p:spPr>
          <a:xfrm>
            <a:off x="2948939" y="2296160"/>
            <a:ext cx="867410" cy="0"/>
          </a:xfrm>
          <a:custGeom>
            <a:avLst/>
            <a:gdLst/>
            <a:ahLst/>
            <a:cxnLst/>
            <a:rect l="l" t="t" r="r" b="b"/>
            <a:pathLst>
              <a:path w="867410">
                <a:moveTo>
                  <a:pt x="0" y="0"/>
                </a:moveTo>
                <a:lnTo>
                  <a:pt x="867410" y="0"/>
                </a:lnTo>
              </a:path>
            </a:pathLst>
          </a:custGeom>
          <a:ln w="8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03750" y="2296160"/>
            <a:ext cx="1144270" cy="0"/>
          </a:xfrm>
          <a:custGeom>
            <a:avLst/>
            <a:gdLst/>
            <a:ahLst/>
            <a:cxnLst/>
            <a:rect l="l" t="t" r="r" b="b"/>
            <a:pathLst>
              <a:path w="1144270">
                <a:moveTo>
                  <a:pt x="0" y="0"/>
                </a:moveTo>
                <a:lnTo>
                  <a:pt x="1144270" y="0"/>
                </a:lnTo>
              </a:path>
            </a:pathLst>
          </a:custGeom>
          <a:ln w="8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18461" y="1668780"/>
            <a:ext cx="10350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750" spc="-310" dirty="0">
                <a:latin typeface="Symbol"/>
                <a:cs typeface="Symbol"/>
              </a:rPr>
              <a:t>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93060" y="1480819"/>
            <a:ext cx="31623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1750" spc="-260" dirty="0">
                <a:latin typeface="Symbol"/>
                <a:cs typeface="Symbol"/>
              </a:rPr>
              <a:t></a:t>
            </a:r>
            <a:r>
              <a:rPr sz="1750" spc="-120" dirty="0">
                <a:latin typeface="Times New Roman"/>
                <a:cs typeface="Times New Roman"/>
              </a:rPr>
              <a:t> </a:t>
            </a:r>
            <a:r>
              <a:rPr sz="2625" spc="37" baseline="-33333" dirty="0">
                <a:latin typeface="Times New Roman"/>
                <a:cs typeface="Times New Roman"/>
              </a:rPr>
              <a:t>0</a:t>
            </a:r>
            <a:endParaRPr sz="2625" baseline="-3333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28359" y="2264410"/>
            <a:ext cx="52197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8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-5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1,</a:t>
            </a:r>
            <a:r>
              <a:rPr sz="1050" i="1" dirty="0">
                <a:latin typeface="Times New Roman"/>
                <a:cs typeface="Times New Roman"/>
              </a:rPr>
              <a:t>d</a:t>
            </a:r>
            <a:r>
              <a:rPr sz="1050" i="1" spc="-6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</a:t>
            </a:r>
            <a:r>
              <a:rPr sz="1050" spc="-80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8210" y="2439670"/>
            <a:ext cx="100711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  <a:tabLst>
                <a:tab pos="768985" algn="l"/>
              </a:tabLst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1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70" dirty="0">
                <a:latin typeface="Times New Roman"/>
                <a:cs typeface="Times New Roman"/>
              </a:rPr>
              <a:t> </a:t>
            </a:r>
            <a:r>
              <a:rPr sz="1050" i="1" dirty="0">
                <a:latin typeface="Times New Roman"/>
                <a:cs typeface="Times New Roman"/>
              </a:rPr>
              <a:t>d</a:t>
            </a:r>
            <a:r>
              <a:rPr sz="1050" i="1" spc="-8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-70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Times New Roman"/>
                <a:cs typeface="Times New Roman"/>
              </a:rPr>
              <a:t>1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05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-70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91889" y="2439670"/>
            <a:ext cx="8890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spc="-50" dirty="0">
                <a:latin typeface="Times New Roman"/>
                <a:cs typeface="Times New Roman"/>
              </a:rPr>
              <a:t>k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74669" y="2439670"/>
            <a:ext cx="26670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1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65" dirty="0">
                <a:latin typeface="Times New Roman"/>
                <a:cs typeface="Times New Roman"/>
              </a:rPr>
              <a:t> </a:t>
            </a:r>
            <a:r>
              <a:rPr sz="1050" i="1" spc="-50" dirty="0">
                <a:latin typeface="Times New Roman"/>
                <a:cs typeface="Times New Roman"/>
              </a:rPr>
              <a:t>d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57730" y="2264410"/>
            <a:ext cx="21844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00" dirty="0">
                <a:latin typeface="Times New Roman"/>
                <a:cs typeface="Times New Roman"/>
              </a:rPr>
              <a:t> </a:t>
            </a:r>
            <a:r>
              <a:rPr sz="1050" spc="-25" dirty="0">
                <a:latin typeface="Times New Roman"/>
                <a:cs typeface="Times New Roman"/>
              </a:rPr>
              <a:t>,</a:t>
            </a:r>
            <a:r>
              <a:rPr sz="1050" i="1" spc="-25" dirty="0">
                <a:latin typeface="Times New Roman"/>
                <a:cs typeface="Times New Roman"/>
              </a:rPr>
              <a:t>d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57730" y="1592579"/>
            <a:ext cx="21971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00" dirty="0">
                <a:latin typeface="Times New Roman"/>
                <a:cs typeface="Times New Roman"/>
              </a:rPr>
              <a:t> </a:t>
            </a:r>
            <a:r>
              <a:rPr sz="1050" spc="25" dirty="0">
                <a:latin typeface="Times New Roman"/>
                <a:cs typeface="Times New Roman"/>
              </a:rPr>
              <a:t>,0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84851" y="2113280"/>
            <a:ext cx="17208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750" i="1" spc="25" dirty="0">
                <a:latin typeface="Times New Roman"/>
                <a:cs typeface="Times New Roman"/>
              </a:rPr>
              <a:t>B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98671" y="2289810"/>
            <a:ext cx="90233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602615" algn="l"/>
              </a:tabLst>
            </a:pPr>
            <a:r>
              <a:rPr sz="1750" i="1" spc="10" dirty="0">
                <a:latin typeface="Times New Roman"/>
                <a:cs typeface="Times New Roman"/>
              </a:rPr>
              <a:t>u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-290" dirty="0">
                <a:latin typeface="Symbol"/>
                <a:cs typeface="Symbol"/>
              </a:rPr>
              <a:t></a:t>
            </a:r>
            <a:r>
              <a:rPr sz="1750" spc="190" dirty="0">
                <a:latin typeface="Times New Roman"/>
                <a:cs typeface="Times New Roman"/>
              </a:rPr>
              <a:t> </a:t>
            </a:r>
            <a:r>
              <a:rPr sz="1750" i="1" spc="10" dirty="0">
                <a:latin typeface="Times New Roman"/>
                <a:cs typeface="Times New Roman"/>
              </a:rPr>
              <a:t>u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92651" y="2026919"/>
            <a:ext cx="95313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2625" i="1" spc="112" baseline="14285" dirty="0">
                <a:latin typeface="Times New Roman"/>
                <a:cs typeface="Times New Roman"/>
              </a:rPr>
              <a:t>u</a:t>
            </a:r>
            <a:r>
              <a:rPr sz="1050" i="1" spc="75" dirty="0">
                <a:latin typeface="Times New Roman"/>
                <a:cs typeface="Times New Roman"/>
              </a:rPr>
              <a:t>k</a:t>
            </a:r>
            <a:r>
              <a:rPr sz="1050" i="1" spc="-114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55" dirty="0">
                <a:latin typeface="Times New Roman"/>
                <a:cs typeface="Times New Roman"/>
              </a:rPr>
              <a:t> </a:t>
            </a:r>
            <a:r>
              <a:rPr sz="1050" i="1" dirty="0">
                <a:latin typeface="Times New Roman"/>
                <a:cs typeface="Times New Roman"/>
              </a:rPr>
              <a:t>d</a:t>
            </a:r>
            <a:r>
              <a:rPr sz="1050" i="1" spc="-9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-8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1</a:t>
            </a:r>
            <a:r>
              <a:rPr sz="1050" spc="185" dirty="0">
                <a:latin typeface="Times New Roman"/>
                <a:cs typeface="Times New Roman"/>
              </a:rPr>
              <a:t> </a:t>
            </a:r>
            <a:r>
              <a:rPr sz="2625" spc="-434" baseline="14285" dirty="0">
                <a:latin typeface="Symbol"/>
                <a:cs typeface="Symbol"/>
              </a:rPr>
              <a:t></a:t>
            </a:r>
            <a:r>
              <a:rPr sz="2625" spc="337" baseline="14285" dirty="0">
                <a:latin typeface="Times New Roman"/>
                <a:cs typeface="Times New Roman"/>
              </a:rPr>
              <a:t> </a:t>
            </a:r>
            <a:r>
              <a:rPr sz="2625" i="1" spc="15" baseline="14285" dirty="0">
                <a:latin typeface="Times New Roman"/>
                <a:cs typeface="Times New Roman"/>
              </a:rPr>
              <a:t>u</a:t>
            </a:r>
            <a:endParaRPr sz="2625" baseline="1428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26510" y="2170430"/>
            <a:ext cx="71882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2625" i="1" baseline="14285" dirty="0">
                <a:latin typeface="Times New Roman"/>
                <a:cs typeface="Times New Roman"/>
              </a:rPr>
              <a:t>B</a:t>
            </a: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8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,</a:t>
            </a:r>
            <a:r>
              <a:rPr sz="1050" i="1" dirty="0">
                <a:latin typeface="Times New Roman"/>
                <a:cs typeface="Times New Roman"/>
              </a:rPr>
              <a:t>d</a:t>
            </a:r>
            <a:r>
              <a:rPr sz="1050" i="1" spc="-55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</a:t>
            </a:r>
            <a:r>
              <a:rPr sz="1050" spc="-7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1</a:t>
            </a:r>
            <a:r>
              <a:rPr sz="1050" spc="275" dirty="0">
                <a:latin typeface="Times New Roman"/>
                <a:cs typeface="Times New Roman"/>
              </a:rPr>
              <a:t> </a:t>
            </a:r>
            <a:r>
              <a:rPr sz="2625" spc="-509" baseline="14285" dirty="0">
                <a:latin typeface="Symbol"/>
                <a:cs typeface="Symbol"/>
              </a:rPr>
              <a:t></a:t>
            </a:r>
            <a:endParaRPr sz="2625" baseline="14285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45131" y="2289810"/>
            <a:ext cx="76390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462915" algn="l"/>
              </a:tabLst>
            </a:pPr>
            <a:r>
              <a:rPr sz="1750" i="1" spc="10" dirty="0">
                <a:latin typeface="Times New Roman"/>
                <a:cs typeface="Times New Roman"/>
              </a:rPr>
              <a:t>u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-290" dirty="0">
                <a:latin typeface="Symbol"/>
                <a:cs typeface="Symbol"/>
              </a:rPr>
              <a:t>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u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60700" y="1971039"/>
            <a:ext cx="60579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1750" i="1" spc="60" dirty="0">
                <a:latin typeface="Times New Roman"/>
                <a:cs typeface="Times New Roman"/>
              </a:rPr>
              <a:t>u</a:t>
            </a:r>
            <a:r>
              <a:rPr sz="1750" i="1" spc="-45" dirty="0">
                <a:latin typeface="Times New Roman"/>
                <a:cs typeface="Times New Roman"/>
              </a:rPr>
              <a:t> </a:t>
            </a:r>
            <a:r>
              <a:rPr sz="1750" spc="-290" dirty="0">
                <a:latin typeface="Symbol"/>
                <a:cs typeface="Symbol"/>
              </a:rPr>
              <a:t>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i="1" spc="50" dirty="0">
                <a:latin typeface="Times New Roman"/>
                <a:cs typeface="Times New Roman"/>
              </a:rPr>
              <a:t>u</a:t>
            </a:r>
            <a:r>
              <a:rPr sz="1575" i="1" spc="75" baseline="-23809" dirty="0">
                <a:latin typeface="Times New Roman"/>
                <a:cs typeface="Times New Roman"/>
              </a:rPr>
              <a:t>k</a:t>
            </a:r>
            <a:endParaRPr sz="1575" baseline="-23809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12950" y="2113280"/>
            <a:ext cx="84201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393065" algn="l"/>
              </a:tabLst>
            </a:pPr>
            <a:r>
              <a:rPr sz="1750" i="1" spc="25" dirty="0">
                <a:latin typeface="Times New Roman"/>
                <a:cs typeface="Times New Roman"/>
              </a:rPr>
              <a:t>B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80" dirty="0">
                <a:latin typeface="Times New Roman"/>
                <a:cs typeface="Times New Roman"/>
              </a:rPr>
              <a:t>(</a:t>
            </a:r>
            <a:r>
              <a:rPr sz="1750" i="1" spc="80" dirty="0">
                <a:latin typeface="Times New Roman"/>
                <a:cs typeface="Times New Roman"/>
              </a:rPr>
              <a:t>u</a:t>
            </a:r>
            <a:r>
              <a:rPr sz="1750" spc="80" dirty="0">
                <a:latin typeface="Times New Roman"/>
                <a:cs typeface="Times New Roman"/>
              </a:rPr>
              <a:t>)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spc="-340" dirty="0">
                <a:latin typeface="Symbol"/>
                <a:cs typeface="Symbol"/>
              </a:rPr>
              <a:t>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87550" y="1441449"/>
            <a:ext cx="119888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  <a:tabLst>
                <a:tab pos="403225" algn="l"/>
              </a:tabLst>
            </a:pPr>
            <a:r>
              <a:rPr sz="1750" i="1" spc="25" dirty="0">
                <a:latin typeface="Times New Roman"/>
                <a:cs typeface="Times New Roman"/>
              </a:rPr>
              <a:t>B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80" dirty="0">
                <a:latin typeface="Times New Roman"/>
                <a:cs typeface="Times New Roman"/>
              </a:rPr>
              <a:t>(</a:t>
            </a:r>
            <a:r>
              <a:rPr sz="1750" i="1" spc="80" dirty="0">
                <a:latin typeface="Times New Roman"/>
                <a:cs typeface="Times New Roman"/>
              </a:rPr>
              <a:t>u</a:t>
            </a:r>
            <a:r>
              <a:rPr sz="1750" spc="80" dirty="0">
                <a:latin typeface="Times New Roman"/>
                <a:cs typeface="Times New Roman"/>
              </a:rPr>
              <a:t>)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spc="-290" dirty="0">
                <a:latin typeface="Symbol"/>
                <a:cs typeface="Symbol"/>
              </a:rPr>
              <a:t></a:t>
            </a:r>
            <a:r>
              <a:rPr sz="1750" spc="390" dirty="0">
                <a:latin typeface="Times New Roman"/>
                <a:cs typeface="Times New Roman"/>
              </a:rPr>
              <a:t> </a:t>
            </a:r>
            <a:r>
              <a:rPr sz="2625" spc="-37" baseline="36507" dirty="0">
                <a:latin typeface="Symbol"/>
                <a:cs typeface="Symbol"/>
              </a:rPr>
              <a:t></a:t>
            </a:r>
            <a:r>
              <a:rPr sz="2625" spc="-37" baseline="41269" dirty="0">
                <a:latin typeface="Times New Roman"/>
                <a:cs typeface="Times New Roman"/>
              </a:rPr>
              <a:t>1</a:t>
            </a:r>
            <a:endParaRPr sz="2625" baseline="41269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56610" y="1209801"/>
            <a:ext cx="1854200" cy="70104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8100">
              <a:spcBef>
                <a:spcPts val="655"/>
              </a:spcBef>
            </a:pPr>
            <a:r>
              <a:rPr sz="1750" spc="105" dirty="0">
                <a:latin typeface="Cambria"/>
                <a:cs typeface="Cambria"/>
              </a:rPr>
              <a:t>para</a:t>
            </a:r>
            <a:r>
              <a:rPr sz="1750" spc="-95" dirty="0">
                <a:latin typeface="Cambria"/>
                <a:cs typeface="Cambria"/>
              </a:rPr>
              <a:t> </a:t>
            </a:r>
            <a:r>
              <a:rPr sz="1750" i="1" spc="75" dirty="0">
                <a:latin typeface="Times New Roman"/>
                <a:cs typeface="Times New Roman"/>
              </a:rPr>
              <a:t>u</a:t>
            </a:r>
            <a:r>
              <a:rPr sz="1575" i="1" spc="112" baseline="-23809" dirty="0">
                <a:latin typeface="Times New Roman"/>
                <a:cs typeface="Times New Roman"/>
              </a:rPr>
              <a:t>k</a:t>
            </a:r>
            <a:r>
              <a:rPr sz="1575" i="1" spc="675" baseline="-23809" dirty="0">
                <a:latin typeface="Times New Roman"/>
                <a:cs typeface="Times New Roman"/>
              </a:rPr>
              <a:t> </a:t>
            </a:r>
            <a:r>
              <a:rPr sz="1750" spc="-290" dirty="0">
                <a:latin typeface="Symbol"/>
                <a:cs typeface="Symbol"/>
              </a:rPr>
              <a:t></a:t>
            </a:r>
            <a:r>
              <a:rPr sz="1750" spc="335" dirty="0">
                <a:latin typeface="Times New Roman"/>
                <a:cs typeface="Times New Roman"/>
              </a:rPr>
              <a:t> </a:t>
            </a:r>
            <a:r>
              <a:rPr sz="1750" i="1" spc="60" dirty="0">
                <a:latin typeface="Times New Roman"/>
                <a:cs typeface="Times New Roman"/>
              </a:rPr>
              <a:t>u</a:t>
            </a:r>
            <a:r>
              <a:rPr sz="1750" i="1" spc="55" dirty="0">
                <a:latin typeface="Times New Roman"/>
                <a:cs typeface="Times New Roman"/>
              </a:rPr>
              <a:t> </a:t>
            </a:r>
            <a:r>
              <a:rPr sz="1750" spc="-290" dirty="0">
                <a:latin typeface="Symbol"/>
                <a:cs typeface="Symbol"/>
              </a:rPr>
              <a:t></a:t>
            </a:r>
            <a:r>
              <a:rPr sz="1750" spc="330" dirty="0">
                <a:latin typeface="Times New Roman"/>
                <a:cs typeface="Times New Roman"/>
              </a:rPr>
              <a:t> </a:t>
            </a:r>
            <a:r>
              <a:rPr sz="1750" i="1" spc="75" dirty="0">
                <a:latin typeface="Times New Roman"/>
                <a:cs typeface="Times New Roman"/>
              </a:rPr>
              <a:t>u</a:t>
            </a:r>
            <a:r>
              <a:rPr sz="1575" i="1" spc="112" baseline="-23809" dirty="0">
                <a:latin typeface="Times New Roman"/>
                <a:cs typeface="Times New Roman"/>
              </a:rPr>
              <a:t>k</a:t>
            </a:r>
            <a:r>
              <a:rPr sz="1575" i="1" spc="-172" baseline="-23809" dirty="0">
                <a:latin typeface="Times New Roman"/>
                <a:cs typeface="Times New Roman"/>
              </a:rPr>
              <a:t> </a:t>
            </a:r>
            <a:r>
              <a:rPr sz="1575" spc="-284" baseline="-23809" dirty="0">
                <a:latin typeface="Symbol"/>
                <a:cs typeface="Symbol"/>
              </a:rPr>
              <a:t></a:t>
            </a:r>
            <a:r>
              <a:rPr sz="1575" spc="-127" baseline="-23809" dirty="0">
                <a:latin typeface="Times New Roman"/>
                <a:cs typeface="Times New Roman"/>
              </a:rPr>
              <a:t> </a:t>
            </a:r>
            <a:r>
              <a:rPr sz="1575" baseline="-23809" dirty="0">
                <a:latin typeface="Times New Roman"/>
                <a:cs typeface="Times New Roman"/>
              </a:rPr>
              <a:t>1</a:t>
            </a:r>
            <a:r>
              <a:rPr sz="1575" spc="-247" baseline="-23809" dirty="0">
                <a:latin typeface="Times New Roman"/>
                <a:cs typeface="Times New Roman"/>
              </a:rPr>
              <a:t> </a:t>
            </a:r>
            <a:r>
              <a:rPr sz="1750" spc="-50" dirty="0">
                <a:latin typeface="Times New Roman"/>
                <a:cs typeface="Times New Roman"/>
              </a:rPr>
              <a:t>,</a:t>
            </a:r>
            <a:endParaRPr sz="1750">
              <a:latin typeface="Times New Roman"/>
              <a:cs typeface="Times New Roman"/>
            </a:endParaRPr>
          </a:p>
          <a:p>
            <a:pPr marL="41275">
              <a:spcBef>
                <a:spcPts val="560"/>
              </a:spcBef>
            </a:pPr>
            <a:r>
              <a:rPr sz="1750" spc="85" dirty="0">
                <a:latin typeface="Cambria"/>
                <a:cs typeface="Cambria"/>
              </a:rPr>
              <a:t>caso</a:t>
            </a:r>
            <a:r>
              <a:rPr sz="1750" spc="-15" dirty="0">
                <a:latin typeface="Cambria"/>
                <a:cs typeface="Cambria"/>
              </a:rPr>
              <a:t> </a:t>
            </a:r>
            <a:r>
              <a:rPr sz="1750" spc="65" dirty="0">
                <a:latin typeface="Cambria"/>
                <a:cs typeface="Cambria"/>
              </a:rPr>
              <a:t>contrário.</a:t>
            </a:r>
            <a:endParaRPr sz="1750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957728" y="4338728"/>
            <a:ext cx="85725" cy="85725"/>
            <a:chOff x="2433727" y="4338727"/>
            <a:chExt cx="85725" cy="85725"/>
          </a:xfrm>
        </p:grpSpPr>
        <p:sp>
          <p:nvSpPr>
            <p:cNvPr id="25" name="object 25"/>
            <p:cNvSpPr/>
            <p:nvPr/>
          </p:nvSpPr>
          <p:spPr>
            <a:xfrm>
              <a:off x="2438399" y="43434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574" y="3095"/>
                  </a:lnTo>
                  <a:lnTo>
                    <a:pt x="11430" y="11429"/>
                  </a:lnTo>
                  <a:lnTo>
                    <a:pt x="3095" y="23574"/>
                  </a:lnTo>
                  <a:lnTo>
                    <a:pt x="0" y="38100"/>
                  </a:lnTo>
                  <a:lnTo>
                    <a:pt x="3095" y="52625"/>
                  </a:lnTo>
                  <a:lnTo>
                    <a:pt x="11429" y="64769"/>
                  </a:lnTo>
                  <a:lnTo>
                    <a:pt x="23574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69" y="64770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574"/>
                  </a:lnTo>
                  <a:lnTo>
                    <a:pt x="64770" y="11430"/>
                  </a:lnTo>
                  <a:lnTo>
                    <a:pt x="52625" y="309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438399" y="43434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574" y="73104"/>
                  </a:lnTo>
                  <a:lnTo>
                    <a:pt x="11429" y="64769"/>
                  </a:lnTo>
                  <a:lnTo>
                    <a:pt x="3095" y="52625"/>
                  </a:lnTo>
                  <a:lnTo>
                    <a:pt x="0" y="38100"/>
                  </a:lnTo>
                  <a:lnTo>
                    <a:pt x="3095" y="23574"/>
                  </a:lnTo>
                  <a:lnTo>
                    <a:pt x="11430" y="11429"/>
                  </a:lnTo>
                  <a:lnTo>
                    <a:pt x="23574" y="3095"/>
                  </a:lnTo>
                  <a:lnTo>
                    <a:pt x="38100" y="0"/>
                  </a:lnTo>
                  <a:lnTo>
                    <a:pt x="52625" y="3095"/>
                  </a:lnTo>
                  <a:lnTo>
                    <a:pt x="64770" y="11430"/>
                  </a:lnTo>
                  <a:lnTo>
                    <a:pt x="73104" y="23574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69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5253128" y="5329328"/>
            <a:ext cx="85725" cy="85725"/>
            <a:chOff x="3729127" y="5329327"/>
            <a:chExt cx="85725" cy="85725"/>
          </a:xfrm>
        </p:grpSpPr>
        <p:sp>
          <p:nvSpPr>
            <p:cNvPr id="28" name="object 28"/>
            <p:cNvSpPr/>
            <p:nvPr/>
          </p:nvSpPr>
          <p:spPr>
            <a:xfrm>
              <a:off x="3733800" y="5334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038" y="2917"/>
                  </a:lnTo>
                  <a:lnTo>
                    <a:pt x="10953" y="10953"/>
                  </a:lnTo>
                  <a:lnTo>
                    <a:pt x="2917" y="23038"/>
                  </a:lnTo>
                  <a:lnTo>
                    <a:pt x="0" y="38100"/>
                  </a:lnTo>
                  <a:lnTo>
                    <a:pt x="2917" y="52625"/>
                  </a:lnTo>
                  <a:lnTo>
                    <a:pt x="10953" y="64769"/>
                  </a:lnTo>
                  <a:lnTo>
                    <a:pt x="23038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70" y="64769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038"/>
                  </a:lnTo>
                  <a:lnTo>
                    <a:pt x="64770" y="10953"/>
                  </a:lnTo>
                  <a:lnTo>
                    <a:pt x="52625" y="291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733800" y="5334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104"/>
                  </a:lnTo>
                  <a:lnTo>
                    <a:pt x="10953" y="64769"/>
                  </a:lnTo>
                  <a:lnTo>
                    <a:pt x="2917" y="52625"/>
                  </a:lnTo>
                  <a:lnTo>
                    <a:pt x="0" y="38100"/>
                  </a:lnTo>
                  <a:lnTo>
                    <a:pt x="2917" y="23038"/>
                  </a:lnTo>
                  <a:lnTo>
                    <a:pt x="10953" y="10953"/>
                  </a:lnTo>
                  <a:lnTo>
                    <a:pt x="23038" y="2917"/>
                  </a:lnTo>
                  <a:lnTo>
                    <a:pt x="38100" y="0"/>
                  </a:lnTo>
                  <a:lnTo>
                    <a:pt x="52625" y="2917"/>
                  </a:lnTo>
                  <a:lnTo>
                    <a:pt x="64770" y="10953"/>
                  </a:lnTo>
                  <a:lnTo>
                    <a:pt x="73104" y="23038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70" y="64769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7158128" y="5024528"/>
            <a:ext cx="85725" cy="85725"/>
            <a:chOff x="5634127" y="5024527"/>
            <a:chExt cx="85725" cy="85725"/>
          </a:xfrm>
        </p:grpSpPr>
        <p:sp>
          <p:nvSpPr>
            <p:cNvPr id="31" name="object 31"/>
            <p:cNvSpPr/>
            <p:nvPr/>
          </p:nvSpPr>
          <p:spPr>
            <a:xfrm>
              <a:off x="5638800" y="50292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574" y="3095"/>
                  </a:lnTo>
                  <a:lnTo>
                    <a:pt x="11429" y="11429"/>
                  </a:lnTo>
                  <a:lnTo>
                    <a:pt x="3095" y="23574"/>
                  </a:lnTo>
                  <a:lnTo>
                    <a:pt x="0" y="38100"/>
                  </a:lnTo>
                  <a:lnTo>
                    <a:pt x="3095" y="52625"/>
                  </a:lnTo>
                  <a:lnTo>
                    <a:pt x="11429" y="64769"/>
                  </a:lnTo>
                  <a:lnTo>
                    <a:pt x="23574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70" y="64770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574"/>
                  </a:lnTo>
                  <a:lnTo>
                    <a:pt x="64770" y="11430"/>
                  </a:lnTo>
                  <a:lnTo>
                    <a:pt x="52625" y="309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638800" y="50292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574" y="73104"/>
                  </a:lnTo>
                  <a:lnTo>
                    <a:pt x="11429" y="64769"/>
                  </a:lnTo>
                  <a:lnTo>
                    <a:pt x="3095" y="52625"/>
                  </a:lnTo>
                  <a:lnTo>
                    <a:pt x="0" y="38100"/>
                  </a:lnTo>
                  <a:lnTo>
                    <a:pt x="3095" y="23574"/>
                  </a:lnTo>
                  <a:lnTo>
                    <a:pt x="11429" y="11429"/>
                  </a:lnTo>
                  <a:lnTo>
                    <a:pt x="23574" y="3095"/>
                  </a:lnTo>
                  <a:lnTo>
                    <a:pt x="38100" y="0"/>
                  </a:lnTo>
                  <a:lnTo>
                    <a:pt x="52625" y="3095"/>
                  </a:lnTo>
                  <a:lnTo>
                    <a:pt x="64770" y="11430"/>
                  </a:lnTo>
                  <a:lnTo>
                    <a:pt x="73104" y="23574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70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8758328" y="3348128"/>
            <a:ext cx="85725" cy="85725"/>
            <a:chOff x="7234327" y="3348127"/>
            <a:chExt cx="85725" cy="85725"/>
          </a:xfrm>
        </p:grpSpPr>
        <p:sp>
          <p:nvSpPr>
            <p:cNvPr id="34" name="object 34"/>
            <p:cNvSpPr/>
            <p:nvPr/>
          </p:nvSpPr>
          <p:spPr>
            <a:xfrm>
              <a:off x="7238999" y="33528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574" y="3095"/>
                  </a:lnTo>
                  <a:lnTo>
                    <a:pt x="11429" y="11429"/>
                  </a:lnTo>
                  <a:lnTo>
                    <a:pt x="3095" y="23574"/>
                  </a:lnTo>
                  <a:lnTo>
                    <a:pt x="0" y="38100"/>
                  </a:lnTo>
                  <a:lnTo>
                    <a:pt x="3095" y="52625"/>
                  </a:lnTo>
                  <a:lnTo>
                    <a:pt x="11430" y="64770"/>
                  </a:lnTo>
                  <a:lnTo>
                    <a:pt x="23574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70" y="64770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574"/>
                  </a:lnTo>
                  <a:lnTo>
                    <a:pt x="64769" y="11429"/>
                  </a:lnTo>
                  <a:lnTo>
                    <a:pt x="52625" y="309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238999" y="33528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574" y="73104"/>
                  </a:lnTo>
                  <a:lnTo>
                    <a:pt x="11430" y="64770"/>
                  </a:lnTo>
                  <a:lnTo>
                    <a:pt x="3095" y="52625"/>
                  </a:lnTo>
                  <a:lnTo>
                    <a:pt x="0" y="38100"/>
                  </a:lnTo>
                  <a:lnTo>
                    <a:pt x="3095" y="23574"/>
                  </a:lnTo>
                  <a:lnTo>
                    <a:pt x="11429" y="11429"/>
                  </a:lnTo>
                  <a:lnTo>
                    <a:pt x="23574" y="3095"/>
                  </a:lnTo>
                  <a:lnTo>
                    <a:pt x="38100" y="0"/>
                  </a:lnTo>
                  <a:lnTo>
                    <a:pt x="52625" y="3095"/>
                  </a:lnTo>
                  <a:lnTo>
                    <a:pt x="64769" y="11429"/>
                  </a:lnTo>
                  <a:lnTo>
                    <a:pt x="73104" y="23574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70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487421" y="4377690"/>
            <a:ext cx="2724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i="1" spc="-37" baseline="-24154" dirty="0">
                <a:latin typeface="Cambria"/>
                <a:cs typeface="Cambria"/>
              </a:rPr>
              <a:t>i</a:t>
            </a:r>
            <a:endParaRPr sz="1725" baseline="-24154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19040" y="5584190"/>
            <a:ext cx="436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0" baseline="13888" dirty="0">
                <a:latin typeface="Palatino Linotype"/>
                <a:cs typeface="Palatino Linotype"/>
              </a:rPr>
              <a:t>p</a:t>
            </a:r>
            <a:r>
              <a:rPr sz="1150" i="1" spc="-20" dirty="0">
                <a:latin typeface="Cambria"/>
                <a:cs typeface="Cambria"/>
              </a:rPr>
              <a:t>i+</a:t>
            </a:r>
            <a:r>
              <a:rPr sz="1150" spc="-20" dirty="0">
                <a:latin typeface="Cambria"/>
                <a:cs typeface="Cambria"/>
              </a:rPr>
              <a:t>1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000241" y="5279390"/>
            <a:ext cx="43560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0" baseline="13888" dirty="0">
                <a:latin typeface="Palatino Linotype"/>
                <a:cs typeface="Palatino Linotype"/>
              </a:rPr>
              <a:t>p</a:t>
            </a:r>
            <a:r>
              <a:rPr sz="1150" i="1" spc="-20" dirty="0">
                <a:latin typeface="Cambria"/>
                <a:cs typeface="Cambria"/>
              </a:rPr>
              <a:t>i+</a:t>
            </a:r>
            <a:r>
              <a:rPr sz="1150" spc="-20" dirty="0">
                <a:latin typeface="Cambria"/>
                <a:cs typeface="Cambria"/>
              </a:rPr>
              <a:t>2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00441" y="3679190"/>
            <a:ext cx="43560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0" baseline="13888" dirty="0">
                <a:latin typeface="Palatino Linotype"/>
                <a:cs typeface="Palatino Linotype"/>
              </a:rPr>
              <a:t>p</a:t>
            </a:r>
            <a:r>
              <a:rPr sz="1150" i="1" spc="-20" dirty="0">
                <a:latin typeface="Cambria"/>
                <a:cs typeface="Cambria"/>
              </a:rPr>
              <a:t>i+</a:t>
            </a:r>
            <a:r>
              <a:rPr sz="1150" spc="-20" dirty="0">
                <a:latin typeface="Cambria"/>
                <a:cs typeface="Cambria"/>
              </a:rPr>
              <a:t>3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860029" y="1379219"/>
            <a:ext cx="128270" cy="18466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100" i="1" spc="-50" dirty="0">
                <a:latin typeface="Times New Roman"/>
                <a:cs typeface="Times New Roman"/>
              </a:rPr>
              <a:t>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077709" y="1355836"/>
            <a:ext cx="1878330" cy="69977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8100">
              <a:spcBef>
                <a:spcPts val="495"/>
              </a:spcBef>
              <a:tabLst>
                <a:tab pos="1015365" algn="l"/>
              </a:tabLst>
            </a:pPr>
            <a:r>
              <a:rPr sz="1900" b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u</a:t>
            </a:r>
            <a:r>
              <a:rPr sz="1900" dirty="0">
                <a:latin typeface="Times New Roman"/>
                <a:cs typeface="Times New Roman"/>
              </a:rPr>
              <a:t>)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415" dirty="0">
                <a:latin typeface="Symbol"/>
                <a:cs typeface="Symbol"/>
              </a:rPr>
              <a:t></a:t>
            </a:r>
            <a:r>
              <a:rPr sz="1900" spc="445" dirty="0">
                <a:latin typeface="Times New Roman"/>
                <a:cs typeface="Times New Roman"/>
              </a:rPr>
              <a:t> </a:t>
            </a:r>
            <a:r>
              <a:rPr sz="4275" spc="-1297" baseline="-8771" dirty="0">
                <a:latin typeface="Symbol"/>
                <a:cs typeface="Symbol"/>
              </a:rPr>
              <a:t></a:t>
            </a:r>
            <a:r>
              <a:rPr sz="4275" baseline="-8771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B</a:t>
            </a:r>
            <a:r>
              <a:rPr sz="1650" i="1" baseline="-25252" dirty="0">
                <a:latin typeface="Times New Roman"/>
                <a:cs typeface="Times New Roman"/>
              </a:rPr>
              <a:t>i</a:t>
            </a:r>
            <a:r>
              <a:rPr sz="1650" baseline="-25252" dirty="0">
                <a:latin typeface="Times New Roman"/>
                <a:cs typeface="Times New Roman"/>
              </a:rPr>
              <a:t>,</a:t>
            </a:r>
            <a:r>
              <a:rPr sz="1650" i="1" baseline="-25252" dirty="0">
                <a:latin typeface="Times New Roman"/>
                <a:cs typeface="Times New Roman"/>
              </a:rPr>
              <a:t>d</a:t>
            </a:r>
            <a:r>
              <a:rPr sz="1650" i="1" spc="225" baseline="-25252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(</a:t>
            </a:r>
            <a:r>
              <a:rPr sz="1900" i="1" spc="-20" dirty="0">
                <a:latin typeface="Times New Roman"/>
                <a:cs typeface="Times New Roman"/>
              </a:rPr>
              <a:t>u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r>
              <a:rPr sz="1900" b="1" spc="-20" dirty="0">
                <a:latin typeface="Times New Roman"/>
                <a:cs typeface="Times New Roman"/>
              </a:rPr>
              <a:t>p</a:t>
            </a:r>
            <a:r>
              <a:rPr sz="1650" i="1" spc="-30" baseline="-25252" dirty="0">
                <a:latin typeface="Times New Roman"/>
                <a:cs typeface="Times New Roman"/>
              </a:rPr>
              <a:t>i</a:t>
            </a:r>
            <a:endParaRPr sz="1650" baseline="-25252">
              <a:latin typeface="Times New Roman"/>
              <a:cs typeface="Times New Roman"/>
            </a:endParaRPr>
          </a:p>
          <a:p>
            <a:pPr marR="181610" algn="ctr">
              <a:spcBef>
                <a:spcPts val="170"/>
              </a:spcBef>
            </a:pPr>
            <a:r>
              <a:rPr sz="1100" i="1" spc="-55" dirty="0">
                <a:latin typeface="Times New Roman"/>
                <a:cs typeface="Times New Roman"/>
              </a:rPr>
              <a:t>i</a:t>
            </a:r>
            <a:r>
              <a:rPr sz="1100" spc="-55" dirty="0">
                <a:latin typeface="Symbol"/>
                <a:cs typeface="Symbol"/>
              </a:rPr>
              <a:t>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914775" y="3305175"/>
            <a:ext cx="4965700" cy="2152650"/>
            <a:chOff x="2390775" y="3305175"/>
            <a:chExt cx="4965700" cy="2152650"/>
          </a:xfrm>
        </p:grpSpPr>
        <p:sp>
          <p:nvSpPr>
            <p:cNvPr id="43" name="object 43"/>
            <p:cNvSpPr/>
            <p:nvPr/>
          </p:nvSpPr>
          <p:spPr>
            <a:xfrm>
              <a:off x="2400299" y="3314700"/>
              <a:ext cx="4946650" cy="2133600"/>
            </a:xfrm>
            <a:custGeom>
              <a:avLst/>
              <a:gdLst/>
              <a:ahLst/>
              <a:cxnLst/>
              <a:rect l="l" t="t" r="r" b="b"/>
              <a:pathLst>
                <a:path w="4946650" h="2133600">
                  <a:moveTo>
                    <a:pt x="76200" y="1143000"/>
                  </a:moveTo>
                  <a:lnTo>
                    <a:pt x="46612" y="1136987"/>
                  </a:lnTo>
                  <a:lnTo>
                    <a:pt x="22383" y="1120616"/>
                  </a:lnTo>
                  <a:lnTo>
                    <a:pt x="6012" y="1096387"/>
                  </a:lnTo>
                  <a:lnTo>
                    <a:pt x="0" y="1066800"/>
                  </a:lnTo>
                  <a:lnTo>
                    <a:pt x="6012" y="1037212"/>
                  </a:lnTo>
                  <a:lnTo>
                    <a:pt x="22383" y="1012983"/>
                  </a:lnTo>
                  <a:lnTo>
                    <a:pt x="46612" y="996612"/>
                  </a:lnTo>
                  <a:lnTo>
                    <a:pt x="76200" y="990600"/>
                  </a:lnTo>
                  <a:lnTo>
                    <a:pt x="105787" y="996612"/>
                  </a:lnTo>
                  <a:lnTo>
                    <a:pt x="130016" y="1012983"/>
                  </a:lnTo>
                  <a:lnTo>
                    <a:pt x="146387" y="1037212"/>
                  </a:lnTo>
                  <a:lnTo>
                    <a:pt x="152400" y="1066800"/>
                  </a:lnTo>
                  <a:lnTo>
                    <a:pt x="146387" y="1096387"/>
                  </a:lnTo>
                  <a:lnTo>
                    <a:pt x="130016" y="1120616"/>
                  </a:lnTo>
                  <a:lnTo>
                    <a:pt x="105787" y="1136987"/>
                  </a:lnTo>
                  <a:lnTo>
                    <a:pt x="76200" y="1143000"/>
                  </a:lnTo>
                  <a:close/>
                </a:path>
                <a:path w="4946650" h="2133600">
                  <a:moveTo>
                    <a:pt x="1375410" y="2133600"/>
                  </a:moveTo>
                  <a:lnTo>
                    <a:pt x="1345822" y="2127587"/>
                  </a:lnTo>
                  <a:lnTo>
                    <a:pt x="1321593" y="2111216"/>
                  </a:lnTo>
                  <a:lnTo>
                    <a:pt x="1305222" y="2086987"/>
                  </a:lnTo>
                  <a:lnTo>
                    <a:pt x="1299210" y="2057400"/>
                  </a:lnTo>
                  <a:lnTo>
                    <a:pt x="1305222" y="2027078"/>
                  </a:lnTo>
                  <a:lnTo>
                    <a:pt x="1321593" y="2002472"/>
                  </a:lnTo>
                  <a:lnTo>
                    <a:pt x="1345822" y="1985962"/>
                  </a:lnTo>
                  <a:lnTo>
                    <a:pt x="1375410" y="1979930"/>
                  </a:lnTo>
                  <a:lnTo>
                    <a:pt x="1404997" y="1985962"/>
                  </a:lnTo>
                  <a:lnTo>
                    <a:pt x="1429226" y="2002472"/>
                  </a:lnTo>
                  <a:lnTo>
                    <a:pt x="1445597" y="2027078"/>
                  </a:lnTo>
                  <a:lnTo>
                    <a:pt x="1451610" y="2057400"/>
                  </a:lnTo>
                  <a:lnTo>
                    <a:pt x="1445597" y="2086987"/>
                  </a:lnTo>
                  <a:lnTo>
                    <a:pt x="1429226" y="2111216"/>
                  </a:lnTo>
                  <a:lnTo>
                    <a:pt x="1404997" y="2127587"/>
                  </a:lnTo>
                  <a:lnTo>
                    <a:pt x="1375410" y="2133600"/>
                  </a:lnTo>
                  <a:close/>
                </a:path>
                <a:path w="4946650" h="2133600">
                  <a:moveTo>
                    <a:pt x="3281679" y="1831339"/>
                  </a:moveTo>
                  <a:lnTo>
                    <a:pt x="3252092" y="1825327"/>
                  </a:lnTo>
                  <a:lnTo>
                    <a:pt x="3227863" y="1808956"/>
                  </a:lnTo>
                  <a:lnTo>
                    <a:pt x="3211492" y="1784727"/>
                  </a:lnTo>
                  <a:lnTo>
                    <a:pt x="3205479" y="1755139"/>
                  </a:lnTo>
                  <a:lnTo>
                    <a:pt x="3211492" y="1725552"/>
                  </a:lnTo>
                  <a:lnTo>
                    <a:pt x="3227863" y="1701323"/>
                  </a:lnTo>
                  <a:lnTo>
                    <a:pt x="3252092" y="1684952"/>
                  </a:lnTo>
                  <a:lnTo>
                    <a:pt x="3281679" y="1678939"/>
                  </a:lnTo>
                  <a:lnTo>
                    <a:pt x="3312001" y="1684952"/>
                  </a:lnTo>
                  <a:lnTo>
                    <a:pt x="3336607" y="1701323"/>
                  </a:lnTo>
                  <a:lnTo>
                    <a:pt x="3353117" y="1725552"/>
                  </a:lnTo>
                  <a:lnTo>
                    <a:pt x="3359150" y="1755139"/>
                  </a:lnTo>
                  <a:lnTo>
                    <a:pt x="3353117" y="1784727"/>
                  </a:lnTo>
                  <a:lnTo>
                    <a:pt x="3336607" y="1808956"/>
                  </a:lnTo>
                  <a:lnTo>
                    <a:pt x="3312001" y="1825327"/>
                  </a:lnTo>
                  <a:lnTo>
                    <a:pt x="3281679" y="1831339"/>
                  </a:lnTo>
                  <a:close/>
                </a:path>
                <a:path w="4946650" h="2133600">
                  <a:moveTo>
                    <a:pt x="4870450" y="152400"/>
                  </a:moveTo>
                  <a:lnTo>
                    <a:pt x="4840128" y="146387"/>
                  </a:lnTo>
                  <a:lnTo>
                    <a:pt x="4815522" y="130016"/>
                  </a:lnTo>
                  <a:lnTo>
                    <a:pt x="4799012" y="105787"/>
                  </a:lnTo>
                  <a:lnTo>
                    <a:pt x="4792980" y="76200"/>
                  </a:lnTo>
                  <a:lnTo>
                    <a:pt x="4799012" y="46612"/>
                  </a:lnTo>
                  <a:lnTo>
                    <a:pt x="4815522" y="22383"/>
                  </a:lnTo>
                  <a:lnTo>
                    <a:pt x="4840128" y="6012"/>
                  </a:lnTo>
                  <a:lnTo>
                    <a:pt x="4870450" y="0"/>
                  </a:lnTo>
                  <a:lnTo>
                    <a:pt x="4900037" y="6012"/>
                  </a:lnTo>
                  <a:lnTo>
                    <a:pt x="4924266" y="22383"/>
                  </a:lnTo>
                  <a:lnTo>
                    <a:pt x="4940637" y="46612"/>
                  </a:lnTo>
                  <a:lnTo>
                    <a:pt x="4946650" y="76200"/>
                  </a:lnTo>
                  <a:lnTo>
                    <a:pt x="4940637" y="105787"/>
                  </a:lnTo>
                  <a:lnTo>
                    <a:pt x="4924266" y="130016"/>
                  </a:lnTo>
                  <a:lnTo>
                    <a:pt x="4900037" y="146387"/>
                  </a:lnTo>
                  <a:lnTo>
                    <a:pt x="4870450" y="152400"/>
                  </a:lnTo>
                  <a:close/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65070" y="3379469"/>
              <a:ext cx="4820920" cy="2005330"/>
            </a:xfrm>
            <a:custGeom>
              <a:avLst/>
              <a:gdLst/>
              <a:ahLst/>
              <a:cxnLst/>
              <a:rect l="l" t="t" r="r" b="b"/>
              <a:pathLst>
                <a:path w="4820920" h="2005329">
                  <a:moveTo>
                    <a:pt x="4820920" y="12700"/>
                  </a:moveTo>
                  <a:lnTo>
                    <a:pt x="4813300" y="6350"/>
                  </a:lnTo>
                  <a:lnTo>
                    <a:pt x="4806950" y="0"/>
                  </a:lnTo>
                  <a:lnTo>
                    <a:pt x="3203765" y="1676679"/>
                  </a:lnTo>
                  <a:lnTo>
                    <a:pt x="1306652" y="1985492"/>
                  </a:lnTo>
                  <a:lnTo>
                    <a:pt x="12700" y="998220"/>
                  </a:lnTo>
                  <a:lnTo>
                    <a:pt x="0" y="1013460"/>
                  </a:lnTo>
                  <a:lnTo>
                    <a:pt x="1297940" y="2002790"/>
                  </a:lnTo>
                  <a:lnTo>
                    <a:pt x="1297940" y="2004060"/>
                  </a:lnTo>
                  <a:lnTo>
                    <a:pt x="1300480" y="2004060"/>
                  </a:lnTo>
                  <a:lnTo>
                    <a:pt x="1301750" y="2005330"/>
                  </a:lnTo>
                  <a:lnTo>
                    <a:pt x="1304290" y="2005330"/>
                  </a:lnTo>
                  <a:lnTo>
                    <a:pt x="3208020" y="1695450"/>
                  </a:lnTo>
                  <a:lnTo>
                    <a:pt x="3209290" y="1695450"/>
                  </a:lnTo>
                  <a:lnTo>
                    <a:pt x="3210560" y="1694180"/>
                  </a:lnTo>
                  <a:lnTo>
                    <a:pt x="3213100" y="1694180"/>
                  </a:lnTo>
                  <a:lnTo>
                    <a:pt x="3213100" y="1692910"/>
                  </a:lnTo>
                  <a:lnTo>
                    <a:pt x="4820920" y="127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041650" y="4174490"/>
              <a:ext cx="3446779" cy="1073150"/>
            </a:xfrm>
            <a:custGeom>
              <a:avLst/>
              <a:gdLst/>
              <a:ahLst/>
              <a:cxnLst/>
              <a:rect l="l" t="t" r="r" b="b"/>
              <a:pathLst>
                <a:path w="3446779" h="1073150">
                  <a:moveTo>
                    <a:pt x="3446780" y="13970"/>
                  </a:moveTo>
                  <a:lnTo>
                    <a:pt x="3440430" y="6350"/>
                  </a:lnTo>
                  <a:lnTo>
                    <a:pt x="3434080" y="0"/>
                  </a:lnTo>
                  <a:lnTo>
                    <a:pt x="3234690" y="212090"/>
                  </a:lnTo>
                  <a:lnTo>
                    <a:pt x="3023920" y="401408"/>
                  </a:lnTo>
                  <a:lnTo>
                    <a:pt x="2804274" y="569175"/>
                  </a:lnTo>
                  <a:lnTo>
                    <a:pt x="2804160" y="568960"/>
                  </a:lnTo>
                  <a:lnTo>
                    <a:pt x="2579370" y="713740"/>
                  </a:lnTo>
                  <a:lnTo>
                    <a:pt x="2579662" y="714260"/>
                  </a:lnTo>
                  <a:lnTo>
                    <a:pt x="2354580" y="834390"/>
                  </a:lnTo>
                  <a:lnTo>
                    <a:pt x="2133600" y="928370"/>
                  </a:lnTo>
                  <a:lnTo>
                    <a:pt x="2025650" y="965200"/>
                  </a:lnTo>
                  <a:lnTo>
                    <a:pt x="1920240" y="995680"/>
                  </a:lnTo>
                  <a:lnTo>
                    <a:pt x="1817370" y="1018540"/>
                  </a:lnTo>
                  <a:lnTo>
                    <a:pt x="1719580" y="1034846"/>
                  </a:lnTo>
                  <a:lnTo>
                    <a:pt x="1719580" y="1033780"/>
                  </a:lnTo>
                  <a:lnTo>
                    <a:pt x="1475740" y="1054100"/>
                  </a:lnTo>
                  <a:lnTo>
                    <a:pt x="1235710" y="1054100"/>
                  </a:lnTo>
                  <a:lnTo>
                    <a:pt x="999451" y="1033894"/>
                  </a:lnTo>
                  <a:lnTo>
                    <a:pt x="770826" y="992098"/>
                  </a:lnTo>
                  <a:lnTo>
                    <a:pt x="770890" y="991870"/>
                  </a:lnTo>
                  <a:lnTo>
                    <a:pt x="660400" y="963930"/>
                  </a:lnTo>
                  <a:lnTo>
                    <a:pt x="553720" y="929640"/>
                  </a:lnTo>
                  <a:lnTo>
                    <a:pt x="553504" y="930363"/>
                  </a:lnTo>
                  <a:lnTo>
                    <a:pt x="451942" y="891959"/>
                  </a:lnTo>
                  <a:lnTo>
                    <a:pt x="452120" y="891540"/>
                  </a:lnTo>
                  <a:lnTo>
                    <a:pt x="354063" y="847547"/>
                  </a:lnTo>
                  <a:lnTo>
                    <a:pt x="354330" y="847090"/>
                  </a:lnTo>
                  <a:lnTo>
                    <a:pt x="260350" y="797560"/>
                  </a:lnTo>
                  <a:lnTo>
                    <a:pt x="171450" y="742950"/>
                  </a:lnTo>
                  <a:lnTo>
                    <a:pt x="170929" y="743851"/>
                  </a:lnTo>
                  <a:lnTo>
                    <a:pt x="88900" y="683260"/>
                  </a:lnTo>
                  <a:lnTo>
                    <a:pt x="88811" y="683387"/>
                  </a:lnTo>
                  <a:lnTo>
                    <a:pt x="12700" y="618490"/>
                  </a:lnTo>
                  <a:lnTo>
                    <a:pt x="6350" y="626110"/>
                  </a:lnTo>
                  <a:lnTo>
                    <a:pt x="0" y="632460"/>
                  </a:lnTo>
                  <a:lnTo>
                    <a:pt x="77470" y="698500"/>
                  </a:lnTo>
                  <a:lnTo>
                    <a:pt x="161290" y="759460"/>
                  </a:lnTo>
                  <a:lnTo>
                    <a:pt x="250190" y="814070"/>
                  </a:lnTo>
                  <a:lnTo>
                    <a:pt x="251460" y="815340"/>
                  </a:lnTo>
                  <a:lnTo>
                    <a:pt x="345440" y="864870"/>
                  </a:lnTo>
                  <a:lnTo>
                    <a:pt x="444500" y="909320"/>
                  </a:lnTo>
                  <a:lnTo>
                    <a:pt x="547370" y="947420"/>
                  </a:lnTo>
                  <a:lnTo>
                    <a:pt x="548640" y="948690"/>
                  </a:lnTo>
                  <a:lnTo>
                    <a:pt x="655320" y="981710"/>
                  </a:lnTo>
                  <a:lnTo>
                    <a:pt x="765810" y="1010920"/>
                  </a:lnTo>
                  <a:lnTo>
                    <a:pt x="995680" y="1052830"/>
                  </a:lnTo>
                  <a:lnTo>
                    <a:pt x="996950" y="1042682"/>
                  </a:lnTo>
                  <a:lnTo>
                    <a:pt x="996950" y="1052830"/>
                  </a:lnTo>
                  <a:lnTo>
                    <a:pt x="1233170" y="1073150"/>
                  </a:lnTo>
                  <a:lnTo>
                    <a:pt x="1234440" y="1073150"/>
                  </a:lnTo>
                  <a:lnTo>
                    <a:pt x="1477010" y="1073150"/>
                  </a:lnTo>
                  <a:lnTo>
                    <a:pt x="1720850" y="1052830"/>
                  </a:lnTo>
                  <a:lnTo>
                    <a:pt x="1821180" y="1037590"/>
                  </a:lnTo>
                  <a:lnTo>
                    <a:pt x="1925320" y="1013460"/>
                  </a:lnTo>
                  <a:lnTo>
                    <a:pt x="2032000" y="982980"/>
                  </a:lnTo>
                  <a:lnTo>
                    <a:pt x="2139950" y="946150"/>
                  </a:lnTo>
                  <a:lnTo>
                    <a:pt x="2141220" y="946150"/>
                  </a:lnTo>
                  <a:lnTo>
                    <a:pt x="2363470" y="850900"/>
                  </a:lnTo>
                  <a:lnTo>
                    <a:pt x="2589530" y="730250"/>
                  </a:lnTo>
                  <a:lnTo>
                    <a:pt x="2814320" y="585470"/>
                  </a:lnTo>
                  <a:lnTo>
                    <a:pt x="2815590" y="585470"/>
                  </a:lnTo>
                  <a:lnTo>
                    <a:pt x="3035300" y="416560"/>
                  </a:lnTo>
                  <a:lnTo>
                    <a:pt x="3247390" y="226060"/>
                  </a:lnTo>
                  <a:lnTo>
                    <a:pt x="3248660" y="226060"/>
                  </a:lnTo>
                  <a:lnTo>
                    <a:pt x="3446780" y="1397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749800" y="51816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574" y="3095"/>
                  </a:lnTo>
                  <a:lnTo>
                    <a:pt x="11429" y="11429"/>
                  </a:lnTo>
                  <a:lnTo>
                    <a:pt x="3095" y="23574"/>
                  </a:lnTo>
                  <a:lnTo>
                    <a:pt x="0" y="38100"/>
                  </a:lnTo>
                  <a:lnTo>
                    <a:pt x="3095" y="52625"/>
                  </a:lnTo>
                  <a:lnTo>
                    <a:pt x="11429" y="64769"/>
                  </a:lnTo>
                  <a:lnTo>
                    <a:pt x="23574" y="73104"/>
                  </a:lnTo>
                  <a:lnTo>
                    <a:pt x="38100" y="76200"/>
                  </a:lnTo>
                  <a:lnTo>
                    <a:pt x="53161" y="73104"/>
                  </a:lnTo>
                  <a:lnTo>
                    <a:pt x="65246" y="64769"/>
                  </a:lnTo>
                  <a:lnTo>
                    <a:pt x="73282" y="52625"/>
                  </a:lnTo>
                  <a:lnTo>
                    <a:pt x="76200" y="38100"/>
                  </a:lnTo>
                  <a:lnTo>
                    <a:pt x="73282" y="23574"/>
                  </a:lnTo>
                  <a:lnTo>
                    <a:pt x="65246" y="11430"/>
                  </a:lnTo>
                  <a:lnTo>
                    <a:pt x="53161" y="309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749800" y="51816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574" y="73104"/>
                  </a:lnTo>
                  <a:lnTo>
                    <a:pt x="11429" y="64769"/>
                  </a:lnTo>
                  <a:lnTo>
                    <a:pt x="3095" y="52625"/>
                  </a:lnTo>
                  <a:lnTo>
                    <a:pt x="0" y="38100"/>
                  </a:lnTo>
                  <a:lnTo>
                    <a:pt x="3095" y="23574"/>
                  </a:lnTo>
                  <a:lnTo>
                    <a:pt x="11429" y="11429"/>
                  </a:lnTo>
                  <a:lnTo>
                    <a:pt x="23574" y="3095"/>
                  </a:lnTo>
                  <a:lnTo>
                    <a:pt x="38100" y="0"/>
                  </a:lnTo>
                  <a:lnTo>
                    <a:pt x="53161" y="3095"/>
                  </a:lnTo>
                  <a:lnTo>
                    <a:pt x="65246" y="11430"/>
                  </a:lnTo>
                  <a:lnTo>
                    <a:pt x="73282" y="23574"/>
                  </a:lnTo>
                  <a:lnTo>
                    <a:pt x="76200" y="38100"/>
                  </a:lnTo>
                  <a:lnTo>
                    <a:pt x="73282" y="52625"/>
                  </a:lnTo>
                  <a:lnTo>
                    <a:pt x="65246" y="64769"/>
                  </a:lnTo>
                  <a:lnTo>
                    <a:pt x="53161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48800" y="5257800"/>
            <a:ext cx="718820" cy="398780"/>
          </a:xfrm>
          <a:custGeom>
            <a:avLst/>
            <a:gdLst/>
            <a:ahLst/>
            <a:cxnLst/>
            <a:rect l="l" t="t" r="r" b="b"/>
            <a:pathLst>
              <a:path w="718820" h="398779">
                <a:moveTo>
                  <a:pt x="0" y="0"/>
                </a:moveTo>
                <a:lnTo>
                  <a:pt x="718820" y="0"/>
                </a:lnTo>
                <a:lnTo>
                  <a:pt x="718820" y="398780"/>
                </a:lnTo>
                <a:lnTo>
                  <a:pt x="0" y="3987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7540" y="5292090"/>
            <a:ext cx="5613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dirty="0">
                <a:latin typeface="Cambria"/>
                <a:cs typeface="Cambria"/>
              </a:rPr>
              <a:t>d</a:t>
            </a:r>
            <a:r>
              <a:rPr sz="2000" i="1" spc="4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=</a:t>
            </a:r>
            <a:r>
              <a:rPr sz="2000" spc="30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52521" y="360679"/>
            <a:ext cx="488759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Recorrência</a:t>
            </a:r>
            <a:r>
              <a:rPr spc="-40" dirty="0"/>
              <a:t> </a:t>
            </a:r>
            <a:r>
              <a:rPr spc="-20" dirty="0"/>
              <a:t>Cox-</a:t>
            </a:r>
            <a:r>
              <a:rPr dirty="0"/>
              <a:t>de</a:t>
            </a:r>
            <a:r>
              <a:rPr spc="-35" dirty="0"/>
              <a:t> </a:t>
            </a:r>
            <a:r>
              <a:rPr spc="-20" dirty="0"/>
              <a:t>Boor</a:t>
            </a:r>
          </a:p>
        </p:txBody>
      </p:sp>
      <p:sp>
        <p:nvSpPr>
          <p:cNvPr id="5" name="object 5"/>
          <p:cNvSpPr/>
          <p:nvPr/>
        </p:nvSpPr>
        <p:spPr>
          <a:xfrm>
            <a:off x="2948939" y="2296160"/>
            <a:ext cx="867410" cy="0"/>
          </a:xfrm>
          <a:custGeom>
            <a:avLst/>
            <a:gdLst/>
            <a:ahLst/>
            <a:cxnLst/>
            <a:rect l="l" t="t" r="r" b="b"/>
            <a:pathLst>
              <a:path w="867410">
                <a:moveTo>
                  <a:pt x="0" y="0"/>
                </a:moveTo>
                <a:lnTo>
                  <a:pt x="867410" y="0"/>
                </a:lnTo>
              </a:path>
            </a:pathLst>
          </a:custGeom>
          <a:ln w="8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03750" y="2296160"/>
            <a:ext cx="1144270" cy="0"/>
          </a:xfrm>
          <a:custGeom>
            <a:avLst/>
            <a:gdLst/>
            <a:ahLst/>
            <a:cxnLst/>
            <a:rect l="l" t="t" r="r" b="b"/>
            <a:pathLst>
              <a:path w="1144270">
                <a:moveTo>
                  <a:pt x="0" y="0"/>
                </a:moveTo>
                <a:lnTo>
                  <a:pt x="1144270" y="0"/>
                </a:lnTo>
              </a:path>
            </a:pathLst>
          </a:custGeom>
          <a:ln w="8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18461" y="1668780"/>
            <a:ext cx="10350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750" spc="-310" dirty="0">
                <a:latin typeface="Symbol"/>
                <a:cs typeface="Symbol"/>
              </a:rPr>
              <a:t>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93060" y="1480819"/>
            <a:ext cx="31623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1750" spc="-260" dirty="0">
                <a:latin typeface="Symbol"/>
                <a:cs typeface="Symbol"/>
              </a:rPr>
              <a:t></a:t>
            </a:r>
            <a:r>
              <a:rPr sz="1750" spc="-120" dirty="0">
                <a:latin typeface="Times New Roman"/>
                <a:cs typeface="Times New Roman"/>
              </a:rPr>
              <a:t> </a:t>
            </a:r>
            <a:r>
              <a:rPr sz="2625" spc="37" baseline="-33333" dirty="0">
                <a:latin typeface="Times New Roman"/>
                <a:cs typeface="Times New Roman"/>
              </a:rPr>
              <a:t>0</a:t>
            </a:r>
            <a:endParaRPr sz="2625" baseline="-3333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28359" y="2264410"/>
            <a:ext cx="52197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8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-5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1,</a:t>
            </a:r>
            <a:r>
              <a:rPr sz="1050" i="1" dirty="0">
                <a:latin typeface="Times New Roman"/>
                <a:cs typeface="Times New Roman"/>
              </a:rPr>
              <a:t>d</a:t>
            </a:r>
            <a:r>
              <a:rPr sz="1050" i="1" spc="-6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</a:t>
            </a:r>
            <a:r>
              <a:rPr sz="1050" spc="-80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8210" y="2439670"/>
            <a:ext cx="100711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  <a:tabLst>
                <a:tab pos="768985" algn="l"/>
              </a:tabLst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1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70" dirty="0">
                <a:latin typeface="Times New Roman"/>
                <a:cs typeface="Times New Roman"/>
              </a:rPr>
              <a:t> </a:t>
            </a:r>
            <a:r>
              <a:rPr sz="1050" i="1" dirty="0">
                <a:latin typeface="Times New Roman"/>
                <a:cs typeface="Times New Roman"/>
              </a:rPr>
              <a:t>d</a:t>
            </a:r>
            <a:r>
              <a:rPr sz="1050" i="1" spc="-8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-70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Times New Roman"/>
                <a:cs typeface="Times New Roman"/>
              </a:rPr>
              <a:t>1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05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-70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91889" y="2439670"/>
            <a:ext cx="8890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spc="-50" dirty="0">
                <a:latin typeface="Times New Roman"/>
                <a:cs typeface="Times New Roman"/>
              </a:rPr>
              <a:t>k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74669" y="2439670"/>
            <a:ext cx="26670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1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65" dirty="0">
                <a:latin typeface="Times New Roman"/>
                <a:cs typeface="Times New Roman"/>
              </a:rPr>
              <a:t> </a:t>
            </a:r>
            <a:r>
              <a:rPr sz="1050" i="1" spc="-50" dirty="0">
                <a:latin typeface="Times New Roman"/>
                <a:cs typeface="Times New Roman"/>
              </a:rPr>
              <a:t>d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57730" y="2264410"/>
            <a:ext cx="21844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00" dirty="0">
                <a:latin typeface="Times New Roman"/>
                <a:cs typeface="Times New Roman"/>
              </a:rPr>
              <a:t> </a:t>
            </a:r>
            <a:r>
              <a:rPr sz="1050" spc="-25" dirty="0">
                <a:latin typeface="Times New Roman"/>
                <a:cs typeface="Times New Roman"/>
              </a:rPr>
              <a:t>,</a:t>
            </a:r>
            <a:r>
              <a:rPr sz="1050" i="1" spc="-25" dirty="0">
                <a:latin typeface="Times New Roman"/>
                <a:cs typeface="Times New Roman"/>
              </a:rPr>
              <a:t>d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57730" y="1592579"/>
            <a:ext cx="21971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100" dirty="0">
                <a:latin typeface="Times New Roman"/>
                <a:cs typeface="Times New Roman"/>
              </a:rPr>
              <a:t> </a:t>
            </a:r>
            <a:r>
              <a:rPr sz="1050" spc="25" dirty="0">
                <a:latin typeface="Times New Roman"/>
                <a:cs typeface="Times New Roman"/>
              </a:rPr>
              <a:t>,0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84851" y="2113280"/>
            <a:ext cx="17208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750" i="1" spc="25" dirty="0">
                <a:latin typeface="Times New Roman"/>
                <a:cs typeface="Times New Roman"/>
              </a:rPr>
              <a:t>B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98671" y="2289810"/>
            <a:ext cx="90233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602615" algn="l"/>
              </a:tabLst>
            </a:pPr>
            <a:r>
              <a:rPr sz="1750" i="1" spc="10" dirty="0">
                <a:latin typeface="Times New Roman"/>
                <a:cs typeface="Times New Roman"/>
              </a:rPr>
              <a:t>u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-290" dirty="0">
                <a:latin typeface="Symbol"/>
                <a:cs typeface="Symbol"/>
              </a:rPr>
              <a:t></a:t>
            </a:r>
            <a:r>
              <a:rPr sz="1750" spc="190" dirty="0">
                <a:latin typeface="Times New Roman"/>
                <a:cs typeface="Times New Roman"/>
              </a:rPr>
              <a:t> </a:t>
            </a:r>
            <a:r>
              <a:rPr sz="1750" i="1" spc="10" dirty="0">
                <a:latin typeface="Times New Roman"/>
                <a:cs typeface="Times New Roman"/>
              </a:rPr>
              <a:t>u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92651" y="2026919"/>
            <a:ext cx="95313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2625" i="1" spc="112" baseline="14285" dirty="0">
                <a:latin typeface="Times New Roman"/>
                <a:cs typeface="Times New Roman"/>
              </a:rPr>
              <a:t>u</a:t>
            </a:r>
            <a:r>
              <a:rPr sz="1050" i="1" spc="75" dirty="0">
                <a:latin typeface="Times New Roman"/>
                <a:cs typeface="Times New Roman"/>
              </a:rPr>
              <a:t>k</a:t>
            </a:r>
            <a:r>
              <a:rPr sz="1050" i="1" spc="-114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55" dirty="0">
                <a:latin typeface="Times New Roman"/>
                <a:cs typeface="Times New Roman"/>
              </a:rPr>
              <a:t> </a:t>
            </a:r>
            <a:r>
              <a:rPr sz="1050" i="1" dirty="0">
                <a:latin typeface="Times New Roman"/>
                <a:cs typeface="Times New Roman"/>
              </a:rPr>
              <a:t>d</a:t>
            </a:r>
            <a:r>
              <a:rPr sz="1050" i="1" spc="-90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</a:t>
            </a:r>
            <a:r>
              <a:rPr sz="1050" spc="-8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1</a:t>
            </a:r>
            <a:r>
              <a:rPr sz="1050" spc="185" dirty="0">
                <a:latin typeface="Times New Roman"/>
                <a:cs typeface="Times New Roman"/>
              </a:rPr>
              <a:t> </a:t>
            </a:r>
            <a:r>
              <a:rPr sz="2625" spc="-434" baseline="14285" dirty="0">
                <a:latin typeface="Symbol"/>
                <a:cs typeface="Symbol"/>
              </a:rPr>
              <a:t></a:t>
            </a:r>
            <a:r>
              <a:rPr sz="2625" spc="337" baseline="14285" dirty="0">
                <a:latin typeface="Times New Roman"/>
                <a:cs typeface="Times New Roman"/>
              </a:rPr>
              <a:t> </a:t>
            </a:r>
            <a:r>
              <a:rPr sz="2625" i="1" spc="15" baseline="14285" dirty="0">
                <a:latin typeface="Times New Roman"/>
                <a:cs typeface="Times New Roman"/>
              </a:rPr>
              <a:t>u</a:t>
            </a:r>
            <a:endParaRPr sz="2625" baseline="1428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26510" y="2170430"/>
            <a:ext cx="71882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2625" i="1" baseline="14285" dirty="0">
                <a:latin typeface="Times New Roman"/>
                <a:cs typeface="Times New Roman"/>
              </a:rPr>
              <a:t>B</a:t>
            </a:r>
            <a:r>
              <a:rPr sz="1050" i="1" dirty="0">
                <a:latin typeface="Times New Roman"/>
                <a:cs typeface="Times New Roman"/>
              </a:rPr>
              <a:t>k</a:t>
            </a:r>
            <a:r>
              <a:rPr sz="1050" i="1" spc="-8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,</a:t>
            </a:r>
            <a:r>
              <a:rPr sz="1050" i="1" dirty="0">
                <a:latin typeface="Times New Roman"/>
                <a:cs typeface="Times New Roman"/>
              </a:rPr>
              <a:t>d</a:t>
            </a:r>
            <a:r>
              <a:rPr sz="1050" i="1" spc="-55" dirty="0">
                <a:latin typeface="Times New Roman"/>
                <a:cs typeface="Times New Roman"/>
              </a:rPr>
              <a:t> </a:t>
            </a:r>
            <a:r>
              <a:rPr sz="1050" spc="-190" dirty="0">
                <a:latin typeface="Symbol"/>
                <a:cs typeface="Symbol"/>
              </a:rPr>
              <a:t></a:t>
            </a:r>
            <a:r>
              <a:rPr sz="1050" spc="-7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1</a:t>
            </a:r>
            <a:r>
              <a:rPr sz="1050" spc="275" dirty="0">
                <a:latin typeface="Times New Roman"/>
                <a:cs typeface="Times New Roman"/>
              </a:rPr>
              <a:t> </a:t>
            </a:r>
            <a:r>
              <a:rPr sz="2625" spc="-509" baseline="14285" dirty="0">
                <a:latin typeface="Symbol"/>
                <a:cs typeface="Symbol"/>
              </a:rPr>
              <a:t></a:t>
            </a:r>
            <a:endParaRPr sz="2625" baseline="14285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45131" y="2289810"/>
            <a:ext cx="76390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462915" algn="l"/>
              </a:tabLst>
            </a:pPr>
            <a:r>
              <a:rPr sz="1750" i="1" spc="10" dirty="0">
                <a:latin typeface="Times New Roman"/>
                <a:cs typeface="Times New Roman"/>
              </a:rPr>
              <a:t>u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-290" dirty="0">
                <a:latin typeface="Symbol"/>
                <a:cs typeface="Symbol"/>
              </a:rPr>
              <a:t>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u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60700" y="1971039"/>
            <a:ext cx="60579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1750" i="1" spc="60" dirty="0">
                <a:latin typeface="Times New Roman"/>
                <a:cs typeface="Times New Roman"/>
              </a:rPr>
              <a:t>u</a:t>
            </a:r>
            <a:r>
              <a:rPr sz="1750" i="1" spc="-45" dirty="0">
                <a:latin typeface="Times New Roman"/>
                <a:cs typeface="Times New Roman"/>
              </a:rPr>
              <a:t> </a:t>
            </a:r>
            <a:r>
              <a:rPr sz="1750" spc="-290" dirty="0">
                <a:latin typeface="Symbol"/>
                <a:cs typeface="Symbol"/>
              </a:rPr>
              <a:t>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i="1" spc="50" dirty="0">
                <a:latin typeface="Times New Roman"/>
                <a:cs typeface="Times New Roman"/>
              </a:rPr>
              <a:t>u</a:t>
            </a:r>
            <a:r>
              <a:rPr sz="1575" i="1" spc="75" baseline="-23809" dirty="0">
                <a:latin typeface="Times New Roman"/>
                <a:cs typeface="Times New Roman"/>
              </a:rPr>
              <a:t>k</a:t>
            </a:r>
            <a:endParaRPr sz="1575" baseline="-23809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12950" y="2113280"/>
            <a:ext cx="84201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393065" algn="l"/>
              </a:tabLst>
            </a:pPr>
            <a:r>
              <a:rPr sz="1750" i="1" spc="25" dirty="0">
                <a:latin typeface="Times New Roman"/>
                <a:cs typeface="Times New Roman"/>
              </a:rPr>
              <a:t>B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80" dirty="0">
                <a:latin typeface="Times New Roman"/>
                <a:cs typeface="Times New Roman"/>
              </a:rPr>
              <a:t>(</a:t>
            </a:r>
            <a:r>
              <a:rPr sz="1750" i="1" spc="80" dirty="0">
                <a:latin typeface="Times New Roman"/>
                <a:cs typeface="Times New Roman"/>
              </a:rPr>
              <a:t>u</a:t>
            </a:r>
            <a:r>
              <a:rPr sz="1750" spc="80" dirty="0">
                <a:latin typeface="Times New Roman"/>
                <a:cs typeface="Times New Roman"/>
              </a:rPr>
              <a:t>)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spc="-340" dirty="0">
                <a:latin typeface="Symbol"/>
                <a:cs typeface="Symbol"/>
              </a:rPr>
              <a:t>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87550" y="1441449"/>
            <a:ext cx="119888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  <a:tabLst>
                <a:tab pos="403225" algn="l"/>
              </a:tabLst>
            </a:pPr>
            <a:r>
              <a:rPr sz="1750" i="1" spc="25" dirty="0">
                <a:latin typeface="Times New Roman"/>
                <a:cs typeface="Times New Roman"/>
              </a:rPr>
              <a:t>B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80" dirty="0">
                <a:latin typeface="Times New Roman"/>
                <a:cs typeface="Times New Roman"/>
              </a:rPr>
              <a:t>(</a:t>
            </a:r>
            <a:r>
              <a:rPr sz="1750" i="1" spc="80" dirty="0">
                <a:latin typeface="Times New Roman"/>
                <a:cs typeface="Times New Roman"/>
              </a:rPr>
              <a:t>u</a:t>
            </a:r>
            <a:r>
              <a:rPr sz="1750" spc="80" dirty="0">
                <a:latin typeface="Times New Roman"/>
                <a:cs typeface="Times New Roman"/>
              </a:rPr>
              <a:t>)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spc="-290" dirty="0">
                <a:latin typeface="Symbol"/>
                <a:cs typeface="Symbol"/>
              </a:rPr>
              <a:t></a:t>
            </a:r>
            <a:r>
              <a:rPr sz="1750" spc="390" dirty="0">
                <a:latin typeface="Times New Roman"/>
                <a:cs typeface="Times New Roman"/>
              </a:rPr>
              <a:t> </a:t>
            </a:r>
            <a:r>
              <a:rPr sz="2625" spc="-37" baseline="36507" dirty="0">
                <a:latin typeface="Symbol"/>
                <a:cs typeface="Symbol"/>
              </a:rPr>
              <a:t></a:t>
            </a:r>
            <a:r>
              <a:rPr sz="2625" spc="-37" baseline="41269" dirty="0">
                <a:latin typeface="Times New Roman"/>
                <a:cs typeface="Times New Roman"/>
              </a:rPr>
              <a:t>1</a:t>
            </a:r>
            <a:endParaRPr sz="2625" baseline="41269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56610" y="1209801"/>
            <a:ext cx="1854200" cy="70104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8100">
              <a:spcBef>
                <a:spcPts val="655"/>
              </a:spcBef>
            </a:pPr>
            <a:r>
              <a:rPr sz="1750" spc="105" dirty="0">
                <a:latin typeface="Cambria"/>
                <a:cs typeface="Cambria"/>
              </a:rPr>
              <a:t>para</a:t>
            </a:r>
            <a:r>
              <a:rPr sz="1750" spc="-95" dirty="0">
                <a:latin typeface="Cambria"/>
                <a:cs typeface="Cambria"/>
              </a:rPr>
              <a:t> </a:t>
            </a:r>
            <a:r>
              <a:rPr sz="1750" i="1" spc="75" dirty="0">
                <a:latin typeface="Times New Roman"/>
                <a:cs typeface="Times New Roman"/>
              </a:rPr>
              <a:t>u</a:t>
            </a:r>
            <a:r>
              <a:rPr sz="1575" i="1" spc="112" baseline="-23809" dirty="0">
                <a:latin typeface="Times New Roman"/>
                <a:cs typeface="Times New Roman"/>
              </a:rPr>
              <a:t>k</a:t>
            </a:r>
            <a:r>
              <a:rPr sz="1575" i="1" spc="675" baseline="-23809" dirty="0">
                <a:latin typeface="Times New Roman"/>
                <a:cs typeface="Times New Roman"/>
              </a:rPr>
              <a:t> </a:t>
            </a:r>
            <a:r>
              <a:rPr sz="1750" spc="-290" dirty="0">
                <a:latin typeface="Symbol"/>
                <a:cs typeface="Symbol"/>
              </a:rPr>
              <a:t></a:t>
            </a:r>
            <a:r>
              <a:rPr sz="1750" spc="335" dirty="0">
                <a:latin typeface="Times New Roman"/>
                <a:cs typeface="Times New Roman"/>
              </a:rPr>
              <a:t> </a:t>
            </a:r>
            <a:r>
              <a:rPr sz="1750" i="1" spc="60" dirty="0">
                <a:latin typeface="Times New Roman"/>
                <a:cs typeface="Times New Roman"/>
              </a:rPr>
              <a:t>u</a:t>
            </a:r>
            <a:r>
              <a:rPr sz="1750" i="1" spc="55" dirty="0">
                <a:latin typeface="Times New Roman"/>
                <a:cs typeface="Times New Roman"/>
              </a:rPr>
              <a:t> </a:t>
            </a:r>
            <a:r>
              <a:rPr sz="1750" spc="-290" dirty="0">
                <a:latin typeface="Symbol"/>
                <a:cs typeface="Symbol"/>
              </a:rPr>
              <a:t></a:t>
            </a:r>
            <a:r>
              <a:rPr sz="1750" spc="330" dirty="0">
                <a:latin typeface="Times New Roman"/>
                <a:cs typeface="Times New Roman"/>
              </a:rPr>
              <a:t> </a:t>
            </a:r>
            <a:r>
              <a:rPr sz="1750" i="1" spc="75" dirty="0">
                <a:latin typeface="Times New Roman"/>
                <a:cs typeface="Times New Roman"/>
              </a:rPr>
              <a:t>u</a:t>
            </a:r>
            <a:r>
              <a:rPr sz="1575" i="1" spc="112" baseline="-23809" dirty="0">
                <a:latin typeface="Times New Roman"/>
                <a:cs typeface="Times New Roman"/>
              </a:rPr>
              <a:t>k</a:t>
            </a:r>
            <a:r>
              <a:rPr sz="1575" i="1" spc="-172" baseline="-23809" dirty="0">
                <a:latin typeface="Times New Roman"/>
                <a:cs typeface="Times New Roman"/>
              </a:rPr>
              <a:t> </a:t>
            </a:r>
            <a:r>
              <a:rPr sz="1575" spc="-284" baseline="-23809" dirty="0">
                <a:latin typeface="Symbol"/>
                <a:cs typeface="Symbol"/>
              </a:rPr>
              <a:t></a:t>
            </a:r>
            <a:r>
              <a:rPr sz="1575" spc="-127" baseline="-23809" dirty="0">
                <a:latin typeface="Times New Roman"/>
                <a:cs typeface="Times New Roman"/>
              </a:rPr>
              <a:t> </a:t>
            </a:r>
            <a:r>
              <a:rPr sz="1575" baseline="-23809" dirty="0">
                <a:latin typeface="Times New Roman"/>
                <a:cs typeface="Times New Roman"/>
              </a:rPr>
              <a:t>1</a:t>
            </a:r>
            <a:r>
              <a:rPr sz="1575" spc="-247" baseline="-23809" dirty="0">
                <a:latin typeface="Times New Roman"/>
                <a:cs typeface="Times New Roman"/>
              </a:rPr>
              <a:t> </a:t>
            </a:r>
            <a:r>
              <a:rPr sz="1750" spc="-50" dirty="0">
                <a:latin typeface="Times New Roman"/>
                <a:cs typeface="Times New Roman"/>
              </a:rPr>
              <a:t>,</a:t>
            </a:r>
            <a:endParaRPr sz="1750">
              <a:latin typeface="Times New Roman"/>
              <a:cs typeface="Times New Roman"/>
            </a:endParaRPr>
          </a:p>
          <a:p>
            <a:pPr marL="41275">
              <a:spcBef>
                <a:spcPts val="560"/>
              </a:spcBef>
            </a:pPr>
            <a:r>
              <a:rPr sz="1750" spc="85" dirty="0">
                <a:latin typeface="Cambria"/>
                <a:cs typeface="Cambria"/>
              </a:rPr>
              <a:t>caso</a:t>
            </a:r>
            <a:r>
              <a:rPr sz="1750" spc="-15" dirty="0">
                <a:latin typeface="Cambria"/>
                <a:cs typeface="Cambria"/>
              </a:rPr>
              <a:t> </a:t>
            </a:r>
            <a:r>
              <a:rPr sz="1750" spc="65" dirty="0">
                <a:latin typeface="Cambria"/>
                <a:cs typeface="Cambria"/>
              </a:rPr>
              <a:t>contrário.</a:t>
            </a:r>
            <a:endParaRPr sz="1750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957728" y="4338728"/>
            <a:ext cx="85725" cy="85725"/>
            <a:chOff x="2433727" y="4338727"/>
            <a:chExt cx="85725" cy="85725"/>
          </a:xfrm>
        </p:grpSpPr>
        <p:sp>
          <p:nvSpPr>
            <p:cNvPr id="25" name="object 25"/>
            <p:cNvSpPr/>
            <p:nvPr/>
          </p:nvSpPr>
          <p:spPr>
            <a:xfrm>
              <a:off x="2438399" y="43434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574" y="3095"/>
                  </a:lnTo>
                  <a:lnTo>
                    <a:pt x="11430" y="11429"/>
                  </a:lnTo>
                  <a:lnTo>
                    <a:pt x="3095" y="23574"/>
                  </a:lnTo>
                  <a:lnTo>
                    <a:pt x="0" y="38100"/>
                  </a:lnTo>
                  <a:lnTo>
                    <a:pt x="3095" y="52625"/>
                  </a:lnTo>
                  <a:lnTo>
                    <a:pt x="11429" y="64769"/>
                  </a:lnTo>
                  <a:lnTo>
                    <a:pt x="23574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69" y="64770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574"/>
                  </a:lnTo>
                  <a:lnTo>
                    <a:pt x="64770" y="11430"/>
                  </a:lnTo>
                  <a:lnTo>
                    <a:pt x="52625" y="309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438399" y="43434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574" y="73104"/>
                  </a:lnTo>
                  <a:lnTo>
                    <a:pt x="11429" y="64769"/>
                  </a:lnTo>
                  <a:lnTo>
                    <a:pt x="3095" y="52625"/>
                  </a:lnTo>
                  <a:lnTo>
                    <a:pt x="0" y="38100"/>
                  </a:lnTo>
                  <a:lnTo>
                    <a:pt x="3095" y="23574"/>
                  </a:lnTo>
                  <a:lnTo>
                    <a:pt x="11430" y="11429"/>
                  </a:lnTo>
                  <a:lnTo>
                    <a:pt x="23574" y="3095"/>
                  </a:lnTo>
                  <a:lnTo>
                    <a:pt x="38100" y="0"/>
                  </a:lnTo>
                  <a:lnTo>
                    <a:pt x="52625" y="3095"/>
                  </a:lnTo>
                  <a:lnTo>
                    <a:pt x="64770" y="11430"/>
                  </a:lnTo>
                  <a:lnTo>
                    <a:pt x="73104" y="23574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69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5253128" y="5329328"/>
            <a:ext cx="85725" cy="85725"/>
            <a:chOff x="3729127" y="5329327"/>
            <a:chExt cx="85725" cy="85725"/>
          </a:xfrm>
        </p:grpSpPr>
        <p:sp>
          <p:nvSpPr>
            <p:cNvPr id="28" name="object 28"/>
            <p:cNvSpPr/>
            <p:nvPr/>
          </p:nvSpPr>
          <p:spPr>
            <a:xfrm>
              <a:off x="3733800" y="5334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038" y="2917"/>
                  </a:lnTo>
                  <a:lnTo>
                    <a:pt x="10953" y="10953"/>
                  </a:lnTo>
                  <a:lnTo>
                    <a:pt x="2917" y="23038"/>
                  </a:lnTo>
                  <a:lnTo>
                    <a:pt x="0" y="38100"/>
                  </a:lnTo>
                  <a:lnTo>
                    <a:pt x="2917" y="52625"/>
                  </a:lnTo>
                  <a:lnTo>
                    <a:pt x="10953" y="64769"/>
                  </a:lnTo>
                  <a:lnTo>
                    <a:pt x="23038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70" y="64769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038"/>
                  </a:lnTo>
                  <a:lnTo>
                    <a:pt x="64770" y="10953"/>
                  </a:lnTo>
                  <a:lnTo>
                    <a:pt x="52625" y="291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733800" y="5334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038" y="73104"/>
                  </a:lnTo>
                  <a:lnTo>
                    <a:pt x="10953" y="64769"/>
                  </a:lnTo>
                  <a:lnTo>
                    <a:pt x="2917" y="52625"/>
                  </a:lnTo>
                  <a:lnTo>
                    <a:pt x="0" y="38100"/>
                  </a:lnTo>
                  <a:lnTo>
                    <a:pt x="2917" y="23038"/>
                  </a:lnTo>
                  <a:lnTo>
                    <a:pt x="10953" y="10953"/>
                  </a:lnTo>
                  <a:lnTo>
                    <a:pt x="23038" y="2917"/>
                  </a:lnTo>
                  <a:lnTo>
                    <a:pt x="38100" y="0"/>
                  </a:lnTo>
                  <a:lnTo>
                    <a:pt x="52625" y="2917"/>
                  </a:lnTo>
                  <a:lnTo>
                    <a:pt x="64770" y="10953"/>
                  </a:lnTo>
                  <a:lnTo>
                    <a:pt x="73104" y="23038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70" y="64769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7158128" y="5024528"/>
            <a:ext cx="85725" cy="85725"/>
            <a:chOff x="5634127" y="5024527"/>
            <a:chExt cx="85725" cy="85725"/>
          </a:xfrm>
        </p:grpSpPr>
        <p:sp>
          <p:nvSpPr>
            <p:cNvPr id="31" name="object 31"/>
            <p:cNvSpPr/>
            <p:nvPr/>
          </p:nvSpPr>
          <p:spPr>
            <a:xfrm>
              <a:off x="5638800" y="50292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574" y="3095"/>
                  </a:lnTo>
                  <a:lnTo>
                    <a:pt x="11429" y="11429"/>
                  </a:lnTo>
                  <a:lnTo>
                    <a:pt x="3095" y="23574"/>
                  </a:lnTo>
                  <a:lnTo>
                    <a:pt x="0" y="38100"/>
                  </a:lnTo>
                  <a:lnTo>
                    <a:pt x="3095" y="52625"/>
                  </a:lnTo>
                  <a:lnTo>
                    <a:pt x="11429" y="64769"/>
                  </a:lnTo>
                  <a:lnTo>
                    <a:pt x="23574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70" y="64770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574"/>
                  </a:lnTo>
                  <a:lnTo>
                    <a:pt x="64770" y="11430"/>
                  </a:lnTo>
                  <a:lnTo>
                    <a:pt x="52625" y="309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638800" y="50292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574" y="73104"/>
                  </a:lnTo>
                  <a:lnTo>
                    <a:pt x="11429" y="64769"/>
                  </a:lnTo>
                  <a:lnTo>
                    <a:pt x="3095" y="52625"/>
                  </a:lnTo>
                  <a:lnTo>
                    <a:pt x="0" y="38100"/>
                  </a:lnTo>
                  <a:lnTo>
                    <a:pt x="3095" y="23574"/>
                  </a:lnTo>
                  <a:lnTo>
                    <a:pt x="11429" y="11429"/>
                  </a:lnTo>
                  <a:lnTo>
                    <a:pt x="23574" y="3095"/>
                  </a:lnTo>
                  <a:lnTo>
                    <a:pt x="38100" y="0"/>
                  </a:lnTo>
                  <a:lnTo>
                    <a:pt x="52625" y="3095"/>
                  </a:lnTo>
                  <a:lnTo>
                    <a:pt x="64770" y="11430"/>
                  </a:lnTo>
                  <a:lnTo>
                    <a:pt x="73104" y="23574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70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8758328" y="3348128"/>
            <a:ext cx="85725" cy="85725"/>
            <a:chOff x="7234327" y="3348127"/>
            <a:chExt cx="85725" cy="85725"/>
          </a:xfrm>
        </p:grpSpPr>
        <p:sp>
          <p:nvSpPr>
            <p:cNvPr id="34" name="object 34"/>
            <p:cNvSpPr/>
            <p:nvPr/>
          </p:nvSpPr>
          <p:spPr>
            <a:xfrm>
              <a:off x="7238999" y="33528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574" y="3095"/>
                  </a:lnTo>
                  <a:lnTo>
                    <a:pt x="11429" y="11429"/>
                  </a:lnTo>
                  <a:lnTo>
                    <a:pt x="3095" y="23574"/>
                  </a:lnTo>
                  <a:lnTo>
                    <a:pt x="0" y="38100"/>
                  </a:lnTo>
                  <a:lnTo>
                    <a:pt x="3095" y="52625"/>
                  </a:lnTo>
                  <a:lnTo>
                    <a:pt x="11430" y="64770"/>
                  </a:lnTo>
                  <a:lnTo>
                    <a:pt x="23574" y="73104"/>
                  </a:lnTo>
                  <a:lnTo>
                    <a:pt x="38100" y="76200"/>
                  </a:lnTo>
                  <a:lnTo>
                    <a:pt x="52625" y="73104"/>
                  </a:lnTo>
                  <a:lnTo>
                    <a:pt x="64770" y="64770"/>
                  </a:lnTo>
                  <a:lnTo>
                    <a:pt x="73104" y="52625"/>
                  </a:lnTo>
                  <a:lnTo>
                    <a:pt x="76200" y="38100"/>
                  </a:lnTo>
                  <a:lnTo>
                    <a:pt x="73104" y="23574"/>
                  </a:lnTo>
                  <a:lnTo>
                    <a:pt x="64769" y="11429"/>
                  </a:lnTo>
                  <a:lnTo>
                    <a:pt x="52625" y="309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238999" y="33528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23574" y="73104"/>
                  </a:lnTo>
                  <a:lnTo>
                    <a:pt x="11430" y="64770"/>
                  </a:lnTo>
                  <a:lnTo>
                    <a:pt x="3095" y="52625"/>
                  </a:lnTo>
                  <a:lnTo>
                    <a:pt x="0" y="38100"/>
                  </a:lnTo>
                  <a:lnTo>
                    <a:pt x="3095" y="23574"/>
                  </a:lnTo>
                  <a:lnTo>
                    <a:pt x="11429" y="11429"/>
                  </a:lnTo>
                  <a:lnTo>
                    <a:pt x="23574" y="3095"/>
                  </a:lnTo>
                  <a:lnTo>
                    <a:pt x="38100" y="0"/>
                  </a:lnTo>
                  <a:lnTo>
                    <a:pt x="52625" y="3095"/>
                  </a:lnTo>
                  <a:lnTo>
                    <a:pt x="64769" y="11429"/>
                  </a:lnTo>
                  <a:lnTo>
                    <a:pt x="73104" y="23574"/>
                  </a:lnTo>
                  <a:lnTo>
                    <a:pt x="76200" y="38100"/>
                  </a:lnTo>
                  <a:lnTo>
                    <a:pt x="73104" y="52625"/>
                  </a:lnTo>
                  <a:lnTo>
                    <a:pt x="64770" y="64770"/>
                  </a:lnTo>
                  <a:lnTo>
                    <a:pt x="52625" y="73104"/>
                  </a:lnTo>
                  <a:lnTo>
                    <a:pt x="38100" y="76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487421" y="4377690"/>
            <a:ext cx="2724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</a:t>
            </a:r>
            <a:r>
              <a:rPr sz="1725" i="1" spc="-37" baseline="-24154" dirty="0">
                <a:latin typeface="Cambria"/>
                <a:cs typeface="Cambria"/>
              </a:rPr>
              <a:t>i</a:t>
            </a:r>
            <a:endParaRPr sz="1725" baseline="-24154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19040" y="5584190"/>
            <a:ext cx="436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0" baseline="13888" dirty="0">
                <a:latin typeface="Palatino Linotype"/>
                <a:cs typeface="Palatino Linotype"/>
              </a:rPr>
              <a:t>p</a:t>
            </a:r>
            <a:r>
              <a:rPr sz="1150" i="1" spc="-20" dirty="0">
                <a:latin typeface="Cambria"/>
                <a:cs typeface="Cambria"/>
              </a:rPr>
              <a:t>i+</a:t>
            </a:r>
            <a:r>
              <a:rPr sz="1150" spc="-20" dirty="0">
                <a:latin typeface="Cambria"/>
                <a:cs typeface="Cambria"/>
              </a:rPr>
              <a:t>1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000241" y="5279390"/>
            <a:ext cx="43560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0" baseline="13888" dirty="0">
                <a:latin typeface="Palatino Linotype"/>
                <a:cs typeface="Palatino Linotype"/>
              </a:rPr>
              <a:t>p</a:t>
            </a:r>
            <a:r>
              <a:rPr sz="1150" i="1" spc="-20" dirty="0">
                <a:latin typeface="Cambria"/>
                <a:cs typeface="Cambria"/>
              </a:rPr>
              <a:t>i+</a:t>
            </a:r>
            <a:r>
              <a:rPr sz="1150" spc="-20" dirty="0">
                <a:latin typeface="Cambria"/>
                <a:cs typeface="Cambria"/>
              </a:rPr>
              <a:t>2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00441" y="3679190"/>
            <a:ext cx="43560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000" b="1" spc="-30" baseline="13888" dirty="0">
                <a:latin typeface="Palatino Linotype"/>
                <a:cs typeface="Palatino Linotype"/>
              </a:rPr>
              <a:t>p</a:t>
            </a:r>
            <a:r>
              <a:rPr sz="1150" i="1" spc="-20" dirty="0">
                <a:latin typeface="Cambria"/>
                <a:cs typeface="Cambria"/>
              </a:rPr>
              <a:t>i+</a:t>
            </a:r>
            <a:r>
              <a:rPr sz="1150" spc="-20" dirty="0">
                <a:latin typeface="Cambria"/>
                <a:cs typeface="Cambria"/>
              </a:rPr>
              <a:t>3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860029" y="1379219"/>
            <a:ext cx="128270" cy="18466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100" i="1" spc="-50" dirty="0">
                <a:latin typeface="Times New Roman"/>
                <a:cs typeface="Times New Roman"/>
              </a:rPr>
              <a:t>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077709" y="1355836"/>
            <a:ext cx="1878330" cy="69977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8100">
              <a:spcBef>
                <a:spcPts val="495"/>
              </a:spcBef>
              <a:tabLst>
                <a:tab pos="1015365" algn="l"/>
              </a:tabLst>
            </a:pPr>
            <a:r>
              <a:rPr sz="1900" b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u</a:t>
            </a:r>
            <a:r>
              <a:rPr sz="1900" dirty="0">
                <a:latin typeface="Times New Roman"/>
                <a:cs typeface="Times New Roman"/>
              </a:rPr>
              <a:t>)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415" dirty="0">
                <a:latin typeface="Symbol"/>
                <a:cs typeface="Symbol"/>
              </a:rPr>
              <a:t></a:t>
            </a:r>
            <a:r>
              <a:rPr sz="1900" spc="445" dirty="0">
                <a:latin typeface="Times New Roman"/>
                <a:cs typeface="Times New Roman"/>
              </a:rPr>
              <a:t> </a:t>
            </a:r>
            <a:r>
              <a:rPr sz="4275" spc="-1297" baseline="-8771" dirty="0">
                <a:latin typeface="Symbol"/>
                <a:cs typeface="Symbol"/>
              </a:rPr>
              <a:t></a:t>
            </a:r>
            <a:r>
              <a:rPr sz="4275" baseline="-8771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B</a:t>
            </a:r>
            <a:r>
              <a:rPr sz="1650" i="1" baseline="-25252" dirty="0">
                <a:latin typeface="Times New Roman"/>
                <a:cs typeface="Times New Roman"/>
              </a:rPr>
              <a:t>i</a:t>
            </a:r>
            <a:r>
              <a:rPr sz="1650" baseline="-25252" dirty="0">
                <a:latin typeface="Times New Roman"/>
                <a:cs typeface="Times New Roman"/>
              </a:rPr>
              <a:t>,</a:t>
            </a:r>
            <a:r>
              <a:rPr sz="1650" i="1" baseline="-25252" dirty="0">
                <a:latin typeface="Times New Roman"/>
                <a:cs typeface="Times New Roman"/>
              </a:rPr>
              <a:t>d</a:t>
            </a:r>
            <a:r>
              <a:rPr sz="1650" i="1" spc="225" baseline="-25252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(</a:t>
            </a:r>
            <a:r>
              <a:rPr sz="1900" i="1" spc="-20" dirty="0">
                <a:latin typeface="Times New Roman"/>
                <a:cs typeface="Times New Roman"/>
              </a:rPr>
              <a:t>u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r>
              <a:rPr sz="1900" b="1" spc="-20" dirty="0">
                <a:latin typeface="Times New Roman"/>
                <a:cs typeface="Times New Roman"/>
              </a:rPr>
              <a:t>p</a:t>
            </a:r>
            <a:r>
              <a:rPr sz="1650" i="1" spc="-30" baseline="-25252" dirty="0">
                <a:latin typeface="Times New Roman"/>
                <a:cs typeface="Times New Roman"/>
              </a:rPr>
              <a:t>i</a:t>
            </a:r>
            <a:endParaRPr sz="1650" baseline="-25252">
              <a:latin typeface="Times New Roman"/>
              <a:cs typeface="Times New Roman"/>
            </a:endParaRPr>
          </a:p>
          <a:p>
            <a:pPr marR="181610" algn="ctr">
              <a:spcBef>
                <a:spcPts val="170"/>
              </a:spcBef>
            </a:pPr>
            <a:r>
              <a:rPr sz="1100" i="1" spc="-55" dirty="0">
                <a:latin typeface="Times New Roman"/>
                <a:cs typeface="Times New Roman"/>
              </a:rPr>
              <a:t>i</a:t>
            </a:r>
            <a:r>
              <a:rPr sz="1100" spc="-55" dirty="0">
                <a:latin typeface="Symbol"/>
                <a:cs typeface="Symbol"/>
              </a:rPr>
              <a:t>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914775" y="3305175"/>
            <a:ext cx="4965700" cy="2152650"/>
            <a:chOff x="2390775" y="3305175"/>
            <a:chExt cx="4965700" cy="2152650"/>
          </a:xfrm>
        </p:grpSpPr>
        <p:sp>
          <p:nvSpPr>
            <p:cNvPr id="43" name="object 43"/>
            <p:cNvSpPr/>
            <p:nvPr/>
          </p:nvSpPr>
          <p:spPr>
            <a:xfrm>
              <a:off x="2400299" y="3314700"/>
              <a:ext cx="4946650" cy="2133600"/>
            </a:xfrm>
            <a:custGeom>
              <a:avLst/>
              <a:gdLst/>
              <a:ahLst/>
              <a:cxnLst/>
              <a:rect l="l" t="t" r="r" b="b"/>
              <a:pathLst>
                <a:path w="4946650" h="2133600">
                  <a:moveTo>
                    <a:pt x="76200" y="1143000"/>
                  </a:moveTo>
                  <a:lnTo>
                    <a:pt x="46612" y="1136987"/>
                  </a:lnTo>
                  <a:lnTo>
                    <a:pt x="22383" y="1120616"/>
                  </a:lnTo>
                  <a:lnTo>
                    <a:pt x="6012" y="1096387"/>
                  </a:lnTo>
                  <a:lnTo>
                    <a:pt x="0" y="1066800"/>
                  </a:lnTo>
                  <a:lnTo>
                    <a:pt x="6012" y="1037212"/>
                  </a:lnTo>
                  <a:lnTo>
                    <a:pt x="22383" y="1012983"/>
                  </a:lnTo>
                  <a:lnTo>
                    <a:pt x="46612" y="996612"/>
                  </a:lnTo>
                  <a:lnTo>
                    <a:pt x="76200" y="990600"/>
                  </a:lnTo>
                  <a:lnTo>
                    <a:pt x="105787" y="996612"/>
                  </a:lnTo>
                  <a:lnTo>
                    <a:pt x="130016" y="1012983"/>
                  </a:lnTo>
                  <a:lnTo>
                    <a:pt x="146387" y="1037212"/>
                  </a:lnTo>
                  <a:lnTo>
                    <a:pt x="152400" y="1066800"/>
                  </a:lnTo>
                  <a:lnTo>
                    <a:pt x="146387" y="1096387"/>
                  </a:lnTo>
                  <a:lnTo>
                    <a:pt x="130016" y="1120616"/>
                  </a:lnTo>
                  <a:lnTo>
                    <a:pt x="105787" y="1136987"/>
                  </a:lnTo>
                  <a:lnTo>
                    <a:pt x="76200" y="1143000"/>
                  </a:lnTo>
                  <a:close/>
                </a:path>
                <a:path w="4946650" h="2133600">
                  <a:moveTo>
                    <a:pt x="1375410" y="2133600"/>
                  </a:moveTo>
                  <a:lnTo>
                    <a:pt x="1345822" y="2127587"/>
                  </a:lnTo>
                  <a:lnTo>
                    <a:pt x="1321593" y="2111216"/>
                  </a:lnTo>
                  <a:lnTo>
                    <a:pt x="1305222" y="2086987"/>
                  </a:lnTo>
                  <a:lnTo>
                    <a:pt x="1299210" y="2057400"/>
                  </a:lnTo>
                  <a:lnTo>
                    <a:pt x="1305222" y="2027078"/>
                  </a:lnTo>
                  <a:lnTo>
                    <a:pt x="1321593" y="2002472"/>
                  </a:lnTo>
                  <a:lnTo>
                    <a:pt x="1345822" y="1985962"/>
                  </a:lnTo>
                  <a:lnTo>
                    <a:pt x="1375410" y="1979930"/>
                  </a:lnTo>
                  <a:lnTo>
                    <a:pt x="1404997" y="1985962"/>
                  </a:lnTo>
                  <a:lnTo>
                    <a:pt x="1429226" y="2002472"/>
                  </a:lnTo>
                  <a:lnTo>
                    <a:pt x="1445597" y="2027078"/>
                  </a:lnTo>
                  <a:lnTo>
                    <a:pt x="1451610" y="2057400"/>
                  </a:lnTo>
                  <a:lnTo>
                    <a:pt x="1445597" y="2086987"/>
                  </a:lnTo>
                  <a:lnTo>
                    <a:pt x="1429226" y="2111216"/>
                  </a:lnTo>
                  <a:lnTo>
                    <a:pt x="1404997" y="2127587"/>
                  </a:lnTo>
                  <a:lnTo>
                    <a:pt x="1375410" y="2133600"/>
                  </a:lnTo>
                  <a:close/>
                </a:path>
                <a:path w="4946650" h="2133600">
                  <a:moveTo>
                    <a:pt x="3281679" y="1831339"/>
                  </a:moveTo>
                  <a:lnTo>
                    <a:pt x="3252092" y="1825327"/>
                  </a:lnTo>
                  <a:lnTo>
                    <a:pt x="3227863" y="1808956"/>
                  </a:lnTo>
                  <a:lnTo>
                    <a:pt x="3211492" y="1784727"/>
                  </a:lnTo>
                  <a:lnTo>
                    <a:pt x="3205479" y="1755139"/>
                  </a:lnTo>
                  <a:lnTo>
                    <a:pt x="3211492" y="1725552"/>
                  </a:lnTo>
                  <a:lnTo>
                    <a:pt x="3227863" y="1701323"/>
                  </a:lnTo>
                  <a:lnTo>
                    <a:pt x="3252092" y="1684952"/>
                  </a:lnTo>
                  <a:lnTo>
                    <a:pt x="3281679" y="1678939"/>
                  </a:lnTo>
                  <a:lnTo>
                    <a:pt x="3312001" y="1684952"/>
                  </a:lnTo>
                  <a:lnTo>
                    <a:pt x="3336607" y="1701323"/>
                  </a:lnTo>
                  <a:lnTo>
                    <a:pt x="3353117" y="1725552"/>
                  </a:lnTo>
                  <a:lnTo>
                    <a:pt x="3359150" y="1755139"/>
                  </a:lnTo>
                  <a:lnTo>
                    <a:pt x="3353117" y="1784727"/>
                  </a:lnTo>
                  <a:lnTo>
                    <a:pt x="3336607" y="1808956"/>
                  </a:lnTo>
                  <a:lnTo>
                    <a:pt x="3312001" y="1825327"/>
                  </a:lnTo>
                  <a:lnTo>
                    <a:pt x="3281679" y="1831339"/>
                  </a:lnTo>
                  <a:close/>
                </a:path>
                <a:path w="4946650" h="2133600">
                  <a:moveTo>
                    <a:pt x="4870450" y="152400"/>
                  </a:moveTo>
                  <a:lnTo>
                    <a:pt x="4840128" y="146387"/>
                  </a:lnTo>
                  <a:lnTo>
                    <a:pt x="4815522" y="130016"/>
                  </a:lnTo>
                  <a:lnTo>
                    <a:pt x="4799012" y="105787"/>
                  </a:lnTo>
                  <a:lnTo>
                    <a:pt x="4792980" y="76200"/>
                  </a:lnTo>
                  <a:lnTo>
                    <a:pt x="4799012" y="46612"/>
                  </a:lnTo>
                  <a:lnTo>
                    <a:pt x="4815522" y="22383"/>
                  </a:lnTo>
                  <a:lnTo>
                    <a:pt x="4840128" y="6012"/>
                  </a:lnTo>
                  <a:lnTo>
                    <a:pt x="4870450" y="0"/>
                  </a:lnTo>
                  <a:lnTo>
                    <a:pt x="4900037" y="6012"/>
                  </a:lnTo>
                  <a:lnTo>
                    <a:pt x="4924266" y="22383"/>
                  </a:lnTo>
                  <a:lnTo>
                    <a:pt x="4940637" y="46612"/>
                  </a:lnTo>
                  <a:lnTo>
                    <a:pt x="4946650" y="76200"/>
                  </a:lnTo>
                  <a:lnTo>
                    <a:pt x="4940637" y="105787"/>
                  </a:lnTo>
                  <a:lnTo>
                    <a:pt x="4924266" y="130016"/>
                  </a:lnTo>
                  <a:lnTo>
                    <a:pt x="4900037" y="146387"/>
                  </a:lnTo>
                  <a:lnTo>
                    <a:pt x="4870450" y="152400"/>
                  </a:lnTo>
                  <a:close/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65070" y="3379469"/>
              <a:ext cx="4820920" cy="2005330"/>
            </a:xfrm>
            <a:custGeom>
              <a:avLst/>
              <a:gdLst/>
              <a:ahLst/>
              <a:cxnLst/>
              <a:rect l="l" t="t" r="r" b="b"/>
              <a:pathLst>
                <a:path w="4820920" h="2005329">
                  <a:moveTo>
                    <a:pt x="4820920" y="12700"/>
                  </a:moveTo>
                  <a:lnTo>
                    <a:pt x="4813300" y="6350"/>
                  </a:lnTo>
                  <a:lnTo>
                    <a:pt x="4806950" y="0"/>
                  </a:lnTo>
                  <a:lnTo>
                    <a:pt x="3203765" y="1676679"/>
                  </a:lnTo>
                  <a:lnTo>
                    <a:pt x="1306652" y="1985492"/>
                  </a:lnTo>
                  <a:lnTo>
                    <a:pt x="12700" y="998220"/>
                  </a:lnTo>
                  <a:lnTo>
                    <a:pt x="0" y="1013460"/>
                  </a:lnTo>
                  <a:lnTo>
                    <a:pt x="1297940" y="2002790"/>
                  </a:lnTo>
                  <a:lnTo>
                    <a:pt x="1297940" y="2004060"/>
                  </a:lnTo>
                  <a:lnTo>
                    <a:pt x="1300480" y="2004060"/>
                  </a:lnTo>
                  <a:lnTo>
                    <a:pt x="1301750" y="2005330"/>
                  </a:lnTo>
                  <a:lnTo>
                    <a:pt x="1304290" y="2005330"/>
                  </a:lnTo>
                  <a:lnTo>
                    <a:pt x="3208020" y="1695450"/>
                  </a:lnTo>
                  <a:lnTo>
                    <a:pt x="3209290" y="1695450"/>
                  </a:lnTo>
                  <a:lnTo>
                    <a:pt x="3210560" y="1694180"/>
                  </a:lnTo>
                  <a:lnTo>
                    <a:pt x="3213100" y="1694180"/>
                  </a:lnTo>
                  <a:lnTo>
                    <a:pt x="3213100" y="1692910"/>
                  </a:lnTo>
                  <a:lnTo>
                    <a:pt x="4820920" y="127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041650" y="4174490"/>
              <a:ext cx="3446779" cy="1073150"/>
            </a:xfrm>
            <a:custGeom>
              <a:avLst/>
              <a:gdLst/>
              <a:ahLst/>
              <a:cxnLst/>
              <a:rect l="l" t="t" r="r" b="b"/>
              <a:pathLst>
                <a:path w="3446779" h="1073150">
                  <a:moveTo>
                    <a:pt x="3446780" y="13970"/>
                  </a:moveTo>
                  <a:lnTo>
                    <a:pt x="3440430" y="6350"/>
                  </a:lnTo>
                  <a:lnTo>
                    <a:pt x="3434080" y="0"/>
                  </a:lnTo>
                  <a:lnTo>
                    <a:pt x="3234690" y="212090"/>
                  </a:lnTo>
                  <a:lnTo>
                    <a:pt x="3023920" y="401408"/>
                  </a:lnTo>
                  <a:lnTo>
                    <a:pt x="2804274" y="569175"/>
                  </a:lnTo>
                  <a:lnTo>
                    <a:pt x="2804160" y="568960"/>
                  </a:lnTo>
                  <a:lnTo>
                    <a:pt x="2579370" y="713740"/>
                  </a:lnTo>
                  <a:lnTo>
                    <a:pt x="2579662" y="714260"/>
                  </a:lnTo>
                  <a:lnTo>
                    <a:pt x="2354580" y="834390"/>
                  </a:lnTo>
                  <a:lnTo>
                    <a:pt x="2133600" y="928370"/>
                  </a:lnTo>
                  <a:lnTo>
                    <a:pt x="2025650" y="965200"/>
                  </a:lnTo>
                  <a:lnTo>
                    <a:pt x="1920240" y="995680"/>
                  </a:lnTo>
                  <a:lnTo>
                    <a:pt x="1817370" y="1018540"/>
                  </a:lnTo>
                  <a:lnTo>
                    <a:pt x="1719580" y="1034846"/>
                  </a:lnTo>
                  <a:lnTo>
                    <a:pt x="1719580" y="1033780"/>
                  </a:lnTo>
                  <a:lnTo>
                    <a:pt x="1475740" y="1054100"/>
                  </a:lnTo>
                  <a:lnTo>
                    <a:pt x="1235710" y="1054100"/>
                  </a:lnTo>
                  <a:lnTo>
                    <a:pt x="999451" y="1033894"/>
                  </a:lnTo>
                  <a:lnTo>
                    <a:pt x="770826" y="992098"/>
                  </a:lnTo>
                  <a:lnTo>
                    <a:pt x="770890" y="991870"/>
                  </a:lnTo>
                  <a:lnTo>
                    <a:pt x="660400" y="963930"/>
                  </a:lnTo>
                  <a:lnTo>
                    <a:pt x="553720" y="929640"/>
                  </a:lnTo>
                  <a:lnTo>
                    <a:pt x="553504" y="930363"/>
                  </a:lnTo>
                  <a:lnTo>
                    <a:pt x="451942" y="891959"/>
                  </a:lnTo>
                  <a:lnTo>
                    <a:pt x="452120" y="891540"/>
                  </a:lnTo>
                  <a:lnTo>
                    <a:pt x="354063" y="847547"/>
                  </a:lnTo>
                  <a:lnTo>
                    <a:pt x="354330" y="847090"/>
                  </a:lnTo>
                  <a:lnTo>
                    <a:pt x="260350" y="797560"/>
                  </a:lnTo>
                  <a:lnTo>
                    <a:pt x="171450" y="742950"/>
                  </a:lnTo>
                  <a:lnTo>
                    <a:pt x="170929" y="743851"/>
                  </a:lnTo>
                  <a:lnTo>
                    <a:pt x="88900" y="683260"/>
                  </a:lnTo>
                  <a:lnTo>
                    <a:pt x="88811" y="683387"/>
                  </a:lnTo>
                  <a:lnTo>
                    <a:pt x="12700" y="618490"/>
                  </a:lnTo>
                  <a:lnTo>
                    <a:pt x="6350" y="626110"/>
                  </a:lnTo>
                  <a:lnTo>
                    <a:pt x="0" y="632460"/>
                  </a:lnTo>
                  <a:lnTo>
                    <a:pt x="77470" y="698500"/>
                  </a:lnTo>
                  <a:lnTo>
                    <a:pt x="161290" y="759460"/>
                  </a:lnTo>
                  <a:lnTo>
                    <a:pt x="250190" y="814070"/>
                  </a:lnTo>
                  <a:lnTo>
                    <a:pt x="251460" y="815340"/>
                  </a:lnTo>
                  <a:lnTo>
                    <a:pt x="345440" y="864870"/>
                  </a:lnTo>
                  <a:lnTo>
                    <a:pt x="444500" y="909320"/>
                  </a:lnTo>
                  <a:lnTo>
                    <a:pt x="547370" y="947420"/>
                  </a:lnTo>
                  <a:lnTo>
                    <a:pt x="548640" y="948690"/>
                  </a:lnTo>
                  <a:lnTo>
                    <a:pt x="655320" y="981710"/>
                  </a:lnTo>
                  <a:lnTo>
                    <a:pt x="765810" y="1010920"/>
                  </a:lnTo>
                  <a:lnTo>
                    <a:pt x="995680" y="1052830"/>
                  </a:lnTo>
                  <a:lnTo>
                    <a:pt x="996950" y="1042682"/>
                  </a:lnTo>
                  <a:lnTo>
                    <a:pt x="996950" y="1052830"/>
                  </a:lnTo>
                  <a:lnTo>
                    <a:pt x="1233170" y="1073150"/>
                  </a:lnTo>
                  <a:lnTo>
                    <a:pt x="1234440" y="1073150"/>
                  </a:lnTo>
                  <a:lnTo>
                    <a:pt x="1477010" y="1073150"/>
                  </a:lnTo>
                  <a:lnTo>
                    <a:pt x="1720850" y="1052830"/>
                  </a:lnTo>
                  <a:lnTo>
                    <a:pt x="1821180" y="1037590"/>
                  </a:lnTo>
                  <a:lnTo>
                    <a:pt x="1925320" y="1013460"/>
                  </a:lnTo>
                  <a:lnTo>
                    <a:pt x="2032000" y="982980"/>
                  </a:lnTo>
                  <a:lnTo>
                    <a:pt x="2139950" y="946150"/>
                  </a:lnTo>
                  <a:lnTo>
                    <a:pt x="2141220" y="946150"/>
                  </a:lnTo>
                  <a:lnTo>
                    <a:pt x="2363470" y="850900"/>
                  </a:lnTo>
                  <a:lnTo>
                    <a:pt x="2589530" y="730250"/>
                  </a:lnTo>
                  <a:lnTo>
                    <a:pt x="2814320" y="585470"/>
                  </a:lnTo>
                  <a:lnTo>
                    <a:pt x="2815590" y="585470"/>
                  </a:lnTo>
                  <a:lnTo>
                    <a:pt x="3035300" y="416560"/>
                  </a:lnTo>
                  <a:lnTo>
                    <a:pt x="3247390" y="226060"/>
                  </a:lnTo>
                  <a:lnTo>
                    <a:pt x="3248660" y="226060"/>
                  </a:lnTo>
                  <a:lnTo>
                    <a:pt x="3446780" y="1397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57600" y="4545330"/>
              <a:ext cx="1733550" cy="287020"/>
            </a:xfrm>
            <a:custGeom>
              <a:avLst/>
              <a:gdLst/>
              <a:ahLst/>
              <a:cxnLst/>
              <a:rect l="l" t="t" r="r" b="b"/>
              <a:pathLst>
                <a:path w="1733550" h="287020">
                  <a:moveTo>
                    <a:pt x="1733550" y="26670"/>
                  </a:moveTo>
                  <a:lnTo>
                    <a:pt x="1728470" y="13970"/>
                  </a:lnTo>
                  <a:lnTo>
                    <a:pt x="1724660" y="0"/>
                  </a:lnTo>
                  <a:lnTo>
                    <a:pt x="1466850" y="85090"/>
                  </a:lnTo>
                  <a:lnTo>
                    <a:pt x="1466951" y="85382"/>
                  </a:lnTo>
                  <a:lnTo>
                    <a:pt x="1186180" y="154940"/>
                  </a:lnTo>
                  <a:lnTo>
                    <a:pt x="889000" y="208280"/>
                  </a:lnTo>
                  <a:lnTo>
                    <a:pt x="586828" y="243687"/>
                  </a:lnTo>
                  <a:lnTo>
                    <a:pt x="586740" y="242570"/>
                  </a:lnTo>
                  <a:lnTo>
                    <a:pt x="287020" y="259080"/>
                  </a:lnTo>
                  <a:lnTo>
                    <a:pt x="0" y="254000"/>
                  </a:lnTo>
                  <a:lnTo>
                    <a:pt x="0" y="281940"/>
                  </a:lnTo>
                  <a:lnTo>
                    <a:pt x="287020" y="287020"/>
                  </a:lnTo>
                  <a:lnTo>
                    <a:pt x="288290" y="287020"/>
                  </a:lnTo>
                  <a:lnTo>
                    <a:pt x="588010" y="271780"/>
                  </a:lnTo>
                  <a:lnTo>
                    <a:pt x="589280" y="271780"/>
                  </a:lnTo>
                  <a:lnTo>
                    <a:pt x="892810" y="236220"/>
                  </a:lnTo>
                  <a:lnTo>
                    <a:pt x="894080" y="236220"/>
                  </a:lnTo>
                  <a:lnTo>
                    <a:pt x="1191260" y="182880"/>
                  </a:lnTo>
                  <a:lnTo>
                    <a:pt x="1192530" y="182880"/>
                  </a:lnTo>
                  <a:lnTo>
                    <a:pt x="1474470" y="113030"/>
                  </a:lnTo>
                  <a:lnTo>
                    <a:pt x="1475740" y="113030"/>
                  </a:lnTo>
                  <a:lnTo>
                    <a:pt x="1733550" y="2667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7" name="object 4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4991" y="4331970"/>
            <a:ext cx="415289" cy="240030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69127" y="5176927"/>
            <a:ext cx="85544" cy="8554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100">
              <a:spcBef>
                <a:spcPts val="100"/>
              </a:spcBef>
            </a:pPr>
            <a:r>
              <a:rPr dirty="0"/>
              <a:t>Propriedades</a:t>
            </a:r>
            <a:r>
              <a:rPr spc="-55" dirty="0"/>
              <a:t> </a:t>
            </a:r>
            <a:r>
              <a:rPr dirty="0"/>
              <a:t>das</a:t>
            </a:r>
            <a:r>
              <a:rPr spc="-55" dirty="0"/>
              <a:t> </a:t>
            </a:r>
            <a:r>
              <a:rPr spc="-20" dirty="0"/>
              <a:t>B-</a:t>
            </a:r>
            <a:r>
              <a:rPr spc="-10" dirty="0"/>
              <a:t>Splines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70" y="164337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70" y="299592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8670" y="3788410"/>
            <a:ext cx="141605" cy="98298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spcBef>
                <a:spcPts val="75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spcBef>
                <a:spcPts val="65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58670" y="522350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8200" y="1415240"/>
            <a:ext cx="7738745" cy="40830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" marR="30480">
              <a:lnSpc>
                <a:spcPct val="106900"/>
              </a:lnSpc>
              <a:spcBef>
                <a:spcPts val="315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Dados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n+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6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26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250" baseline="-24074" dirty="0">
                <a:solidFill>
                  <a:srgbClr val="002454"/>
                </a:solidFill>
                <a:latin typeface="Arial MT"/>
                <a:cs typeface="Arial MT"/>
              </a:rPr>
              <a:t>0</a:t>
            </a:r>
            <a:r>
              <a:rPr sz="2250" spc="-22" baseline="-24074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...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002454"/>
                </a:solidFill>
                <a:latin typeface="Arial"/>
                <a:cs typeface="Arial"/>
              </a:rPr>
              <a:t>p</a:t>
            </a:r>
            <a:r>
              <a:rPr sz="2250" i="1" baseline="-24074" dirty="0">
                <a:solidFill>
                  <a:srgbClr val="002454"/>
                </a:solidFill>
                <a:latin typeface="Arial"/>
                <a:cs typeface="Arial"/>
              </a:rPr>
              <a:t>n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)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composta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(</a:t>
            </a:r>
            <a:r>
              <a:rPr sz="2600" i="1" spc="-10" dirty="0">
                <a:solidFill>
                  <a:srgbClr val="002454"/>
                </a:solidFill>
                <a:latin typeface="Arial"/>
                <a:cs typeface="Arial"/>
              </a:rPr>
              <a:t>n-</a:t>
            </a:r>
            <a:r>
              <a:rPr sz="2600" i="1" spc="-20" dirty="0">
                <a:solidFill>
                  <a:srgbClr val="002454"/>
                </a:solidFill>
                <a:latin typeface="Arial"/>
                <a:cs typeface="Arial"/>
              </a:rPr>
              <a:t>d</a:t>
            </a:r>
            <a:r>
              <a:rPr sz="2600" spc="-20" dirty="0">
                <a:solidFill>
                  <a:srgbClr val="002454"/>
                </a:solidFill>
                <a:latin typeface="Arial MT"/>
                <a:cs typeface="Arial MT"/>
              </a:rPr>
              <a:t>+1)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curvas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Bézier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grau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d</a:t>
            </a:r>
            <a:r>
              <a:rPr sz="2600" i="1" spc="-5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emendadas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com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continuidade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i="1" spc="-10" dirty="0">
                <a:solidFill>
                  <a:srgbClr val="002454"/>
                </a:solidFill>
                <a:latin typeface="Arial"/>
                <a:cs typeface="Arial"/>
              </a:rPr>
              <a:t>d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-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nos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n+d+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nós</a:t>
            </a:r>
            <a:r>
              <a:rPr sz="26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250" baseline="-24074" dirty="0">
                <a:solidFill>
                  <a:srgbClr val="002454"/>
                </a:solidFill>
                <a:latin typeface="Arial MT"/>
                <a:cs typeface="Arial MT"/>
              </a:rPr>
              <a:t>0</a:t>
            </a:r>
            <a:r>
              <a:rPr sz="2250" spc="397" baseline="-24074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,</a:t>
            </a:r>
            <a:r>
              <a:rPr sz="2600" i="1" spc="-3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250" baseline="-24074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250" spc="405" baseline="-24074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,</a:t>
            </a:r>
            <a:r>
              <a:rPr sz="2600" i="1" spc="-3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...</a:t>
            </a:r>
            <a:r>
              <a:rPr sz="2600" i="1" spc="-3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,</a:t>
            </a:r>
            <a:r>
              <a:rPr sz="2600" i="1" spc="-3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600" i="1" spc="-10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250" i="1" spc="-15" baseline="-24074" dirty="0">
                <a:solidFill>
                  <a:srgbClr val="002454"/>
                </a:solidFill>
                <a:latin typeface="Arial"/>
                <a:cs typeface="Arial"/>
              </a:rPr>
              <a:t>n+d+</a:t>
            </a:r>
            <a:r>
              <a:rPr sz="2250" spc="-15" baseline="-24074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endParaRPr sz="2250" baseline="-24074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8100" marR="375920">
              <a:spcBef>
                <a:spcPts val="108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Cada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é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afetado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d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+1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de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controle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8100">
              <a:spcBef>
                <a:spcPts val="64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Cada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controle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afeta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i="1" dirty="0">
                <a:solidFill>
                  <a:srgbClr val="002454"/>
                </a:solidFill>
                <a:latin typeface="Arial"/>
                <a:cs typeface="Arial"/>
              </a:rPr>
              <a:t>d+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segmentos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8100" marR="735330">
              <a:spcBef>
                <a:spcPts val="65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restrita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ao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fecho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convexo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do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polígono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de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controle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8100">
              <a:spcBef>
                <a:spcPts val="64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Invariância</a:t>
            </a:r>
            <a:r>
              <a:rPr sz="26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sob</a:t>
            </a:r>
            <a:r>
              <a:rPr sz="26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transformações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20" dirty="0">
                <a:solidFill>
                  <a:srgbClr val="002454"/>
                </a:solidFill>
                <a:latin typeface="Arial MT"/>
                <a:cs typeface="Arial MT"/>
              </a:rPr>
              <a:t>afim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1830">
              <a:spcBef>
                <a:spcPts val="100"/>
              </a:spcBef>
            </a:pPr>
            <a:r>
              <a:rPr dirty="0"/>
              <a:t>Efeito</a:t>
            </a:r>
            <a:r>
              <a:rPr spc="-30" dirty="0"/>
              <a:t> </a:t>
            </a:r>
            <a:r>
              <a:rPr dirty="0"/>
              <a:t>dos</a:t>
            </a:r>
            <a:r>
              <a:rPr spc="-20" dirty="0"/>
              <a:t> </a:t>
            </a:r>
            <a:r>
              <a:rPr spc="-25" dirty="0"/>
              <a:t>Nós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90800" y="3337559"/>
            <a:ext cx="7240270" cy="2614930"/>
            <a:chOff x="1066800" y="3337559"/>
            <a:chExt cx="7240270" cy="26149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00" y="3337559"/>
              <a:ext cx="7198359" cy="26149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8709" y="3351529"/>
              <a:ext cx="7198359" cy="258699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058670" y="1577340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5800" y="1585043"/>
            <a:ext cx="7273925" cy="118237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45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intervalos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entre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nós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influenciam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importância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dos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controle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115" indent="-285115">
              <a:spcBef>
                <a:spcPts val="259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Exemplo:</a:t>
            </a:r>
            <a:r>
              <a:rPr sz="2400" spc="-9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B-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spline</a:t>
            </a:r>
            <a:r>
              <a:rPr sz="2400" spc="-9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Quádrica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5489">
              <a:spcBef>
                <a:spcPts val="100"/>
              </a:spcBef>
            </a:pPr>
            <a:r>
              <a:rPr dirty="0"/>
              <a:t>Inserindo</a:t>
            </a:r>
            <a:r>
              <a:rPr spc="-75" dirty="0"/>
              <a:t> </a:t>
            </a:r>
            <a:r>
              <a:rPr spc="-25" dirty="0"/>
              <a:t>Nós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70" y="161670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70" y="2490470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8200" y="1371600"/>
            <a:ext cx="7548880" cy="453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86360">
              <a:spcBef>
                <a:spcPts val="10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Podemos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ver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as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B-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splines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uniformes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geral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passam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pelos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controle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38100" marR="603250">
              <a:spcBef>
                <a:spcPts val="65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Entretanto,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6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repetirmos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nós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podemos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fazer</a:t>
            </a:r>
            <a:r>
              <a:rPr sz="26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a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se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aproximar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dos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600" spc="-1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controle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38150" marR="156210" indent="-285750">
              <a:spcBef>
                <a:spcPts val="590"/>
              </a:spcBef>
              <a:buFont typeface="Wingdings"/>
              <a:buChar char=""/>
              <a:tabLst>
                <a:tab pos="43815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fazer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interpolação</a:t>
            </a:r>
            <a:r>
              <a:rPr sz="24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do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primeiro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ponto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usando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4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B-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Spline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cúbica,</a:t>
            </a:r>
            <a:r>
              <a:rPr sz="24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fazemos</a:t>
            </a:r>
            <a:r>
              <a:rPr sz="24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100" baseline="-23809" dirty="0">
                <a:solidFill>
                  <a:srgbClr val="002454"/>
                </a:solidFill>
                <a:latin typeface="Arial MT"/>
                <a:cs typeface="Arial MT"/>
              </a:rPr>
              <a:t>0</a:t>
            </a:r>
            <a:r>
              <a:rPr sz="2100" spc="352" baseline="-23809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100" baseline="-23809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r>
              <a:rPr sz="2100" spc="352" baseline="-23809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100" baseline="-23809" dirty="0">
                <a:solidFill>
                  <a:srgbClr val="002454"/>
                </a:solidFill>
                <a:latin typeface="Arial MT"/>
                <a:cs typeface="Arial MT"/>
              </a:rPr>
              <a:t>2</a:t>
            </a:r>
            <a:r>
              <a:rPr sz="2100" spc="345" baseline="-23809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=</a:t>
            </a:r>
            <a:r>
              <a:rPr sz="24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spc="-25" dirty="0">
                <a:solidFill>
                  <a:srgbClr val="002454"/>
                </a:solidFill>
                <a:latin typeface="Arial"/>
                <a:cs typeface="Arial"/>
              </a:rPr>
              <a:t>u</a:t>
            </a:r>
            <a:r>
              <a:rPr sz="2100" spc="-37" baseline="-23809" dirty="0">
                <a:solidFill>
                  <a:srgbClr val="002454"/>
                </a:solidFill>
                <a:latin typeface="Arial MT"/>
                <a:cs typeface="Arial MT"/>
              </a:rPr>
              <a:t>3</a:t>
            </a:r>
            <a:endParaRPr sz="2100" baseline="-23809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38150" marR="30480" indent="-285750">
              <a:spcBef>
                <a:spcPts val="1000"/>
              </a:spcBef>
              <a:buFont typeface="Wingdings"/>
              <a:buChar char=""/>
              <a:tabLst>
                <a:tab pos="43815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fazer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B-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spline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cúbica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passando</a:t>
            </a:r>
            <a:r>
              <a:rPr sz="24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4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podemos</a:t>
            </a:r>
            <a:r>
              <a:rPr sz="24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usar</a:t>
            </a:r>
            <a:r>
              <a:rPr sz="24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4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vetor</a:t>
            </a:r>
            <a:r>
              <a:rPr sz="24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nós: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0,</a:t>
            </a:r>
            <a:r>
              <a:rPr sz="24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0,</a:t>
            </a:r>
            <a:r>
              <a:rPr sz="24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0,</a:t>
            </a:r>
            <a:r>
              <a:rPr sz="24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0,</a:t>
            </a:r>
            <a:r>
              <a:rPr sz="24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1,</a:t>
            </a:r>
            <a:r>
              <a:rPr sz="24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1,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38150"/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1,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1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38150" marR="48895" indent="-285750">
              <a:spcBef>
                <a:spcPts val="600"/>
              </a:spcBef>
              <a:buFont typeface="Wingdings"/>
              <a:buChar char=""/>
              <a:tabLst>
                <a:tab pos="43815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fato,</a:t>
            </a:r>
            <a:r>
              <a:rPr sz="24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com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este</a:t>
            </a:r>
            <a:r>
              <a:rPr sz="24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vetor</a:t>
            </a:r>
            <a:r>
              <a:rPr sz="24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nós,</a:t>
            </a:r>
            <a:r>
              <a:rPr sz="24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teremos</a:t>
            </a:r>
            <a:r>
              <a:rPr sz="24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4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Bézier cúbica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6080">
              <a:spcBef>
                <a:spcPts val="100"/>
              </a:spcBef>
            </a:pPr>
            <a:r>
              <a:rPr dirty="0"/>
              <a:t>Curvas</a:t>
            </a:r>
            <a:r>
              <a:rPr spc="-40" dirty="0"/>
              <a:t> </a:t>
            </a:r>
            <a:r>
              <a:rPr spc="-10" dirty="0"/>
              <a:t>Racionais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70" y="161670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01569" y="1551940"/>
            <a:ext cx="6028690" cy="94615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spcBef>
                <a:spcPts val="75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Funções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razões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115" indent="-285115">
              <a:spcBef>
                <a:spcPts val="600"/>
              </a:spcBef>
              <a:buFont typeface="Wingdings"/>
              <a:buChar char=""/>
              <a:tabLst>
                <a:tab pos="4121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Avaliados</a:t>
            </a:r>
            <a:r>
              <a:rPr sz="24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coordenadas</a:t>
            </a:r>
            <a:r>
              <a:rPr sz="24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homogêneas: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8670" y="422782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01570" y="3431540"/>
            <a:ext cx="7710805" cy="2851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0" marR="313055" indent="-285750">
              <a:spcBef>
                <a:spcPts val="100"/>
              </a:spcBef>
              <a:buFont typeface="Wingdings"/>
              <a:buChar char=""/>
              <a:tabLst>
                <a:tab pos="41275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NURBS</a:t>
            </a:r>
            <a:r>
              <a:rPr sz="2400" spc="-9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2454"/>
                </a:solidFill>
                <a:latin typeface="Arial MT"/>
                <a:cs typeface="Arial MT"/>
              </a:rPr>
              <a:t>(Non-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Uniform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Rational</a:t>
            </a:r>
            <a:r>
              <a:rPr sz="24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2454"/>
                </a:solidFill>
                <a:latin typeface="Arial MT"/>
                <a:cs typeface="Arial MT"/>
              </a:rPr>
              <a:t>B-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Splines):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x(t)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,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spc="-10" dirty="0">
                <a:solidFill>
                  <a:srgbClr val="002454"/>
                </a:solidFill>
                <a:latin typeface="Arial"/>
                <a:cs typeface="Arial"/>
              </a:rPr>
              <a:t>y(t)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, 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z(t)</a:t>
            </a:r>
            <a:r>
              <a:rPr sz="2400" i="1" spc="-25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e</a:t>
            </a:r>
            <a:r>
              <a:rPr sz="24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2454"/>
                </a:solidFill>
                <a:latin typeface="Arial"/>
                <a:cs typeface="Arial"/>
              </a:rPr>
              <a:t>w(t)</a:t>
            </a:r>
            <a:r>
              <a:rPr sz="2400" i="1" spc="-40" dirty="0">
                <a:solidFill>
                  <a:srgbClr val="00245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24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B-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splines</a:t>
            </a:r>
            <a:r>
              <a:rPr sz="24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24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uniformes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12700">
              <a:spcBef>
                <a:spcPts val="650"/>
              </a:spcBef>
            </a:pP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Vantagens: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750" marR="193040" indent="-285750">
              <a:spcBef>
                <a:spcPts val="600"/>
              </a:spcBef>
              <a:buFont typeface="Wingdings"/>
              <a:buChar char=""/>
              <a:tabLst>
                <a:tab pos="41275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Invariantes</a:t>
            </a:r>
            <a:r>
              <a:rPr sz="2400" spc="-1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sob</a:t>
            </a:r>
            <a:r>
              <a:rPr sz="2400" spc="-1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transformações</a:t>
            </a:r>
            <a:r>
              <a:rPr sz="2400" spc="-1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perspectivas</a:t>
            </a:r>
            <a:r>
              <a:rPr sz="2400" spc="-114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e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portanto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podem</a:t>
            </a:r>
            <a:r>
              <a:rPr sz="2400" spc="-8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ser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avaliadas</a:t>
            </a:r>
            <a:r>
              <a:rPr sz="24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no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espaço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da</a:t>
            </a:r>
            <a:r>
              <a:rPr sz="24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imagem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12750" marR="5080" indent="-285750">
              <a:spcBef>
                <a:spcPts val="600"/>
              </a:spcBef>
              <a:buFont typeface="Wingdings"/>
              <a:buChar char=""/>
              <a:tabLst>
                <a:tab pos="412750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Podem</a:t>
            </a:r>
            <a:r>
              <a:rPr sz="24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representar</a:t>
            </a:r>
            <a:r>
              <a:rPr sz="2400" spc="-9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perfeitamente</a:t>
            </a:r>
            <a:r>
              <a:rPr sz="2400" spc="-9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seções</a:t>
            </a:r>
            <a:r>
              <a:rPr sz="2400" spc="-9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cônicas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2454"/>
                </a:solidFill>
                <a:latin typeface="Arial MT"/>
                <a:cs typeface="Arial MT"/>
              </a:rPr>
              <a:t>tais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como</a:t>
            </a:r>
            <a:r>
              <a:rPr sz="2400" spc="-10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círculos,</a:t>
            </a:r>
            <a:r>
              <a:rPr sz="2400" spc="-9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elipses,</a:t>
            </a:r>
            <a:r>
              <a:rPr sz="2400" spc="-10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2454"/>
                </a:solidFill>
                <a:latin typeface="Arial MT"/>
                <a:cs typeface="Arial MT"/>
              </a:rPr>
              <a:t>etc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43979" y="2928620"/>
            <a:ext cx="515620" cy="0"/>
          </a:xfrm>
          <a:custGeom>
            <a:avLst/>
            <a:gdLst/>
            <a:ahLst/>
            <a:cxnLst/>
            <a:rect l="l" t="t" r="r" b="b"/>
            <a:pathLst>
              <a:path w="515620">
                <a:moveTo>
                  <a:pt x="0" y="0"/>
                </a:moveTo>
                <a:lnTo>
                  <a:pt x="515620" y="0"/>
                </a:lnTo>
              </a:path>
            </a:pathLst>
          </a:custGeom>
          <a:ln w="11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05650" y="2928620"/>
            <a:ext cx="515620" cy="0"/>
          </a:xfrm>
          <a:custGeom>
            <a:avLst/>
            <a:gdLst/>
            <a:ahLst/>
            <a:cxnLst/>
            <a:rect l="l" t="t" r="r" b="b"/>
            <a:pathLst>
              <a:path w="515620">
                <a:moveTo>
                  <a:pt x="0" y="0"/>
                </a:moveTo>
                <a:lnTo>
                  <a:pt x="515620" y="0"/>
                </a:lnTo>
              </a:path>
            </a:pathLst>
          </a:custGeom>
          <a:ln w="11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67320" y="2928620"/>
            <a:ext cx="516890" cy="0"/>
          </a:xfrm>
          <a:custGeom>
            <a:avLst/>
            <a:gdLst/>
            <a:ahLst/>
            <a:cxnLst/>
            <a:rect l="l" t="t" r="r" b="b"/>
            <a:pathLst>
              <a:path w="516890">
                <a:moveTo>
                  <a:pt x="0" y="0"/>
                </a:moveTo>
                <a:lnTo>
                  <a:pt x="516889" y="0"/>
                </a:lnTo>
              </a:path>
            </a:pathLst>
          </a:custGeom>
          <a:ln w="11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310630" y="2985769"/>
            <a:ext cx="206565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1986914" algn="l"/>
              </a:tabLst>
            </a:pPr>
            <a:r>
              <a:rPr sz="2200" spc="-390" dirty="0">
                <a:latin typeface="Symbol"/>
                <a:cs typeface="Symbol"/>
              </a:rPr>
              <a:t>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390" dirty="0">
                <a:latin typeface="Symbol"/>
                <a:cs typeface="Symbol"/>
              </a:rPr>
              <a:t>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85230" y="2922269"/>
            <a:ext cx="211645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  <a:tabLst>
                <a:tab pos="843915" algn="l"/>
                <a:tab pos="1505585" algn="l"/>
              </a:tabLst>
            </a:pPr>
            <a:r>
              <a:rPr sz="3300" spc="-509" baseline="25252" dirty="0">
                <a:latin typeface="Symbol"/>
                <a:cs typeface="Symbol"/>
              </a:rPr>
              <a:t></a:t>
            </a:r>
            <a:r>
              <a:rPr sz="3300" spc="97" baseline="25252" dirty="0">
                <a:latin typeface="Times New Roman"/>
                <a:cs typeface="Times New Roman"/>
              </a:rPr>
              <a:t> </a:t>
            </a:r>
            <a:r>
              <a:rPr sz="2200" i="1" spc="25" dirty="0">
                <a:latin typeface="Times New Roman"/>
                <a:cs typeface="Times New Roman"/>
              </a:rPr>
              <a:t>w</a:t>
            </a:r>
            <a:r>
              <a:rPr sz="2200" spc="25" dirty="0">
                <a:latin typeface="Times New Roman"/>
                <a:cs typeface="Times New Roman"/>
              </a:rPr>
              <a:t>(</a:t>
            </a:r>
            <a:r>
              <a:rPr sz="2200" i="1" spc="25" dirty="0">
                <a:latin typeface="Times New Roman"/>
                <a:cs typeface="Times New Roman"/>
              </a:rPr>
              <a:t>t</a:t>
            </a:r>
            <a:r>
              <a:rPr sz="2200" spc="25" dirty="0">
                <a:latin typeface="Times New Roman"/>
                <a:cs typeface="Times New Roman"/>
              </a:rPr>
              <a:t>)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i="1" spc="25" dirty="0">
                <a:latin typeface="Times New Roman"/>
                <a:cs typeface="Times New Roman"/>
              </a:rPr>
              <a:t>w</a:t>
            </a:r>
            <a:r>
              <a:rPr sz="2200" spc="25" dirty="0">
                <a:latin typeface="Times New Roman"/>
                <a:cs typeface="Times New Roman"/>
              </a:rPr>
              <a:t>(</a:t>
            </a:r>
            <a:r>
              <a:rPr sz="2200" i="1" spc="25" dirty="0">
                <a:latin typeface="Times New Roman"/>
                <a:cs typeface="Times New Roman"/>
              </a:rPr>
              <a:t>t</a:t>
            </a:r>
            <a:r>
              <a:rPr sz="2200" spc="25" dirty="0">
                <a:latin typeface="Times New Roman"/>
                <a:cs typeface="Times New Roman"/>
              </a:rPr>
              <a:t>)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i="1" spc="45" dirty="0">
                <a:latin typeface="Times New Roman"/>
                <a:cs typeface="Times New Roman"/>
              </a:rPr>
              <a:t>w</a:t>
            </a:r>
            <a:r>
              <a:rPr sz="2200" spc="45" dirty="0">
                <a:latin typeface="Times New Roman"/>
                <a:cs typeface="Times New Roman"/>
              </a:rPr>
              <a:t>(</a:t>
            </a:r>
            <a:r>
              <a:rPr sz="2200" i="1" spc="45" dirty="0">
                <a:latin typeface="Times New Roman"/>
                <a:cs typeface="Times New Roman"/>
              </a:rPr>
              <a:t>t</a:t>
            </a:r>
            <a:r>
              <a:rPr sz="2200" spc="45" dirty="0">
                <a:latin typeface="Times New Roman"/>
                <a:cs typeface="Times New Roman"/>
              </a:rPr>
              <a:t>)</a:t>
            </a:r>
            <a:r>
              <a:rPr sz="2200" spc="-330" dirty="0">
                <a:latin typeface="Times New Roman"/>
                <a:cs typeface="Times New Roman"/>
              </a:rPr>
              <a:t> </a:t>
            </a:r>
            <a:r>
              <a:rPr sz="3300" spc="-585" baseline="25252" dirty="0">
                <a:latin typeface="Symbol"/>
                <a:cs typeface="Symbol"/>
              </a:rPr>
              <a:t></a:t>
            </a:r>
            <a:endParaRPr sz="3300" baseline="25252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68701" y="2702560"/>
            <a:ext cx="483298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  <a:tabLst>
                <a:tab pos="2753995" algn="l"/>
              </a:tabLst>
            </a:pPr>
            <a:r>
              <a:rPr sz="2200" spc="75" dirty="0">
                <a:latin typeface="Times New Roman"/>
                <a:cs typeface="Times New Roman"/>
              </a:rPr>
              <a:t>[</a:t>
            </a:r>
            <a:r>
              <a:rPr sz="2200" i="1" spc="75" dirty="0">
                <a:latin typeface="Times New Roman"/>
                <a:cs typeface="Times New Roman"/>
              </a:rPr>
              <a:t>x</a:t>
            </a:r>
            <a:r>
              <a:rPr sz="2200" spc="75" dirty="0">
                <a:latin typeface="Times New Roman"/>
                <a:cs typeface="Times New Roman"/>
              </a:rPr>
              <a:t>(</a:t>
            </a:r>
            <a:r>
              <a:rPr sz="2200" i="1" spc="75" dirty="0">
                <a:latin typeface="Times New Roman"/>
                <a:cs typeface="Times New Roman"/>
              </a:rPr>
              <a:t>t</a:t>
            </a:r>
            <a:r>
              <a:rPr sz="2200" spc="75" dirty="0">
                <a:latin typeface="Times New Roman"/>
                <a:cs typeface="Times New Roman"/>
              </a:rPr>
              <a:t>),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i="1" spc="55" dirty="0">
                <a:latin typeface="Times New Roman"/>
                <a:cs typeface="Times New Roman"/>
              </a:rPr>
              <a:t>y</a:t>
            </a:r>
            <a:r>
              <a:rPr sz="2200" spc="55" dirty="0">
                <a:latin typeface="Times New Roman"/>
                <a:cs typeface="Times New Roman"/>
              </a:rPr>
              <a:t>(</a:t>
            </a:r>
            <a:r>
              <a:rPr sz="2200" i="1" spc="55" dirty="0">
                <a:latin typeface="Times New Roman"/>
                <a:cs typeface="Times New Roman"/>
              </a:rPr>
              <a:t>t</a:t>
            </a:r>
            <a:r>
              <a:rPr sz="2200" spc="55" dirty="0">
                <a:latin typeface="Times New Roman"/>
                <a:cs typeface="Times New Roman"/>
              </a:rPr>
              <a:t>),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i="1" spc="60" dirty="0">
                <a:latin typeface="Times New Roman"/>
                <a:cs typeface="Times New Roman"/>
              </a:rPr>
              <a:t>z</a:t>
            </a:r>
            <a:r>
              <a:rPr sz="2200" spc="60" dirty="0">
                <a:latin typeface="Times New Roman"/>
                <a:cs typeface="Times New Roman"/>
              </a:rPr>
              <a:t>(</a:t>
            </a:r>
            <a:r>
              <a:rPr sz="2200" i="1" spc="60" dirty="0">
                <a:latin typeface="Times New Roman"/>
                <a:cs typeface="Times New Roman"/>
              </a:rPr>
              <a:t>t</a:t>
            </a:r>
            <a:r>
              <a:rPr sz="2200" spc="60" dirty="0">
                <a:latin typeface="Times New Roman"/>
                <a:cs typeface="Times New Roman"/>
              </a:rPr>
              <a:t>),</a:t>
            </a:r>
            <a:r>
              <a:rPr sz="2200" spc="-21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w</a:t>
            </a:r>
            <a:r>
              <a:rPr sz="2200" dirty="0">
                <a:latin typeface="Times New Roman"/>
                <a:cs typeface="Times New Roman"/>
              </a:rPr>
              <a:t>(</a:t>
            </a:r>
            <a:r>
              <a:rPr sz="2200" i="1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)]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919" dirty="0">
                <a:latin typeface="Symbol"/>
                <a:cs typeface="Symbol"/>
              </a:rPr>
              <a:t>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3300" spc="-509" baseline="35353" dirty="0">
                <a:latin typeface="Symbol"/>
                <a:cs typeface="Symbol"/>
              </a:rPr>
              <a:t></a:t>
            </a:r>
            <a:r>
              <a:rPr sz="3300" spc="480" baseline="35353" dirty="0">
                <a:latin typeface="Times New Roman"/>
                <a:cs typeface="Times New Roman"/>
              </a:rPr>
              <a:t> </a:t>
            </a:r>
            <a:r>
              <a:rPr sz="3300" i="1" spc="97" baseline="35353" dirty="0">
                <a:latin typeface="Times New Roman"/>
                <a:cs typeface="Times New Roman"/>
              </a:rPr>
              <a:t>x</a:t>
            </a:r>
            <a:r>
              <a:rPr sz="3300" spc="97" baseline="35353" dirty="0">
                <a:latin typeface="Times New Roman"/>
                <a:cs typeface="Times New Roman"/>
              </a:rPr>
              <a:t>(</a:t>
            </a:r>
            <a:r>
              <a:rPr sz="3300" i="1" spc="97" baseline="35353" dirty="0">
                <a:latin typeface="Times New Roman"/>
                <a:cs typeface="Times New Roman"/>
              </a:rPr>
              <a:t>t</a:t>
            </a:r>
            <a:r>
              <a:rPr sz="3300" spc="97" baseline="35353" dirty="0">
                <a:latin typeface="Times New Roman"/>
                <a:cs typeface="Times New Roman"/>
              </a:rPr>
              <a:t>)</a:t>
            </a:r>
            <a:r>
              <a:rPr sz="3300" spc="44" baseline="35353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225" dirty="0">
                <a:latin typeface="Times New Roman"/>
                <a:cs typeface="Times New Roman"/>
              </a:rPr>
              <a:t> </a:t>
            </a:r>
            <a:r>
              <a:rPr sz="3300" i="1" spc="104" baseline="35353" dirty="0">
                <a:latin typeface="Times New Roman"/>
                <a:cs typeface="Times New Roman"/>
              </a:rPr>
              <a:t>y</a:t>
            </a:r>
            <a:r>
              <a:rPr sz="3300" spc="104" baseline="35353" dirty="0">
                <a:latin typeface="Times New Roman"/>
                <a:cs typeface="Times New Roman"/>
              </a:rPr>
              <a:t>(</a:t>
            </a:r>
            <a:r>
              <a:rPr sz="3300" i="1" spc="104" baseline="35353" dirty="0">
                <a:latin typeface="Times New Roman"/>
                <a:cs typeface="Times New Roman"/>
              </a:rPr>
              <a:t>t</a:t>
            </a:r>
            <a:r>
              <a:rPr sz="3300" spc="104" baseline="35353" dirty="0">
                <a:latin typeface="Times New Roman"/>
                <a:cs typeface="Times New Roman"/>
              </a:rPr>
              <a:t>)</a:t>
            </a:r>
            <a:r>
              <a:rPr sz="3300" spc="-60" baseline="35353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225" dirty="0">
                <a:latin typeface="Times New Roman"/>
                <a:cs typeface="Times New Roman"/>
              </a:rPr>
              <a:t> </a:t>
            </a:r>
            <a:r>
              <a:rPr sz="3300" i="1" spc="104" baseline="35353" dirty="0">
                <a:latin typeface="Times New Roman"/>
                <a:cs typeface="Times New Roman"/>
              </a:rPr>
              <a:t>z</a:t>
            </a:r>
            <a:r>
              <a:rPr sz="3300" spc="104" baseline="35353" dirty="0">
                <a:latin typeface="Times New Roman"/>
                <a:cs typeface="Times New Roman"/>
              </a:rPr>
              <a:t>(</a:t>
            </a:r>
            <a:r>
              <a:rPr sz="3300" i="1" spc="104" baseline="35353" dirty="0">
                <a:latin typeface="Times New Roman"/>
                <a:cs typeface="Times New Roman"/>
              </a:rPr>
              <a:t>t</a:t>
            </a:r>
            <a:r>
              <a:rPr sz="3300" spc="104" baseline="35353" dirty="0">
                <a:latin typeface="Times New Roman"/>
                <a:cs typeface="Times New Roman"/>
              </a:rPr>
              <a:t>)</a:t>
            </a:r>
            <a:r>
              <a:rPr sz="3300" spc="-142" baseline="35353" dirty="0">
                <a:latin typeface="Times New Roman"/>
                <a:cs typeface="Times New Roman"/>
              </a:rPr>
              <a:t> </a:t>
            </a:r>
            <a:r>
              <a:rPr sz="3300" spc="-585" baseline="35353" dirty="0">
                <a:latin typeface="Symbol"/>
                <a:cs typeface="Symbol"/>
              </a:rPr>
              <a:t></a:t>
            </a:r>
            <a:endParaRPr sz="3300" baseline="35353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2434">
              <a:spcBef>
                <a:spcPts val="100"/>
              </a:spcBef>
            </a:pPr>
            <a:r>
              <a:rPr dirty="0"/>
              <a:t>Parametrização</a:t>
            </a:r>
            <a:r>
              <a:rPr spc="-7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um</a:t>
            </a:r>
            <a:r>
              <a:rPr spc="-55" dirty="0"/>
              <a:t> </a:t>
            </a:r>
            <a:r>
              <a:rPr spc="-10" dirty="0"/>
              <a:t>Círculo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70" y="1617979"/>
            <a:ext cx="1238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01569" y="1634490"/>
            <a:ext cx="71716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r>
              <a:rPr sz="22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exemplo,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200" spc="-7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parametrização</a:t>
            </a:r>
            <a:r>
              <a:rPr sz="22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conhecida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do</a:t>
            </a:r>
            <a:r>
              <a:rPr sz="22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círculo</a:t>
            </a:r>
            <a:r>
              <a:rPr sz="22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002454"/>
                </a:solidFill>
                <a:latin typeface="Arial MT"/>
                <a:cs typeface="Arial MT"/>
              </a:rPr>
              <a:t>é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dada</a:t>
            </a:r>
            <a:r>
              <a:rPr sz="22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2454"/>
                </a:solidFill>
                <a:latin typeface="Arial MT"/>
                <a:cs typeface="Arial MT"/>
              </a:rPr>
              <a:t>por</a:t>
            </a:r>
            <a:endParaRPr sz="22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8670" y="3978909"/>
            <a:ext cx="1238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85509" y="2630170"/>
            <a:ext cx="626110" cy="0"/>
          </a:xfrm>
          <a:custGeom>
            <a:avLst/>
            <a:gdLst/>
            <a:ahLst/>
            <a:cxnLst/>
            <a:rect l="l" t="t" r="r" b="b"/>
            <a:pathLst>
              <a:path w="626110">
                <a:moveTo>
                  <a:pt x="0" y="0"/>
                </a:moveTo>
                <a:lnTo>
                  <a:pt x="626110" y="0"/>
                </a:lnTo>
              </a:path>
            </a:pathLst>
          </a:custGeom>
          <a:ln w="11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02020" y="3376929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>
                <a:moveTo>
                  <a:pt x="0" y="0"/>
                </a:moveTo>
                <a:lnTo>
                  <a:pt x="627379" y="0"/>
                </a:lnTo>
              </a:path>
            </a:pathLst>
          </a:custGeom>
          <a:ln w="11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952490" y="3373120"/>
            <a:ext cx="674370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2150" spc="-10" dirty="0">
                <a:latin typeface="Times New Roman"/>
                <a:cs typeface="Times New Roman"/>
              </a:rPr>
              <a:t>1</a:t>
            </a:r>
            <a:r>
              <a:rPr sz="2150" spc="-10" dirty="0">
                <a:latin typeface="Symbol"/>
                <a:cs typeface="Symbol"/>
              </a:rPr>
              <a:t></a:t>
            </a:r>
            <a:r>
              <a:rPr sz="2150" spc="-5" dirty="0">
                <a:latin typeface="Times New Roman"/>
                <a:cs typeface="Times New Roman"/>
              </a:rPr>
              <a:t> </a:t>
            </a:r>
            <a:r>
              <a:rPr sz="2150" i="1" dirty="0">
                <a:latin typeface="Times New Roman"/>
                <a:cs typeface="Times New Roman"/>
              </a:rPr>
              <a:t>u</a:t>
            </a:r>
            <a:r>
              <a:rPr sz="2150" i="1" spc="-340" dirty="0">
                <a:latin typeface="Times New Roman"/>
                <a:cs typeface="Times New Roman"/>
              </a:rPr>
              <a:t> </a:t>
            </a:r>
            <a:r>
              <a:rPr sz="1875" spc="-75" baseline="44444" dirty="0">
                <a:latin typeface="Times New Roman"/>
                <a:cs typeface="Times New Roman"/>
              </a:rPr>
              <a:t>2</a:t>
            </a:r>
            <a:endParaRPr sz="1875" baseline="44444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36209" y="3155949"/>
            <a:ext cx="648970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2150" i="1" spc="55" dirty="0">
                <a:latin typeface="Times New Roman"/>
                <a:cs typeface="Times New Roman"/>
              </a:rPr>
              <a:t>y</a:t>
            </a:r>
            <a:r>
              <a:rPr sz="2150" spc="55" dirty="0">
                <a:latin typeface="Times New Roman"/>
                <a:cs typeface="Times New Roman"/>
              </a:rPr>
              <a:t>(</a:t>
            </a:r>
            <a:r>
              <a:rPr sz="2150" i="1" spc="55" dirty="0">
                <a:latin typeface="Times New Roman"/>
                <a:cs typeface="Times New Roman"/>
              </a:rPr>
              <a:t>u</a:t>
            </a:r>
            <a:r>
              <a:rPr sz="2150" spc="55" dirty="0">
                <a:latin typeface="Times New Roman"/>
                <a:cs typeface="Times New Roman"/>
              </a:rPr>
              <a:t>)</a:t>
            </a:r>
            <a:r>
              <a:rPr sz="2150" spc="-45" dirty="0">
                <a:latin typeface="Times New Roman"/>
                <a:cs typeface="Times New Roman"/>
              </a:rPr>
              <a:t> </a:t>
            </a:r>
            <a:r>
              <a:rPr sz="2150" spc="-520" dirty="0">
                <a:latin typeface="Symbol"/>
                <a:cs typeface="Symbol"/>
              </a:rPr>
              <a:t>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34709" y="2602992"/>
            <a:ext cx="675640" cy="73660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8100">
              <a:spcBef>
                <a:spcPts val="310"/>
              </a:spcBef>
            </a:pPr>
            <a:r>
              <a:rPr sz="2150" spc="-10" dirty="0">
                <a:latin typeface="Times New Roman"/>
                <a:cs typeface="Times New Roman"/>
              </a:rPr>
              <a:t>1</a:t>
            </a:r>
            <a:r>
              <a:rPr sz="2150" spc="-10" dirty="0">
                <a:latin typeface="Symbol"/>
                <a:cs typeface="Symbol"/>
              </a:rPr>
              <a:t></a:t>
            </a:r>
            <a:r>
              <a:rPr sz="2150" spc="5" dirty="0">
                <a:latin typeface="Times New Roman"/>
                <a:cs typeface="Times New Roman"/>
              </a:rPr>
              <a:t> </a:t>
            </a:r>
            <a:r>
              <a:rPr sz="2150" i="1" dirty="0">
                <a:latin typeface="Times New Roman"/>
                <a:cs typeface="Times New Roman"/>
              </a:rPr>
              <a:t>u</a:t>
            </a:r>
            <a:r>
              <a:rPr sz="2150" i="1" spc="-340" dirty="0">
                <a:latin typeface="Times New Roman"/>
                <a:cs typeface="Times New Roman"/>
              </a:rPr>
              <a:t> </a:t>
            </a:r>
            <a:r>
              <a:rPr sz="1875" spc="-75" baseline="42222" dirty="0">
                <a:latin typeface="Times New Roman"/>
                <a:cs typeface="Times New Roman"/>
              </a:rPr>
              <a:t>2</a:t>
            </a:r>
            <a:endParaRPr sz="1875" baseline="42222">
              <a:latin typeface="Times New Roman"/>
              <a:cs typeface="Times New Roman"/>
            </a:endParaRPr>
          </a:p>
          <a:p>
            <a:pPr marL="241935">
              <a:spcBef>
                <a:spcPts val="220"/>
              </a:spcBef>
            </a:pPr>
            <a:r>
              <a:rPr sz="2150" spc="-25" dirty="0">
                <a:latin typeface="Times New Roman"/>
                <a:cs typeface="Times New Roman"/>
              </a:rPr>
              <a:t>2</a:t>
            </a:r>
            <a:r>
              <a:rPr sz="2150" i="1" spc="-25" dirty="0">
                <a:latin typeface="Times New Roman"/>
                <a:cs typeface="Times New Roman"/>
              </a:rPr>
              <a:t>u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37250" y="2235199"/>
            <a:ext cx="670560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2150" spc="-20" dirty="0">
                <a:latin typeface="Times New Roman"/>
                <a:cs typeface="Times New Roman"/>
              </a:rPr>
              <a:t>1</a:t>
            </a:r>
            <a:r>
              <a:rPr sz="2150" spc="-20" dirty="0">
                <a:latin typeface="Symbol"/>
                <a:cs typeface="Symbol"/>
              </a:rPr>
              <a:t></a:t>
            </a:r>
            <a:r>
              <a:rPr sz="2150" spc="-10" dirty="0">
                <a:latin typeface="Times New Roman"/>
                <a:cs typeface="Times New Roman"/>
              </a:rPr>
              <a:t> </a:t>
            </a:r>
            <a:r>
              <a:rPr sz="2150" i="1" dirty="0">
                <a:latin typeface="Times New Roman"/>
                <a:cs typeface="Times New Roman"/>
              </a:rPr>
              <a:t>u</a:t>
            </a:r>
            <a:r>
              <a:rPr sz="2150" i="1" spc="-340" dirty="0">
                <a:latin typeface="Times New Roman"/>
                <a:cs typeface="Times New Roman"/>
              </a:rPr>
              <a:t> </a:t>
            </a:r>
            <a:r>
              <a:rPr sz="1875" spc="-75" baseline="42222" dirty="0">
                <a:latin typeface="Times New Roman"/>
                <a:cs typeface="Times New Roman"/>
              </a:rPr>
              <a:t>2</a:t>
            </a:r>
            <a:endParaRPr sz="1875" baseline="42222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23509" y="2410460"/>
            <a:ext cx="645160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2150" i="1" dirty="0">
                <a:latin typeface="Times New Roman"/>
                <a:cs typeface="Times New Roman"/>
              </a:rPr>
              <a:t>x</a:t>
            </a:r>
            <a:r>
              <a:rPr sz="2150" dirty="0">
                <a:latin typeface="Times New Roman"/>
                <a:cs typeface="Times New Roman"/>
              </a:rPr>
              <a:t>(</a:t>
            </a:r>
            <a:r>
              <a:rPr sz="2150" i="1" dirty="0">
                <a:latin typeface="Times New Roman"/>
                <a:cs typeface="Times New Roman"/>
              </a:rPr>
              <a:t>u</a:t>
            </a:r>
            <a:r>
              <a:rPr sz="2150" dirty="0">
                <a:latin typeface="Times New Roman"/>
                <a:cs typeface="Times New Roman"/>
              </a:rPr>
              <a:t>)</a:t>
            </a:r>
            <a:r>
              <a:rPr sz="2150" spc="140" dirty="0">
                <a:latin typeface="Times New Roman"/>
                <a:cs typeface="Times New Roman"/>
              </a:rPr>
              <a:t> </a:t>
            </a:r>
            <a:r>
              <a:rPr sz="2150" spc="-520" dirty="0">
                <a:latin typeface="Symbol"/>
                <a:cs typeface="Symbol"/>
              </a:rPr>
              <a:t>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76169" y="3994150"/>
            <a:ext cx="7392670" cy="2195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spcBef>
                <a:spcPts val="100"/>
              </a:spcBef>
            </a:pP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Podemos</a:t>
            </a:r>
            <a:r>
              <a:rPr sz="22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expressar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essa</a:t>
            </a:r>
            <a:r>
              <a:rPr sz="22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parametrização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2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454"/>
                </a:solidFill>
                <a:latin typeface="Arial MT"/>
                <a:cs typeface="Arial MT"/>
              </a:rPr>
              <a:t>coordenadas homogêneas</a:t>
            </a:r>
            <a:r>
              <a:rPr sz="22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002454"/>
                </a:solidFill>
                <a:latin typeface="Arial MT"/>
                <a:cs typeface="Arial MT"/>
              </a:rPr>
              <a:t>por:</a:t>
            </a:r>
            <a:endParaRPr sz="22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2717800">
              <a:spcBef>
                <a:spcPts val="580"/>
              </a:spcBef>
            </a:pPr>
            <a:r>
              <a:rPr sz="2600" i="1" dirty="0">
                <a:solidFill>
                  <a:srgbClr val="002454"/>
                </a:solidFill>
                <a:latin typeface="Times New Roman"/>
                <a:cs typeface="Times New Roman"/>
              </a:rPr>
              <a:t>x</a:t>
            </a:r>
            <a:r>
              <a:rPr sz="2600" dirty="0">
                <a:solidFill>
                  <a:srgbClr val="002454"/>
                </a:solidFill>
                <a:latin typeface="Times New Roman"/>
                <a:cs typeface="Times New Roman"/>
              </a:rPr>
              <a:t>(</a:t>
            </a:r>
            <a:r>
              <a:rPr sz="2600" i="1" dirty="0">
                <a:solidFill>
                  <a:srgbClr val="002454"/>
                </a:solidFill>
                <a:latin typeface="Times New Roman"/>
                <a:cs typeface="Times New Roman"/>
              </a:rPr>
              <a:t>u</a:t>
            </a:r>
            <a:r>
              <a:rPr sz="2600" dirty="0">
                <a:solidFill>
                  <a:srgbClr val="002454"/>
                </a:solidFill>
                <a:latin typeface="Times New Roman"/>
                <a:cs typeface="Times New Roman"/>
              </a:rPr>
              <a:t>)</a:t>
            </a:r>
            <a:r>
              <a:rPr sz="2600" spc="-165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2600" spc="-585" dirty="0">
                <a:solidFill>
                  <a:srgbClr val="002454"/>
                </a:solidFill>
                <a:latin typeface="Symbol"/>
                <a:cs typeface="Symbol"/>
              </a:rPr>
              <a:t></a:t>
            </a:r>
            <a:r>
              <a:rPr sz="2600" spc="245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2600" spc="-40" dirty="0">
                <a:solidFill>
                  <a:srgbClr val="002454"/>
                </a:solidFill>
                <a:latin typeface="Times New Roman"/>
                <a:cs typeface="Times New Roman"/>
              </a:rPr>
              <a:t>1</a:t>
            </a:r>
            <a:r>
              <a:rPr sz="2600" spc="-40" dirty="0">
                <a:solidFill>
                  <a:srgbClr val="002454"/>
                </a:solidFill>
                <a:latin typeface="Symbol"/>
                <a:cs typeface="Symbol"/>
              </a:rPr>
              <a:t></a:t>
            </a:r>
            <a:r>
              <a:rPr sz="2600" spc="204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2600" i="1" spc="-20" dirty="0">
                <a:solidFill>
                  <a:srgbClr val="002454"/>
                </a:solidFill>
                <a:latin typeface="Times New Roman"/>
                <a:cs typeface="Times New Roman"/>
              </a:rPr>
              <a:t>u</a:t>
            </a:r>
            <a:r>
              <a:rPr sz="2600" i="1" spc="-425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2250" spc="-75" baseline="42592" dirty="0">
                <a:solidFill>
                  <a:srgbClr val="002454"/>
                </a:solidFill>
                <a:latin typeface="Times New Roman"/>
                <a:cs typeface="Times New Roman"/>
              </a:rPr>
              <a:t>2</a:t>
            </a:r>
            <a:endParaRPr sz="2250" baseline="42592" dirty="0">
              <a:solidFill>
                <a:srgbClr val="002454"/>
              </a:solidFill>
              <a:latin typeface="Times New Roman"/>
              <a:cs typeface="Times New Roman"/>
            </a:endParaRPr>
          </a:p>
          <a:p>
            <a:pPr marL="2733040">
              <a:spcBef>
                <a:spcPts val="770"/>
              </a:spcBef>
              <a:tabLst>
                <a:tab pos="3622675" algn="l"/>
              </a:tabLst>
            </a:pPr>
            <a:r>
              <a:rPr sz="2600" i="1" dirty="0">
                <a:solidFill>
                  <a:srgbClr val="002454"/>
                </a:solidFill>
                <a:latin typeface="Times New Roman"/>
                <a:cs typeface="Times New Roman"/>
              </a:rPr>
              <a:t>y</a:t>
            </a:r>
            <a:r>
              <a:rPr sz="2600" dirty="0">
                <a:solidFill>
                  <a:srgbClr val="002454"/>
                </a:solidFill>
                <a:latin typeface="Times New Roman"/>
                <a:cs typeface="Times New Roman"/>
              </a:rPr>
              <a:t>(</a:t>
            </a:r>
            <a:r>
              <a:rPr sz="2600" i="1" dirty="0">
                <a:solidFill>
                  <a:srgbClr val="002454"/>
                </a:solidFill>
                <a:latin typeface="Times New Roman"/>
                <a:cs typeface="Times New Roman"/>
              </a:rPr>
              <a:t>u</a:t>
            </a:r>
            <a:r>
              <a:rPr sz="2600" dirty="0">
                <a:solidFill>
                  <a:srgbClr val="002454"/>
                </a:solidFill>
                <a:latin typeface="Times New Roman"/>
                <a:cs typeface="Times New Roman"/>
              </a:rPr>
              <a:t>)</a:t>
            </a:r>
            <a:r>
              <a:rPr sz="2600" spc="120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2600" spc="-635" dirty="0">
                <a:solidFill>
                  <a:srgbClr val="002454"/>
                </a:solidFill>
                <a:latin typeface="Symbol"/>
                <a:cs typeface="Symbol"/>
              </a:rPr>
              <a:t></a:t>
            </a:r>
            <a:r>
              <a:rPr sz="2600" dirty="0">
                <a:solidFill>
                  <a:srgbClr val="002454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002454"/>
                </a:solidFill>
                <a:latin typeface="Times New Roman"/>
                <a:cs typeface="Times New Roman"/>
              </a:rPr>
              <a:t>2</a:t>
            </a:r>
            <a:r>
              <a:rPr sz="2600" i="1" spc="-25" dirty="0">
                <a:solidFill>
                  <a:srgbClr val="002454"/>
                </a:solidFill>
                <a:latin typeface="Times New Roman"/>
                <a:cs typeface="Times New Roman"/>
              </a:rPr>
              <a:t>u</a:t>
            </a:r>
            <a:endParaRPr sz="2600" dirty="0">
              <a:solidFill>
                <a:srgbClr val="002454"/>
              </a:solidFill>
              <a:latin typeface="Times New Roman"/>
              <a:cs typeface="Times New Roman"/>
            </a:endParaRPr>
          </a:p>
          <a:p>
            <a:pPr marL="2707640">
              <a:spcBef>
                <a:spcPts val="1100"/>
              </a:spcBef>
            </a:pPr>
            <a:r>
              <a:rPr sz="2600" i="1" dirty="0">
                <a:solidFill>
                  <a:srgbClr val="002454"/>
                </a:solidFill>
                <a:latin typeface="Times New Roman"/>
                <a:cs typeface="Times New Roman"/>
              </a:rPr>
              <a:t>w</a:t>
            </a:r>
            <a:r>
              <a:rPr sz="2600" dirty="0">
                <a:solidFill>
                  <a:srgbClr val="002454"/>
                </a:solidFill>
                <a:latin typeface="Times New Roman"/>
                <a:cs typeface="Times New Roman"/>
              </a:rPr>
              <a:t>(</a:t>
            </a:r>
            <a:r>
              <a:rPr sz="2600" i="1" dirty="0">
                <a:solidFill>
                  <a:srgbClr val="002454"/>
                </a:solidFill>
                <a:latin typeface="Times New Roman"/>
                <a:cs typeface="Times New Roman"/>
              </a:rPr>
              <a:t>u</a:t>
            </a:r>
            <a:r>
              <a:rPr sz="2600" dirty="0">
                <a:solidFill>
                  <a:srgbClr val="002454"/>
                </a:solidFill>
                <a:latin typeface="Times New Roman"/>
                <a:cs typeface="Times New Roman"/>
              </a:rPr>
              <a:t>)</a:t>
            </a:r>
            <a:r>
              <a:rPr sz="2600" spc="-165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2600" spc="-585" dirty="0">
                <a:solidFill>
                  <a:srgbClr val="002454"/>
                </a:solidFill>
                <a:latin typeface="Symbol"/>
                <a:cs typeface="Symbol"/>
              </a:rPr>
              <a:t></a:t>
            </a:r>
            <a:r>
              <a:rPr sz="2600" spc="235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2600" spc="-35" dirty="0">
                <a:solidFill>
                  <a:srgbClr val="002454"/>
                </a:solidFill>
                <a:latin typeface="Times New Roman"/>
                <a:cs typeface="Times New Roman"/>
              </a:rPr>
              <a:t>1</a:t>
            </a:r>
            <a:r>
              <a:rPr sz="2600" spc="-35" dirty="0">
                <a:solidFill>
                  <a:srgbClr val="002454"/>
                </a:solidFill>
                <a:latin typeface="Symbol"/>
                <a:cs typeface="Symbol"/>
              </a:rPr>
              <a:t></a:t>
            </a:r>
            <a:r>
              <a:rPr sz="2600" spc="140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2600" i="1" spc="-20" dirty="0">
                <a:solidFill>
                  <a:srgbClr val="002454"/>
                </a:solidFill>
                <a:latin typeface="Times New Roman"/>
                <a:cs typeface="Times New Roman"/>
              </a:rPr>
              <a:t>u</a:t>
            </a:r>
            <a:r>
              <a:rPr sz="2600" i="1" spc="-425" dirty="0">
                <a:solidFill>
                  <a:srgbClr val="002454"/>
                </a:solidFill>
                <a:latin typeface="Times New Roman"/>
                <a:cs typeface="Times New Roman"/>
              </a:rPr>
              <a:t> </a:t>
            </a:r>
            <a:r>
              <a:rPr sz="2250" spc="-75" baseline="42592" dirty="0">
                <a:solidFill>
                  <a:srgbClr val="002454"/>
                </a:solidFill>
                <a:latin typeface="Times New Roman"/>
                <a:cs typeface="Times New Roman"/>
              </a:rPr>
              <a:t>2</a:t>
            </a:r>
            <a:endParaRPr sz="2250" baseline="42592" dirty="0">
              <a:solidFill>
                <a:srgbClr val="002454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130">
              <a:spcBef>
                <a:spcPts val="100"/>
              </a:spcBef>
            </a:pPr>
            <a:r>
              <a:rPr dirty="0"/>
              <a:t>OpenGL</a:t>
            </a:r>
            <a:r>
              <a:rPr spc="-4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Curvas</a:t>
            </a:r>
            <a:r>
              <a:rPr spc="-45" dirty="0"/>
              <a:t> </a:t>
            </a:r>
            <a:r>
              <a:rPr spc="-10" dirty="0"/>
              <a:t>Paramétricas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8670" y="1424940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8670" y="5142229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50" dirty="0">
                <a:solidFill>
                  <a:srgbClr val="FFEC5F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1424940"/>
            <a:ext cx="7710170" cy="4957639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5400" marR="17780">
              <a:lnSpc>
                <a:spcPct val="89900"/>
              </a:lnSpc>
              <a:spcBef>
                <a:spcPts val="415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OpenGL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define</a:t>
            </a:r>
            <a:r>
              <a:rPr sz="2600" spc="-3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o</a:t>
            </a:r>
            <a:r>
              <a:rPr sz="26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são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chamados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i="1" spc="-10" dirty="0">
                <a:solidFill>
                  <a:srgbClr val="002454"/>
                </a:solidFill>
                <a:latin typeface="Arial"/>
                <a:cs typeface="Arial"/>
              </a:rPr>
              <a:t>avaliadores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que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podem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avaliar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Bézier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um</a:t>
            </a:r>
            <a:r>
              <a:rPr sz="2600" spc="-3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valor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do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parâmetro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4815" indent="-285115">
              <a:spcBef>
                <a:spcPts val="310"/>
              </a:spcBef>
              <a:buFont typeface="Wingdings"/>
              <a:buChar char=""/>
              <a:tabLst>
                <a:tab pos="4248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definir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os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pontos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controle: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824865" lvl="1" indent="-227965">
              <a:spcBef>
                <a:spcPts val="260"/>
              </a:spcBef>
              <a:buChar char="•"/>
              <a:tabLst>
                <a:tab pos="824865" algn="l"/>
              </a:tabLst>
            </a:pPr>
            <a:r>
              <a:rPr sz="2000" spc="-10" dirty="0">
                <a:solidFill>
                  <a:srgbClr val="002454"/>
                </a:solidFill>
                <a:latin typeface="Courier New"/>
                <a:cs typeface="Courier New"/>
              </a:rPr>
              <a:t>glMap1f(…)</a:t>
            </a:r>
            <a:endParaRPr sz="20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424815" indent="-285115">
              <a:spcBef>
                <a:spcPts val="310"/>
              </a:spcBef>
              <a:buFont typeface="Wingdings"/>
              <a:buChar char=""/>
              <a:tabLst>
                <a:tab pos="4248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400" spc="-6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avaliar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um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ponto: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824865" lvl="1" indent="-227965">
              <a:spcBef>
                <a:spcPts val="250"/>
              </a:spcBef>
              <a:buChar char="•"/>
              <a:tabLst>
                <a:tab pos="824865" algn="l"/>
              </a:tabLst>
            </a:pPr>
            <a:r>
              <a:rPr sz="2000" spc="-10" dirty="0">
                <a:solidFill>
                  <a:srgbClr val="002454"/>
                </a:solidFill>
                <a:latin typeface="Courier New"/>
                <a:cs typeface="Courier New"/>
              </a:rPr>
              <a:t>glEvalCoord(param)</a:t>
            </a:r>
            <a:endParaRPr sz="20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424815" indent="-285115">
              <a:spcBef>
                <a:spcPts val="310"/>
              </a:spcBef>
              <a:buFont typeface="Wingdings"/>
              <a:buChar char=""/>
              <a:tabLst>
                <a:tab pos="4248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Para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avaliar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uma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seqüência</a:t>
            </a:r>
            <a:r>
              <a:rPr sz="2400" spc="-7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400" spc="-8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pontos: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824865" lvl="1" indent="-227965">
              <a:spcBef>
                <a:spcPts val="260"/>
              </a:spcBef>
              <a:buChar char="•"/>
              <a:tabLst>
                <a:tab pos="824865" algn="l"/>
              </a:tabLst>
            </a:pPr>
            <a:r>
              <a:rPr sz="2000" dirty="0">
                <a:solidFill>
                  <a:srgbClr val="002454"/>
                </a:solidFill>
                <a:latin typeface="Courier New"/>
                <a:cs typeface="Courier New"/>
              </a:rPr>
              <a:t>glMapGrid1f(n,</a:t>
            </a:r>
            <a:r>
              <a:rPr sz="2000" spc="-8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02454"/>
                </a:solidFill>
                <a:latin typeface="Courier New"/>
                <a:cs typeface="Courier New"/>
              </a:rPr>
              <a:t>t1,t2)</a:t>
            </a:r>
            <a:endParaRPr sz="20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824865" lvl="1" indent="-227965">
              <a:spcBef>
                <a:spcPts val="260"/>
              </a:spcBef>
              <a:buChar char="•"/>
              <a:tabLst>
                <a:tab pos="824865" algn="l"/>
              </a:tabLst>
            </a:pPr>
            <a:r>
              <a:rPr sz="2000" dirty="0">
                <a:solidFill>
                  <a:srgbClr val="002454"/>
                </a:solidFill>
                <a:latin typeface="Courier New"/>
                <a:cs typeface="Courier New"/>
              </a:rPr>
              <a:t>glEvalMesh1f(mode,</a:t>
            </a:r>
            <a:r>
              <a:rPr sz="2000" spc="-65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2454"/>
                </a:solidFill>
                <a:latin typeface="Courier New"/>
                <a:cs typeface="Courier New"/>
              </a:rPr>
              <a:t>p1,</a:t>
            </a:r>
            <a:r>
              <a:rPr sz="2000" spc="-50" dirty="0">
                <a:solidFill>
                  <a:srgbClr val="002454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002454"/>
                </a:solidFill>
                <a:latin typeface="Courier New"/>
                <a:cs typeface="Courier New"/>
              </a:rPr>
              <a:t>p2)</a:t>
            </a:r>
            <a:endParaRPr sz="2000" dirty="0">
              <a:solidFill>
                <a:srgbClr val="002454"/>
              </a:solidFill>
              <a:latin typeface="Courier New"/>
              <a:cs typeface="Courier New"/>
            </a:endParaRPr>
          </a:p>
          <a:p>
            <a:pPr marL="25400" marR="1217295">
              <a:lnSpc>
                <a:spcPts val="2800"/>
              </a:lnSpc>
              <a:spcBef>
                <a:spcPts val="700"/>
              </a:spcBef>
            </a:pP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Essas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rotinas</a:t>
            </a:r>
            <a:r>
              <a:rPr sz="2600" spc="-2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avaliam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600" spc="-2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curva</a:t>
            </a:r>
            <a:r>
              <a:rPr sz="2600" spc="-4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em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intervalos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regulares</a:t>
            </a:r>
            <a:r>
              <a:rPr sz="26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no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espaço</a:t>
            </a:r>
            <a:r>
              <a:rPr sz="2600" spc="-4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2454"/>
                </a:solidFill>
                <a:latin typeface="Arial MT"/>
                <a:cs typeface="Arial MT"/>
              </a:rPr>
              <a:t>de</a:t>
            </a:r>
            <a:r>
              <a:rPr sz="2600" spc="-6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2454"/>
                </a:solidFill>
                <a:latin typeface="Arial MT"/>
                <a:cs typeface="Arial MT"/>
              </a:rPr>
              <a:t>parâmetros</a:t>
            </a:r>
            <a:endParaRPr sz="2600" dirty="0">
              <a:solidFill>
                <a:srgbClr val="002454"/>
              </a:solidFill>
              <a:latin typeface="Arial MT"/>
              <a:cs typeface="Arial MT"/>
            </a:endParaRPr>
          </a:p>
          <a:p>
            <a:pPr marL="424815" indent="-285115">
              <a:spcBef>
                <a:spcPts val="270"/>
              </a:spcBef>
              <a:buFont typeface="Wingdings"/>
              <a:buChar char=""/>
              <a:tabLst>
                <a:tab pos="424815" algn="l"/>
              </a:tabLst>
            </a:pP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Não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necessariamente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2454"/>
                </a:solidFill>
                <a:latin typeface="Arial MT"/>
                <a:cs typeface="Arial MT"/>
              </a:rPr>
              <a:t>melhor</a:t>
            </a:r>
            <a:r>
              <a:rPr sz="2400" spc="-50" dirty="0">
                <a:solidFill>
                  <a:srgbClr val="00245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2454"/>
                </a:solidFill>
                <a:latin typeface="Arial MT"/>
                <a:cs typeface="Arial MT"/>
              </a:rPr>
              <a:t>maneira!</a:t>
            </a:r>
            <a:endParaRPr sz="2400" dirty="0">
              <a:solidFill>
                <a:srgbClr val="002454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3409</Words>
  <Application>Microsoft Office PowerPoint</Application>
  <PresentationFormat>Widescreen</PresentationFormat>
  <Paragraphs>613</Paragraphs>
  <Slides>44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53" baseType="lpstr">
      <vt:lpstr>Arial</vt:lpstr>
      <vt:lpstr>Arial MT</vt:lpstr>
      <vt:lpstr>Cambria</vt:lpstr>
      <vt:lpstr>Courier New</vt:lpstr>
      <vt:lpstr>Palatino Linotype</vt:lpstr>
      <vt:lpstr>Symbol</vt:lpstr>
      <vt:lpstr>Times New Roman</vt:lpstr>
      <vt:lpstr>Wingdings</vt:lpstr>
      <vt:lpstr>Office Theme</vt:lpstr>
      <vt:lpstr>Introdução à Computação Gráfica Curvas</vt:lpstr>
      <vt:lpstr>Modelagem Geométrica</vt:lpstr>
      <vt:lpstr>Curvas e Superfícies Paramétricas</vt:lpstr>
      <vt:lpstr>Continuidade</vt:lpstr>
      <vt:lpstr>Interpolação x Aproximação</vt:lpstr>
      <vt:lpstr>Algoritmo de De Casteljau</vt:lpstr>
      <vt:lpstr>Algoritmo de De Casteljau</vt:lpstr>
      <vt:lpstr>Algoritmo de De Casteljau</vt:lpstr>
      <vt:lpstr>Algoritmo de De Casteljau</vt:lpstr>
      <vt:lpstr>Algoritmo de De Casteljau</vt:lpstr>
      <vt:lpstr>Algoritmo de De Casteljau</vt:lpstr>
      <vt:lpstr>Algoritmo de De Casteljau</vt:lpstr>
      <vt:lpstr>Algoritmo de De Casteljau</vt:lpstr>
      <vt:lpstr>Algoritmo de De Casteljau</vt:lpstr>
      <vt:lpstr>Algoritmo de De Casteljau</vt:lpstr>
      <vt:lpstr>Algoritmo de De Casteljau</vt:lpstr>
      <vt:lpstr>Algoritmo de De Casteljau</vt:lpstr>
      <vt:lpstr>Curvas de Bézier e Polinômios de Bernstein</vt:lpstr>
      <vt:lpstr>Polinômios de Bernstein</vt:lpstr>
      <vt:lpstr>Forma Matricial da Base Bézier</vt:lpstr>
      <vt:lpstr>Propriedades de Curva de Bézier</vt:lpstr>
      <vt:lpstr>Propriedades de Curva de Bézier</vt:lpstr>
      <vt:lpstr>Desenhando Curvas Bézier</vt:lpstr>
      <vt:lpstr>Subdivisão de Curvas Bézier</vt:lpstr>
      <vt:lpstr>Curvas de Hermite</vt:lpstr>
      <vt:lpstr>Curvas de Hermite</vt:lpstr>
      <vt:lpstr>Curvas Longas</vt:lpstr>
      <vt:lpstr>Emendando Curvas Bézier</vt:lpstr>
      <vt:lpstr>Splines</vt:lpstr>
      <vt:lpstr>Curvas B-Spline</vt:lpstr>
      <vt:lpstr>Curvas B-Spline</vt:lpstr>
      <vt:lpstr>Curvas B-Spline</vt:lpstr>
      <vt:lpstr>Funções da Base B-Spline</vt:lpstr>
      <vt:lpstr>Recorrência Cox-de Boor</vt:lpstr>
      <vt:lpstr>Recorrência Cox-de Boor</vt:lpstr>
      <vt:lpstr>Recorrência Cox-de Boor</vt:lpstr>
      <vt:lpstr>Recorrência Cox-de Boor</vt:lpstr>
      <vt:lpstr>Recorrência Cox-de Boor</vt:lpstr>
      <vt:lpstr>Propriedades das B-Splines</vt:lpstr>
      <vt:lpstr>Efeito dos Nós</vt:lpstr>
      <vt:lpstr>Inserindo Nós</vt:lpstr>
      <vt:lpstr>Curvas Racionais</vt:lpstr>
      <vt:lpstr>Parametrização de um Círculo</vt:lpstr>
      <vt:lpstr>OpenGL e Curvas Paramétricas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Computação Gráfica</dc:title>
  <dc:creator>Coppe/Sistemas</dc:creator>
  <cp:lastModifiedBy>JONH EDSON RIBEIRO DE CARVALHO</cp:lastModifiedBy>
  <cp:revision>1</cp:revision>
  <dcterms:created xsi:type="dcterms:W3CDTF">2025-09-23T19:32:06Z</dcterms:created>
  <dcterms:modified xsi:type="dcterms:W3CDTF">2026-09-16T19:12:47Z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2007-09-14T00:00:00Z</vt:filetime>
  </property>
  <property fmtid="{D5CDD505-2E9C-101B-9397-08002B2CF9AE}" pid="3" name="Creator">
    <vt:lpwstr>Impress</vt:lpwstr>
  </property>
  <property fmtid="{D5CDD505-2E9C-101B-9397-08002B2CF9AE}" pid="4" name="LastSaved">
    <vt:filetime>2025-09-23T00:00:00Z</vt:filetime>
  </property>
  <property fmtid="{D5CDD505-2E9C-101B-9397-08002B2CF9AE}" pid="5" name="Producer">
    <vt:lpwstr>BrOffice.org 2.2</vt:lpwstr>
  </property>
</Properties>
</file>